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p:sldMasterIdLst>
    <p:sldMasterId id="2147483648" r:id="rId1"/>
  </p:sldMasterIdLst>
  <p:notesMasterIdLst>
    <p:notesMasterId r:id="rId148"/>
  </p:notesMasterIdLst>
  <p:handoutMasterIdLst>
    <p:handoutMasterId r:id="rId149"/>
  </p:handoutMasterIdLst>
  <p:sldIdLst>
    <p:sldId id="639" r:id="rId2"/>
    <p:sldId id="257" r:id="rId3"/>
    <p:sldId id="258" r:id="rId4"/>
    <p:sldId id="403" r:id="rId5"/>
    <p:sldId id="40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3" r:id="rId32"/>
    <p:sldId id="286" r:id="rId33"/>
    <p:sldId id="287" r:id="rId34"/>
    <p:sldId id="288" r:id="rId35"/>
    <p:sldId id="289" r:id="rId36"/>
    <p:sldId id="290" r:id="rId37"/>
    <p:sldId id="291" r:id="rId38"/>
    <p:sldId id="292" r:id="rId39"/>
    <p:sldId id="293" r:id="rId40"/>
    <p:sldId id="294" r:id="rId41"/>
    <p:sldId id="398" r:id="rId42"/>
    <p:sldId id="399" r:id="rId43"/>
    <p:sldId id="400" r:id="rId44"/>
    <p:sldId id="401" r:id="rId45"/>
    <p:sldId id="297" r:id="rId46"/>
    <p:sldId id="296"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7" r:id="rId146"/>
    <p:sldId id="396" r:id="rId147"/>
  </p:sldIdLst>
  <p:sldSz cx="9144000" cy="6858000" type="overhead"/>
  <p:notesSz cx="7315200" cy="9601200"/>
  <p:embeddedFontLst>
    <p:embeddedFont>
      <p:font typeface="CMMI10" panose="020B0604020202020204"/>
      <p:regular r:id="rId150"/>
    </p:embeddedFont>
    <p:embeddedFont>
      <p:font typeface="CMMI7" panose="020B0604020202020204"/>
      <p:regular r:id="rId151"/>
    </p:embeddedFont>
    <p:embeddedFont>
      <p:font typeface="CMR10" panose="020B0604020202020204"/>
      <p:regular r:id="rId152"/>
    </p:embeddedFont>
    <p:embeddedFont>
      <p:font typeface="cmsy10" panose="020B0604020202020204"/>
      <p:regular r:id="rId153"/>
    </p:embeddedFont>
    <p:embeddedFont>
      <p:font typeface="CMSY10ORIG" panose="020B0604020202020204"/>
      <p:regular r:id="rId154"/>
    </p:embeddedFont>
    <p:embeddedFont>
      <p:font typeface="Comic Sans MS" panose="030F0702030302020204" pitchFamily="66" charset="0"/>
      <p:regular r:id="rId155"/>
      <p:bold r:id="rId156"/>
      <p:italic r:id="rId157"/>
      <p:boldItalic r:id="rId158"/>
    </p:embeddedFont>
    <p:embeddedFont>
      <p:font typeface="Marlett" pitchFamily="2" charset="2"/>
      <p:regular r:id="rId159"/>
    </p:embeddedFont>
  </p:embeddedFontLst>
  <p:custDataLst>
    <p:tags r:id="rId160"/>
  </p:custDataLst>
  <p:defaultTextStyle>
    <a:defPPr>
      <a:defRPr lang="en-US"/>
    </a:defPPr>
    <a:lvl1pPr algn="r" rtl="0" eaLnBrk="0" fontAlgn="base" hangingPunct="0">
      <a:spcBef>
        <a:spcPct val="0"/>
      </a:spcBef>
      <a:spcAft>
        <a:spcPct val="0"/>
      </a:spcAft>
      <a:defRPr sz="2400" kern="1200">
        <a:solidFill>
          <a:srgbClr val="0000FF"/>
        </a:solidFill>
        <a:latin typeface="Comic Sans MS" pitchFamily="66" charset="0"/>
        <a:ea typeface="+mn-ea"/>
        <a:cs typeface="+mn-cs"/>
      </a:defRPr>
    </a:lvl1pPr>
    <a:lvl2pPr marL="457200" algn="r" rtl="0" eaLnBrk="0" fontAlgn="base" hangingPunct="0">
      <a:spcBef>
        <a:spcPct val="0"/>
      </a:spcBef>
      <a:spcAft>
        <a:spcPct val="0"/>
      </a:spcAft>
      <a:defRPr sz="2400" kern="1200">
        <a:solidFill>
          <a:srgbClr val="0000FF"/>
        </a:solidFill>
        <a:latin typeface="Comic Sans MS" pitchFamily="66" charset="0"/>
        <a:ea typeface="+mn-ea"/>
        <a:cs typeface="+mn-cs"/>
      </a:defRPr>
    </a:lvl2pPr>
    <a:lvl3pPr marL="914400" algn="r" rtl="0" eaLnBrk="0" fontAlgn="base" hangingPunct="0">
      <a:spcBef>
        <a:spcPct val="0"/>
      </a:spcBef>
      <a:spcAft>
        <a:spcPct val="0"/>
      </a:spcAft>
      <a:defRPr sz="2400" kern="1200">
        <a:solidFill>
          <a:srgbClr val="0000FF"/>
        </a:solidFill>
        <a:latin typeface="Comic Sans MS" pitchFamily="66" charset="0"/>
        <a:ea typeface="+mn-ea"/>
        <a:cs typeface="+mn-cs"/>
      </a:defRPr>
    </a:lvl3pPr>
    <a:lvl4pPr marL="1371600" algn="r" rtl="0" eaLnBrk="0" fontAlgn="base" hangingPunct="0">
      <a:spcBef>
        <a:spcPct val="0"/>
      </a:spcBef>
      <a:spcAft>
        <a:spcPct val="0"/>
      </a:spcAft>
      <a:defRPr sz="2400" kern="1200">
        <a:solidFill>
          <a:srgbClr val="0000FF"/>
        </a:solidFill>
        <a:latin typeface="Comic Sans MS" pitchFamily="66" charset="0"/>
        <a:ea typeface="+mn-ea"/>
        <a:cs typeface="+mn-cs"/>
      </a:defRPr>
    </a:lvl4pPr>
    <a:lvl5pPr marL="1828800" algn="r" rtl="0" eaLnBrk="0" fontAlgn="base" hangingPunct="0">
      <a:spcBef>
        <a:spcPct val="0"/>
      </a:spcBef>
      <a:spcAft>
        <a:spcPct val="0"/>
      </a:spcAft>
      <a:defRPr sz="2400" kern="1200">
        <a:solidFill>
          <a:srgbClr val="0000FF"/>
        </a:solidFill>
        <a:latin typeface="Comic Sans MS" pitchFamily="66" charset="0"/>
        <a:ea typeface="+mn-ea"/>
        <a:cs typeface="+mn-cs"/>
      </a:defRPr>
    </a:lvl5pPr>
    <a:lvl6pPr marL="2286000" algn="l" defTabSz="914400" rtl="0" eaLnBrk="1" latinLnBrk="0" hangingPunct="1">
      <a:defRPr sz="2400" kern="1200">
        <a:solidFill>
          <a:srgbClr val="0000FF"/>
        </a:solidFill>
        <a:latin typeface="Comic Sans MS" pitchFamily="66" charset="0"/>
        <a:ea typeface="+mn-ea"/>
        <a:cs typeface="+mn-cs"/>
      </a:defRPr>
    </a:lvl6pPr>
    <a:lvl7pPr marL="2743200" algn="l" defTabSz="914400" rtl="0" eaLnBrk="1" latinLnBrk="0" hangingPunct="1">
      <a:defRPr sz="2400" kern="1200">
        <a:solidFill>
          <a:srgbClr val="0000FF"/>
        </a:solidFill>
        <a:latin typeface="Comic Sans MS" pitchFamily="66" charset="0"/>
        <a:ea typeface="+mn-ea"/>
        <a:cs typeface="+mn-cs"/>
      </a:defRPr>
    </a:lvl7pPr>
    <a:lvl8pPr marL="3200400" algn="l" defTabSz="914400" rtl="0" eaLnBrk="1" latinLnBrk="0" hangingPunct="1">
      <a:defRPr sz="2400" kern="1200">
        <a:solidFill>
          <a:srgbClr val="0000FF"/>
        </a:solidFill>
        <a:latin typeface="Comic Sans MS" pitchFamily="66" charset="0"/>
        <a:ea typeface="+mn-ea"/>
        <a:cs typeface="+mn-cs"/>
      </a:defRPr>
    </a:lvl8pPr>
    <a:lvl9pPr marL="3657600" algn="l" defTabSz="914400" rtl="0" eaLnBrk="1" latinLnBrk="0" hangingPunct="1">
      <a:defRPr sz="2400"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1404">
          <p15:clr>
            <a:srgbClr val="A4A3A4"/>
          </p15:clr>
        </p15:guide>
        <p15:guide id="2" pos="31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00"/>
    <a:srgbClr val="0000FF"/>
    <a:srgbClr val="996633"/>
    <a:srgbClr val="FF9900"/>
    <a:srgbClr val="FF7C80"/>
    <a:srgbClr val="FF66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3" autoAdjust="0"/>
    <p:restoredTop sz="81549" autoAdjust="0"/>
  </p:normalViewPr>
  <p:slideViewPr>
    <p:cSldViewPr snapToGrid="0">
      <p:cViewPr varScale="1">
        <p:scale>
          <a:sx n="55" d="100"/>
          <a:sy n="55" d="100"/>
        </p:scale>
        <p:origin x="1698" y="14"/>
      </p:cViewPr>
      <p:guideLst>
        <p:guide orient="horz" pos="1404"/>
        <p:guide pos="31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6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handoutMaster" Target="handoutMasters/handoutMaster1.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gs" Target="tags/tag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1.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2.fntdata"/><Relationship Id="rId156"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6.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algn="l" defTabSz="966788">
              <a:defRPr sz="1300"/>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defTabSz="966788">
              <a:defRPr sz="1300"/>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algn="l" defTabSz="966788">
              <a:defRPr sz="1300"/>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defTabSz="966788">
              <a:defRPr sz="1300"/>
            </a:lvl1pPr>
          </a:lstStyle>
          <a:p>
            <a:pPr>
              <a:defRPr/>
            </a:pPr>
            <a:fld id="{2A009260-F775-47C9-95AB-81CAC770706D}"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537310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Marlett" pitchFamily="2" charset="2"/>
              </a:defRPr>
            </a:lvl1pPr>
          </a:lstStyle>
          <a:p>
            <a:pPr>
              <a:defRPr/>
            </a:pPr>
            <a:endParaRPr lang="en-US"/>
          </a:p>
        </p:txBody>
      </p:sp>
      <p:sp>
        <p:nvSpPr>
          <p:cNvPr id="1577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Marlett" pitchFamily="2" charset="2"/>
              </a:defRPr>
            </a:lvl1pPr>
          </a:lstStyle>
          <a:p>
            <a:pPr>
              <a:defRPr/>
            </a:pPr>
            <a:fld id="{ADC8632A-3426-43B6-8261-22F10933AFB0}" type="slidenum">
              <a:rPr lang="x-none"/>
              <a:pPr>
                <a:defRPr/>
              </a:pPr>
              <a:t>‹#›</a:t>
            </a:fld>
            <a:endParaRPr lang="en-US"/>
          </a:p>
        </p:txBody>
      </p:sp>
    </p:spTree>
    <p:extLst>
      <p:ext uri="{BB962C8B-B14F-4D97-AF65-F5344CB8AC3E}">
        <p14:creationId xmlns:p14="http://schemas.microsoft.com/office/powerpoint/2010/main" val="39623948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15E5262F-D80F-44C4-B5AD-8FA306FA30AA}" type="slidenum">
              <a:rPr lang="x-none" smtClean="0"/>
              <a:pPr/>
              <a:t>2</a:t>
            </a:fld>
            <a:endParaRPr lang="en-US"/>
          </a:p>
        </p:txBody>
      </p:sp>
      <p:sp>
        <p:nvSpPr>
          <p:cNvPr id="1597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630C876-9092-4A58-87E8-AF9841F113FF}" type="slidenum">
              <a:rPr lang="x-none" sz="1200">
                <a:latin typeface="Marlett" pitchFamily="2" charset="2"/>
              </a:rPr>
              <a:pPr defTabSz="968375"/>
              <a:t>2</a:t>
            </a:fld>
            <a:endParaRPr lang="en-US" sz="1200">
              <a:latin typeface="Marlett" pitchFamily="2" charset="2"/>
            </a:endParaRPr>
          </a:p>
        </p:txBody>
      </p:sp>
      <p:sp>
        <p:nvSpPr>
          <p:cNvPr id="159748" name="Rectangle 2"/>
          <p:cNvSpPr>
            <a:spLocks noGrp="1" noRot="1" noChangeAspect="1" noChangeArrowheads="1" noTextEdit="1"/>
          </p:cNvSpPr>
          <p:nvPr>
            <p:ph type="sldImg"/>
          </p:nvPr>
        </p:nvSpPr>
        <p:spPr>
          <a:xfrm>
            <a:off x="1255713" y="719138"/>
            <a:ext cx="4802187" cy="3602037"/>
          </a:xfrm>
          <a:ln/>
        </p:spPr>
      </p:sp>
      <p:sp>
        <p:nvSpPr>
          <p:cNvPr id="15974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this chapter we how to decompose certain kinds of problems into components that can be executed in parallel. Some applications break down naturally into parallel threads. For example, when a request arrives at a web server, the server can just create a thread (or assign an existing thread) to handle the request. Applications that can be structured as producers and consumers also tend to be easily parallelizable. In this chapter, however, we look at applications that have inherent parallelism, but where it is not obvious how to take advantage of it.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94B584CF-5414-4768-8F39-7E808FCA3376}" type="slidenum">
              <a:rPr lang="x-none" smtClean="0"/>
              <a:pPr/>
              <a:t>3</a:t>
            </a:fld>
            <a:endParaRPr lang="en-US"/>
          </a:p>
        </p:txBody>
      </p:sp>
      <p:sp>
        <p:nvSpPr>
          <p:cNvPr id="1607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DA296FD6-F548-4B25-AD16-EFC0FBC06909}" type="slidenum">
              <a:rPr lang="x-none" sz="1200">
                <a:latin typeface="Marlett" pitchFamily="2" charset="2"/>
              </a:rPr>
              <a:pPr defTabSz="968375"/>
              <a:t>3</a:t>
            </a:fld>
            <a:endParaRPr lang="en-US" sz="1200">
              <a:latin typeface="Marlett" pitchFamily="2" charset="2"/>
            </a:endParaRPr>
          </a:p>
        </p:txBody>
      </p:sp>
      <p:sp>
        <p:nvSpPr>
          <p:cNvPr id="160772" name="Rectangle 2"/>
          <p:cNvSpPr>
            <a:spLocks noGrp="1" noRot="1" noChangeAspect="1" noChangeArrowheads="1" noTextEdit="1"/>
          </p:cNvSpPr>
          <p:nvPr>
            <p:ph type="sldImg"/>
          </p:nvPr>
        </p:nvSpPr>
        <p:spPr>
          <a:xfrm>
            <a:off x="1255713" y="719138"/>
            <a:ext cx="4802187" cy="3602037"/>
          </a:xfrm>
          <a:ln/>
        </p:spPr>
      </p:sp>
      <p:sp>
        <p:nvSpPr>
          <p:cNvPr id="16077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To take another specific example, let’s look at matrix multiplication, one of the most common and important applications in scientific computing.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D8E91316-741C-4D1E-BDFA-6C37E84EFE6C}" type="slidenum">
              <a:rPr lang="ar-SA" smtClean="0"/>
              <a:pPr/>
              <a:t>4</a:t>
            </a:fld>
            <a:endParaRPr lang="en-US"/>
          </a:p>
        </p:txBody>
      </p:sp>
      <p:sp>
        <p:nvSpPr>
          <p:cNvPr id="1617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BD4A464-64C6-4999-9E8D-6BCCB9141C3D}" type="slidenum">
              <a:rPr lang="ar-SA" sz="1200">
                <a:latin typeface="Marlett" pitchFamily="2" charset="2"/>
              </a:rPr>
              <a:pPr defTabSz="968375"/>
              <a:t>4</a:t>
            </a:fld>
            <a:endParaRPr lang="en-US" sz="1200">
              <a:latin typeface="Marlett" pitchFamily="2" charset="2"/>
            </a:endParaRPr>
          </a:p>
        </p:txBody>
      </p:sp>
      <p:sp>
        <p:nvSpPr>
          <p:cNvPr id="161796" name="Rectangle 2"/>
          <p:cNvSpPr>
            <a:spLocks noGrp="1" noRot="1" noChangeAspect="1" noChangeArrowheads="1" noTextEdit="1"/>
          </p:cNvSpPr>
          <p:nvPr>
            <p:ph type="sldImg"/>
          </p:nvPr>
        </p:nvSpPr>
        <p:spPr>
          <a:xfrm>
            <a:off x="1255713" y="719138"/>
            <a:ext cx="4802187" cy="3602037"/>
          </a:xfrm>
          <a:ln/>
        </p:spPr>
      </p:sp>
      <p:sp>
        <p:nvSpPr>
          <p:cNvPr id="1617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 us start by by thinking about how to multiply two matrices in parallel. Recall that if $a_{ij}$ is the value at position $(i,j)$ of matrix $A$, then the product $C$ of two $n \times n$ matrices $A$ and $B$ is given by this formula.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D8E91316-741C-4D1E-BDFA-6C37E84EFE6C}" type="slidenum">
              <a:rPr lang="x-none" smtClean="0"/>
              <a:pPr/>
              <a:t>5</a:t>
            </a:fld>
            <a:endParaRPr lang="en-US"/>
          </a:p>
        </p:txBody>
      </p:sp>
      <p:sp>
        <p:nvSpPr>
          <p:cNvPr id="1617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BD4A464-64C6-4999-9E8D-6BCCB9141C3D}" type="slidenum">
              <a:rPr lang="x-none" sz="1200">
                <a:latin typeface="Marlett" pitchFamily="2" charset="2"/>
              </a:rPr>
              <a:pPr defTabSz="968375"/>
              <a:t>5</a:t>
            </a:fld>
            <a:endParaRPr lang="en-US" sz="1200">
              <a:latin typeface="Marlett" pitchFamily="2" charset="2"/>
            </a:endParaRPr>
          </a:p>
        </p:txBody>
      </p:sp>
      <p:sp>
        <p:nvSpPr>
          <p:cNvPr id="161796" name="Rectangle 2"/>
          <p:cNvSpPr>
            <a:spLocks noGrp="1" noRot="1" noChangeAspect="1" noChangeArrowheads="1" noTextEdit="1"/>
          </p:cNvSpPr>
          <p:nvPr>
            <p:ph type="sldImg"/>
          </p:nvPr>
        </p:nvSpPr>
        <p:spPr>
          <a:xfrm>
            <a:off x="1255713" y="719138"/>
            <a:ext cx="4802187" cy="3602037"/>
          </a:xfrm>
          <a:ln/>
        </p:spPr>
      </p:sp>
      <p:sp>
        <p:nvSpPr>
          <p:cNvPr id="1617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 us start by by thinking about how to multiply two matrices in parallel. Recall that if $a_{ij}$ is the value at position $(i,j)$ of matrix $A$, then the product $C$ of two $n \times n$ matrices $A$ and $B$ is given by this formula.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2112644B-AD79-4087-9B2E-9D07ED174348}" type="slidenum">
              <a:rPr lang="x-none" smtClean="0"/>
              <a:pPr/>
              <a:t>6</a:t>
            </a:fld>
            <a:endParaRPr lang="en-US"/>
          </a:p>
        </p:txBody>
      </p:sp>
      <p:sp>
        <p:nvSpPr>
          <p:cNvPr id="1628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563BE08-673E-4423-A6E5-213193CB62BB}" type="slidenum">
              <a:rPr lang="x-none" sz="1200">
                <a:latin typeface="Marlett" pitchFamily="2" charset="2"/>
              </a:rPr>
              <a:pPr defTabSz="968375"/>
              <a:t>6</a:t>
            </a:fld>
            <a:endParaRPr lang="en-US" sz="1200">
              <a:latin typeface="Marlett" pitchFamily="2" charset="2"/>
            </a:endParaRPr>
          </a:p>
        </p:txBody>
      </p:sp>
      <p:sp>
        <p:nvSpPr>
          <p:cNvPr id="162820" name="Rectangle 2"/>
          <p:cNvSpPr>
            <a:spLocks noGrp="1" noRot="1" noChangeAspect="1" noChangeArrowheads="1" noTextEdit="1"/>
          </p:cNvSpPr>
          <p:nvPr>
            <p:ph type="sldImg"/>
          </p:nvPr>
        </p:nvSpPr>
        <p:spPr>
          <a:xfrm>
            <a:off x="1255713" y="719138"/>
            <a:ext cx="4802187" cy="3602037"/>
          </a:xfrm>
          <a:ln/>
        </p:spPr>
      </p:sp>
      <p:sp>
        <p:nvSpPr>
          <p:cNvPr id="16282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a worker thread. The worker in position $(i,j)$ computes $c_{ij}$.</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p>
            <a:fld id="{064CF441-1E74-4886-B7E3-CF4DE4D8DA0C}" type="slidenum">
              <a:rPr lang="x-none" smtClean="0"/>
              <a:pPr/>
              <a:t>7</a:t>
            </a:fld>
            <a:endParaRPr lang="en-US"/>
          </a:p>
        </p:txBody>
      </p:sp>
      <p:sp>
        <p:nvSpPr>
          <p:cNvPr id="1638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96ABF4A-00E2-4C91-AC3C-6DB9BB4BC594}" type="slidenum">
              <a:rPr lang="x-none" sz="1200">
                <a:latin typeface="Marlett" pitchFamily="2" charset="2"/>
              </a:rPr>
              <a:pPr defTabSz="968375"/>
              <a:t>7</a:t>
            </a:fld>
            <a:endParaRPr lang="en-US" sz="1200">
              <a:latin typeface="Marlett" pitchFamily="2" charset="2"/>
            </a:endParaRPr>
          </a:p>
        </p:txBody>
      </p:sp>
      <p:sp>
        <p:nvSpPr>
          <p:cNvPr id="163844" name="Rectangle 2"/>
          <p:cNvSpPr>
            <a:spLocks noGrp="1" noRot="1" noChangeAspect="1" noChangeArrowheads="1" noTextEdit="1"/>
          </p:cNvSpPr>
          <p:nvPr>
            <p:ph type="sldImg"/>
          </p:nvPr>
        </p:nvSpPr>
        <p:spPr>
          <a:xfrm>
            <a:off x="1255713" y="719138"/>
            <a:ext cx="4802187" cy="3602037"/>
          </a:xfrm>
          <a:ln/>
        </p:spPr>
      </p:sp>
      <p:sp>
        <p:nvSpPr>
          <p:cNvPr id="16384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A worker is a thread, meaning that it runs concurrently with other threads.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2A849EAC-4CFE-4DE9-A322-6A7F8900DA15}" type="slidenum">
              <a:rPr lang="x-none" smtClean="0"/>
              <a:pPr/>
              <a:t>8</a:t>
            </a:fld>
            <a:endParaRPr lang="en-US"/>
          </a:p>
        </p:txBody>
      </p:sp>
      <p:sp>
        <p:nvSpPr>
          <p:cNvPr id="1648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713DD8D-59B1-41AB-93EE-7632C46F93C7}" type="slidenum">
              <a:rPr lang="x-none" sz="1200">
                <a:latin typeface="Marlett" pitchFamily="2" charset="2"/>
              </a:rPr>
              <a:pPr defTabSz="968375"/>
              <a:t>8</a:t>
            </a:fld>
            <a:endParaRPr lang="en-US" sz="1200">
              <a:latin typeface="Marlett" pitchFamily="2" charset="2"/>
            </a:endParaRPr>
          </a:p>
        </p:txBody>
      </p:sp>
      <p:sp>
        <p:nvSpPr>
          <p:cNvPr id="164868" name="Rectangle 2"/>
          <p:cNvSpPr>
            <a:spLocks noGrp="1" noRot="1" noChangeAspect="1" noChangeArrowheads="1" noTextEdit="1"/>
          </p:cNvSpPr>
          <p:nvPr>
            <p:ph type="sldImg"/>
          </p:nvPr>
        </p:nvSpPr>
        <p:spPr>
          <a:xfrm>
            <a:off x="1255713" y="719138"/>
            <a:ext cx="4802187" cy="3602037"/>
          </a:xfrm>
          <a:ln/>
        </p:spPr>
      </p:sp>
      <p:sp>
        <p:nvSpPr>
          <p:cNvPr id="16486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Each worker thread is given the coordinates of the term it computes.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EF349EA7-9D33-4285-BB5E-194706256C0E}" type="slidenum">
              <a:rPr lang="x-none" smtClean="0"/>
              <a:pPr/>
              <a:t>9</a:t>
            </a:fld>
            <a:endParaRPr lang="en-US"/>
          </a:p>
        </p:txBody>
      </p:sp>
      <p:sp>
        <p:nvSpPr>
          <p:cNvPr id="1658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BB6A524-3817-48FF-884A-DC564B807B36}" type="slidenum">
              <a:rPr lang="x-none" sz="1200">
                <a:latin typeface="Marlett" pitchFamily="2" charset="2"/>
              </a:rPr>
              <a:pPr defTabSz="968375"/>
              <a:t>9</a:t>
            </a:fld>
            <a:endParaRPr lang="en-US" sz="1200">
              <a:latin typeface="Marlett" pitchFamily="2" charset="2"/>
            </a:endParaRPr>
          </a:p>
        </p:txBody>
      </p:sp>
      <p:sp>
        <p:nvSpPr>
          <p:cNvPr id="165892" name="Rectangle 2"/>
          <p:cNvSpPr>
            <a:spLocks noGrp="1" noRot="1" noChangeAspect="1" noChangeArrowheads="1" noTextEdit="1"/>
          </p:cNvSpPr>
          <p:nvPr>
            <p:ph type="sldImg"/>
          </p:nvPr>
        </p:nvSpPr>
        <p:spPr>
          <a:xfrm>
            <a:off x="1255713" y="719138"/>
            <a:ext cx="4802187" cy="3602037"/>
          </a:xfrm>
          <a:ln/>
        </p:spPr>
      </p:sp>
      <p:sp>
        <p:nvSpPr>
          <p:cNvPr id="16589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actual computation.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80925A87-0673-4ED2-B93D-788C461B8F00}" type="slidenum">
              <a:rPr lang="x-none" smtClean="0"/>
              <a:pPr/>
              <a:t>10</a:t>
            </a:fld>
            <a:endParaRPr lang="en-US"/>
          </a:p>
        </p:txBody>
      </p:sp>
      <p:sp>
        <p:nvSpPr>
          <p:cNvPr id="1669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4D8EA4F-1AE4-410D-8CD9-E20F9284D4E4}" type="slidenum">
              <a:rPr lang="x-none" sz="1200">
                <a:latin typeface="Marlett" pitchFamily="2" charset="2"/>
              </a:rPr>
              <a:pPr defTabSz="968375"/>
              <a:t>10</a:t>
            </a:fld>
            <a:endParaRPr lang="en-US" sz="1200">
              <a:latin typeface="Marlett" pitchFamily="2" charset="2"/>
            </a:endParaRPr>
          </a:p>
        </p:txBody>
      </p:sp>
      <p:sp>
        <p:nvSpPr>
          <p:cNvPr id="166916" name="Rectangle 2"/>
          <p:cNvSpPr>
            <a:spLocks noGrp="1" noRot="1" noChangeAspect="1" noChangeArrowheads="1" noTextEdit="1"/>
          </p:cNvSpPr>
          <p:nvPr>
            <p:ph type="sldImg"/>
          </p:nvPr>
        </p:nvSpPr>
        <p:spPr>
          <a:xfrm>
            <a:off x="1255713" y="719138"/>
            <a:ext cx="4802187" cy="3602037"/>
          </a:xfrm>
          <a:ln/>
        </p:spPr>
      </p:sp>
      <p:sp>
        <p:nvSpPr>
          <p:cNvPr id="16691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driver code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23455388-F37B-4148-B025-30F619E35EF8}" type="slidenum">
              <a:rPr lang="x-none" smtClean="0"/>
              <a:pPr/>
              <a:t>11</a:t>
            </a:fld>
            <a:endParaRPr lang="en-US"/>
          </a:p>
        </p:txBody>
      </p:sp>
      <p:sp>
        <p:nvSpPr>
          <p:cNvPr id="1679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43187B6-BD5B-4AE5-859B-A980E457E5C0}" type="slidenum">
              <a:rPr lang="x-none" sz="1200">
                <a:latin typeface="Marlett" pitchFamily="2" charset="2"/>
              </a:rPr>
              <a:pPr defTabSz="968375"/>
              <a:t>11</a:t>
            </a:fld>
            <a:endParaRPr lang="en-US" sz="1200">
              <a:latin typeface="Marlett" pitchFamily="2" charset="2"/>
            </a:endParaRPr>
          </a:p>
        </p:txBody>
      </p:sp>
      <p:sp>
        <p:nvSpPr>
          <p:cNvPr id="167940" name="Rectangle 2"/>
          <p:cNvSpPr>
            <a:spLocks noGrp="1" noRot="1" noChangeAspect="1" noChangeArrowheads="1" noTextEdit="1"/>
          </p:cNvSpPr>
          <p:nvPr>
            <p:ph type="sldImg"/>
          </p:nvPr>
        </p:nvSpPr>
        <p:spPr>
          <a:xfrm>
            <a:off x="1255713" y="719138"/>
            <a:ext cx="4802187" cy="3602037"/>
          </a:xfrm>
          <a:ln/>
        </p:spPr>
      </p:sp>
      <p:sp>
        <p:nvSpPr>
          <p:cNvPr id="16794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First we create an n-by-n array of threads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DDB937B9-5804-4605-8EBF-2DFBF80105B3}" type="slidenum">
              <a:rPr lang="x-none" smtClean="0"/>
              <a:pPr/>
              <a:t>12</a:t>
            </a:fld>
            <a:endParaRPr lang="en-US"/>
          </a:p>
        </p:txBody>
      </p:sp>
      <p:sp>
        <p:nvSpPr>
          <p:cNvPr id="1689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00C3736-7C53-4FEB-B493-48038552F6F6}" type="slidenum">
              <a:rPr lang="x-none" sz="1200">
                <a:latin typeface="Marlett" pitchFamily="2" charset="2"/>
              </a:rPr>
              <a:pPr defTabSz="968375"/>
              <a:t>12</a:t>
            </a:fld>
            <a:endParaRPr lang="en-US" sz="1200">
              <a:latin typeface="Marlett" pitchFamily="2" charset="2"/>
            </a:endParaRPr>
          </a:p>
        </p:txBody>
      </p:sp>
      <p:sp>
        <p:nvSpPr>
          <p:cNvPr id="168964" name="Rectangle 2"/>
          <p:cNvSpPr>
            <a:spLocks noGrp="1" noRot="1" noChangeAspect="1" noChangeArrowheads="1" noTextEdit="1"/>
          </p:cNvSpPr>
          <p:nvPr>
            <p:ph type="sldImg"/>
          </p:nvPr>
        </p:nvSpPr>
        <p:spPr>
          <a:xfrm>
            <a:off x="1255713" y="719138"/>
            <a:ext cx="4802187" cy="3602037"/>
          </a:xfrm>
          <a:ln/>
        </p:spPr>
      </p:sp>
      <p:sp>
        <p:nvSpPr>
          <p:cNvPr id="16896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Then we start each of the threads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025AD0D8-C818-429E-8DA0-43E04FAF68B2}" type="slidenum">
              <a:rPr lang="x-none" smtClean="0"/>
              <a:pPr/>
              <a:t>13</a:t>
            </a:fld>
            <a:endParaRPr lang="en-US"/>
          </a:p>
        </p:txBody>
      </p:sp>
      <p:sp>
        <p:nvSpPr>
          <p:cNvPr id="1699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DAD8561-0717-4662-9E86-F5FF23CACCCB}" type="slidenum">
              <a:rPr lang="x-none" sz="1200">
                <a:latin typeface="Marlett" pitchFamily="2" charset="2"/>
              </a:rPr>
              <a:pPr defTabSz="968375"/>
              <a:t>13</a:t>
            </a:fld>
            <a:endParaRPr lang="en-US" sz="1200">
              <a:latin typeface="Marlett" pitchFamily="2" charset="2"/>
            </a:endParaRPr>
          </a:p>
        </p:txBody>
      </p:sp>
      <p:sp>
        <p:nvSpPr>
          <p:cNvPr id="169988" name="Rectangle 2"/>
          <p:cNvSpPr>
            <a:spLocks noGrp="1" noRot="1" noChangeAspect="1" noChangeArrowheads="1" noTextEdit="1"/>
          </p:cNvSpPr>
          <p:nvPr>
            <p:ph type="sldImg"/>
          </p:nvPr>
        </p:nvSpPr>
        <p:spPr>
          <a:xfrm>
            <a:off x="1255713" y="719138"/>
            <a:ext cx="4802187" cy="3602037"/>
          </a:xfrm>
          <a:ln/>
        </p:spPr>
      </p:sp>
      <p:sp>
        <p:nvSpPr>
          <p:cNvPr id="16998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Then we wait for them to finish. When they’re done, so are we.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737CE0B3-9F71-4799-A576-27CA1D10B641}" type="slidenum">
              <a:rPr lang="x-none" smtClean="0"/>
              <a:pPr/>
              <a:t>14</a:t>
            </a:fld>
            <a:endParaRPr lang="en-US"/>
          </a:p>
        </p:txBody>
      </p:sp>
      <p:sp>
        <p:nvSpPr>
          <p:cNvPr id="1710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4B78711-86DF-4C32-9C99-75BC3BB9792E}" type="slidenum">
              <a:rPr lang="x-none" sz="1200">
                <a:latin typeface="Marlett" pitchFamily="2" charset="2"/>
              </a:rPr>
              <a:pPr defTabSz="968375"/>
              <a:t>14</a:t>
            </a:fld>
            <a:endParaRPr lang="en-US" sz="1200">
              <a:latin typeface="Marlett" pitchFamily="2" charset="2"/>
            </a:endParaRPr>
          </a:p>
        </p:txBody>
      </p:sp>
      <p:sp>
        <p:nvSpPr>
          <p:cNvPr id="171012" name="Rectangle 2"/>
          <p:cNvSpPr>
            <a:spLocks noGrp="1" noRot="1" noChangeAspect="1" noChangeArrowheads="1" noTextEdit="1"/>
          </p:cNvSpPr>
          <p:nvPr>
            <p:ph type="sldImg"/>
          </p:nvPr>
        </p:nvSpPr>
        <p:spPr>
          <a:xfrm>
            <a:off x="1255713" y="719138"/>
            <a:ext cx="4802187" cy="3602037"/>
          </a:xfrm>
          <a:ln/>
        </p:spPr>
      </p:sp>
      <p:sp>
        <p:nvSpPr>
          <p:cNvPr id="17101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Then we wait for them to finish. When they’re done, so are we.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542E5E94-E643-4197-B117-6544215229FB}" type="slidenum">
              <a:rPr lang="x-none" smtClean="0"/>
              <a:pPr/>
              <a:t>15</a:t>
            </a:fld>
            <a:endParaRPr lang="en-US"/>
          </a:p>
        </p:txBody>
      </p:sp>
      <p:sp>
        <p:nvSpPr>
          <p:cNvPr id="1720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7FF1657-B2BE-459C-9D3D-E76C3163CEBA}" type="slidenum">
              <a:rPr lang="x-none" sz="1200">
                <a:latin typeface="Marlett" pitchFamily="2" charset="2"/>
              </a:rPr>
              <a:pPr defTabSz="968375"/>
              <a:t>15</a:t>
            </a:fld>
            <a:endParaRPr lang="en-US" sz="1200">
              <a:latin typeface="Marlett" pitchFamily="2" charset="2"/>
            </a:endParaRPr>
          </a:p>
        </p:txBody>
      </p:sp>
      <p:sp>
        <p:nvSpPr>
          <p:cNvPr id="172036" name="Rectangle 2"/>
          <p:cNvSpPr>
            <a:spLocks noGrp="1" noRot="1" noChangeAspect="1" noChangeArrowheads="1" noTextEdit="1"/>
          </p:cNvSpPr>
          <p:nvPr>
            <p:ph type="sldImg"/>
          </p:nvPr>
        </p:nvSpPr>
        <p:spPr>
          <a:xfrm>
            <a:off x="1255713" y="719138"/>
            <a:ext cx="4802187" cy="3602037"/>
          </a:xfrm>
          <a:ln/>
        </p:spPr>
      </p:sp>
      <p:sp>
        <p:nvSpPr>
          <p:cNvPr id="1720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practice, however, while this design might perform for small matrices, it would perform very poorly for matrices large enough to be interesting. Here is why: threads require memory for stacks and other bookkeeping information Creating, scheduling, and destroying threads takes a substantial amount of computation. Creating lots of short-lived threads is an inefficient way to organize a multi-threaded computation.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10314852-8E0A-4FEC-999A-1E4BA915274D}" type="slidenum">
              <a:rPr lang="x-none" smtClean="0"/>
              <a:pPr/>
              <a:t>16</a:t>
            </a:fld>
            <a:endParaRPr lang="en-US"/>
          </a:p>
        </p:txBody>
      </p:sp>
      <p:sp>
        <p:nvSpPr>
          <p:cNvPr id="1730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823F7C2-F947-44F1-8C2E-C298652A6C6F}" type="slidenum">
              <a:rPr lang="x-none" sz="1200">
                <a:latin typeface="Marlett" pitchFamily="2" charset="2"/>
              </a:rPr>
              <a:pPr defTabSz="968375"/>
              <a:t>16</a:t>
            </a:fld>
            <a:endParaRPr lang="en-US" sz="1200">
              <a:latin typeface="Marlett" pitchFamily="2" charset="2"/>
            </a:endParaRPr>
          </a:p>
        </p:txBody>
      </p:sp>
      <p:sp>
        <p:nvSpPr>
          <p:cNvPr id="173060" name="Rectangle 2"/>
          <p:cNvSpPr>
            <a:spLocks noGrp="1" noRot="1" noChangeAspect="1" noChangeArrowheads="1" noTextEdit="1"/>
          </p:cNvSpPr>
          <p:nvPr>
            <p:ph type="sldImg"/>
          </p:nvPr>
        </p:nvSpPr>
        <p:spPr>
          <a:xfrm>
            <a:off x="1255713" y="719138"/>
            <a:ext cx="4802187" cy="3602037"/>
          </a:xfrm>
          <a:ln/>
        </p:spPr>
      </p:sp>
      <p:sp>
        <p:nvSpPr>
          <p:cNvPr id="17306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A more effective way to organize such a program is to create a pool of long-lived threads. Each thread in the pool repeatedly waits until it is assigned a task, a short-lived unit of computation. When a thread is assigned a task, it executes that task, and then rejoins the pool to await its next assignment. Thread pools can be platform-dependent: it makes sense for large-scale multiprocessors to provide large pools, and vice-versa. Thread pools avoid the cost of creating and destroying threads in response to short-lived fluctuations in demand.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3061B3A4-FFB9-4053-9C68-4457A7FAA2E7}" type="slidenum">
              <a:rPr lang="x-none" smtClean="0"/>
              <a:pPr/>
              <a:t>17</a:t>
            </a:fld>
            <a:endParaRPr lang="en-US"/>
          </a:p>
        </p:txBody>
      </p:sp>
      <p:sp>
        <p:nvSpPr>
          <p:cNvPr id="1740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0F401F5-E71F-4733-9438-60B074725643}" type="slidenum">
              <a:rPr lang="x-none" sz="1200">
                <a:latin typeface="Marlett" pitchFamily="2" charset="2"/>
              </a:rPr>
              <a:pPr defTabSz="968375"/>
              <a:t>17</a:t>
            </a:fld>
            <a:endParaRPr lang="en-US" sz="1200">
              <a:latin typeface="Marlett" pitchFamily="2" charset="2"/>
            </a:endParaRPr>
          </a:p>
        </p:txBody>
      </p:sp>
      <p:sp>
        <p:nvSpPr>
          <p:cNvPr id="174084" name="Rectangle 2"/>
          <p:cNvSpPr>
            <a:spLocks noGrp="1" noRot="1" noChangeAspect="1" noChangeArrowheads="1" noTextEdit="1"/>
          </p:cNvSpPr>
          <p:nvPr>
            <p:ph type="sldImg"/>
          </p:nvPr>
        </p:nvSpPr>
        <p:spPr>
          <a:xfrm>
            <a:off x="1255713" y="719138"/>
            <a:ext cx="4802187" cy="3602037"/>
          </a:xfrm>
          <a:ln/>
        </p:spPr>
      </p:sp>
      <p:sp>
        <p:nvSpPr>
          <p:cNvPr id="17408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addition to performance benefits, thread pools have another equally important, but less obvious advantage: they insulate the application programmer from platform-specific details such as the number of concurrent threads that can be scheduled efficiently. Thread pools make it possible to write a single program that runs equally well on a uniprocessor, a small-scale multiprocessor, and a large-scale multiprocessor. Thread pools provide a simple interface that hides complex, platform-dependent engineering trade-offs.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C96D9ED2-8640-4ED9-92CB-0A6DCD761287}" type="slidenum">
              <a:rPr lang="x-none" smtClean="0"/>
              <a:pPr/>
              <a:t>18</a:t>
            </a:fld>
            <a:endParaRPr lang="en-US"/>
          </a:p>
        </p:txBody>
      </p:sp>
      <p:sp>
        <p:nvSpPr>
          <p:cNvPr id="1751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D75B9C9D-B818-4112-AAD4-F1166CC3187F}" type="slidenum">
              <a:rPr lang="x-none" sz="1200">
                <a:latin typeface="Marlett" pitchFamily="2" charset="2"/>
              </a:rPr>
              <a:pPr defTabSz="968375"/>
              <a:t>18</a:t>
            </a:fld>
            <a:endParaRPr lang="en-US" sz="1200">
              <a:latin typeface="Marlett" pitchFamily="2" charset="2"/>
            </a:endParaRPr>
          </a:p>
        </p:txBody>
      </p:sp>
      <p:sp>
        <p:nvSpPr>
          <p:cNvPr id="175108" name="Rectangle 2"/>
          <p:cNvSpPr>
            <a:spLocks noGrp="1" noRot="1" noChangeAspect="1" noChangeArrowheads="1" noTextEdit="1"/>
          </p:cNvSpPr>
          <p:nvPr>
            <p:ph type="sldImg"/>
          </p:nvPr>
        </p:nvSpPr>
        <p:spPr>
          <a:xfrm>
            <a:off x="1255713" y="719138"/>
            <a:ext cx="4802187" cy="3602037"/>
          </a:xfrm>
          <a:ln/>
        </p:spPr>
      </p:sp>
      <p:sp>
        <p:nvSpPr>
          <p:cNvPr id="17510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Java, a thread pool is called an executor service. It provides the ability to submit a task, to wait for a set of submitted tasks to complete, and to cancel uncompleted tasks. A task that does not return a result is usually represented as a Runnable object, where the work is performed by a run{} method that takes no arguments and returns no results. A task that returns a value of type T is usually represented as a callable&lt;T&gt; object, where the result is returned by a T call() method that takes no arguments.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3175831F-411C-4CA3-BB6A-4CA092A6A1F2}" type="slidenum">
              <a:rPr lang="x-none" smtClean="0"/>
              <a:pPr/>
              <a:t>19</a:t>
            </a:fld>
            <a:endParaRPr lang="en-US"/>
          </a:p>
        </p:txBody>
      </p:sp>
      <p:sp>
        <p:nvSpPr>
          <p:cNvPr id="1761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C20A8E5-D79D-4409-A475-91CC1E9884D5}" type="slidenum">
              <a:rPr lang="x-none" sz="1200">
                <a:latin typeface="Marlett" pitchFamily="2" charset="2"/>
              </a:rPr>
              <a:pPr defTabSz="968375"/>
              <a:t>19</a:t>
            </a:fld>
            <a:endParaRPr lang="en-US" sz="1200">
              <a:latin typeface="Marlett" pitchFamily="2" charset="2"/>
            </a:endParaRPr>
          </a:p>
        </p:txBody>
      </p:sp>
      <p:sp>
        <p:nvSpPr>
          <p:cNvPr id="176132" name="Rectangle 2"/>
          <p:cNvSpPr>
            <a:spLocks noGrp="1" noRot="1" noChangeAspect="1" noChangeArrowheads="1" noTextEdit="1"/>
          </p:cNvSpPr>
          <p:nvPr>
            <p:ph type="sldImg"/>
          </p:nvPr>
        </p:nvSpPr>
        <p:spPr>
          <a:xfrm>
            <a:off x="1255713" y="719138"/>
            <a:ext cx="4802187" cy="3602037"/>
          </a:xfrm>
          <a:ln/>
        </p:spPr>
      </p:sp>
      <p:sp>
        <p:nvSpPr>
          <p:cNvPr id="17613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how to use an executor service to compute a value asynchronously.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B1625A63-20AD-4B1F-BBF8-44576949835A}" type="slidenum">
              <a:rPr lang="x-none" smtClean="0"/>
              <a:pPr/>
              <a:t>20</a:t>
            </a:fld>
            <a:endParaRPr lang="en-US"/>
          </a:p>
        </p:txBody>
      </p:sp>
      <p:sp>
        <p:nvSpPr>
          <p:cNvPr id="1771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97CAA17-C3CA-4E45-ABD8-14D0D51927AD}" type="slidenum">
              <a:rPr lang="x-none" sz="1200">
                <a:latin typeface="Marlett" pitchFamily="2" charset="2"/>
              </a:rPr>
              <a:pPr defTabSz="968375"/>
              <a:t>20</a:t>
            </a:fld>
            <a:endParaRPr lang="en-US" sz="1200">
              <a:latin typeface="Marlett" pitchFamily="2" charset="2"/>
            </a:endParaRPr>
          </a:p>
        </p:txBody>
      </p:sp>
      <p:sp>
        <p:nvSpPr>
          <p:cNvPr id="177156" name="Rectangle 2"/>
          <p:cNvSpPr>
            <a:spLocks noGrp="1" noRot="1" noChangeAspect="1" noChangeArrowheads="1" noTextEdit="1"/>
          </p:cNvSpPr>
          <p:nvPr>
            <p:ph type="sldImg"/>
          </p:nvPr>
        </p:nvSpPr>
        <p:spPr>
          <a:xfrm>
            <a:off x="1255713" y="719138"/>
            <a:ext cx="4802187" cy="3602037"/>
          </a:xfrm>
          <a:ln/>
        </p:spPr>
      </p:sp>
      <p:sp>
        <p:nvSpPr>
          <p:cNvPr id="17715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When a Callable&lt;T&gt; object is submitted to an executor service, the service returns an object implementing the Future&lt;T&gt; interface.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02226013-3C34-4CA8-BC50-EE625548EF13}" type="slidenum">
              <a:rPr lang="x-none" smtClean="0"/>
              <a:pPr/>
              <a:t>21</a:t>
            </a:fld>
            <a:endParaRPr lang="en-US"/>
          </a:p>
        </p:txBody>
      </p:sp>
      <p:sp>
        <p:nvSpPr>
          <p:cNvPr id="1781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3C918AC-9680-4F9A-9C04-F17AED3E4102}" type="slidenum">
              <a:rPr lang="x-none" sz="1200">
                <a:latin typeface="Marlett" pitchFamily="2" charset="2"/>
              </a:rPr>
              <a:pPr defTabSz="968375"/>
              <a:t>21</a:t>
            </a:fld>
            <a:endParaRPr lang="en-US" sz="1200">
              <a:latin typeface="Marlett" pitchFamily="2" charset="2"/>
            </a:endParaRPr>
          </a:p>
        </p:txBody>
      </p:sp>
      <p:sp>
        <p:nvSpPr>
          <p:cNvPr id="178180" name="Rectangle 2"/>
          <p:cNvSpPr>
            <a:spLocks noGrp="1" noRot="1" noChangeAspect="1" noChangeArrowheads="1" noTextEdit="1"/>
          </p:cNvSpPr>
          <p:nvPr>
            <p:ph type="sldImg"/>
          </p:nvPr>
        </p:nvSpPr>
        <p:spPr>
          <a:xfrm>
            <a:off x="1255713" y="719138"/>
            <a:ext cx="4802187" cy="3602037"/>
          </a:xfrm>
          <a:ln/>
        </p:spPr>
      </p:sp>
      <p:sp>
        <p:nvSpPr>
          <p:cNvPr id="17818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Future provides a get() method that returns the result, blocking if necessary until the result is ready. (It also provides methods for canceling uncompleted computations, and for testing whether the computation is complete.)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CE3042E2-DF68-4096-8CAA-44D80C6D421F}" type="slidenum">
              <a:rPr lang="x-none" smtClean="0"/>
              <a:pPr/>
              <a:t>22</a:t>
            </a:fld>
            <a:endParaRPr lang="en-US"/>
          </a:p>
        </p:txBody>
      </p:sp>
      <p:sp>
        <p:nvSpPr>
          <p:cNvPr id="1792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F739B91-A991-4D4A-9581-9C8273142370}" type="slidenum">
              <a:rPr lang="x-none" sz="1200">
                <a:latin typeface="Marlett" pitchFamily="2" charset="2"/>
              </a:rPr>
              <a:pPr defTabSz="968375"/>
              <a:t>22</a:t>
            </a:fld>
            <a:endParaRPr lang="en-US" sz="1200">
              <a:latin typeface="Marlett" pitchFamily="2" charset="2"/>
            </a:endParaRPr>
          </a:p>
        </p:txBody>
      </p:sp>
      <p:sp>
        <p:nvSpPr>
          <p:cNvPr id="179204" name="Rectangle 2"/>
          <p:cNvSpPr>
            <a:spLocks noGrp="1" noRot="1" noChangeAspect="1" noChangeArrowheads="1" noTextEdit="1"/>
          </p:cNvSpPr>
          <p:nvPr>
            <p:ph type="sldImg"/>
          </p:nvPr>
        </p:nvSpPr>
        <p:spPr>
          <a:xfrm>
            <a:off x="1255713" y="719138"/>
            <a:ext cx="4802187" cy="3602037"/>
          </a:xfrm>
          <a:ln/>
        </p:spPr>
      </p:sp>
      <p:sp>
        <p:nvSpPr>
          <p:cNvPr id="17920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What if we want to run an asynchronous computation that does not return a value?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F2F3E80F-4D43-4C5D-9850-37CB02F6ABFA}" type="slidenum">
              <a:rPr lang="x-none" smtClean="0"/>
              <a:pPr/>
              <a:t>23</a:t>
            </a:fld>
            <a:endParaRPr lang="en-US"/>
          </a:p>
        </p:txBody>
      </p:sp>
      <p:sp>
        <p:nvSpPr>
          <p:cNvPr id="1802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D08909C-41D4-4C55-9ABF-2B14680AAEC1}" type="slidenum">
              <a:rPr lang="x-none" sz="1200">
                <a:latin typeface="Marlett" pitchFamily="2" charset="2"/>
              </a:rPr>
              <a:pPr defTabSz="968375"/>
              <a:t>23</a:t>
            </a:fld>
            <a:endParaRPr lang="en-US" sz="1200">
              <a:latin typeface="Marlett" pitchFamily="2" charset="2"/>
            </a:endParaRPr>
          </a:p>
        </p:txBody>
      </p:sp>
      <p:sp>
        <p:nvSpPr>
          <p:cNvPr id="180228" name="Rectangle 2"/>
          <p:cNvSpPr>
            <a:spLocks noGrp="1" noRot="1" noChangeAspect="1" noChangeArrowheads="1" noTextEdit="1"/>
          </p:cNvSpPr>
          <p:nvPr>
            <p:ph type="sldImg"/>
          </p:nvPr>
        </p:nvSpPr>
        <p:spPr>
          <a:xfrm>
            <a:off x="1255713" y="719138"/>
            <a:ext cx="4802187" cy="3602037"/>
          </a:xfrm>
          <a:ln/>
        </p:spPr>
      </p:sp>
      <p:sp>
        <p:nvSpPr>
          <p:cNvPr id="1802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Submitting a Runnable task also returns a future. Unlike the future returned for a Callable&lt;T&gt; object, this future does not return a value. A future that does not return an interesting value is declared to have class Future&lt;?&gt;.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CBD9DCC3-6F6F-4751-8FE4-B1923835630C}" type="slidenum">
              <a:rPr lang="x-none" smtClean="0"/>
              <a:pPr/>
              <a:t>24</a:t>
            </a:fld>
            <a:endParaRPr lang="en-US"/>
          </a:p>
        </p:txBody>
      </p:sp>
      <p:sp>
        <p:nvSpPr>
          <p:cNvPr id="1812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7C2A4D-A73D-4D7F-926B-FDAE2B40EA36}" type="slidenum">
              <a:rPr lang="x-none" sz="1200">
                <a:latin typeface="Marlett" pitchFamily="2" charset="2"/>
              </a:rPr>
              <a:pPr defTabSz="968375"/>
              <a:t>24</a:t>
            </a:fld>
            <a:endParaRPr lang="en-US" sz="1200">
              <a:latin typeface="Marlett" pitchFamily="2" charset="2"/>
            </a:endParaRPr>
          </a:p>
        </p:txBody>
      </p:sp>
      <p:sp>
        <p:nvSpPr>
          <p:cNvPr id="181252" name="Rectangle 2"/>
          <p:cNvSpPr>
            <a:spLocks noGrp="1" noRot="1" noChangeAspect="1" noChangeArrowheads="1" noTextEdit="1"/>
          </p:cNvSpPr>
          <p:nvPr>
            <p:ph type="sldImg"/>
          </p:nvPr>
        </p:nvSpPr>
        <p:spPr>
          <a:xfrm>
            <a:off x="1255713" y="719138"/>
            <a:ext cx="4802187" cy="3602037"/>
          </a:xfrm>
          <a:ln/>
        </p:spPr>
      </p:sp>
      <p:sp>
        <p:nvSpPr>
          <p:cNvPr id="18125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What if we want to run an asynchronous computation that does not return a value?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31962C2D-C8F0-4C43-A1B8-953468B075B0}" type="slidenum">
              <a:rPr lang="x-none" smtClean="0"/>
              <a:pPr/>
              <a:t>25</a:t>
            </a:fld>
            <a:endParaRPr lang="en-US"/>
          </a:p>
        </p:txBody>
      </p:sp>
      <p:sp>
        <p:nvSpPr>
          <p:cNvPr id="1822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8E2A54E-D250-4F36-A088-412789E10EB2}" type="slidenum">
              <a:rPr lang="x-none" sz="1200">
                <a:latin typeface="Marlett" pitchFamily="2" charset="2"/>
              </a:rPr>
              <a:pPr defTabSz="968375"/>
              <a:t>25</a:t>
            </a:fld>
            <a:endParaRPr lang="en-US" sz="1200">
              <a:latin typeface="Marlett" pitchFamily="2" charset="2"/>
            </a:endParaRPr>
          </a:p>
        </p:txBody>
      </p:sp>
      <p:sp>
        <p:nvSpPr>
          <p:cNvPr id="182276" name="Rectangle 2"/>
          <p:cNvSpPr>
            <a:spLocks noGrp="1" noRot="1" noChangeAspect="1" noChangeArrowheads="1" noTextEdit="1"/>
          </p:cNvSpPr>
          <p:nvPr>
            <p:ph type="sldImg"/>
          </p:nvPr>
        </p:nvSpPr>
        <p:spPr>
          <a:xfrm>
            <a:off x="1255713" y="719138"/>
            <a:ext cx="4802187" cy="3602037"/>
          </a:xfrm>
          <a:ln/>
        </p:spPr>
      </p:sp>
      <p:sp>
        <p:nvSpPr>
          <p:cNvPr id="18227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important thing to understand is that spawn and sync are suggestions to the OS, not commands. In fact, we do not have direct control over how the OS does scheduling. What we are saying is “if there are n processors, then here is work they could do in parallel”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8B58FD13-F16E-4813-8361-7ED06F77541D}" type="slidenum">
              <a:rPr lang="x-none" smtClean="0"/>
              <a:pPr/>
              <a:t>26</a:t>
            </a:fld>
            <a:endParaRPr lang="en-US"/>
          </a:p>
        </p:txBody>
      </p:sp>
      <p:sp>
        <p:nvSpPr>
          <p:cNvPr id="1832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458AF3A-C737-4B72-B9F5-F78ABE52B380}" type="slidenum">
              <a:rPr lang="x-none" sz="1200">
                <a:latin typeface="Marlett" pitchFamily="2" charset="2"/>
              </a:rPr>
              <a:pPr defTabSz="968375"/>
              <a:t>26</a:t>
            </a:fld>
            <a:endParaRPr lang="en-US" sz="1200">
              <a:latin typeface="Marlett" pitchFamily="2" charset="2"/>
            </a:endParaRPr>
          </a:p>
        </p:txBody>
      </p:sp>
      <p:sp>
        <p:nvSpPr>
          <p:cNvPr id="183300" name="Rectangle 2"/>
          <p:cNvSpPr>
            <a:spLocks noGrp="1" noRot="1" noChangeAspect="1" noChangeArrowheads="1" noTextEdit="1"/>
          </p:cNvSpPr>
          <p:nvPr>
            <p:ph type="sldImg"/>
          </p:nvPr>
        </p:nvSpPr>
        <p:spPr>
          <a:xfrm>
            <a:off x="1255713" y="719138"/>
            <a:ext cx="4802187" cy="3602037"/>
          </a:xfrm>
          <a:ln/>
        </p:spPr>
      </p:sp>
      <p:sp>
        <p:nvSpPr>
          <p:cNvPr id="18330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 now, let’s look at the details of how to do matrix addition in parallel. Matrix multiplication, which is far more interesting, is covered in the text.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1740E8AE-B41C-4D81-86F2-6F4651136453}" type="slidenum">
              <a:rPr lang="x-none" smtClean="0"/>
              <a:pPr/>
              <a:t>27</a:t>
            </a:fld>
            <a:endParaRPr lang="en-US"/>
          </a:p>
        </p:txBody>
      </p:sp>
      <p:sp>
        <p:nvSpPr>
          <p:cNvPr id="1843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F266540-D889-4938-9931-B8626A2A2E50}" type="slidenum">
              <a:rPr lang="x-none" sz="1200">
                <a:latin typeface="Marlett" pitchFamily="2" charset="2"/>
              </a:rPr>
              <a:pPr defTabSz="968375"/>
              <a:t>27</a:t>
            </a:fld>
            <a:endParaRPr lang="en-US" sz="1200">
              <a:latin typeface="Marlett" pitchFamily="2" charset="2"/>
            </a:endParaRPr>
          </a:p>
        </p:txBody>
      </p:sp>
      <p:sp>
        <p:nvSpPr>
          <p:cNvPr id="184324" name="Rectangle 2"/>
          <p:cNvSpPr>
            <a:spLocks noGrp="1" noRot="1" noChangeAspect="1" noChangeArrowheads="1" noTextEdit="1"/>
          </p:cNvSpPr>
          <p:nvPr>
            <p:ph type="sldImg"/>
          </p:nvPr>
        </p:nvSpPr>
        <p:spPr>
          <a:xfrm>
            <a:off x="1255713" y="719138"/>
            <a:ext cx="4802187" cy="3602037"/>
          </a:xfrm>
          <a:ln/>
        </p:spPr>
      </p:sp>
      <p:sp>
        <p:nvSpPr>
          <p:cNvPr id="18432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 now, let’s look at the details of how to do matrix addition in parallel. Matrix multiplication, which is far more interesting, is covered in the text.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98EA4CDB-549B-4E4D-8A0F-24CA66DAEC67}" type="slidenum">
              <a:rPr lang="x-none" smtClean="0"/>
              <a:pPr/>
              <a:t>28</a:t>
            </a:fld>
            <a:endParaRPr lang="en-US"/>
          </a:p>
        </p:txBody>
      </p:sp>
      <p:sp>
        <p:nvSpPr>
          <p:cNvPr id="1853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6B475CE-6439-4871-96F3-A7974436E93A}" type="slidenum">
              <a:rPr lang="x-none" sz="1200">
                <a:latin typeface="Marlett" pitchFamily="2" charset="2"/>
              </a:rPr>
              <a:pPr defTabSz="968375"/>
              <a:t>28</a:t>
            </a:fld>
            <a:endParaRPr lang="en-US" sz="1200">
              <a:latin typeface="Marlett" pitchFamily="2" charset="2"/>
            </a:endParaRPr>
          </a:p>
        </p:txBody>
      </p:sp>
      <p:sp>
        <p:nvSpPr>
          <p:cNvPr id="185348" name="Rectangle 2"/>
          <p:cNvSpPr>
            <a:spLocks noGrp="1" noRot="1" noChangeAspect="1" noChangeArrowheads="1" noTextEdit="1"/>
          </p:cNvSpPr>
          <p:nvPr>
            <p:ph type="sldImg"/>
          </p:nvPr>
        </p:nvSpPr>
        <p:spPr>
          <a:xfrm>
            <a:off x="1255713" y="719138"/>
            <a:ext cx="4802187" cy="3602037"/>
          </a:xfrm>
          <a:ln/>
        </p:spPr>
      </p:sp>
      <p:sp>
        <p:nvSpPr>
          <p:cNvPr id="18534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Let’s look at how one would do matrix addition using a thread pool. The above is not actual working Java code, and the reader should look at the textbook for the detailed working code.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79B9D98C-85BA-4712-8B6D-43ACA551030C}" type="slidenum">
              <a:rPr lang="x-none" smtClean="0"/>
              <a:pPr/>
              <a:t>29</a:t>
            </a:fld>
            <a:endParaRPr lang="en-US"/>
          </a:p>
        </p:txBody>
      </p:sp>
      <p:sp>
        <p:nvSpPr>
          <p:cNvPr id="1873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0B86A0A-F80F-46DA-A74D-396D840AC6F7}" type="slidenum">
              <a:rPr lang="x-none" sz="1200">
                <a:latin typeface="Marlett" pitchFamily="2" charset="2"/>
              </a:rPr>
              <a:pPr defTabSz="968375"/>
              <a:t>29</a:t>
            </a:fld>
            <a:endParaRPr lang="en-US" sz="1200">
              <a:latin typeface="Marlett" pitchFamily="2" charset="2"/>
            </a:endParaRPr>
          </a:p>
        </p:txBody>
      </p:sp>
      <p:sp>
        <p:nvSpPr>
          <p:cNvPr id="187396" name="Rectangle 2"/>
          <p:cNvSpPr>
            <a:spLocks noGrp="1" noRot="1" noChangeAspect="1" noChangeArrowheads="1" noTextEdit="1"/>
          </p:cNvSpPr>
          <p:nvPr>
            <p:ph type="sldImg"/>
          </p:nvPr>
        </p:nvSpPr>
        <p:spPr>
          <a:xfrm>
            <a:off x="1255713" y="719138"/>
            <a:ext cx="4802187" cy="3602037"/>
          </a:xfrm>
          <a:ln/>
        </p:spPr>
      </p:sp>
      <p:sp>
        <p:nvSpPr>
          <p:cNvPr id="1873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We can split a matrix into half-size matrices in constant time by manipulating indexes and offsets.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115C000B-DADE-4276-9CD0-9210D0FEF80C}" type="slidenum">
              <a:rPr lang="x-none" smtClean="0"/>
              <a:pPr/>
              <a:t>30</a:t>
            </a:fld>
            <a:endParaRPr lang="en-US"/>
          </a:p>
        </p:txBody>
      </p:sp>
      <p:sp>
        <p:nvSpPr>
          <p:cNvPr id="1884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060C7FF-DDC3-40BD-B5E6-A567F673AC25}" type="slidenum">
              <a:rPr lang="x-none" sz="1200">
                <a:latin typeface="Marlett" pitchFamily="2" charset="2"/>
              </a:rPr>
              <a:pPr defTabSz="968375"/>
              <a:t>30</a:t>
            </a:fld>
            <a:endParaRPr lang="en-US" sz="1200">
              <a:latin typeface="Marlett" pitchFamily="2" charset="2"/>
            </a:endParaRPr>
          </a:p>
        </p:txBody>
      </p:sp>
      <p:sp>
        <p:nvSpPr>
          <p:cNvPr id="188420" name="Rectangle 2"/>
          <p:cNvSpPr>
            <a:spLocks noGrp="1" noRot="1" noChangeAspect="1" noChangeArrowheads="1" noTextEdit="1"/>
          </p:cNvSpPr>
          <p:nvPr>
            <p:ph type="sldImg"/>
          </p:nvPr>
        </p:nvSpPr>
        <p:spPr>
          <a:xfrm>
            <a:off x="1255713" y="719138"/>
            <a:ext cx="4802187" cy="3602037"/>
          </a:xfrm>
          <a:ln/>
        </p:spPr>
      </p:sp>
      <p:sp>
        <p:nvSpPr>
          <p:cNvPr id="18842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Each recursive call returns a Future&lt;?&gt;, meaning that we call it for its side-effects, not its return value.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0E439DED-49E0-4278-A537-B701CE79DBB2}" type="slidenum">
              <a:rPr lang="x-none" smtClean="0"/>
              <a:pPr/>
              <a:t>31</a:t>
            </a:fld>
            <a:endParaRPr lang="en-US"/>
          </a:p>
        </p:txBody>
      </p:sp>
      <p:sp>
        <p:nvSpPr>
          <p:cNvPr id="1863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C174ED6D-9468-4867-B276-0A1734BCE16D}" type="slidenum">
              <a:rPr lang="x-none" sz="1200">
                <a:latin typeface="Marlett" pitchFamily="2" charset="2"/>
              </a:rPr>
              <a:pPr defTabSz="968375"/>
              <a:t>31</a:t>
            </a:fld>
            <a:endParaRPr lang="en-US" sz="1200">
              <a:latin typeface="Marlett" pitchFamily="2" charset="2"/>
            </a:endParaRPr>
          </a:p>
        </p:txBody>
      </p:sp>
      <p:sp>
        <p:nvSpPr>
          <p:cNvPr id="186372" name="Rectangle 2"/>
          <p:cNvSpPr>
            <a:spLocks noGrp="1" noRot="1" noChangeAspect="1" noChangeArrowheads="1" noTextEdit="1"/>
          </p:cNvSpPr>
          <p:nvPr>
            <p:ph type="sldImg"/>
          </p:nvPr>
        </p:nvSpPr>
        <p:spPr>
          <a:xfrm>
            <a:off x="1255713" y="719138"/>
            <a:ext cx="4802187" cy="3602037"/>
          </a:xfrm>
          <a:ln/>
        </p:spPr>
      </p:sp>
      <p:sp>
        <p:nvSpPr>
          <p:cNvPr id="18637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matrix addition program is recursive. When we get to the bottom, do the additions directly. Here we show the recursion bottoming out at dimension 1. In practice, it makes sense to bottom out at a larger number. The code here is a simplified version of the code in the textbook that shows the details of how the split is performed.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C4783362-736D-487F-8D12-5B439A992C54}" type="slidenum">
              <a:rPr lang="x-none" smtClean="0"/>
              <a:pPr/>
              <a:t>32</a:t>
            </a:fld>
            <a:endParaRPr lang="en-US"/>
          </a:p>
        </p:txBody>
      </p:sp>
      <p:sp>
        <p:nvSpPr>
          <p:cNvPr id="1894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660AF0B-3AAC-477E-A4D5-D5038439BF7B}" type="slidenum">
              <a:rPr lang="x-none" sz="1200">
                <a:latin typeface="Marlett" pitchFamily="2" charset="2"/>
              </a:rPr>
              <a:pPr defTabSz="968375"/>
              <a:t>32</a:t>
            </a:fld>
            <a:endParaRPr lang="en-US" sz="1200">
              <a:latin typeface="Marlett" pitchFamily="2" charset="2"/>
            </a:endParaRPr>
          </a:p>
        </p:txBody>
      </p:sp>
      <p:sp>
        <p:nvSpPr>
          <p:cNvPr id="189444" name="Rectangle 2"/>
          <p:cNvSpPr>
            <a:spLocks noGrp="1" noRot="1" noChangeAspect="1" noChangeArrowheads="1" noTextEdit="1"/>
          </p:cNvSpPr>
          <p:nvPr>
            <p:ph type="sldImg"/>
          </p:nvPr>
        </p:nvSpPr>
        <p:spPr>
          <a:xfrm>
            <a:off x="1255713" y="719138"/>
            <a:ext cx="4802187" cy="3602037"/>
          </a:xfrm>
          <a:ln/>
        </p:spPr>
      </p:sp>
      <p:sp>
        <p:nvSpPr>
          <p:cNvPr id="18944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After launching all of these parallel tasks, we now evaluate each of the futures, meaning that we wait until the tasks are complete.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9E35744A-C973-4456-9BF2-1C666F69BAC9}" type="slidenum">
              <a:rPr lang="x-none" smtClean="0"/>
              <a:pPr/>
              <a:t>33</a:t>
            </a:fld>
            <a:endParaRPr lang="en-US"/>
          </a:p>
        </p:txBody>
      </p:sp>
      <p:sp>
        <p:nvSpPr>
          <p:cNvPr id="1904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96E89E5-193D-4D9B-93B7-C66314E26E5E}" type="slidenum">
              <a:rPr lang="x-none" sz="1200">
                <a:latin typeface="Marlett" pitchFamily="2" charset="2"/>
              </a:rPr>
              <a:pPr defTabSz="968375"/>
              <a:t>33</a:t>
            </a:fld>
            <a:endParaRPr lang="en-US" sz="1200">
              <a:latin typeface="Marlett" pitchFamily="2" charset="2"/>
            </a:endParaRPr>
          </a:p>
        </p:txBody>
      </p:sp>
      <p:sp>
        <p:nvSpPr>
          <p:cNvPr id="190468" name="Rectangle 2"/>
          <p:cNvSpPr>
            <a:spLocks noGrp="1" noRot="1" noChangeAspect="1" noChangeArrowheads="1" noTextEdit="1"/>
          </p:cNvSpPr>
          <p:nvPr>
            <p:ph type="sldImg"/>
          </p:nvPr>
        </p:nvSpPr>
        <p:spPr>
          <a:xfrm>
            <a:off x="1255713" y="719138"/>
            <a:ext cx="4802187" cy="3602037"/>
          </a:xfrm>
          <a:ln/>
        </p:spPr>
      </p:sp>
      <p:sp>
        <p:nvSpPr>
          <p:cNvPr id="19046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matrix example uses futures only to signal when a task is complete. Futures can also be used to pass values from completed tasks. To illustrate this use of futures, we consider how to decompose the well-known Fibonacci function into a multithreaded program.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C0376C7A-8C70-46FC-99C2-27F2EAAA2D4F}" type="slidenum">
              <a:rPr lang="x-none" smtClean="0"/>
              <a:pPr/>
              <a:t>34</a:t>
            </a:fld>
            <a:endParaRPr lang="en-US"/>
          </a:p>
        </p:txBody>
      </p:sp>
      <p:sp>
        <p:nvSpPr>
          <p:cNvPr id="1914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51AE559-0D91-4C09-A713-62DDF32AEBA1}" type="slidenum">
              <a:rPr lang="x-none" sz="1200">
                <a:latin typeface="Marlett" pitchFamily="2" charset="2"/>
              </a:rPr>
              <a:pPr defTabSz="968375"/>
              <a:t>34</a:t>
            </a:fld>
            <a:endParaRPr lang="en-US" sz="1200">
              <a:latin typeface="Marlett" pitchFamily="2" charset="2"/>
            </a:endParaRPr>
          </a:p>
        </p:txBody>
      </p:sp>
      <p:sp>
        <p:nvSpPr>
          <p:cNvPr id="191492" name="Rectangle 2"/>
          <p:cNvSpPr>
            <a:spLocks noGrp="1" noRot="1" noChangeAspect="1" noChangeArrowheads="1" noTextEdit="1"/>
          </p:cNvSpPr>
          <p:nvPr>
            <p:ph type="sldImg"/>
          </p:nvPr>
        </p:nvSpPr>
        <p:spPr>
          <a:xfrm>
            <a:off x="1255713" y="719138"/>
            <a:ext cx="4802187" cy="3602037"/>
          </a:xfrm>
          <a:ln/>
        </p:spPr>
      </p:sp>
      <p:sp>
        <p:nvSpPr>
          <p:cNvPr id="19149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To illustrate another use of futures, we consider how to decompose the well-known Fibonacci function into a multithreaded program.</a:t>
            </a:r>
          </a:p>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BA1F7A18-1A5C-4653-9DC0-4AF2776D28E0}" type="slidenum">
              <a:rPr lang="x-none" smtClean="0"/>
              <a:pPr/>
              <a:t>35</a:t>
            </a:fld>
            <a:endParaRPr lang="en-US"/>
          </a:p>
        </p:txBody>
      </p:sp>
      <p:sp>
        <p:nvSpPr>
          <p:cNvPr id="1925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2C0054A-C8F1-4D35-84AA-514A069B111C}" type="slidenum">
              <a:rPr lang="x-none" sz="1200">
                <a:latin typeface="Marlett" pitchFamily="2" charset="2"/>
              </a:rPr>
              <a:pPr defTabSz="968375"/>
              <a:t>35</a:t>
            </a:fld>
            <a:endParaRPr lang="en-US" sz="1200">
              <a:latin typeface="Marlett" pitchFamily="2" charset="2"/>
            </a:endParaRPr>
          </a:p>
        </p:txBody>
      </p:sp>
      <p:sp>
        <p:nvSpPr>
          <p:cNvPr id="192516" name="Rectangle 2"/>
          <p:cNvSpPr>
            <a:spLocks noGrp="1" noRot="1" noChangeAspect="1" noChangeArrowheads="1" noTextEdit="1"/>
          </p:cNvSpPr>
          <p:nvPr>
            <p:ph type="sldImg"/>
          </p:nvPr>
        </p:nvSpPr>
        <p:spPr>
          <a:xfrm>
            <a:off x="1255713" y="719138"/>
            <a:ext cx="4802187" cy="3602037"/>
          </a:xfrm>
          <a:ln/>
        </p:spPr>
      </p:sp>
      <p:sp>
        <p:nvSpPr>
          <p:cNvPr id="192517"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20214DAF-18A7-4A77-85FD-B6703C3952BE}" type="slidenum">
              <a:rPr lang="x-none" smtClean="0"/>
              <a:pPr/>
              <a:t>36</a:t>
            </a:fld>
            <a:endParaRPr lang="en-US"/>
          </a:p>
        </p:txBody>
      </p:sp>
      <p:sp>
        <p:nvSpPr>
          <p:cNvPr id="1935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DBD55395-4BB9-45FE-AAFA-78A0A4E26087}" type="slidenum">
              <a:rPr lang="x-none" sz="1200">
                <a:latin typeface="Marlett" pitchFamily="2" charset="2"/>
              </a:rPr>
              <a:pPr defTabSz="968375"/>
              <a:t>36</a:t>
            </a:fld>
            <a:endParaRPr lang="en-US" sz="1200">
              <a:latin typeface="Marlett" pitchFamily="2" charset="2"/>
            </a:endParaRPr>
          </a:p>
        </p:txBody>
      </p:sp>
      <p:sp>
        <p:nvSpPr>
          <p:cNvPr id="193540" name="Rectangle 2"/>
          <p:cNvSpPr>
            <a:spLocks noGrp="1" noRot="1" noChangeAspect="1" noChangeArrowheads="1" noTextEdit="1"/>
          </p:cNvSpPr>
          <p:nvPr>
            <p:ph type="sldImg"/>
          </p:nvPr>
        </p:nvSpPr>
        <p:spPr>
          <a:xfrm>
            <a:off x="1255713" y="719138"/>
            <a:ext cx="4802187" cy="3602037"/>
          </a:xfrm>
          <a:ln/>
        </p:spPr>
      </p:sp>
      <p:sp>
        <p:nvSpPr>
          <p:cNvPr id="19354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code for a simple Fibonacci program. Of course, this is not actually an effective way to compute </a:t>
            </a:r>
            <a:br>
              <a:rPr lang="en-US"/>
            </a:br>
            <a:r>
              <a:rPr lang="en-US"/>
              <a:t>Fibonacci numbers, but it is a nice simple example.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0B8062EA-3751-4403-99E3-7EA65BB03F89}" type="slidenum">
              <a:rPr lang="x-none" smtClean="0"/>
              <a:pPr/>
              <a:t>37</a:t>
            </a:fld>
            <a:endParaRPr lang="en-US"/>
          </a:p>
        </p:txBody>
      </p:sp>
      <p:sp>
        <p:nvSpPr>
          <p:cNvPr id="1945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8B41FB2-351C-4250-921C-ADADFEA83E21}" type="slidenum">
              <a:rPr lang="x-none" sz="1200">
                <a:latin typeface="Marlett" pitchFamily="2" charset="2"/>
              </a:rPr>
              <a:pPr defTabSz="968375"/>
              <a:t>37</a:t>
            </a:fld>
            <a:endParaRPr lang="en-US" sz="1200">
              <a:latin typeface="Marlett" pitchFamily="2" charset="2"/>
            </a:endParaRPr>
          </a:p>
        </p:txBody>
      </p:sp>
      <p:sp>
        <p:nvSpPr>
          <p:cNvPr id="194564" name="Rectangle 2"/>
          <p:cNvSpPr>
            <a:spLocks noGrp="1" noRot="1" noChangeAspect="1" noChangeArrowheads="1" noTextEdit="1"/>
          </p:cNvSpPr>
          <p:nvPr>
            <p:ph type="sldImg"/>
          </p:nvPr>
        </p:nvSpPr>
        <p:spPr>
          <a:xfrm>
            <a:off x="1255713" y="719138"/>
            <a:ext cx="4802187" cy="3602037"/>
          </a:xfrm>
          <a:ln/>
        </p:spPr>
      </p:sp>
      <p:sp>
        <p:nvSpPr>
          <p:cNvPr id="19456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code for a simple Fibonacci program. Of course, this is not actually an effective way to compute </a:t>
            </a:r>
            <a:br>
              <a:rPr lang="en-US"/>
            </a:br>
            <a:r>
              <a:rPr lang="en-US"/>
              <a:t>Fibonacci numbers, but it is a nice simple example.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D0E6BED7-5DB9-4AA5-9E2F-BDB3BE7E88C5}" type="slidenum">
              <a:rPr lang="x-none" smtClean="0"/>
              <a:pPr/>
              <a:t>38</a:t>
            </a:fld>
            <a:endParaRPr lang="en-US"/>
          </a:p>
        </p:txBody>
      </p:sp>
      <p:sp>
        <p:nvSpPr>
          <p:cNvPr id="1955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B7C9833-E9A8-4CBB-8F0B-C33E3D452FF9}" type="slidenum">
              <a:rPr lang="x-none" sz="1200">
                <a:latin typeface="Marlett" pitchFamily="2" charset="2"/>
              </a:rPr>
              <a:pPr defTabSz="968375"/>
              <a:t>38</a:t>
            </a:fld>
            <a:endParaRPr lang="en-US" sz="1200">
              <a:latin typeface="Marlett" pitchFamily="2" charset="2"/>
            </a:endParaRPr>
          </a:p>
        </p:txBody>
      </p:sp>
      <p:sp>
        <p:nvSpPr>
          <p:cNvPr id="195588" name="Rectangle 2"/>
          <p:cNvSpPr>
            <a:spLocks noGrp="1" noRot="1" noChangeAspect="1" noChangeArrowheads="1" noTextEdit="1"/>
          </p:cNvSpPr>
          <p:nvPr>
            <p:ph type="sldImg"/>
          </p:nvPr>
        </p:nvSpPr>
        <p:spPr>
          <a:xfrm>
            <a:off x="1255713" y="719138"/>
            <a:ext cx="4802187" cy="3602037"/>
          </a:xfrm>
          <a:ln/>
        </p:spPr>
      </p:sp>
      <p:sp>
        <p:nvSpPr>
          <p:cNvPr id="19558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code for a simple Fibonacci program. Of course, this is not actually an effective way to compute </a:t>
            </a:r>
            <a:br>
              <a:rPr lang="en-US"/>
            </a:br>
            <a:r>
              <a:rPr lang="en-US"/>
              <a:t>Fibonacci numbers, but it is a nice simple example.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25EFC87D-FEDF-438F-B471-48339B918EDA}" type="slidenum">
              <a:rPr lang="x-none" smtClean="0"/>
              <a:pPr/>
              <a:t>39</a:t>
            </a:fld>
            <a:endParaRPr lang="en-US"/>
          </a:p>
        </p:txBody>
      </p:sp>
      <p:sp>
        <p:nvSpPr>
          <p:cNvPr id="1966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D7AC008-7254-4C67-A7C7-0B2F26525DE3}" type="slidenum">
              <a:rPr lang="x-none" sz="1200">
                <a:latin typeface="Marlett" pitchFamily="2" charset="2"/>
              </a:rPr>
              <a:pPr defTabSz="968375"/>
              <a:t>39</a:t>
            </a:fld>
            <a:endParaRPr lang="en-US" sz="1200">
              <a:latin typeface="Marlett" pitchFamily="2" charset="2"/>
            </a:endParaRPr>
          </a:p>
        </p:txBody>
      </p:sp>
      <p:sp>
        <p:nvSpPr>
          <p:cNvPr id="196612" name="Rectangle 2"/>
          <p:cNvSpPr>
            <a:spLocks noGrp="1" noRot="1" noChangeAspect="1" noChangeArrowheads="1" noTextEdit="1"/>
          </p:cNvSpPr>
          <p:nvPr>
            <p:ph type="sldImg"/>
          </p:nvPr>
        </p:nvSpPr>
        <p:spPr>
          <a:xfrm>
            <a:off x="1255713" y="719138"/>
            <a:ext cx="4802187" cy="3602037"/>
          </a:xfrm>
          <a:ln/>
        </p:spPr>
      </p:sp>
      <p:sp>
        <p:nvSpPr>
          <p:cNvPr id="19661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Formally, we can model a multithreaded program as a directed acyclic graph, where each node in the graph is a step of the program. A thread in this model is just a maximal sequence of instructions that doesn’t include spawn, synch, or return statements.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F1E8DB83-8203-4E6C-850D-CCC39B735342}" type="slidenum">
              <a:rPr lang="x-none" smtClean="0"/>
              <a:pPr/>
              <a:t>40</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52FF917-7D44-4E80-A289-4BA3F5EC992D}" type="slidenum">
              <a:rPr lang="x-none" sz="1200">
                <a:latin typeface="Marlett" pitchFamily="2" charset="2"/>
              </a:rPr>
              <a:pPr defTabSz="968375"/>
              <a:t>40</a:t>
            </a:fld>
            <a:endParaRPr lang="en-US" sz="1200">
              <a:latin typeface="Marlett" pitchFamily="2" charset="2"/>
            </a:endParaRPr>
          </a:p>
        </p:txBody>
      </p:sp>
      <p:sp>
        <p:nvSpPr>
          <p:cNvPr id="197636" name="Rectangle 2"/>
          <p:cNvSpPr>
            <a:spLocks noGrp="1" noRot="1" noChangeAspect="1" noChangeArrowheads="1" noTextEdit="1"/>
          </p:cNvSpPr>
          <p:nvPr>
            <p:ph type="sldImg"/>
          </p:nvPr>
        </p:nvSpPr>
        <p:spPr>
          <a:xfrm>
            <a:off x="1255713" y="719138"/>
            <a:ext cx="4802187" cy="3602037"/>
          </a:xfrm>
          <a:ln/>
        </p:spPr>
      </p:sp>
      <p:sp>
        <p:nvSpPr>
          <p:cNvPr id="1976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DAG for the Fib program we saw earlier. Each circle is a thread. Each black horizontal arrow is a sequential dependency (the code says to do this before that). The red downward arrows represent spawn calls, and the green upward arrows indicate where the child thread rejoins the parent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F1E8DB83-8203-4E6C-850D-CCC39B735342}" type="slidenum">
              <a:rPr lang="x-none" smtClean="0"/>
              <a:pPr/>
              <a:t>41</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52FF917-7D44-4E80-A289-4BA3F5EC992D}" type="slidenum">
              <a:rPr lang="x-none" sz="1200">
                <a:latin typeface="Marlett" pitchFamily="2" charset="2"/>
              </a:rPr>
              <a:pPr defTabSz="968375"/>
              <a:t>41</a:t>
            </a:fld>
            <a:endParaRPr lang="en-US" sz="1200">
              <a:latin typeface="Marlett" pitchFamily="2" charset="2"/>
            </a:endParaRPr>
          </a:p>
        </p:txBody>
      </p:sp>
      <p:sp>
        <p:nvSpPr>
          <p:cNvPr id="197636" name="Rectangle 2"/>
          <p:cNvSpPr>
            <a:spLocks noGrp="1" noRot="1" noChangeAspect="1" noChangeArrowheads="1" noTextEdit="1"/>
          </p:cNvSpPr>
          <p:nvPr>
            <p:ph type="sldImg"/>
          </p:nvPr>
        </p:nvSpPr>
        <p:spPr>
          <a:xfrm>
            <a:off x="1255713" y="719138"/>
            <a:ext cx="4802187" cy="3602037"/>
          </a:xfrm>
          <a:ln/>
        </p:spPr>
      </p:sp>
      <p:sp>
        <p:nvSpPr>
          <p:cNvPr id="1976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Here is the DAG for the Fib program we saw earlier. Each circle is a thread. Each black horizontal arrow is a sequential dependency (the code says to do this before that). The red downward arrows represent spawn calls, and the green upward arrows indicate where the child thread rejoins the parent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F1E8DB83-8203-4E6C-850D-CCC39B735342}" type="slidenum">
              <a:rPr lang="x-none" smtClean="0"/>
              <a:pPr/>
              <a:t>42</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52FF917-7D44-4E80-A289-4BA3F5EC992D}" type="slidenum">
              <a:rPr lang="x-none" sz="1200">
                <a:latin typeface="Marlett" pitchFamily="2" charset="2"/>
              </a:rPr>
              <a:pPr defTabSz="968375"/>
              <a:t>42</a:t>
            </a:fld>
            <a:endParaRPr lang="en-US" sz="1200">
              <a:latin typeface="Marlett" pitchFamily="2" charset="2"/>
            </a:endParaRPr>
          </a:p>
        </p:txBody>
      </p:sp>
      <p:sp>
        <p:nvSpPr>
          <p:cNvPr id="197636" name="Rectangle 2"/>
          <p:cNvSpPr>
            <a:spLocks noGrp="1" noRot="1" noChangeAspect="1" noChangeArrowheads="1" noTextEdit="1"/>
          </p:cNvSpPr>
          <p:nvPr>
            <p:ph type="sldImg"/>
          </p:nvPr>
        </p:nvSpPr>
        <p:spPr>
          <a:xfrm>
            <a:off x="1255713" y="719138"/>
            <a:ext cx="4802187" cy="3602037"/>
          </a:xfrm>
          <a:ln/>
        </p:spPr>
      </p:sp>
      <p:sp>
        <p:nvSpPr>
          <p:cNvPr id="1976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DAG for the Fib program we saw earlier. Each circle is a thread. Each black horizontal arrow is a sequential dependency (the code says to do this before that). The red downward arrows represent spawn calls, and the green upward arrows indicate where the child thread rejoins the parent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F1E8DB83-8203-4E6C-850D-CCC39B735342}" type="slidenum">
              <a:rPr lang="x-none" smtClean="0"/>
              <a:pPr/>
              <a:t>43</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52FF917-7D44-4E80-A289-4BA3F5EC992D}" type="slidenum">
              <a:rPr lang="x-none" sz="1200">
                <a:latin typeface="Marlett" pitchFamily="2" charset="2"/>
              </a:rPr>
              <a:pPr defTabSz="968375"/>
              <a:t>43</a:t>
            </a:fld>
            <a:endParaRPr lang="en-US" sz="1200">
              <a:latin typeface="Marlett" pitchFamily="2" charset="2"/>
            </a:endParaRPr>
          </a:p>
        </p:txBody>
      </p:sp>
      <p:sp>
        <p:nvSpPr>
          <p:cNvPr id="197636" name="Rectangle 2"/>
          <p:cNvSpPr>
            <a:spLocks noGrp="1" noRot="1" noChangeAspect="1" noChangeArrowheads="1" noTextEdit="1"/>
          </p:cNvSpPr>
          <p:nvPr>
            <p:ph type="sldImg"/>
          </p:nvPr>
        </p:nvSpPr>
        <p:spPr>
          <a:xfrm>
            <a:off x="1255713" y="719138"/>
            <a:ext cx="4802187" cy="3602037"/>
          </a:xfrm>
          <a:ln/>
        </p:spPr>
      </p:sp>
      <p:sp>
        <p:nvSpPr>
          <p:cNvPr id="1976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DAG for the Fib program we saw earlier. Each circle is a thread. Each black horizontal arrow is a sequential dependency (the code says to do this before that). The red downward arrows represent spawn calls, and the green upward arrows indicate where the child thread rejoins the parent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F1E8DB83-8203-4E6C-850D-CCC39B735342}" type="slidenum">
              <a:rPr lang="x-none" smtClean="0"/>
              <a:pPr/>
              <a:t>44</a:t>
            </a:fld>
            <a:endParaRPr lang="en-US"/>
          </a:p>
        </p:txBody>
      </p:sp>
      <p:sp>
        <p:nvSpPr>
          <p:cNvPr id="1976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52FF917-7D44-4E80-A289-4BA3F5EC992D}" type="slidenum">
              <a:rPr lang="x-none" sz="1200">
                <a:latin typeface="Marlett" pitchFamily="2" charset="2"/>
              </a:rPr>
              <a:pPr defTabSz="968375"/>
              <a:t>44</a:t>
            </a:fld>
            <a:endParaRPr lang="en-US" sz="1200">
              <a:latin typeface="Marlett" pitchFamily="2" charset="2"/>
            </a:endParaRPr>
          </a:p>
        </p:txBody>
      </p:sp>
      <p:sp>
        <p:nvSpPr>
          <p:cNvPr id="197636" name="Rectangle 2"/>
          <p:cNvSpPr>
            <a:spLocks noGrp="1" noRot="1" noChangeAspect="1" noChangeArrowheads="1" noTextEdit="1"/>
          </p:cNvSpPr>
          <p:nvPr>
            <p:ph type="sldImg"/>
          </p:nvPr>
        </p:nvSpPr>
        <p:spPr>
          <a:xfrm>
            <a:off x="1255713" y="719138"/>
            <a:ext cx="4802187" cy="3602037"/>
          </a:xfrm>
          <a:ln/>
        </p:spPr>
      </p:sp>
      <p:sp>
        <p:nvSpPr>
          <p:cNvPr id="1976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is the DAG for the Fib program we saw earlier. Each circle is a thread. Each black horizontal arrow is a sequential dependency (the code says to do this before that). The red downward arrows represent spawn calls, and the green upward arrows indicate where the child thread rejoins the parent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30A21C42-9A9E-4AA3-8843-67F4A57AEFBC}" type="slidenum">
              <a:rPr lang="x-none" smtClean="0"/>
              <a:pPr/>
              <a:t>45</a:t>
            </a:fld>
            <a:endParaRPr lang="en-US"/>
          </a:p>
        </p:txBody>
      </p:sp>
      <p:sp>
        <p:nvSpPr>
          <p:cNvPr id="1996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9A99A4F-3BC5-404F-86B7-B5F7920D2CDE}" type="slidenum">
              <a:rPr lang="x-none" sz="1200">
                <a:latin typeface="Marlett" pitchFamily="2" charset="2"/>
              </a:rPr>
              <a:pPr defTabSz="968375"/>
              <a:t>45</a:t>
            </a:fld>
            <a:endParaRPr lang="en-US" sz="1200">
              <a:latin typeface="Marlett" pitchFamily="2" charset="2"/>
            </a:endParaRPr>
          </a:p>
        </p:txBody>
      </p:sp>
      <p:sp>
        <p:nvSpPr>
          <p:cNvPr id="199684" name="Rectangle 2"/>
          <p:cNvSpPr>
            <a:spLocks noGrp="1" noRot="1" noChangeAspect="1" noChangeArrowheads="1" noTextEdit="1"/>
          </p:cNvSpPr>
          <p:nvPr>
            <p:ph type="sldImg"/>
          </p:nvPr>
        </p:nvSpPr>
        <p:spPr>
          <a:xfrm>
            <a:off x="1255713" y="719138"/>
            <a:ext cx="4802187" cy="3602037"/>
          </a:xfrm>
          <a:ln/>
        </p:spPr>
      </p:sp>
      <p:sp>
        <p:nvSpPr>
          <p:cNvPr id="19968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DAF7F183-990F-4B32-9897-2BD1FB3CB1C8}" type="slidenum">
              <a:rPr lang="x-none" smtClean="0"/>
              <a:pPr/>
              <a:t>51</a:t>
            </a:fld>
            <a:endParaRPr lang="en-US"/>
          </a:p>
        </p:txBody>
      </p:sp>
      <p:sp>
        <p:nvSpPr>
          <p:cNvPr id="2048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C43EE99-5F37-43BF-A41E-A67C79A60F12}" type="slidenum">
              <a:rPr lang="x-none" sz="1200">
                <a:latin typeface="Marlett" pitchFamily="2" charset="2"/>
              </a:rPr>
              <a:pPr defTabSz="968375"/>
              <a:t>51</a:t>
            </a:fld>
            <a:endParaRPr lang="en-US" sz="1200">
              <a:latin typeface="Marlett" pitchFamily="2" charset="2"/>
            </a:endParaRPr>
          </a:p>
        </p:txBody>
      </p:sp>
      <p:sp>
        <p:nvSpPr>
          <p:cNvPr id="204804" name="Rectangle 2"/>
          <p:cNvSpPr>
            <a:spLocks noGrp="1" noRot="1" noChangeAspect="1" noChangeArrowheads="1" noTextEdit="1"/>
          </p:cNvSpPr>
          <p:nvPr>
            <p:ph type="sldImg"/>
          </p:nvPr>
        </p:nvSpPr>
        <p:spPr>
          <a:xfrm>
            <a:off x="1255713" y="719138"/>
            <a:ext cx="4802187" cy="3602037"/>
          </a:xfrm>
          <a:ln/>
        </p:spPr>
      </p:sp>
      <p:sp>
        <p:nvSpPr>
          <p:cNvPr id="20480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It is convenient to define the following notion. Let T</a:t>
            </a:r>
            <a:r>
              <a:rPr lang="en-US" baseline="-25000"/>
              <a:t>P </a:t>
            </a:r>
            <a:r>
              <a:rPr lang="en-US"/>
              <a:t>denote the time needed to execute a particular program on P processors (which program will be clear from context). Two special values are of particular interest. The work, T</a:t>
            </a:r>
            <a:r>
              <a:rPr lang="en-US" baseline="-25000"/>
              <a:t>1</a:t>
            </a:r>
            <a:r>
              <a:rPr lang="en-US"/>
              <a:t>, is the time it would take on a single processor, with no parallelism. The critical path length, T</a:t>
            </a:r>
            <a:r>
              <a:rPr lang="en-US" baseline="-25000"/>
              <a:t>∞</a:t>
            </a:r>
            <a:r>
              <a:rPr lang="en-US"/>
              <a:t> , is the time it would take on an unbounded number of processors. No matter how many resources we have or how rich we are, the critical path length limits how quickly we can execute this program.</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5DBBDEFF-13E0-4766-A173-AE9368044E96}" type="slidenum">
              <a:rPr lang="x-none" smtClean="0"/>
              <a:pPr/>
              <a:t>52</a:t>
            </a:fld>
            <a:endParaRPr lang="en-US"/>
          </a:p>
        </p:txBody>
      </p:sp>
      <p:sp>
        <p:nvSpPr>
          <p:cNvPr id="2058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CC9F63C-9C37-4391-B916-BC124E946EEF}" type="slidenum">
              <a:rPr lang="x-none" sz="1200">
                <a:latin typeface="Marlett" pitchFamily="2" charset="2"/>
              </a:rPr>
              <a:pPr defTabSz="968375"/>
              <a:t>52</a:t>
            </a:fld>
            <a:endParaRPr lang="en-US" sz="1200">
              <a:latin typeface="Marlett" pitchFamily="2" charset="2"/>
            </a:endParaRPr>
          </a:p>
        </p:txBody>
      </p:sp>
      <p:sp>
        <p:nvSpPr>
          <p:cNvPr id="205828" name="Rectangle 2"/>
          <p:cNvSpPr>
            <a:spLocks noGrp="1" noRot="1" noChangeAspect="1" noChangeArrowheads="1" noTextEdit="1"/>
          </p:cNvSpPr>
          <p:nvPr>
            <p:ph type="sldImg"/>
          </p:nvPr>
        </p:nvSpPr>
        <p:spPr>
          <a:xfrm>
            <a:off x="1255713" y="719138"/>
            <a:ext cx="4802187" cy="3602037"/>
          </a:xfrm>
          <a:ln/>
        </p:spPr>
      </p:sp>
      <p:sp>
        <p:nvSpPr>
          <p:cNvPr id="2058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are a few simple observations. First, buying P processors isn’t going to speed up your application by more than P. Another way to think about this is that P processors can do at most P work in one time step. Second, the time to execute a program on P processors cannot be less than the time to execute the program on an unbounded number of processors.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261A6FC9-A589-4266-94B5-9C51E1FCE604}" type="slidenum">
              <a:rPr lang="x-none" smtClean="0"/>
              <a:pPr/>
              <a:t>53</a:t>
            </a:fld>
            <a:endParaRPr lang="en-US"/>
          </a:p>
        </p:txBody>
      </p:sp>
      <p:sp>
        <p:nvSpPr>
          <p:cNvPr id="2068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F53080F-1DD4-46AE-ADD8-687FDEF889EA}" type="slidenum">
              <a:rPr lang="x-none" sz="1200">
                <a:latin typeface="Marlett" pitchFamily="2" charset="2"/>
              </a:rPr>
              <a:pPr defTabSz="968375"/>
              <a:t>53</a:t>
            </a:fld>
            <a:endParaRPr lang="en-US" sz="1200">
              <a:latin typeface="Marlett" pitchFamily="2" charset="2"/>
            </a:endParaRPr>
          </a:p>
        </p:txBody>
      </p:sp>
      <p:sp>
        <p:nvSpPr>
          <p:cNvPr id="206852" name="Rectangle 2"/>
          <p:cNvSpPr>
            <a:spLocks noGrp="1" noRot="1" noChangeAspect="1" noChangeArrowheads="1" noTextEdit="1"/>
          </p:cNvSpPr>
          <p:nvPr>
            <p:ph type="sldImg"/>
          </p:nvPr>
        </p:nvSpPr>
        <p:spPr>
          <a:xfrm>
            <a:off x="1255713" y="719138"/>
            <a:ext cx="4802187" cy="3602037"/>
          </a:xfrm>
          <a:ln/>
        </p:spPr>
      </p:sp>
      <p:sp>
        <p:nvSpPr>
          <p:cNvPr id="20685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speedup on P processors is just the ratio between how long it takes with one processor and how long it takes with P. Programs with long critical paths will have poorer speedups than programs with shorter critical paths. We say a program has linear speedup if the speedup is proportional to the number of processors. This is the best we can do. Sometimes you hear people talk of “superlinear speedup”, where using P processes speeds up a computation by a factor of more than P. This phenomenon happens some times with parallel searches where the first processor to find a match halts the computation.</a:t>
            </a:r>
          </a:p>
          <a:p>
            <a:endParaRPr lang="en-US"/>
          </a:p>
          <a:p>
            <a:r>
              <a:rPr lang="en-US"/>
              <a:t>The maximum possible speedup is the ratio between the work and the critical path length. This quantity is often called the average parallelism, or just the parallelism.</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07188C4E-A907-4DC5-ACD3-006BB5AEBB0F}" type="slidenum">
              <a:rPr lang="x-none" smtClean="0"/>
              <a:pPr/>
              <a:t>56</a:t>
            </a:fld>
            <a:endParaRPr lang="en-US"/>
          </a:p>
        </p:txBody>
      </p:sp>
      <p:sp>
        <p:nvSpPr>
          <p:cNvPr id="2078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EC2BC73-A63B-45AD-8C48-4466CE3D6BB1}" type="slidenum">
              <a:rPr lang="x-none" sz="1200">
                <a:latin typeface="Marlett" pitchFamily="2" charset="2"/>
              </a:rPr>
              <a:pPr defTabSz="968375"/>
              <a:t>56</a:t>
            </a:fld>
            <a:endParaRPr lang="en-US" sz="1200">
              <a:latin typeface="Marlett" pitchFamily="2" charset="2"/>
            </a:endParaRPr>
          </a:p>
        </p:txBody>
      </p:sp>
      <p:sp>
        <p:nvSpPr>
          <p:cNvPr id="207876" name="Rectangle 2"/>
          <p:cNvSpPr>
            <a:spLocks noGrp="1" noRot="1" noChangeAspect="1" noChangeArrowheads="1" noTextEdit="1"/>
          </p:cNvSpPr>
          <p:nvPr>
            <p:ph type="sldImg"/>
          </p:nvPr>
        </p:nvSpPr>
        <p:spPr>
          <a:xfrm>
            <a:off x="1255713" y="719138"/>
            <a:ext cx="4802187" cy="3602037"/>
          </a:xfrm>
          <a:ln/>
        </p:spPr>
      </p:sp>
      <p:sp>
        <p:nvSpPr>
          <p:cNvPr id="20787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 now, let’s look at the details of how to do matrix addition in parallel. Matrix multiplication, which is far more interesting, is covered in the text.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FB69F222-F6AE-4138-8390-C3D6612427CE}" type="slidenum">
              <a:rPr lang="x-none" smtClean="0"/>
              <a:pPr/>
              <a:t>57</a:t>
            </a:fld>
            <a:endParaRPr lang="en-US"/>
          </a:p>
        </p:txBody>
      </p:sp>
      <p:sp>
        <p:nvSpPr>
          <p:cNvPr id="2088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0E09606-33E4-4553-8852-8A259CB93919}" type="slidenum">
              <a:rPr lang="x-none" sz="1200">
                <a:latin typeface="Marlett" pitchFamily="2" charset="2"/>
              </a:rPr>
              <a:pPr defTabSz="968375"/>
              <a:t>57</a:t>
            </a:fld>
            <a:endParaRPr lang="en-US" sz="1200">
              <a:latin typeface="Marlett" pitchFamily="2" charset="2"/>
            </a:endParaRPr>
          </a:p>
        </p:txBody>
      </p:sp>
      <p:sp>
        <p:nvSpPr>
          <p:cNvPr id="208900" name="Rectangle 2"/>
          <p:cNvSpPr>
            <a:spLocks noGrp="1" noRot="1" noChangeAspect="1" noChangeArrowheads="1" noTextEdit="1"/>
          </p:cNvSpPr>
          <p:nvPr>
            <p:ph type="sldImg"/>
          </p:nvPr>
        </p:nvSpPr>
        <p:spPr>
          <a:xfrm>
            <a:off x="1255713" y="719138"/>
            <a:ext cx="4802187" cy="3602037"/>
          </a:xfrm>
          <a:ln/>
        </p:spPr>
      </p:sp>
      <p:sp>
        <p:nvSpPr>
          <p:cNvPr id="20890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 now, let’s look at the details of how to do matrix addition in parallel. Matrix multiplication, which is far more interesting, is covered in the text.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A07B778E-F9E5-4CD1-975E-F0903DB9A08E}" type="slidenum">
              <a:rPr lang="x-none" smtClean="0"/>
              <a:pPr/>
              <a:t>58</a:t>
            </a:fld>
            <a:endParaRPr lang="en-US"/>
          </a:p>
        </p:txBody>
      </p:sp>
      <p:sp>
        <p:nvSpPr>
          <p:cNvPr id="2099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87696AD-F2E0-48D0-B388-7C2D0571F643}" type="slidenum">
              <a:rPr lang="x-none" sz="1200">
                <a:latin typeface="Marlett" pitchFamily="2" charset="2"/>
              </a:rPr>
              <a:pPr defTabSz="968375"/>
              <a:t>58</a:t>
            </a:fld>
            <a:endParaRPr lang="en-US" sz="1200">
              <a:latin typeface="Marlett" pitchFamily="2" charset="2"/>
            </a:endParaRPr>
          </a:p>
        </p:txBody>
      </p:sp>
      <p:sp>
        <p:nvSpPr>
          <p:cNvPr id="209924" name="Rectangle 2"/>
          <p:cNvSpPr>
            <a:spLocks noGrp="1" noRot="1" noChangeAspect="1" noChangeArrowheads="1" noTextEdit="1"/>
          </p:cNvSpPr>
          <p:nvPr>
            <p:ph type="sldImg"/>
          </p:nvPr>
        </p:nvSpPr>
        <p:spPr>
          <a:xfrm>
            <a:off x="1255713" y="719138"/>
            <a:ext cx="4802187" cy="3602037"/>
          </a:xfrm>
          <a:ln/>
        </p:spPr>
      </p:sp>
      <p:sp>
        <p:nvSpPr>
          <p:cNvPr id="20992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Let’s see if we can analyze the running time for adding two matrices in this model. Define A</a:t>
            </a:r>
            <a:r>
              <a:rPr lang="en-US" baseline="-25000"/>
              <a:t>p</a:t>
            </a:r>
            <a:r>
              <a:rPr lang="en-US"/>
              <a:t>(n) to be the time needed to add two n X n matrices on P processes. Two special cases of interest are A</a:t>
            </a:r>
            <a:r>
              <a:rPr lang="en-US" baseline="-25000"/>
              <a:t>1</a:t>
            </a:r>
            <a:r>
              <a:rPr lang="en-US"/>
              <a:t>(n), the overall work needed to do the addition, and A</a:t>
            </a:r>
            <a:r>
              <a:rPr lang="en-US" baseline="-25000">
                <a:latin typeface="b"/>
              </a:rPr>
              <a:t>∞</a:t>
            </a:r>
            <a:r>
              <a:rPr lang="en-US">
                <a:latin typeface="b"/>
              </a:rPr>
              <a:t>(n), the critical path length.</a:t>
            </a:r>
            <a:endParaRPr lang="en-US" baseline="-25000">
              <a:latin typeface="b"/>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A7057F9F-0EF6-4921-BCBF-1301C58E1257}" type="slidenum">
              <a:rPr lang="x-none" smtClean="0"/>
              <a:pPr/>
              <a:t>59</a:t>
            </a:fld>
            <a:endParaRPr lang="en-US"/>
          </a:p>
        </p:txBody>
      </p:sp>
      <p:sp>
        <p:nvSpPr>
          <p:cNvPr id="2109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087F46A-51FA-4D66-B65D-511EC5F56504}" type="slidenum">
              <a:rPr lang="x-none" sz="1200">
                <a:latin typeface="Marlett" pitchFamily="2" charset="2"/>
              </a:rPr>
              <a:pPr defTabSz="968375"/>
              <a:t>59</a:t>
            </a:fld>
            <a:endParaRPr lang="en-US" sz="1200">
              <a:latin typeface="Marlett" pitchFamily="2" charset="2"/>
            </a:endParaRPr>
          </a:p>
        </p:txBody>
      </p:sp>
      <p:sp>
        <p:nvSpPr>
          <p:cNvPr id="210948" name="Rectangle 2"/>
          <p:cNvSpPr>
            <a:spLocks noGrp="1" noRot="1" noChangeAspect="1" noChangeArrowheads="1" noTextEdit="1"/>
          </p:cNvSpPr>
          <p:nvPr>
            <p:ph type="sldImg"/>
          </p:nvPr>
        </p:nvSpPr>
        <p:spPr>
          <a:xfrm>
            <a:off x="1255713" y="719138"/>
            <a:ext cx="4802187" cy="3602037"/>
          </a:xfrm>
          <a:ln/>
        </p:spPr>
      </p:sp>
      <p:sp>
        <p:nvSpPr>
          <p:cNvPr id="21094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work is easy to compute. To add two n X n matrices, you need to add 4 half-size matrices, plus some change. The change is just the cost of partitioning the matrix, synchronizing, etc., which is constant.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AC59ABD4-74CC-4B58-9EF3-C1C307C9A784}" type="slidenum">
              <a:rPr lang="x-none" smtClean="0"/>
              <a:pPr/>
              <a:t>60</a:t>
            </a:fld>
            <a:endParaRPr lang="en-US"/>
          </a:p>
        </p:txBody>
      </p:sp>
      <p:sp>
        <p:nvSpPr>
          <p:cNvPr id="2119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23D1239-B5E4-490B-8832-26C8FC023976}" type="slidenum">
              <a:rPr lang="x-none" sz="1200">
                <a:latin typeface="Marlett" pitchFamily="2" charset="2"/>
              </a:rPr>
              <a:pPr defTabSz="968375"/>
              <a:t>60</a:t>
            </a:fld>
            <a:endParaRPr lang="en-US" sz="1200">
              <a:latin typeface="Marlett" pitchFamily="2" charset="2"/>
            </a:endParaRPr>
          </a:p>
        </p:txBody>
      </p:sp>
      <p:sp>
        <p:nvSpPr>
          <p:cNvPr id="211972" name="Rectangle 2"/>
          <p:cNvSpPr>
            <a:spLocks noGrp="1" noRot="1" noChangeAspect="1" noChangeArrowheads="1" noTextEdit="1"/>
          </p:cNvSpPr>
          <p:nvPr>
            <p:ph type="sldImg"/>
          </p:nvPr>
        </p:nvSpPr>
        <p:spPr>
          <a:xfrm>
            <a:off x="1255713" y="719138"/>
            <a:ext cx="4802187" cy="3602037"/>
          </a:xfrm>
          <a:ln/>
        </p:spPr>
      </p:sp>
      <p:sp>
        <p:nvSpPr>
          <p:cNvPr id="211973"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You can solve this recurrence using standard methods</a:t>
            </a:r>
          </a:p>
          <a:p>
            <a:endParaRPr lang="en-US" dirty="0"/>
          </a:p>
          <a:p>
            <a:r>
              <a:rPr lang="en-US" dirty="0"/>
              <a:t>A</a:t>
            </a:r>
            <a:r>
              <a:rPr lang="en-US" baseline="-25000" dirty="0"/>
              <a:t>1</a:t>
            </a:r>
            <a:r>
              <a:rPr lang="en-US" dirty="0"/>
              <a:t>(n) = 4 A</a:t>
            </a:r>
            <a:r>
              <a:rPr lang="en-US" baseline="-25000" dirty="0"/>
              <a:t>1</a:t>
            </a:r>
            <a:r>
              <a:rPr lang="en-US" dirty="0"/>
              <a:t>(n/2) + </a:t>
            </a:r>
            <a:r>
              <a:rPr lang="el-GR" dirty="0"/>
              <a:t>Θ</a:t>
            </a:r>
            <a:r>
              <a:rPr lang="en-US" dirty="0"/>
              <a:t>(1) = 4(4A</a:t>
            </a:r>
            <a:r>
              <a:rPr lang="en-US" baseline="-25000" dirty="0"/>
              <a:t>1</a:t>
            </a:r>
            <a:r>
              <a:rPr lang="en-US" dirty="0"/>
              <a:t>(n/4)+O(1)) + O(1) = 2</a:t>
            </a:r>
            <a:r>
              <a:rPr lang="en-US" baseline="30000" dirty="0"/>
              <a:t>2logn</a:t>
            </a:r>
            <a:r>
              <a:rPr lang="en-US" dirty="0"/>
              <a:t>+log n = n</a:t>
            </a:r>
            <a:r>
              <a:rPr lang="en-US" baseline="30000" dirty="0"/>
              <a:t>2</a:t>
            </a:r>
            <a:r>
              <a:rPr lang="en-US" dirty="0"/>
              <a:t>+log n = O(n</a:t>
            </a:r>
            <a:r>
              <a:rPr lang="en-US" baseline="30000" dirty="0"/>
              <a:t>2</a:t>
            </a:r>
            <a:r>
              <a:rPr lang="en-US" dirty="0"/>
              <a:t>)</a:t>
            </a:r>
          </a:p>
          <a:p>
            <a:endParaRPr lang="en-US" dirty="0"/>
          </a:p>
          <a:p>
            <a:r>
              <a:rPr lang="en-US" dirty="0"/>
              <a:t>and it turns out that the overall work for adding two n X n matrices is about n</a:t>
            </a:r>
            <a:r>
              <a:rPr lang="en-US" baseline="30000" dirty="0"/>
              <a:t>2</a:t>
            </a:r>
            <a:r>
              <a:rPr lang="en-US" dirty="0"/>
              <a:t>, same as the usual double-loop summation, which is reassuring, because anything much better or worse would be alarming. (Why?)</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1D764512-1AC4-4FE3-B089-7978C7E980EF}" type="slidenum">
              <a:rPr lang="x-none" smtClean="0"/>
              <a:pPr/>
              <a:t>61</a:t>
            </a:fld>
            <a:endParaRPr lang="en-US"/>
          </a:p>
        </p:txBody>
      </p:sp>
      <p:sp>
        <p:nvSpPr>
          <p:cNvPr id="2129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D4A3370-0A0D-4C8B-AA15-A1E39EF42E4A}" type="slidenum">
              <a:rPr lang="x-none" sz="1200">
                <a:latin typeface="Marlett" pitchFamily="2" charset="2"/>
              </a:rPr>
              <a:pPr defTabSz="968375"/>
              <a:t>61</a:t>
            </a:fld>
            <a:endParaRPr lang="en-US" sz="1200">
              <a:latin typeface="Marlett" pitchFamily="2" charset="2"/>
            </a:endParaRPr>
          </a:p>
        </p:txBody>
      </p:sp>
      <p:sp>
        <p:nvSpPr>
          <p:cNvPr id="212996" name="Rectangle 2"/>
          <p:cNvSpPr>
            <a:spLocks noGrp="1" noRot="1" noChangeAspect="1" noChangeArrowheads="1" noTextEdit="1"/>
          </p:cNvSpPr>
          <p:nvPr>
            <p:ph type="sldImg"/>
          </p:nvPr>
        </p:nvSpPr>
        <p:spPr>
          <a:xfrm>
            <a:off x="1255713" y="719138"/>
            <a:ext cx="4802187" cy="3602037"/>
          </a:xfrm>
          <a:ln/>
        </p:spPr>
      </p:sp>
      <p:sp>
        <p:nvSpPr>
          <p:cNvPr id="2129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Computing the critical path length is different from computing the work in one important respect: we can use all the parallelism we want. In this case, all the half-size additions are done in parallel, so we only count one half-size addition, not four. We still have the constant overhead because partition and so on are not done in parallel with the addition.</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DBAFAA3D-92A2-421D-8EF2-29416380905D}" type="slidenum">
              <a:rPr lang="x-none" smtClean="0"/>
              <a:pPr/>
              <a:t>62</a:t>
            </a:fld>
            <a:endParaRPr lang="en-US"/>
          </a:p>
        </p:txBody>
      </p:sp>
      <p:sp>
        <p:nvSpPr>
          <p:cNvPr id="2140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405BA50-5BB8-4CC7-A3AC-0A2A1087093F}" type="slidenum">
              <a:rPr lang="x-none" sz="1200">
                <a:latin typeface="Marlett" pitchFamily="2" charset="2"/>
              </a:rPr>
              <a:pPr defTabSz="968375"/>
              <a:t>62</a:t>
            </a:fld>
            <a:endParaRPr lang="en-US" sz="1200">
              <a:latin typeface="Marlett" pitchFamily="2" charset="2"/>
            </a:endParaRPr>
          </a:p>
        </p:txBody>
      </p:sp>
      <p:sp>
        <p:nvSpPr>
          <p:cNvPr id="214020" name="Rectangle 2"/>
          <p:cNvSpPr>
            <a:spLocks noGrp="1" noRot="1" noChangeAspect="1" noChangeArrowheads="1" noTextEdit="1"/>
          </p:cNvSpPr>
          <p:nvPr>
            <p:ph type="sldImg"/>
          </p:nvPr>
        </p:nvSpPr>
        <p:spPr>
          <a:xfrm>
            <a:off x="1255713" y="719138"/>
            <a:ext cx="4802187" cy="3602037"/>
          </a:xfrm>
          <a:ln/>
        </p:spPr>
      </p:sp>
      <p:sp>
        <p:nvSpPr>
          <p:cNvPr id="21402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too, if we solve the recurrence, we discover that the critical path length is quite short: logarithmic in n. This suggests that matrix addition  has a high degree of inherent parallelism.</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90E2CE7F-7A46-4135-938A-28EED80DE288}" type="slidenum">
              <a:rPr lang="x-none" smtClean="0"/>
              <a:pPr/>
              <a:t>63</a:t>
            </a:fld>
            <a:endParaRPr lang="en-US"/>
          </a:p>
        </p:txBody>
      </p:sp>
      <p:sp>
        <p:nvSpPr>
          <p:cNvPr id="2150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F32B3F2-5E64-4EF9-8EC3-B62DB574FFEB}" type="slidenum">
              <a:rPr lang="x-none" sz="1200">
                <a:latin typeface="Marlett" pitchFamily="2" charset="2"/>
              </a:rPr>
              <a:pPr defTabSz="968375"/>
              <a:t>63</a:t>
            </a:fld>
            <a:endParaRPr lang="en-US" sz="1200">
              <a:latin typeface="Marlett" pitchFamily="2" charset="2"/>
            </a:endParaRPr>
          </a:p>
        </p:txBody>
      </p:sp>
      <p:sp>
        <p:nvSpPr>
          <p:cNvPr id="215044" name="Rectangle 2"/>
          <p:cNvSpPr>
            <a:spLocks noGrp="1" noRot="1" noChangeAspect="1" noChangeArrowheads="1" noTextEdit="1"/>
          </p:cNvSpPr>
          <p:nvPr>
            <p:ph type="sldImg"/>
          </p:nvPr>
        </p:nvSpPr>
        <p:spPr>
          <a:xfrm>
            <a:off x="1255713" y="719138"/>
            <a:ext cx="4802187" cy="3602037"/>
          </a:xfrm>
          <a:ln/>
        </p:spPr>
      </p:sp>
      <p:sp>
        <p:nvSpPr>
          <p:cNvPr id="21504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Let’s return to the problem of matrix multiplication.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0E06B08F-5DCD-430D-8B36-1C71F4E9CBC3}" type="slidenum">
              <a:rPr lang="x-none" smtClean="0"/>
              <a:pPr/>
              <a:t>64</a:t>
            </a:fld>
            <a:endParaRPr lang="en-US"/>
          </a:p>
        </p:txBody>
      </p:sp>
      <p:sp>
        <p:nvSpPr>
          <p:cNvPr id="2160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D666FE0-4871-458F-B165-C8DB9CF74507}" type="slidenum">
              <a:rPr lang="x-none" sz="1200">
                <a:latin typeface="Marlett" pitchFamily="2" charset="2"/>
              </a:rPr>
              <a:pPr defTabSz="968375"/>
              <a:t>64</a:t>
            </a:fld>
            <a:endParaRPr lang="en-US" sz="1200">
              <a:latin typeface="Marlett" pitchFamily="2" charset="2"/>
            </a:endParaRPr>
          </a:p>
        </p:txBody>
      </p:sp>
      <p:sp>
        <p:nvSpPr>
          <p:cNvPr id="216068" name="Rectangle 2"/>
          <p:cNvSpPr>
            <a:spLocks noGrp="1" noRot="1" noChangeAspect="1" noChangeArrowheads="1" noTextEdit="1"/>
          </p:cNvSpPr>
          <p:nvPr>
            <p:ph type="sldImg"/>
          </p:nvPr>
        </p:nvSpPr>
        <p:spPr>
          <a:xfrm>
            <a:off x="1255713" y="719138"/>
            <a:ext cx="4802187" cy="3602037"/>
          </a:xfrm>
          <a:ln/>
        </p:spPr>
      </p:sp>
      <p:sp>
        <p:nvSpPr>
          <p:cNvPr id="21606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We split each matrix into four sub-matrices, and express the problem in terms of the submatrices.</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33CFD372-DD86-4025-89D1-C45D66EFB4E4}" type="slidenum">
              <a:rPr lang="x-none" smtClean="0"/>
              <a:pPr/>
              <a:t>65</a:t>
            </a:fld>
            <a:endParaRPr lang="en-US"/>
          </a:p>
        </p:txBody>
      </p:sp>
      <p:sp>
        <p:nvSpPr>
          <p:cNvPr id="2170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3334C8C-58A3-4AD2-902C-8C4C4050774C}" type="slidenum">
              <a:rPr lang="x-none" sz="1200">
                <a:latin typeface="Marlett" pitchFamily="2" charset="2"/>
              </a:rPr>
              <a:pPr defTabSz="968375"/>
              <a:t>65</a:t>
            </a:fld>
            <a:endParaRPr lang="en-US" sz="1200">
              <a:latin typeface="Marlett" pitchFamily="2" charset="2"/>
            </a:endParaRPr>
          </a:p>
        </p:txBody>
      </p:sp>
      <p:sp>
        <p:nvSpPr>
          <p:cNvPr id="217092" name="Rectangle 2"/>
          <p:cNvSpPr>
            <a:spLocks noGrp="1" noRot="1" noChangeAspect="1" noChangeArrowheads="1" noTextEdit="1"/>
          </p:cNvSpPr>
          <p:nvPr>
            <p:ph type="sldImg"/>
          </p:nvPr>
        </p:nvSpPr>
        <p:spPr>
          <a:xfrm>
            <a:off x="1255713" y="719138"/>
            <a:ext cx="4802187" cy="3602037"/>
          </a:xfrm>
          <a:ln/>
        </p:spPr>
      </p:sp>
      <p:sp>
        <p:nvSpPr>
          <p:cNvPr id="21709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First, there are 8 multiplications, which can be done in parallel.</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57EA2FF9-6D77-42F3-A6FA-256474371CB4}" type="slidenum">
              <a:rPr lang="x-none" smtClean="0"/>
              <a:pPr/>
              <a:t>66</a:t>
            </a:fld>
            <a:endParaRPr lang="en-US"/>
          </a:p>
        </p:txBody>
      </p:sp>
      <p:sp>
        <p:nvSpPr>
          <p:cNvPr id="2181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E392671-0AF8-4A48-9109-39F69E834C2F}" type="slidenum">
              <a:rPr lang="x-none" sz="1200">
                <a:latin typeface="Marlett" pitchFamily="2" charset="2"/>
              </a:rPr>
              <a:pPr defTabSz="968375"/>
              <a:t>66</a:t>
            </a:fld>
            <a:endParaRPr lang="en-US" sz="1200">
              <a:latin typeface="Marlett" pitchFamily="2" charset="2"/>
            </a:endParaRPr>
          </a:p>
        </p:txBody>
      </p:sp>
      <p:sp>
        <p:nvSpPr>
          <p:cNvPr id="218116" name="Rectangle 2"/>
          <p:cNvSpPr>
            <a:spLocks noGrp="1" noRot="1" noChangeAspect="1" noChangeArrowheads="1" noTextEdit="1"/>
          </p:cNvSpPr>
          <p:nvPr>
            <p:ph type="sldImg"/>
          </p:nvPr>
        </p:nvSpPr>
        <p:spPr>
          <a:xfrm>
            <a:off x="1255713" y="719138"/>
            <a:ext cx="4802187" cy="3602037"/>
          </a:xfrm>
          <a:ln/>
        </p:spPr>
      </p:sp>
      <p:sp>
        <p:nvSpPr>
          <p:cNvPr id="21811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Second, there are four additions, which can also be done in parallel, but not until the multiplications are complete.</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00F58B83-C4BC-475D-9273-C0316EFC0F83}" type="slidenum">
              <a:rPr lang="x-none" smtClean="0"/>
              <a:pPr/>
              <a:t>67</a:t>
            </a:fld>
            <a:endParaRPr lang="en-US"/>
          </a:p>
        </p:txBody>
      </p:sp>
      <p:sp>
        <p:nvSpPr>
          <p:cNvPr id="2191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CC07575-F645-4E2E-8546-C59516F0CF53}" type="slidenum">
              <a:rPr lang="x-none" sz="1200">
                <a:latin typeface="Marlett" pitchFamily="2" charset="2"/>
              </a:rPr>
              <a:pPr defTabSz="968375"/>
              <a:t>67</a:t>
            </a:fld>
            <a:endParaRPr lang="en-US" sz="1200">
              <a:latin typeface="Marlett" pitchFamily="2" charset="2"/>
            </a:endParaRPr>
          </a:p>
        </p:txBody>
      </p:sp>
      <p:sp>
        <p:nvSpPr>
          <p:cNvPr id="219140" name="Rectangle 2"/>
          <p:cNvSpPr>
            <a:spLocks noGrp="1" noRot="1" noChangeAspect="1" noChangeArrowheads="1" noTextEdit="1"/>
          </p:cNvSpPr>
          <p:nvPr>
            <p:ph type="sldImg"/>
          </p:nvPr>
        </p:nvSpPr>
        <p:spPr>
          <a:xfrm>
            <a:off x="1255713" y="719138"/>
            <a:ext cx="4802187" cy="3602037"/>
          </a:xfrm>
          <a:ln/>
        </p:spPr>
      </p:sp>
      <p:sp>
        <p:nvSpPr>
          <p:cNvPr id="21914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Now let us turn our attention to matrix multiplication. The work required is straightforward: we need to do 8 half-size multiplications followed by one full-size addition. Because we are measuring work here, we do not care what is done in parallel.</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688F1B74-AA82-42DD-B278-0C38BBB9F505}" type="slidenum">
              <a:rPr lang="x-none" smtClean="0"/>
              <a:pPr/>
              <a:t>68</a:t>
            </a:fld>
            <a:endParaRPr lang="en-US"/>
          </a:p>
        </p:txBody>
      </p:sp>
      <p:sp>
        <p:nvSpPr>
          <p:cNvPr id="2201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8CE9182-8EEB-4642-8B0E-820699C1296E}" type="slidenum">
              <a:rPr lang="x-none" sz="1200">
                <a:latin typeface="Marlett" pitchFamily="2" charset="2"/>
              </a:rPr>
              <a:pPr defTabSz="968375"/>
              <a:t>68</a:t>
            </a:fld>
            <a:endParaRPr lang="en-US" sz="1200">
              <a:latin typeface="Marlett" pitchFamily="2" charset="2"/>
            </a:endParaRPr>
          </a:p>
        </p:txBody>
      </p:sp>
      <p:sp>
        <p:nvSpPr>
          <p:cNvPr id="220164" name="Rectangle 2"/>
          <p:cNvSpPr>
            <a:spLocks noGrp="1" noRot="1" noChangeAspect="1" noChangeArrowheads="1" noTextEdit="1"/>
          </p:cNvSpPr>
          <p:nvPr>
            <p:ph type="sldImg"/>
          </p:nvPr>
        </p:nvSpPr>
        <p:spPr>
          <a:xfrm>
            <a:off x="1255713" y="719138"/>
            <a:ext cx="4802187" cy="3602037"/>
          </a:xfrm>
          <a:ln/>
        </p:spPr>
      </p:sp>
      <p:sp>
        <p:nvSpPr>
          <p:cNvPr id="22016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When we solve the recurrence, it turns out that the total work is order of n cubed, which is the same work we would do in a straightforward, non-concurrent triply-nested loop.</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9A3F4B75-97A7-4005-A3C6-3E9BDDB029CB}" type="slidenum">
              <a:rPr lang="x-none" smtClean="0"/>
              <a:pPr/>
              <a:t>69</a:t>
            </a:fld>
            <a:endParaRPr lang="en-US"/>
          </a:p>
        </p:txBody>
      </p:sp>
      <p:sp>
        <p:nvSpPr>
          <p:cNvPr id="2211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F1A66D9-9F33-4DB6-B624-4909C0DF089D}" type="slidenum">
              <a:rPr lang="x-none" sz="1200">
                <a:latin typeface="Marlett" pitchFamily="2" charset="2"/>
              </a:rPr>
              <a:pPr defTabSz="968375"/>
              <a:t>69</a:t>
            </a:fld>
            <a:endParaRPr lang="en-US" sz="1200">
              <a:latin typeface="Marlett" pitchFamily="2" charset="2"/>
            </a:endParaRPr>
          </a:p>
        </p:txBody>
      </p:sp>
      <p:sp>
        <p:nvSpPr>
          <p:cNvPr id="221188" name="Rectangle 2"/>
          <p:cNvSpPr>
            <a:spLocks noGrp="1" noRot="1" noChangeAspect="1" noChangeArrowheads="1" noTextEdit="1"/>
          </p:cNvSpPr>
          <p:nvPr>
            <p:ph type="sldImg"/>
          </p:nvPr>
        </p:nvSpPr>
        <p:spPr>
          <a:xfrm>
            <a:off x="1255713" y="719138"/>
            <a:ext cx="4802187" cy="3602037"/>
          </a:xfrm>
          <a:ln/>
        </p:spPr>
      </p:sp>
      <p:sp>
        <p:nvSpPr>
          <p:cNvPr id="22118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critical path length is also easy to compute. The 8 half-size multiplications are done in parallel, so we charge for the once. The final addition takes place after the multiplications are all complete, so we have to add that in as well.</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p>
            <a:fld id="{A7F1831F-14F1-4446-8B0D-B36A854E6206}" type="slidenum">
              <a:rPr lang="x-none" smtClean="0"/>
              <a:pPr/>
              <a:t>70</a:t>
            </a:fld>
            <a:endParaRPr lang="en-US"/>
          </a:p>
        </p:txBody>
      </p:sp>
      <p:sp>
        <p:nvSpPr>
          <p:cNvPr id="2222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C4E8828-9ACD-4AC1-AAE0-F6E4895E3A5E}" type="slidenum">
              <a:rPr lang="x-none" sz="1200">
                <a:latin typeface="Marlett" pitchFamily="2" charset="2"/>
              </a:rPr>
              <a:pPr defTabSz="968375"/>
              <a:t>70</a:t>
            </a:fld>
            <a:endParaRPr lang="en-US" sz="1200">
              <a:latin typeface="Marlett" pitchFamily="2" charset="2"/>
            </a:endParaRPr>
          </a:p>
        </p:txBody>
      </p:sp>
      <p:sp>
        <p:nvSpPr>
          <p:cNvPr id="222212" name="Rectangle 2"/>
          <p:cNvSpPr>
            <a:spLocks noGrp="1" noRot="1" noChangeAspect="1" noChangeArrowheads="1" noTextEdit="1"/>
          </p:cNvSpPr>
          <p:nvPr>
            <p:ph type="sldImg"/>
          </p:nvPr>
        </p:nvSpPr>
        <p:spPr>
          <a:xfrm>
            <a:off x="1255713" y="719138"/>
            <a:ext cx="4802187" cy="3602037"/>
          </a:xfrm>
          <a:ln/>
        </p:spPr>
      </p:sp>
      <p:sp>
        <p:nvSpPr>
          <p:cNvPr id="22221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Solving the recurrence shows that the critical path length is about log-squared n, which is pretty small.</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p>
            <a:fld id="{7E3EDD88-B34C-41F8-896C-3805313C3BE6}" type="slidenum">
              <a:rPr lang="x-none" smtClean="0"/>
              <a:pPr/>
              <a:t>71</a:t>
            </a:fld>
            <a:endParaRPr lang="en-US"/>
          </a:p>
        </p:txBody>
      </p:sp>
      <p:sp>
        <p:nvSpPr>
          <p:cNvPr id="2232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9AB855-E9AE-48CD-B37D-51B59F5F3014}" type="slidenum">
              <a:rPr lang="x-none" sz="1200">
                <a:latin typeface="Marlett" pitchFamily="2" charset="2"/>
              </a:rPr>
              <a:pPr defTabSz="968375"/>
              <a:t>71</a:t>
            </a:fld>
            <a:endParaRPr lang="en-US" sz="1200">
              <a:latin typeface="Marlett" pitchFamily="2" charset="2"/>
            </a:endParaRPr>
          </a:p>
        </p:txBody>
      </p:sp>
      <p:sp>
        <p:nvSpPr>
          <p:cNvPr id="223236" name="Rectangle 2"/>
          <p:cNvSpPr>
            <a:spLocks noGrp="1" noRot="1" noChangeAspect="1" noChangeArrowheads="1" noTextEdit="1"/>
          </p:cNvSpPr>
          <p:nvPr>
            <p:ph type="sldImg"/>
          </p:nvPr>
        </p:nvSpPr>
        <p:spPr>
          <a:xfrm>
            <a:off x="1255713" y="719138"/>
            <a:ext cx="4802187" cy="3602037"/>
          </a:xfrm>
          <a:ln/>
        </p:spPr>
      </p:sp>
      <p:sp>
        <p:nvSpPr>
          <p:cNvPr id="2232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Now here is something interesting. Remember that the parallelism is the ratio between the problem’s work and its critical path. It is a rough measure of how may processors we can keep busy on this kind of problem. For matrix multiplication, the numerator is n-cubed, and the denominator is log-squared n, which is pretty large. For example, to multiply two 1000 X 1000 matrices we get a parallelism of about ten million. (Notice that the log is base-2, and log base-two of 1000 is about 10). This calculation suggests that we can keep roughly ten million processors busy multiplying matrices of this size. Of course, this vastly exceeds the number of processors you are likely to find on any real machine any time soon. This calculation also gives us an idea why computers for numeric computations like the earth simulator in Japan, that does meteorological calculations, have thousands of processors. There is a lot of parallelism to be used in the applications and the more processors the better. </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64458D5F-79C2-4A50-8D76-DC593574D2BC}" type="slidenum">
              <a:rPr lang="x-none" smtClean="0"/>
              <a:pPr/>
              <a:t>72</a:t>
            </a:fld>
            <a:endParaRPr lang="en-US"/>
          </a:p>
        </p:txBody>
      </p:sp>
      <p:sp>
        <p:nvSpPr>
          <p:cNvPr id="2242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2BB03E4-2D85-44C1-90B1-574543BFBEDA}" type="slidenum">
              <a:rPr lang="x-none" sz="1200">
                <a:latin typeface="Marlett" pitchFamily="2" charset="2"/>
              </a:rPr>
              <a:pPr defTabSz="968375"/>
              <a:t>72</a:t>
            </a:fld>
            <a:endParaRPr lang="en-US" sz="1200">
              <a:latin typeface="Marlett" pitchFamily="2" charset="2"/>
            </a:endParaRPr>
          </a:p>
        </p:txBody>
      </p:sp>
      <p:sp>
        <p:nvSpPr>
          <p:cNvPr id="224260" name="Rectangle 2"/>
          <p:cNvSpPr>
            <a:spLocks noGrp="1" noRot="1" noChangeAspect="1" noChangeArrowheads="1" noTextEdit="1"/>
          </p:cNvSpPr>
          <p:nvPr>
            <p:ph type="sldImg"/>
          </p:nvPr>
        </p:nvSpPr>
        <p:spPr>
          <a:xfrm>
            <a:off x="1255713" y="719138"/>
            <a:ext cx="4802187" cy="3602037"/>
          </a:xfrm>
          <a:ln/>
        </p:spPr>
      </p:sp>
      <p:sp>
        <p:nvSpPr>
          <p:cNvPr id="22426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fact, the question of processor availability is even more complicated. On a real machine, your parallel application has to share the processors with a mix of other jobs that come and go in an unpredictable, dynamic manner.</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fld id="{CEEE548D-DE7D-4C49-9EC7-57EEB13C52E1}" type="slidenum">
              <a:rPr lang="x-none" smtClean="0"/>
              <a:pPr/>
              <a:t>73</a:t>
            </a:fld>
            <a:endParaRPr lang="en-US"/>
          </a:p>
        </p:txBody>
      </p:sp>
      <p:sp>
        <p:nvSpPr>
          <p:cNvPr id="2252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3B4607C-632F-4B56-B767-F5272AF74643}" type="slidenum">
              <a:rPr lang="x-none" sz="1200">
                <a:latin typeface="Marlett" pitchFamily="2" charset="2"/>
              </a:rPr>
              <a:pPr defTabSz="968375"/>
              <a:t>73</a:t>
            </a:fld>
            <a:endParaRPr lang="en-US" sz="1200">
              <a:latin typeface="Marlett" pitchFamily="2" charset="2"/>
            </a:endParaRPr>
          </a:p>
        </p:txBody>
      </p:sp>
      <p:sp>
        <p:nvSpPr>
          <p:cNvPr id="225284" name="Rectangle 2"/>
          <p:cNvSpPr>
            <a:spLocks noGrp="1" noRot="1" noChangeAspect="1" noChangeArrowheads="1" noTextEdit="1"/>
          </p:cNvSpPr>
          <p:nvPr>
            <p:ph type="sldImg"/>
          </p:nvPr>
        </p:nvSpPr>
        <p:spPr>
          <a:xfrm>
            <a:off x="1255713" y="719138"/>
            <a:ext cx="4802187" cy="3602037"/>
          </a:xfrm>
          <a:ln/>
        </p:spPr>
      </p:sp>
      <p:sp>
        <p:nvSpPr>
          <p:cNvPr id="22528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an ideal world, we would map our application-level threads onto dedicated physical processors. In real life, however, we do not have much control over how the OS kernel schedules processors. Instead, a user-level scheduler maps threads to processes, and a kernel-level schedule (not under our control) maps processes to physical processors. We control the first level of the mapping, but not the second. Note that threads are typically short-lived while processes are typically long-lived.</a:t>
            </a:r>
          </a:p>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C6547C1F-0A84-43A3-A14D-C6E269CE539B}" type="slidenum">
              <a:rPr lang="x-none" smtClean="0"/>
              <a:pPr/>
              <a:t>74</a:t>
            </a:fld>
            <a:endParaRPr lang="en-US"/>
          </a:p>
        </p:txBody>
      </p:sp>
      <p:sp>
        <p:nvSpPr>
          <p:cNvPr id="2263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E53583D-104B-42C0-8F95-ADBFADA1ED37}" type="slidenum">
              <a:rPr lang="x-none" sz="1200">
                <a:latin typeface="Marlett" pitchFamily="2" charset="2"/>
              </a:rPr>
              <a:pPr defTabSz="968375"/>
              <a:t>74</a:t>
            </a:fld>
            <a:endParaRPr lang="en-US" sz="1200">
              <a:latin typeface="Marlett" pitchFamily="2" charset="2"/>
            </a:endParaRPr>
          </a:p>
        </p:txBody>
      </p:sp>
      <p:sp>
        <p:nvSpPr>
          <p:cNvPr id="226308" name="Rectangle 2"/>
          <p:cNvSpPr>
            <a:spLocks noGrp="1" noRot="1" noChangeAspect="1" noChangeArrowheads="1" noTextEdit="1"/>
          </p:cNvSpPr>
          <p:nvPr>
            <p:ph type="sldImg"/>
          </p:nvPr>
        </p:nvSpPr>
        <p:spPr>
          <a:xfrm>
            <a:off x="1255713" y="719138"/>
            <a:ext cx="4802187" cy="3602037"/>
          </a:xfrm>
          <a:ln/>
        </p:spPr>
      </p:sp>
      <p:sp>
        <p:nvSpPr>
          <p:cNvPr id="22630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In an ideal world, we would map our application-level threads onto dedicated physical processors. In real life, however, we do not have much control over how the OS kernel schedules processors. Instead, a user-level scheduler maps threads to processes, and a kernel-level schedule (not under our control) maps processes to physical processors. We control the first level of the mapping, but not the second. Note that threads are typically short-lived while processes are typically long-lived.</a:t>
            </a:r>
          </a:p>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028039ED-C266-4B68-A3F8-539FEAA71E9E}" type="slidenum">
              <a:rPr lang="x-none" smtClean="0"/>
              <a:pPr/>
              <a:t>75</a:t>
            </a:fld>
            <a:endParaRPr lang="en-US"/>
          </a:p>
        </p:txBody>
      </p:sp>
      <p:sp>
        <p:nvSpPr>
          <p:cNvPr id="2273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E2F6C66-7554-4E65-BF29-C7BA4D17115D}" type="slidenum">
              <a:rPr lang="x-none" sz="1200">
                <a:latin typeface="Marlett" pitchFamily="2" charset="2"/>
              </a:rPr>
              <a:pPr defTabSz="968375"/>
              <a:t>75</a:t>
            </a:fld>
            <a:endParaRPr lang="en-US" sz="1200">
              <a:latin typeface="Marlett" pitchFamily="2" charset="2"/>
            </a:endParaRPr>
          </a:p>
        </p:txBody>
      </p:sp>
      <p:sp>
        <p:nvSpPr>
          <p:cNvPr id="227332" name="Rectangle 2"/>
          <p:cNvSpPr>
            <a:spLocks noGrp="1" noRot="1" noChangeAspect="1" noChangeArrowheads="1" noTextEdit="1"/>
          </p:cNvSpPr>
          <p:nvPr>
            <p:ph type="sldImg"/>
          </p:nvPr>
        </p:nvSpPr>
        <p:spPr>
          <a:xfrm>
            <a:off x="1255713" y="719138"/>
            <a:ext cx="4802187" cy="3602037"/>
          </a:xfrm>
          <a:ln/>
        </p:spPr>
      </p:sp>
      <p:sp>
        <p:nvSpPr>
          <p:cNvPr id="22733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For example, you might start out with all P processors working on your application, and then a serial computation takes over one processor, leaving you with P-1, and then the serial job suspends itself waiting for I/O and we get that processor back, and so on. The point is that we have no control over the number of processors we get, and indeed we can’t even predict what will happen.</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p>
            <a:fld id="{147ADBCD-59B7-4788-B0FE-D0485F8FF461}" type="slidenum">
              <a:rPr lang="x-none" smtClean="0"/>
              <a:pPr/>
              <a:t>76</a:t>
            </a:fld>
            <a:endParaRPr lang="en-US"/>
          </a:p>
        </p:txBody>
      </p:sp>
      <p:sp>
        <p:nvSpPr>
          <p:cNvPr id="2283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A70E635-2236-4431-9FB4-0FEC26160D1B}" type="slidenum">
              <a:rPr lang="x-none" sz="1200">
                <a:latin typeface="Marlett" pitchFamily="2" charset="2"/>
              </a:rPr>
              <a:pPr defTabSz="968375"/>
              <a:t>76</a:t>
            </a:fld>
            <a:endParaRPr lang="en-US" sz="1200">
              <a:latin typeface="Marlett" pitchFamily="2" charset="2"/>
            </a:endParaRPr>
          </a:p>
        </p:txBody>
      </p:sp>
      <p:sp>
        <p:nvSpPr>
          <p:cNvPr id="228356" name="Rectangle 2"/>
          <p:cNvSpPr>
            <a:spLocks noGrp="1" noRot="1" noChangeAspect="1" noChangeArrowheads="1" noTextEdit="1"/>
          </p:cNvSpPr>
          <p:nvPr>
            <p:ph type="sldImg"/>
          </p:nvPr>
        </p:nvSpPr>
        <p:spPr>
          <a:xfrm>
            <a:off x="1255713" y="719138"/>
            <a:ext cx="4802187" cy="3602037"/>
          </a:xfrm>
          <a:ln/>
        </p:spPr>
      </p:sp>
      <p:sp>
        <p:nvSpPr>
          <p:cNvPr id="22835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Ideally, if we run our application onto P processes, we would like to get a P-fold speedup, but since we don’t control the kernel-level scheduler, we can’t make any absolute guarantees. Instead, the best we can do is to exploit as well as we can the processor time we actually get. Instead of trying for a P-fold speedup, can we try for a speedup proportional to the average number of processors we are assigned?</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p>
            <a:fld id="{7EC2681F-F8DC-405D-A316-8805E0BA0853}" type="slidenum">
              <a:rPr lang="x-none" smtClean="0"/>
              <a:pPr/>
              <a:t>77</a:t>
            </a:fld>
            <a:endParaRPr lang="en-US"/>
          </a:p>
        </p:txBody>
      </p:sp>
      <p:sp>
        <p:nvSpPr>
          <p:cNvPr id="2293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FB9895C-6D2A-413D-B7C4-CDCC3BC30900}" type="slidenum">
              <a:rPr lang="x-none" sz="1200">
                <a:latin typeface="Marlett" pitchFamily="2" charset="2"/>
              </a:rPr>
              <a:pPr defTabSz="968375"/>
              <a:t>77</a:t>
            </a:fld>
            <a:endParaRPr lang="en-US" sz="1200">
              <a:latin typeface="Marlett" pitchFamily="2" charset="2"/>
            </a:endParaRPr>
          </a:p>
        </p:txBody>
      </p:sp>
      <p:sp>
        <p:nvSpPr>
          <p:cNvPr id="229380" name="Rectangle 2"/>
          <p:cNvSpPr>
            <a:spLocks noGrp="1" noRot="1" noChangeAspect="1" noChangeArrowheads="1" noTextEdit="1"/>
          </p:cNvSpPr>
          <p:nvPr>
            <p:ph type="sldImg"/>
          </p:nvPr>
        </p:nvSpPr>
        <p:spPr>
          <a:xfrm>
            <a:off x="1255713" y="719138"/>
            <a:ext cx="4802187" cy="3602037"/>
          </a:xfrm>
          <a:ln/>
        </p:spPr>
      </p:sp>
      <p:sp>
        <p:nvSpPr>
          <p:cNvPr id="229381"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So we end up with the following scheduling hierarchy. The user-level scheduler tells kernel which processes are ready. We model the kernel-level scheduler as a synchronous system, for ease of analysis. At time step </a:t>
            </a:r>
            <a:r>
              <a:rPr lang="en-US" dirty="0" err="1"/>
              <a:t>i</a:t>
            </a:r>
            <a:r>
              <a:rPr lang="en-US" dirty="0"/>
              <a:t>, the kernel makes p</a:t>
            </a:r>
            <a:r>
              <a:rPr lang="en-US" baseline="-25000" dirty="0"/>
              <a:t>i</a:t>
            </a:r>
            <a:r>
              <a:rPr lang="en-US" dirty="0"/>
              <a:t> processors available for processes. Of particular interest is the time-weighted average P</a:t>
            </a:r>
            <a:r>
              <a:rPr lang="en-US" baseline="-25000" dirty="0"/>
              <a:t>A</a:t>
            </a:r>
            <a:r>
              <a:rPr lang="en-US" dirty="0"/>
              <a:t> of the number of processes we get, which we call the processor average.</a:t>
            </a:r>
            <a:endParaRPr lang="en-US" baseline="-25000"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80</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80</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81</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81</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82</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82</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83</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83</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DC8632A-3426-43B6-8261-22F10933AFB0}" type="slidenum">
              <a:rPr lang="x-none" smtClean="0"/>
              <a:pPr>
                <a:defRPr/>
              </a:pPr>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85</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85</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D2F85BF5-FE50-4D04-B7D9-60B596A1F9DD}" type="slidenum">
              <a:rPr lang="x-none" smtClean="0"/>
              <a:pPr/>
              <a:t>86</a:t>
            </a:fld>
            <a:endParaRPr lang="en-US"/>
          </a:p>
        </p:txBody>
      </p:sp>
      <p:sp>
        <p:nvSpPr>
          <p:cNvPr id="2314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3E596C0-DEA8-4ABD-A4B3-24465EAF9A80}" type="slidenum">
              <a:rPr lang="x-none" sz="1200">
                <a:latin typeface="Marlett" pitchFamily="2" charset="2"/>
              </a:rPr>
              <a:pPr defTabSz="968375"/>
              <a:t>86</a:t>
            </a:fld>
            <a:endParaRPr lang="en-US" sz="1200">
              <a:latin typeface="Marlett" pitchFamily="2" charset="2"/>
            </a:endParaRPr>
          </a:p>
        </p:txBody>
      </p:sp>
      <p:sp>
        <p:nvSpPr>
          <p:cNvPr id="231428" name="Rectangle 2"/>
          <p:cNvSpPr>
            <a:spLocks noGrp="1" noRot="1" noChangeAspect="1" noChangeArrowheads="1" noTextEdit="1"/>
          </p:cNvSpPr>
          <p:nvPr>
            <p:ph type="sldImg"/>
          </p:nvPr>
        </p:nvSpPr>
        <p:spPr>
          <a:xfrm>
            <a:off x="1255713" y="719138"/>
            <a:ext cx="4802187" cy="3602037"/>
          </a:xfrm>
          <a:ln/>
        </p:spPr>
      </p:sp>
      <p:sp>
        <p:nvSpPr>
          <p:cNvPr id="2314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Nevertheless, greedy schedules do pretty well, both in practice (easy to implement) and in analysis. We will show that any greedy schedule does at least as well as this formula. What does this formula say?</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EB0D637C-1E78-48C6-95BD-137C298F6E58}" type="slidenum">
              <a:rPr lang="x-none" smtClean="0"/>
              <a:pPr/>
              <a:t>87</a:t>
            </a:fld>
            <a:endParaRPr lang="en-US"/>
          </a:p>
        </p:txBody>
      </p:sp>
      <p:sp>
        <p:nvSpPr>
          <p:cNvPr id="2519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AF7EDA7-987A-40B8-91D5-689367E676C1}" type="slidenum">
              <a:rPr lang="x-none" sz="1200">
                <a:latin typeface="Marlett" pitchFamily="2" charset="2"/>
              </a:rPr>
              <a:pPr defTabSz="968375"/>
              <a:t>87</a:t>
            </a:fld>
            <a:endParaRPr lang="en-US" sz="1200">
              <a:latin typeface="Marlett" pitchFamily="2" charset="2"/>
            </a:endParaRPr>
          </a:p>
        </p:txBody>
      </p:sp>
      <p:sp>
        <p:nvSpPr>
          <p:cNvPr id="251908" name="Rectangle 2"/>
          <p:cNvSpPr>
            <a:spLocks noGrp="1" noRot="1" noChangeAspect="1" noChangeArrowheads="1" noTextEdit="1"/>
          </p:cNvSpPr>
          <p:nvPr>
            <p:ph type="sldImg"/>
          </p:nvPr>
        </p:nvSpPr>
        <p:spPr>
          <a:ln/>
        </p:spPr>
      </p:sp>
      <p:sp>
        <p:nvSpPr>
          <p:cNvPr id="251909" name="Rectangle 3"/>
          <p:cNvSpPr>
            <a:spLocks noGrp="1" noChangeArrowheads="1"/>
          </p:cNvSpPr>
          <p:nvPr>
            <p:ph type="body" idx="1"/>
          </p:nvPr>
        </p:nvSpPr>
        <p:spPr>
          <a:noFill/>
          <a:ln/>
        </p:spPr>
        <p:txBody>
          <a:bodyPr lIns="96811" tIns="48406" rIns="96811" bIns="48406"/>
          <a:lstStyle/>
          <a:p>
            <a:r>
              <a:rPr lang="en-US"/>
              <a:t>We now understand that the key to achieving a good speed-up is to keep user-level threads supplied with tasks, so that the resulting schedule is as greedy as possible. Multithreaded computations, however, create and destroy tasks dynamically, sometimes in unpredictable ways. A </a:t>
            </a:r>
            <a:r>
              <a:rPr lang="en-US" i="1"/>
              <a:t>work distribution</a:t>
            </a:r>
            <a:r>
              <a:rPr lang="en-US"/>
              <a:t> algorithm (sometimes called a </a:t>
            </a:r>
            <a:r>
              <a:rPr lang="en-US" i="1"/>
              <a:t>load-sharing) algorithm i</a:t>
            </a:r>
            <a:r>
              <a:rPr lang="en-US"/>
              <a:t>s needed to assign ready tasks to idle threads as efficiently as possible.</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C4943836-D1A3-4F3C-803A-AEBFACDBBF27}" type="slidenum">
              <a:rPr lang="x-none" smtClean="0"/>
              <a:pPr/>
              <a:t>88</a:t>
            </a:fld>
            <a:endParaRPr lang="en-US"/>
          </a:p>
        </p:txBody>
      </p:sp>
      <p:sp>
        <p:nvSpPr>
          <p:cNvPr id="2529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6343133-94D0-4726-9DA7-0CE9E4FB3829}" type="slidenum">
              <a:rPr lang="x-none" sz="1200">
                <a:latin typeface="Marlett" pitchFamily="2" charset="2"/>
              </a:rPr>
              <a:pPr defTabSz="968375"/>
              <a:t>88</a:t>
            </a:fld>
            <a:endParaRPr lang="en-US" sz="1200">
              <a:latin typeface="Marlett" pitchFamily="2" charset="2"/>
            </a:endParaRPr>
          </a:p>
        </p:txBody>
      </p:sp>
      <p:sp>
        <p:nvSpPr>
          <p:cNvPr id="252932" name="Rectangle 2"/>
          <p:cNvSpPr>
            <a:spLocks noGrp="1" noRot="1" noChangeAspect="1" noChangeArrowheads="1" noTextEdit="1"/>
          </p:cNvSpPr>
          <p:nvPr>
            <p:ph type="sldImg"/>
          </p:nvPr>
        </p:nvSpPr>
        <p:spPr>
          <a:ln/>
        </p:spPr>
      </p:sp>
      <p:sp>
        <p:nvSpPr>
          <p:cNvPr id="252933" name="Rectangle 3"/>
          <p:cNvSpPr>
            <a:spLocks noGrp="1" noChangeArrowheads="1"/>
          </p:cNvSpPr>
          <p:nvPr>
            <p:ph type="body" idx="1"/>
          </p:nvPr>
        </p:nvSpPr>
        <p:spPr>
          <a:noFill/>
          <a:ln/>
        </p:spPr>
        <p:txBody>
          <a:bodyPr lIns="96811" tIns="48406" rIns="96811" bIns="48406"/>
          <a:lstStyle/>
          <a:p>
            <a:r>
              <a:rPr lang="en-US"/>
              <a:t>In </a:t>
            </a:r>
            <a:r>
              <a:rPr lang="en-US" i="1"/>
              <a:t>work dealing</a:t>
            </a:r>
            <a:r>
              <a:rPr lang="en-US"/>
              <a:t>, an overloaded thread tries to deal out surplus tasks on others. What’s wrong with this approach?</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9236C220-A0DF-4AFF-BEB7-753B594569E2}" type="slidenum">
              <a:rPr lang="x-none" smtClean="0"/>
              <a:pPr/>
              <a:t>89</a:t>
            </a:fld>
            <a:endParaRPr lang="en-US"/>
          </a:p>
        </p:txBody>
      </p:sp>
      <p:sp>
        <p:nvSpPr>
          <p:cNvPr id="2539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26EDEC6-397E-46BC-979B-CAB6598CCCFA}" type="slidenum">
              <a:rPr lang="x-none" sz="1200">
                <a:latin typeface="Marlett" pitchFamily="2" charset="2"/>
              </a:rPr>
              <a:pPr defTabSz="968375"/>
              <a:t>89</a:t>
            </a:fld>
            <a:endParaRPr lang="en-US" sz="1200">
              <a:latin typeface="Marlett" pitchFamily="2" charset="2"/>
            </a:endParaRPr>
          </a:p>
        </p:txBody>
      </p:sp>
      <p:sp>
        <p:nvSpPr>
          <p:cNvPr id="253956" name="Rectangle 2"/>
          <p:cNvSpPr>
            <a:spLocks noGrp="1" noRot="1" noChangeAspect="1" noChangeArrowheads="1" noTextEdit="1"/>
          </p:cNvSpPr>
          <p:nvPr>
            <p:ph type="sldImg"/>
          </p:nvPr>
        </p:nvSpPr>
        <p:spPr>
          <a:ln/>
        </p:spPr>
      </p:sp>
      <p:sp>
        <p:nvSpPr>
          <p:cNvPr id="253957" name="Rectangle 3"/>
          <p:cNvSpPr>
            <a:spLocks noGrp="1" noChangeArrowheads="1"/>
          </p:cNvSpPr>
          <p:nvPr>
            <p:ph type="body" idx="1"/>
          </p:nvPr>
        </p:nvSpPr>
        <p:spPr>
          <a:noFill/>
          <a:ln/>
        </p:spPr>
        <p:txBody>
          <a:bodyPr lIns="96811" tIns="48406" rIns="96811" bIns="48406"/>
          <a:lstStyle/>
          <a:p>
            <a:r>
              <a:rPr lang="en-US"/>
              <a:t>The problem with work-dealing is that if all threads have work, then they will spend too much time trying to offload tasks on one another.</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1B2D9B63-3524-4C54-BE5D-57342F858603}" type="slidenum">
              <a:rPr lang="x-none" smtClean="0"/>
              <a:pPr/>
              <a:t>90</a:t>
            </a:fld>
            <a:endParaRPr lang="en-US"/>
          </a:p>
        </p:txBody>
      </p:sp>
      <p:sp>
        <p:nvSpPr>
          <p:cNvPr id="2549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66EBF74-B6AE-4801-842D-B3FA3A4F98D0}" type="slidenum">
              <a:rPr lang="x-none" sz="1200">
                <a:latin typeface="Marlett" pitchFamily="2" charset="2"/>
              </a:rPr>
              <a:pPr defTabSz="968375"/>
              <a:t>90</a:t>
            </a:fld>
            <a:endParaRPr lang="en-US" sz="1200">
              <a:latin typeface="Marlett" pitchFamily="2" charset="2"/>
            </a:endParaRPr>
          </a:p>
        </p:txBody>
      </p:sp>
      <p:sp>
        <p:nvSpPr>
          <p:cNvPr id="254980" name="Rectangle 2"/>
          <p:cNvSpPr>
            <a:spLocks noGrp="1" noRot="1" noChangeAspect="1" noChangeArrowheads="1" noTextEdit="1"/>
          </p:cNvSpPr>
          <p:nvPr>
            <p:ph type="sldImg"/>
          </p:nvPr>
        </p:nvSpPr>
        <p:spPr>
          <a:ln/>
        </p:spPr>
      </p:sp>
      <p:sp>
        <p:nvSpPr>
          <p:cNvPr id="254981" name="Rectangle 3"/>
          <p:cNvSpPr>
            <a:spLocks noGrp="1" noChangeArrowheads="1"/>
          </p:cNvSpPr>
          <p:nvPr>
            <p:ph type="body" idx="1"/>
          </p:nvPr>
        </p:nvSpPr>
        <p:spPr>
          <a:noFill/>
          <a:ln/>
        </p:spPr>
        <p:txBody>
          <a:bodyPr lIns="96811" tIns="48406" rIns="96811" bIns="48406"/>
          <a:lstStyle/>
          <a:p>
            <a:r>
              <a:rPr lang="en-US"/>
              <a:t>In </a:t>
            </a:r>
            <a:r>
              <a:rPr lang="en-US" i="1"/>
              <a:t>work stealing</a:t>
            </a:r>
            <a:r>
              <a:rPr lang="en-US"/>
              <a:t>, a thread that runs out of work will try to ``steal'' work from others. This approach has the advantage that no coordination is necessary if all tasks are overloaded.</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F2E00E63-0FB7-4DF0-AAC5-6382D873F0C8}" type="slidenum">
              <a:rPr lang="x-none" smtClean="0"/>
              <a:pPr/>
              <a:t>91</a:t>
            </a:fld>
            <a:endParaRPr lang="en-US"/>
          </a:p>
        </p:txBody>
      </p:sp>
      <p:sp>
        <p:nvSpPr>
          <p:cNvPr id="2560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C21F79B5-FD87-4F03-95FB-4638476A8A51}" type="slidenum">
              <a:rPr lang="x-none" sz="1200">
                <a:latin typeface="Marlett" pitchFamily="2" charset="2"/>
              </a:rPr>
              <a:pPr defTabSz="968375"/>
              <a:t>91</a:t>
            </a:fld>
            <a:endParaRPr lang="en-US" sz="1200">
              <a:latin typeface="Marlett" pitchFamily="2" charset="2"/>
            </a:endParaRPr>
          </a:p>
        </p:txBody>
      </p:sp>
      <p:sp>
        <p:nvSpPr>
          <p:cNvPr id="256004" name="Rectangle 2"/>
          <p:cNvSpPr>
            <a:spLocks noGrp="1" noRot="1" noChangeAspect="1" noChangeArrowheads="1" noTextEdit="1"/>
          </p:cNvSpPr>
          <p:nvPr>
            <p:ph type="sldImg"/>
          </p:nvPr>
        </p:nvSpPr>
        <p:spPr>
          <a:xfrm>
            <a:off x="1255713" y="719138"/>
            <a:ext cx="4802187" cy="3602037"/>
          </a:xfrm>
          <a:ln/>
        </p:spPr>
      </p:sp>
      <p:sp>
        <p:nvSpPr>
          <p:cNvPr id="25600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Here we are going to look at a simple  lock-free work stealing algorithm. Each process keeps a pool of threads to work on. It can remove a thread from its own pool without any expensive synchronization. If it runs out of threads, it picks a victim at random and tries to steal a thread. Stealing does require synchronization, not surprisingly.</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C7674367-AC87-4460-B6B9-359CA9F624AA}" type="slidenum">
              <a:rPr lang="x-none" smtClean="0"/>
              <a:pPr/>
              <a:t>92</a:t>
            </a:fld>
            <a:endParaRPr lang="en-US"/>
          </a:p>
        </p:txBody>
      </p:sp>
      <p:sp>
        <p:nvSpPr>
          <p:cNvPr id="2570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A6DDC77-962B-4EC2-9388-73FE944206CA}" type="slidenum">
              <a:rPr lang="x-none" sz="1200">
                <a:latin typeface="Marlett" pitchFamily="2" charset="2"/>
              </a:rPr>
              <a:pPr defTabSz="968375"/>
              <a:t>92</a:t>
            </a:fld>
            <a:endParaRPr lang="en-US" sz="1200">
              <a:latin typeface="Marlett" pitchFamily="2" charset="2"/>
            </a:endParaRPr>
          </a:p>
        </p:txBody>
      </p:sp>
      <p:sp>
        <p:nvSpPr>
          <p:cNvPr id="257028" name="Rectangle 2"/>
          <p:cNvSpPr>
            <a:spLocks noGrp="1" noRot="1" noChangeAspect="1" noChangeArrowheads="1" noTextEdit="1"/>
          </p:cNvSpPr>
          <p:nvPr>
            <p:ph type="sldImg"/>
          </p:nvPr>
        </p:nvSpPr>
        <p:spPr>
          <a:xfrm>
            <a:off x="1255713" y="719138"/>
            <a:ext cx="4802187" cy="3602037"/>
          </a:xfrm>
          <a:ln/>
        </p:spPr>
      </p:sp>
      <p:sp>
        <p:nvSpPr>
          <p:cNvPr id="2570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Our basic data structure is a collection of work pools implemented using double-ended queues, so-called because threads can be removed from either end of the queue. </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D8B24D0F-17CA-442F-99F5-8CDC6AE8067D}" type="slidenum">
              <a:rPr lang="x-none" smtClean="0"/>
              <a:pPr/>
              <a:t>93</a:t>
            </a:fld>
            <a:endParaRPr lang="en-US"/>
          </a:p>
        </p:txBody>
      </p:sp>
      <p:sp>
        <p:nvSpPr>
          <p:cNvPr id="2580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C1A84C8-49C4-4AA7-8B1C-33566AED9238}" type="slidenum">
              <a:rPr lang="x-none" sz="1200">
                <a:latin typeface="Marlett" pitchFamily="2" charset="2"/>
              </a:rPr>
              <a:pPr defTabSz="968375"/>
              <a:t>93</a:t>
            </a:fld>
            <a:endParaRPr lang="en-US" sz="1200">
              <a:latin typeface="Marlett" pitchFamily="2" charset="2"/>
            </a:endParaRPr>
          </a:p>
        </p:txBody>
      </p:sp>
      <p:sp>
        <p:nvSpPr>
          <p:cNvPr id="258052" name="Rectangle 2"/>
          <p:cNvSpPr>
            <a:spLocks noGrp="1" noRot="1" noChangeAspect="1" noChangeArrowheads="1" noTextEdit="1"/>
          </p:cNvSpPr>
          <p:nvPr>
            <p:ph type="sldImg"/>
          </p:nvPr>
        </p:nvSpPr>
        <p:spPr>
          <a:xfrm>
            <a:off x="1255713" y="719138"/>
            <a:ext cx="4802187" cy="3602037"/>
          </a:xfrm>
          <a:ln/>
        </p:spPr>
      </p:sp>
      <p:sp>
        <p:nvSpPr>
          <p:cNvPr id="25805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Our basic data structure is a double-ended queue, so-called because threads can be removed from either end of the queue. The version we present here is the BDEQueue presented in the book due to Arora, Blumofe, and Plaxton. </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C8434CCA-01D9-4700-956A-EE0FA5DA5A3C}" type="slidenum">
              <a:rPr lang="x-none" smtClean="0"/>
              <a:pPr/>
              <a:t>94</a:t>
            </a:fld>
            <a:endParaRPr lang="en-US"/>
          </a:p>
        </p:txBody>
      </p:sp>
      <p:sp>
        <p:nvSpPr>
          <p:cNvPr id="2590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3295B7A-D81A-4560-966E-B63342D4E346}" type="slidenum">
              <a:rPr lang="x-none" sz="1200">
                <a:latin typeface="Marlett" pitchFamily="2" charset="2"/>
              </a:rPr>
              <a:pPr defTabSz="968375"/>
              <a:t>94</a:t>
            </a:fld>
            <a:endParaRPr lang="en-US" sz="1200">
              <a:latin typeface="Marlett" pitchFamily="2" charset="2"/>
            </a:endParaRPr>
          </a:p>
        </p:txBody>
      </p:sp>
      <p:sp>
        <p:nvSpPr>
          <p:cNvPr id="259076" name="Rectangle 2"/>
          <p:cNvSpPr>
            <a:spLocks noGrp="1" noRot="1" noChangeAspect="1" noChangeArrowheads="1" noTextEdit="1"/>
          </p:cNvSpPr>
          <p:nvPr>
            <p:ph type="sldImg"/>
          </p:nvPr>
        </p:nvSpPr>
        <p:spPr>
          <a:xfrm>
            <a:off x="1255713" y="719138"/>
            <a:ext cx="4802187" cy="3602037"/>
          </a:xfrm>
          <a:ln/>
        </p:spPr>
      </p:sp>
      <p:sp>
        <p:nvSpPr>
          <p:cNvPr id="25907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queue’s owner removes a thread from the queue by calling the popBottom method. It then works on that thread for as long as it can, that is, until the thread blocks or finishes.</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3327986E-0D2B-4259-8E47-54A58EC5916A}" type="slidenum">
              <a:rPr lang="x-none" smtClean="0"/>
              <a:pPr/>
              <a:t>95</a:t>
            </a:fld>
            <a:endParaRPr lang="en-US"/>
          </a:p>
        </p:txBody>
      </p:sp>
      <p:sp>
        <p:nvSpPr>
          <p:cNvPr id="2600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4FAEB33-902C-423E-A309-0D33C170C262}" type="slidenum">
              <a:rPr lang="x-none" sz="1200">
                <a:latin typeface="Marlett" pitchFamily="2" charset="2"/>
              </a:rPr>
              <a:pPr defTabSz="968375"/>
              <a:t>95</a:t>
            </a:fld>
            <a:endParaRPr lang="en-US" sz="1200">
              <a:latin typeface="Marlett" pitchFamily="2" charset="2"/>
            </a:endParaRPr>
          </a:p>
        </p:txBody>
      </p:sp>
      <p:sp>
        <p:nvSpPr>
          <p:cNvPr id="260100" name="Rectangle 2"/>
          <p:cNvSpPr>
            <a:spLocks noGrp="1" noRot="1" noChangeAspect="1" noChangeArrowheads="1" noTextEdit="1"/>
          </p:cNvSpPr>
          <p:nvPr>
            <p:ph type="sldImg"/>
          </p:nvPr>
        </p:nvSpPr>
        <p:spPr>
          <a:xfrm>
            <a:off x="1255713" y="719138"/>
            <a:ext cx="4802187" cy="3602037"/>
          </a:xfrm>
          <a:ln/>
        </p:spPr>
      </p:sp>
      <p:sp>
        <p:nvSpPr>
          <p:cNvPr id="26010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If the process creates a new thread, say by calling spawn, then it pushes one of the two threads (parent or child) back onto the queue using the pushBottom method.</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EF5C6751-FAD1-4FAF-96F9-ADE0F97670EF}" type="slidenum">
              <a:rPr lang="x-none" smtClean="0"/>
              <a:pPr/>
              <a:t>96</a:t>
            </a:fld>
            <a:endParaRPr lang="en-US"/>
          </a:p>
        </p:txBody>
      </p:sp>
      <p:sp>
        <p:nvSpPr>
          <p:cNvPr id="2611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2D30025-2227-4FA2-98A1-9B16FB7B1FBD}" type="slidenum">
              <a:rPr lang="x-none" sz="1200">
                <a:latin typeface="Marlett" pitchFamily="2" charset="2"/>
              </a:rPr>
              <a:pPr defTabSz="968375"/>
              <a:t>96</a:t>
            </a:fld>
            <a:endParaRPr lang="en-US" sz="1200">
              <a:latin typeface="Marlett" pitchFamily="2" charset="2"/>
            </a:endParaRPr>
          </a:p>
        </p:txBody>
      </p:sp>
      <p:sp>
        <p:nvSpPr>
          <p:cNvPr id="261124" name="Rectangle 2"/>
          <p:cNvSpPr>
            <a:spLocks noGrp="1" noRot="1" noChangeAspect="1" noChangeArrowheads="1" noTextEdit="1"/>
          </p:cNvSpPr>
          <p:nvPr>
            <p:ph type="sldImg"/>
          </p:nvPr>
        </p:nvSpPr>
        <p:spPr>
          <a:xfrm>
            <a:off x="1255713" y="719138"/>
            <a:ext cx="4802187" cy="3602037"/>
          </a:xfrm>
          <a:ln/>
        </p:spPr>
      </p:sp>
      <p:sp>
        <p:nvSpPr>
          <p:cNvPr id="26112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Eventually, the process may run out of work in its double-ended queue.</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7B37E4C2-AE8C-4752-BA97-A339A39D4AE1}" type="slidenum">
              <a:rPr lang="x-none" smtClean="0"/>
              <a:pPr/>
              <a:t>97</a:t>
            </a:fld>
            <a:endParaRPr lang="en-US"/>
          </a:p>
        </p:txBody>
      </p:sp>
      <p:sp>
        <p:nvSpPr>
          <p:cNvPr id="2621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7727D6F-87B2-4C8C-9E2F-02D74D052206}" type="slidenum">
              <a:rPr lang="x-none" sz="1200">
                <a:latin typeface="Marlett" pitchFamily="2" charset="2"/>
              </a:rPr>
              <a:pPr defTabSz="968375"/>
              <a:t>97</a:t>
            </a:fld>
            <a:endParaRPr lang="en-US" sz="1200">
              <a:latin typeface="Marlett" pitchFamily="2" charset="2"/>
            </a:endParaRPr>
          </a:p>
        </p:txBody>
      </p:sp>
      <p:sp>
        <p:nvSpPr>
          <p:cNvPr id="262148" name="Rectangle 2"/>
          <p:cNvSpPr>
            <a:spLocks noGrp="1" noRot="1" noChangeAspect="1" noChangeArrowheads="1" noTextEdit="1"/>
          </p:cNvSpPr>
          <p:nvPr>
            <p:ph type="sldImg"/>
          </p:nvPr>
        </p:nvSpPr>
        <p:spPr>
          <a:xfrm>
            <a:off x="1255713" y="719138"/>
            <a:ext cx="4802187" cy="3602037"/>
          </a:xfrm>
          <a:ln/>
        </p:spPr>
      </p:sp>
      <p:sp>
        <p:nvSpPr>
          <p:cNvPr id="26214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Pick some other thread’s pool uniformly at random.</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09C01DCC-907C-499A-ABAE-4B5128149158}" type="slidenum">
              <a:rPr lang="x-none" smtClean="0"/>
              <a:pPr/>
              <a:t>98</a:t>
            </a:fld>
            <a:endParaRPr lang="en-US"/>
          </a:p>
        </p:txBody>
      </p:sp>
      <p:sp>
        <p:nvSpPr>
          <p:cNvPr id="2631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4F0341D-C0C3-4D3A-AF84-2B7FB868E853}" type="slidenum">
              <a:rPr lang="x-none" sz="1200">
                <a:latin typeface="Marlett" pitchFamily="2" charset="2"/>
              </a:rPr>
              <a:pPr defTabSz="968375"/>
              <a:t>98</a:t>
            </a:fld>
            <a:endParaRPr lang="en-US" sz="1200">
              <a:latin typeface="Marlett" pitchFamily="2" charset="2"/>
            </a:endParaRPr>
          </a:p>
        </p:txBody>
      </p:sp>
      <p:sp>
        <p:nvSpPr>
          <p:cNvPr id="263172" name="Rectangle 2"/>
          <p:cNvSpPr>
            <a:spLocks noGrp="1" noRot="1" noChangeAspect="1" noChangeArrowheads="1" noTextEdit="1"/>
          </p:cNvSpPr>
          <p:nvPr>
            <p:ph type="sldImg"/>
          </p:nvPr>
        </p:nvSpPr>
        <p:spPr>
          <a:xfrm>
            <a:off x="1255713" y="719138"/>
            <a:ext cx="4802187" cy="3602037"/>
          </a:xfrm>
          <a:ln/>
        </p:spPr>
      </p:sp>
      <p:sp>
        <p:nvSpPr>
          <p:cNvPr id="26317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process then selects another process at random, and tries to steal a thread from it by calling the popTop() method.</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CC322145-7E43-4A00-985A-9D029EFCD6E7}" type="slidenum">
              <a:rPr lang="x-none" smtClean="0"/>
              <a:pPr/>
              <a:t>99</a:t>
            </a:fld>
            <a:endParaRPr lang="en-US"/>
          </a:p>
        </p:txBody>
      </p:sp>
      <p:sp>
        <p:nvSpPr>
          <p:cNvPr id="2641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94F6F57-324E-41E7-B330-1AF791E95E7A}" type="slidenum">
              <a:rPr lang="x-none" sz="1200">
                <a:latin typeface="Marlett" pitchFamily="2" charset="2"/>
              </a:rPr>
              <a:pPr defTabSz="968375"/>
              <a:t>99</a:t>
            </a:fld>
            <a:endParaRPr lang="en-US" sz="1200">
              <a:latin typeface="Marlett" pitchFamily="2" charset="2"/>
            </a:endParaRPr>
          </a:p>
        </p:txBody>
      </p:sp>
      <p:sp>
        <p:nvSpPr>
          <p:cNvPr id="264196" name="Rectangle 2"/>
          <p:cNvSpPr>
            <a:spLocks noGrp="1" noRot="1" noChangeAspect="1" noChangeArrowheads="1" noTextEdit="1"/>
          </p:cNvSpPr>
          <p:nvPr>
            <p:ph type="sldImg"/>
          </p:nvPr>
        </p:nvSpPr>
        <p:spPr>
          <a:xfrm>
            <a:off x="1255713" y="719138"/>
            <a:ext cx="4802187" cy="3602037"/>
          </a:xfrm>
          <a:ln/>
        </p:spPr>
      </p:sp>
      <p:sp>
        <p:nvSpPr>
          <p:cNvPr id="2641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To summarize, the double-ended queue provides three methods. The pushBottom and popBottom methods work on the bottom end of the queue, and are never called concurrently (why: only called by owner). The popTop method removes a thread from the top of the queue, and it can be called concurrently by thieves. Thieves never push anything onto the queue.</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4650F43B-72CA-4211-BC2E-9EB8C5E711CD}" type="slidenum">
              <a:rPr lang="x-none" smtClean="0"/>
              <a:pPr/>
              <a:t>100</a:t>
            </a:fld>
            <a:endParaRPr lang="en-US"/>
          </a:p>
        </p:txBody>
      </p:sp>
      <p:sp>
        <p:nvSpPr>
          <p:cNvPr id="2652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7A99057-9385-4661-87EF-1BA3316E5847}" type="slidenum">
              <a:rPr lang="x-none" sz="1200">
                <a:latin typeface="Marlett" pitchFamily="2" charset="2"/>
              </a:rPr>
              <a:pPr defTabSz="968375"/>
              <a:t>100</a:t>
            </a:fld>
            <a:endParaRPr lang="en-US" sz="1200">
              <a:latin typeface="Marlett" pitchFamily="2" charset="2"/>
            </a:endParaRPr>
          </a:p>
        </p:txBody>
      </p:sp>
      <p:sp>
        <p:nvSpPr>
          <p:cNvPr id="265220" name="Rectangle 2"/>
          <p:cNvSpPr>
            <a:spLocks noGrp="1" noRot="1" noChangeAspect="1" noChangeArrowheads="1" noTextEdit="1"/>
          </p:cNvSpPr>
          <p:nvPr>
            <p:ph type="sldImg"/>
          </p:nvPr>
        </p:nvSpPr>
        <p:spPr>
          <a:xfrm>
            <a:off x="1255713" y="719138"/>
            <a:ext cx="4802187" cy="3602037"/>
          </a:xfrm>
          <a:ln/>
        </p:spPr>
      </p:sp>
      <p:sp>
        <p:nvSpPr>
          <p:cNvPr id="26522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To summarize, the double-ended queue provides three methods. The pushBottom and popBottom methods work on the bottom end of the queue, and are never called concurrently (why: only called by owner). The popTop method removes a thread from the top of the queue, and it can be called concurrently by thieves. Thieves never push anything onto the queue.</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DF978173-D5D6-4498-A248-D4FA16057064}" type="slidenum">
              <a:rPr lang="x-none" smtClean="0"/>
              <a:pPr/>
              <a:t>101</a:t>
            </a:fld>
            <a:endParaRPr lang="en-US"/>
          </a:p>
        </p:txBody>
      </p:sp>
      <p:sp>
        <p:nvSpPr>
          <p:cNvPr id="2662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E676270-5A30-4520-8EFF-0A0D5CD97D49}" type="slidenum">
              <a:rPr lang="x-none" sz="1200">
                <a:latin typeface="Marlett" pitchFamily="2" charset="2"/>
              </a:rPr>
              <a:pPr defTabSz="968375"/>
              <a:t>101</a:t>
            </a:fld>
            <a:endParaRPr lang="en-US" sz="1200">
              <a:latin typeface="Marlett" pitchFamily="2" charset="2"/>
            </a:endParaRPr>
          </a:p>
        </p:txBody>
      </p:sp>
      <p:sp>
        <p:nvSpPr>
          <p:cNvPr id="266244" name="Rectangle 2"/>
          <p:cNvSpPr>
            <a:spLocks noGrp="1" noRot="1" noChangeAspect="1" noChangeArrowheads="1" noTextEdit="1"/>
          </p:cNvSpPr>
          <p:nvPr>
            <p:ph type="sldImg"/>
          </p:nvPr>
        </p:nvSpPr>
        <p:spPr>
          <a:xfrm>
            <a:off x="1255713" y="719138"/>
            <a:ext cx="4802187" cy="3602037"/>
          </a:xfrm>
          <a:ln/>
        </p:spPr>
      </p:sp>
      <p:sp>
        <p:nvSpPr>
          <p:cNvPr id="26624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Ideally, we would like the double-ended queue implementation to be wait-free (no locking or starvation), linearizable (so we can reason about correctness conveniently) and constant-time. Unfortunately, we don’t know how to get all three properties at the same time. So we have to make some compromises.</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C743AE56-1A3B-4C63-B8E1-53E2A046272A}" type="slidenum">
              <a:rPr lang="x-none" smtClean="0"/>
              <a:pPr/>
              <a:t>102</a:t>
            </a:fld>
            <a:endParaRPr lang="en-US"/>
          </a:p>
        </p:txBody>
      </p:sp>
      <p:sp>
        <p:nvSpPr>
          <p:cNvPr id="2672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B1987D1-38DD-40FF-9F38-52F101A51637}" type="slidenum">
              <a:rPr lang="x-none" sz="1200">
                <a:latin typeface="Marlett" pitchFamily="2" charset="2"/>
              </a:rPr>
              <a:pPr defTabSz="968375"/>
              <a:t>102</a:t>
            </a:fld>
            <a:endParaRPr lang="en-US" sz="1200">
              <a:latin typeface="Marlett" pitchFamily="2" charset="2"/>
            </a:endParaRPr>
          </a:p>
        </p:txBody>
      </p:sp>
      <p:sp>
        <p:nvSpPr>
          <p:cNvPr id="267268" name="Rectangle 2"/>
          <p:cNvSpPr>
            <a:spLocks noGrp="1" noRot="1" noChangeAspect="1" noChangeArrowheads="1" noTextEdit="1"/>
          </p:cNvSpPr>
          <p:nvPr>
            <p:ph type="sldImg"/>
          </p:nvPr>
        </p:nvSpPr>
        <p:spPr>
          <a:xfrm>
            <a:off x="1255713" y="719138"/>
            <a:ext cx="4802187" cy="3602037"/>
          </a:xfrm>
          <a:ln/>
        </p:spPr>
      </p:sp>
      <p:sp>
        <p:nvSpPr>
          <p:cNvPr id="267269" name="Rectangle 3"/>
          <p:cNvSpPr>
            <a:spLocks noGrp="1" noChangeArrowheads="1"/>
          </p:cNvSpPr>
          <p:nvPr>
            <p:ph type="body" idx="1"/>
          </p:nvPr>
        </p:nvSpPr>
        <p:spPr>
          <a:xfrm>
            <a:off x="976313" y="4560888"/>
            <a:ext cx="5362575" cy="4321175"/>
          </a:xfrm>
          <a:noFill/>
          <a:ln/>
        </p:spPr>
        <p:txBody>
          <a:bodyPr lIns="96811" tIns="48406" rIns="96811" bIns="48406"/>
          <a:lstStyle/>
          <a:p>
            <a:r>
              <a:rPr lang="en-US" dirty="0"/>
              <a:t>Our compromise is that the </a:t>
            </a:r>
            <a:r>
              <a:rPr lang="en-US" dirty="0" err="1"/>
              <a:t>popTop</a:t>
            </a:r>
            <a:r>
              <a:rPr lang="en-US" dirty="0"/>
              <a:t>() method may fail if it detects that (1) a current </a:t>
            </a:r>
            <a:r>
              <a:rPr lang="en-US" dirty="0" err="1"/>
              <a:t>popTop</a:t>
            </a:r>
            <a:r>
              <a:rPr lang="en-US" dirty="0"/>
              <a:t>() succeeded, or  (2) a concurrent </a:t>
            </a:r>
            <a:r>
              <a:rPr lang="en-US" dirty="0" err="1"/>
              <a:t>popBottom</a:t>
            </a:r>
            <a:r>
              <a:rPr lang="en-US" dirty="0"/>
              <a:t>() took the last task in the queue. This works well for this application (the thief simply moves on to another victim) and simplifies the implementation (we can always panic if things get confusing).</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6282AC8B-AAD2-4607-9A2A-E07BA6D23A1D}" type="slidenum">
              <a:rPr lang="x-none" smtClean="0"/>
              <a:pPr/>
              <a:t>103</a:t>
            </a:fld>
            <a:endParaRPr lang="en-US"/>
          </a:p>
        </p:txBody>
      </p:sp>
      <p:sp>
        <p:nvSpPr>
          <p:cNvPr id="2682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FCCFA21-D2B2-43A1-B1C1-A14813AC9DE9}" type="slidenum">
              <a:rPr lang="x-none" sz="1200">
                <a:latin typeface="Marlett" pitchFamily="2" charset="2"/>
              </a:rPr>
              <a:pPr defTabSz="968375"/>
              <a:t>103</a:t>
            </a:fld>
            <a:endParaRPr lang="en-US" sz="1200">
              <a:latin typeface="Marlett" pitchFamily="2" charset="2"/>
            </a:endParaRPr>
          </a:p>
        </p:txBody>
      </p:sp>
      <p:sp>
        <p:nvSpPr>
          <p:cNvPr id="268292" name="Rectangle 2"/>
          <p:cNvSpPr>
            <a:spLocks noGrp="1" noRot="1" noChangeAspect="1" noChangeArrowheads="1" noTextEdit="1"/>
          </p:cNvSpPr>
          <p:nvPr>
            <p:ph type="sldImg"/>
          </p:nvPr>
        </p:nvSpPr>
        <p:spPr>
          <a:xfrm>
            <a:off x="1255713" y="719138"/>
            <a:ext cx="4802187" cy="3602037"/>
          </a:xfrm>
          <a:ln/>
        </p:spPr>
      </p:sp>
      <p:sp>
        <p:nvSpPr>
          <p:cNvPr id="26829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Before describing the algorithm in detail, I am going to go over a common pitfall of many algorithms that use CAS, a problem we call the ABA problems. Here the thief is about to steal the blue thread. It looks in the queue and copies (a pointer to) the thread at the top. I then calls CAS to move the top pointer to the next thread down, as shown.</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0A3C2E50-943B-4ACA-AB4D-C0F213861FC0}" type="slidenum">
              <a:rPr lang="x-none" smtClean="0"/>
              <a:pPr/>
              <a:t>104</a:t>
            </a:fld>
            <a:endParaRPr lang="en-US"/>
          </a:p>
        </p:txBody>
      </p:sp>
      <p:sp>
        <p:nvSpPr>
          <p:cNvPr id="2693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3C070BD-8BF9-4B55-8526-F6A0A3A13C9F}" type="slidenum">
              <a:rPr lang="x-none" sz="1200">
                <a:latin typeface="Marlett" pitchFamily="2" charset="2"/>
              </a:rPr>
              <a:pPr defTabSz="968375"/>
              <a:t>104</a:t>
            </a:fld>
            <a:endParaRPr lang="en-US" sz="1200">
              <a:latin typeface="Marlett" pitchFamily="2" charset="2"/>
            </a:endParaRPr>
          </a:p>
        </p:txBody>
      </p:sp>
      <p:sp>
        <p:nvSpPr>
          <p:cNvPr id="269316" name="Rectangle 2"/>
          <p:cNvSpPr>
            <a:spLocks noGrp="1" noRot="1" noChangeAspect="1" noChangeArrowheads="1" noTextEdit="1"/>
          </p:cNvSpPr>
          <p:nvPr>
            <p:ph type="sldImg"/>
          </p:nvPr>
        </p:nvSpPr>
        <p:spPr>
          <a:xfrm>
            <a:off x="1255713" y="719138"/>
            <a:ext cx="4802187" cy="3602037"/>
          </a:xfrm>
          <a:ln/>
        </p:spPr>
      </p:sp>
      <p:sp>
        <p:nvSpPr>
          <p:cNvPr id="26931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Suppose instead that after the read process reads the pointer to the blue task, the blue process consumes all the threads in the double-ended queue, one-by-one.</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CF8B45CE-54FE-495E-8012-F4FB7EC856F1}" type="slidenum">
              <a:rPr lang="x-none" smtClean="0"/>
              <a:pPr/>
              <a:t>105</a:t>
            </a:fld>
            <a:endParaRPr lang="en-US"/>
          </a:p>
        </p:txBody>
      </p:sp>
      <p:sp>
        <p:nvSpPr>
          <p:cNvPr id="2703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7B1294B-8A04-407E-8E5B-EBD13DBBB414}" type="slidenum">
              <a:rPr lang="x-none" sz="1200">
                <a:latin typeface="Marlett" pitchFamily="2" charset="2"/>
              </a:rPr>
              <a:pPr defTabSz="968375"/>
              <a:t>105</a:t>
            </a:fld>
            <a:endParaRPr lang="en-US" sz="1200">
              <a:latin typeface="Marlett" pitchFamily="2" charset="2"/>
            </a:endParaRPr>
          </a:p>
        </p:txBody>
      </p:sp>
      <p:sp>
        <p:nvSpPr>
          <p:cNvPr id="270340" name="Rectangle 2"/>
          <p:cNvSpPr>
            <a:spLocks noGrp="1" noRot="1" noChangeAspect="1" noChangeArrowheads="1" noTextEdit="1"/>
          </p:cNvSpPr>
          <p:nvPr>
            <p:ph type="sldImg"/>
          </p:nvPr>
        </p:nvSpPr>
        <p:spPr>
          <a:xfrm>
            <a:off x="1255713" y="719138"/>
            <a:ext cx="4802187" cy="3602037"/>
          </a:xfrm>
          <a:ln/>
        </p:spPr>
      </p:sp>
      <p:sp>
        <p:nvSpPr>
          <p:cNvPr id="270341"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7F827736-707E-4C65-ABD1-95E1EEA73FC5}" type="slidenum">
              <a:rPr lang="x-none" smtClean="0"/>
              <a:pPr/>
              <a:t>106</a:t>
            </a:fld>
            <a:endParaRPr lang="en-US"/>
          </a:p>
        </p:txBody>
      </p:sp>
      <p:sp>
        <p:nvSpPr>
          <p:cNvPr id="2713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587E9C1-0CB3-4442-88AE-D4465437BBD5}" type="slidenum">
              <a:rPr lang="x-none" sz="1200">
                <a:latin typeface="Marlett" pitchFamily="2" charset="2"/>
              </a:rPr>
              <a:pPr defTabSz="968375"/>
              <a:t>106</a:t>
            </a:fld>
            <a:endParaRPr lang="en-US" sz="1200">
              <a:latin typeface="Marlett" pitchFamily="2" charset="2"/>
            </a:endParaRPr>
          </a:p>
        </p:txBody>
      </p:sp>
      <p:sp>
        <p:nvSpPr>
          <p:cNvPr id="271364" name="Rectangle 2"/>
          <p:cNvSpPr>
            <a:spLocks noGrp="1" noRot="1" noChangeAspect="1" noChangeArrowheads="1" noTextEdit="1"/>
          </p:cNvSpPr>
          <p:nvPr>
            <p:ph type="sldImg"/>
          </p:nvPr>
        </p:nvSpPr>
        <p:spPr>
          <a:xfrm>
            <a:off x="1255713" y="719138"/>
            <a:ext cx="4802187" cy="3602037"/>
          </a:xfrm>
          <a:ln/>
        </p:spPr>
      </p:sp>
      <p:sp>
        <p:nvSpPr>
          <p:cNvPr id="27136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464589DB-2EAE-43D2-97D1-F3008152DC9C}" type="slidenum">
              <a:rPr lang="x-none" smtClean="0"/>
              <a:pPr/>
              <a:t>107</a:t>
            </a:fld>
            <a:endParaRPr lang="en-US"/>
          </a:p>
        </p:txBody>
      </p:sp>
      <p:sp>
        <p:nvSpPr>
          <p:cNvPr id="2723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A553FA8-6DEA-4ACE-9749-EC9D69946A83}" type="slidenum">
              <a:rPr lang="x-none" sz="1200">
                <a:latin typeface="Marlett" pitchFamily="2" charset="2"/>
              </a:rPr>
              <a:pPr defTabSz="968375"/>
              <a:t>107</a:t>
            </a:fld>
            <a:endParaRPr lang="en-US" sz="1200">
              <a:latin typeface="Marlett" pitchFamily="2" charset="2"/>
            </a:endParaRPr>
          </a:p>
        </p:txBody>
      </p:sp>
      <p:sp>
        <p:nvSpPr>
          <p:cNvPr id="272388" name="Rectangle 2"/>
          <p:cNvSpPr>
            <a:spLocks noGrp="1" noRot="1" noChangeAspect="1" noChangeArrowheads="1" noTextEdit="1"/>
          </p:cNvSpPr>
          <p:nvPr>
            <p:ph type="sldImg"/>
          </p:nvPr>
        </p:nvSpPr>
        <p:spPr>
          <a:xfrm>
            <a:off x="1255713" y="719138"/>
            <a:ext cx="4802187" cy="3602037"/>
          </a:xfrm>
          <a:ln/>
        </p:spPr>
      </p:sp>
      <p:sp>
        <p:nvSpPr>
          <p:cNvPr id="27238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After consuming those three threads, it generates three more and pushes them onto the stack.</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27005B64-4B82-4032-8E52-9F297B398D2C}" type="slidenum">
              <a:rPr lang="x-none" smtClean="0"/>
              <a:pPr/>
              <a:t>108</a:t>
            </a:fld>
            <a:endParaRPr lang="en-US"/>
          </a:p>
        </p:txBody>
      </p:sp>
      <p:sp>
        <p:nvSpPr>
          <p:cNvPr id="2734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D062179A-0008-41B2-A516-5333759F01AA}" type="slidenum">
              <a:rPr lang="x-none" sz="1200">
                <a:latin typeface="Marlett" pitchFamily="2" charset="2"/>
              </a:rPr>
              <a:pPr defTabSz="968375"/>
              <a:t>108</a:t>
            </a:fld>
            <a:endParaRPr lang="en-US" sz="1200">
              <a:latin typeface="Marlett" pitchFamily="2" charset="2"/>
            </a:endParaRPr>
          </a:p>
        </p:txBody>
      </p:sp>
      <p:sp>
        <p:nvSpPr>
          <p:cNvPr id="273412" name="Rectangle 2"/>
          <p:cNvSpPr>
            <a:spLocks noGrp="1" noRot="1" noChangeAspect="1" noChangeArrowheads="1" noTextEdit="1"/>
          </p:cNvSpPr>
          <p:nvPr>
            <p:ph type="sldImg"/>
          </p:nvPr>
        </p:nvSpPr>
        <p:spPr>
          <a:xfrm>
            <a:off x="1255713" y="719138"/>
            <a:ext cx="4802187" cy="3602037"/>
          </a:xfrm>
          <a:ln/>
        </p:spPr>
      </p:sp>
      <p:sp>
        <p:nvSpPr>
          <p:cNvPr id="273413"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B017B7DC-6EFE-4D93-ACA9-60668403D643}" type="slidenum">
              <a:rPr lang="x-none" smtClean="0"/>
              <a:pPr/>
              <a:t>109</a:t>
            </a:fld>
            <a:endParaRPr lang="en-US"/>
          </a:p>
        </p:txBody>
      </p:sp>
      <p:sp>
        <p:nvSpPr>
          <p:cNvPr id="2744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C6D3D901-C7F0-4186-8252-1F50865EBBF1}" type="slidenum">
              <a:rPr lang="x-none" sz="1200">
                <a:latin typeface="Marlett" pitchFamily="2" charset="2"/>
              </a:rPr>
              <a:pPr defTabSz="968375"/>
              <a:t>109</a:t>
            </a:fld>
            <a:endParaRPr lang="en-US" sz="1200">
              <a:latin typeface="Marlett" pitchFamily="2" charset="2"/>
            </a:endParaRPr>
          </a:p>
        </p:txBody>
      </p:sp>
      <p:sp>
        <p:nvSpPr>
          <p:cNvPr id="274436" name="Rectangle 2"/>
          <p:cNvSpPr>
            <a:spLocks noGrp="1" noRot="1" noChangeAspect="1" noChangeArrowheads="1" noTextEdit="1"/>
          </p:cNvSpPr>
          <p:nvPr>
            <p:ph type="sldImg"/>
          </p:nvPr>
        </p:nvSpPr>
        <p:spPr>
          <a:xfrm>
            <a:off x="1255713" y="719138"/>
            <a:ext cx="4802187" cy="3602037"/>
          </a:xfrm>
          <a:ln/>
        </p:spPr>
      </p:sp>
      <p:sp>
        <p:nvSpPr>
          <p:cNvPr id="274437"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3D07267C-79D7-4BD1-B561-6081A1D74C0B}" type="slidenum">
              <a:rPr lang="x-none" smtClean="0"/>
              <a:pPr/>
              <a:t>110</a:t>
            </a:fld>
            <a:endParaRPr lang="en-US"/>
          </a:p>
        </p:txBody>
      </p:sp>
      <p:sp>
        <p:nvSpPr>
          <p:cNvPr id="2754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F0877C0-D294-4227-A6AB-35D961D7B1F9}" type="slidenum">
              <a:rPr lang="x-none" sz="1200">
                <a:latin typeface="Marlett" pitchFamily="2" charset="2"/>
              </a:rPr>
              <a:pPr defTabSz="968375"/>
              <a:t>110</a:t>
            </a:fld>
            <a:endParaRPr lang="en-US" sz="1200">
              <a:latin typeface="Marlett" pitchFamily="2" charset="2"/>
            </a:endParaRPr>
          </a:p>
        </p:txBody>
      </p:sp>
      <p:sp>
        <p:nvSpPr>
          <p:cNvPr id="275460" name="Rectangle 2"/>
          <p:cNvSpPr>
            <a:spLocks noGrp="1" noRot="1" noChangeAspect="1" noChangeArrowheads="1" noTextEdit="1"/>
          </p:cNvSpPr>
          <p:nvPr>
            <p:ph type="sldImg"/>
          </p:nvPr>
        </p:nvSpPr>
        <p:spPr>
          <a:xfrm>
            <a:off x="1255713" y="719138"/>
            <a:ext cx="4802187" cy="3602037"/>
          </a:xfrm>
          <a:ln/>
        </p:spPr>
      </p:sp>
      <p:sp>
        <p:nvSpPr>
          <p:cNvPr id="27546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Now the red process wakes up, and calls CAS to reset the top of the queue to the next lower value. The CAS succeeds, because the top still points to the thirds slot, and the red process goes off to work on the blue thread, unaware that the value it saw had changed in the meantime. This problem is called the ABA problem because the field assumed a sequence of values between the two times it was inspected.</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60A9B4AB-F81E-43C7-B696-1539AC444D36}" type="slidenum">
              <a:rPr lang="x-none" smtClean="0"/>
              <a:pPr/>
              <a:t>111</a:t>
            </a:fld>
            <a:endParaRPr lang="en-US"/>
          </a:p>
        </p:txBody>
      </p:sp>
      <p:sp>
        <p:nvSpPr>
          <p:cNvPr id="2764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148A1B4-D6CC-4980-973E-8738A0064811}" type="slidenum">
              <a:rPr lang="x-none" sz="1200">
                <a:latin typeface="Marlett" pitchFamily="2" charset="2"/>
              </a:rPr>
              <a:pPr defTabSz="968375"/>
              <a:t>111</a:t>
            </a:fld>
            <a:endParaRPr lang="en-US" sz="1200">
              <a:latin typeface="Marlett" pitchFamily="2" charset="2"/>
            </a:endParaRPr>
          </a:p>
        </p:txBody>
      </p:sp>
      <p:sp>
        <p:nvSpPr>
          <p:cNvPr id="276484" name="Rectangle 2"/>
          <p:cNvSpPr>
            <a:spLocks noGrp="1" noRot="1" noChangeAspect="1" noChangeArrowheads="1" noTextEdit="1"/>
          </p:cNvSpPr>
          <p:nvPr>
            <p:ph type="sldImg"/>
          </p:nvPr>
        </p:nvSpPr>
        <p:spPr>
          <a:xfrm>
            <a:off x="1255713" y="719138"/>
            <a:ext cx="4802187" cy="3602037"/>
          </a:xfrm>
          <a:ln/>
        </p:spPr>
      </p:sp>
      <p:sp>
        <p:nvSpPr>
          <p:cNvPr id="27648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To avoid the ABA problem, we add a stamp field to the field that holds the top of the queue. Each time the top field is changed, we increment the stamp. This measure ensures that there will never be an ABA problem, because the field never assumes the same value twice. Naturally, we are ignoring the issue of stamp overflow.</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0F0D6013-B114-4D6B-B500-1FAEEB215357}" type="slidenum">
              <a:rPr lang="x-none" smtClean="0"/>
              <a:pPr/>
              <a:t>112</a:t>
            </a:fld>
            <a:endParaRPr lang="en-US"/>
          </a:p>
        </p:txBody>
      </p:sp>
      <p:sp>
        <p:nvSpPr>
          <p:cNvPr id="2775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053EC9E-5BF6-4291-9465-D884E5DDAA3E}" type="slidenum">
              <a:rPr lang="x-none" sz="1200">
                <a:latin typeface="Marlett" pitchFamily="2" charset="2"/>
              </a:rPr>
              <a:pPr defTabSz="968375"/>
              <a:t>112</a:t>
            </a:fld>
            <a:endParaRPr lang="en-US" sz="1200">
              <a:latin typeface="Marlett" pitchFamily="2" charset="2"/>
            </a:endParaRPr>
          </a:p>
        </p:txBody>
      </p:sp>
      <p:sp>
        <p:nvSpPr>
          <p:cNvPr id="277508" name="Rectangle 2"/>
          <p:cNvSpPr>
            <a:spLocks noGrp="1" noRot="1" noChangeAspect="1" noChangeArrowheads="1" noTextEdit="1"/>
          </p:cNvSpPr>
          <p:nvPr>
            <p:ph type="sldImg"/>
          </p:nvPr>
        </p:nvSpPr>
        <p:spPr>
          <a:xfrm>
            <a:off x="1255713" y="719138"/>
            <a:ext cx="4802187" cy="3602037"/>
          </a:xfrm>
          <a:ln/>
        </p:spPr>
      </p:sp>
      <p:sp>
        <p:nvSpPr>
          <p:cNvPr id="27750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Let us take a tour of the code for this doubly-ended queue. This algorithm, due to Anish Arora, Robert Blumofe, and Greg Plaxton, is, in our view, one of the nicest synchronization algorithms ever invented, in that it works because of a collection of very accurate combinations of interactions. Any little change in the Algorithm, and it breaks, but when it works, its very effective. </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B3B6922A-F4F6-4589-A4A3-B400C6930AE1}" type="slidenum">
              <a:rPr lang="x-none" smtClean="0"/>
              <a:pPr/>
              <a:t>113</a:t>
            </a:fld>
            <a:endParaRPr lang="en-US"/>
          </a:p>
        </p:txBody>
      </p:sp>
      <p:sp>
        <p:nvSpPr>
          <p:cNvPr id="2785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484F5FA-A522-453F-8FE1-1B46C3D293CD}" type="slidenum">
              <a:rPr lang="x-none" sz="1200">
                <a:latin typeface="Marlett" pitchFamily="2" charset="2"/>
              </a:rPr>
              <a:pPr defTabSz="968375"/>
              <a:t>113</a:t>
            </a:fld>
            <a:endParaRPr lang="en-US" sz="1200">
              <a:latin typeface="Marlett" pitchFamily="2" charset="2"/>
            </a:endParaRPr>
          </a:p>
        </p:txBody>
      </p:sp>
      <p:sp>
        <p:nvSpPr>
          <p:cNvPr id="278532" name="Rectangle 2"/>
          <p:cNvSpPr>
            <a:spLocks noGrp="1" noRot="1" noChangeAspect="1" noChangeArrowheads="1" noTextEdit="1"/>
          </p:cNvSpPr>
          <p:nvPr>
            <p:ph type="sldImg"/>
          </p:nvPr>
        </p:nvSpPr>
        <p:spPr>
          <a:xfrm>
            <a:off x="1255713" y="719138"/>
            <a:ext cx="4802187" cy="3602037"/>
          </a:xfrm>
          <a:ln/>
        </p:spPr>
      </p:sp>
      <p:sp>
        <p:nvSpPr>
          <p:cNvPr id="27853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top field is an atomic integer, because thieves may try to access it concurrently. As mentioned, the high-order bits of this integer are interpreted as a stamp and the low-order bits as an integer.</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8B9938DC-EC87-4922-8685-CBE3415957A8}" type="slidenum">
              <a:rPr lang="x-none" smtClean="0"/>
              <a:pPr/>
              <a:t>114</a:t>
            </a:fld>
            <a:endParaRPr lang="en-US"/>
          </a:p>
        </p:txBody>
      </p:sp>
      <p:sp>
        <p:nvSpPr>
          <p:cNvPr id="2795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388D09F-01AF-4D4B-95D3-E2619983A8AE}" type="slidenum">
              <a:rPr lang="x-none" sz="1200">
                <a:latin typeface="Marlett" pitchFamily="2" charset="2"/>
              </a:rPr>
              <a:pPr defTabSz="968375"/>
              <a:t>114</a:t>
            </a:fld>
            <a:endParaRPr lang="en-US" sz="1200">
              <a:latin typeface="Marlett" pitchFamily="2" charset="2"/>
            </a:endParaRPr>
          </a:p>
        </p:txBody>
      </p:sp>
      <p:sp>
        <p:nvSpPr>
          <p:cNvPr id="279556" name="Rectangle 2"/>
          <p:cNvSpPr>
            <a:spLocks noGrp="1" noRot="1" noChangeAspect="1" noChangeArrowheads="1" noTextEdit="1"/>
          </p:cNvSpPr>
          <p:nvPr>
            <p:ph type="sldImg"/>
          </p:nvPr>
        </p:nvSpPr>
        <p:spPr>
          <a:xfrm>
            <a:off x="1255713" y="719138"/>
            <a:ext cx="4802187" cy="3602037"/>
          </a:xfrm>
          <a:ln/>
        </p:spPr>
      </p:sp>
      <p:sp>
        <p:nvSpPr>
          <p:cNvPr id="27955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This field is the index of the bottom thread in the queue. There is no need to make it atomic because only the owner every tries to change it.</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364FA568-2925-424B-96F9-9995A30689E8}" type="slidenum">
              <a:rPr lang="x-none" smtClean="0"/>
              <a:pPr/>
              <a:t>115</a:t>
            </a:fld>
            <a:endParaRPr lang="en-US"/>
          </a:p>
        </p:txBody>
      </p:sp>
      <p:sp>
        <p:nvSpPr>
          <p:cNvPr id="2805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7CA8129-6F66-48E4-BD16-C2164713D074}" type="slidenum">
              <a:rPr lang="x-none" sz="1200">
                <a:latin typeface="Marlett" pitchFamily="2" charset="2"/>
              </a:rPr>
              <a:pPr defTabSz="968375"/>
              <a:t>115</a:t>
            </a:fld>
            <a:endParaRPr lang="en-US" sz="1200">
              <a:latin typeface="Marlett" pitchFamily="2" charset="2"/>
            </a:endParaRPr>
          </a:p>
        </p:txBody>
      </p:sp>
      <p:sp>
        <p:nvSpPr>
          <p:cNvPr id="280580" name="Rectangle 2"/>
          <p:cNvSpPr>
            <a:spLocks noGrp="1" noRot="1" noChangeAspect="1" noChangeArrowheads="1" noTextEdit="1"/>
          </p:cNvSpPr>
          <p:nvPr>
            <p:ph type="sldImg"/>
          </p:nvPr>
        </p:nvSpPr>
        <p:spPr>
          <a:xfrm>
            <a:off x="1255713" y="719138"/>
            <a:ext cx="4802187" cy="3602037"/>
          </a:xfrm>
          <a:ln/>
        </p:spPr>
      </p:sp>
      <p:sp>
        <p:nvSpPr>
          <p:cNvPr id="28058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We keep the threads themselves in this array.</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F4F751D5-7513-473A-AB08-3A03FA49D02B}" type="slidenum">
              <a:rPr lang="x-none" smtClean="0"/>
              <a:pPr/>
              <a:t>116</a:t>
            </a:fld>
            <a:endParaRPr lang="en-US"/>
          </a:p>
        </p:txBody>
      </p:sp>
      <p:sp>
        <p:nvSpPr>
          <p:cNvPr id="2816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2CB6766D-D448-4E01-9D2F-3444AA93CAF3}" type="slidenum">
              <a:rPr lang="x-none" sz="1200">
                <a:latin typeface="Marlett" pitchFamily="2" charset="2"/>
              </a:rPr>
              <a:pPr defTabSz="968375"/>
              <a:t>116</a:t>
            </a:fld>
            <a:endParaRPr lang="en-US" sz="1200">
              <a:latin typeface="Marlett" pitchFamily="2" charset="2"/>
            </a:endParaRPr>
          </a:p>
        </p:txBody>
      </p:sp>
      <p:sp>
        <p:nvSpPr>
          <p:cNvPr id="281604" name="Rectangle 2"/>
          <p:cNvSpPr>
            <a:spLocks noGrp="1" noRot="1" noChangeAspect="1" noChangeArrowheads="1" noTextEdit="1"/>
          </p:cNvSpPr>
          <p:nvPr>
            <p:ph type="sldImg"/>
          </p:nvPr>
        </p:nvSpPr>
        <p:spPr>
          <a:xfrm>
            <a:off x="1255713" y="719138"/>
            <a:ext cx="4802187" cy="3602037"/>
          </a:xfrm>
          <a:ln/>
        </p:spPr>
      </p:sp>
      <p:sp>
        <p:nvSpPr>
          <p:cNvPr id="28160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pushBottom code is very simple</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667B88A3-4685-4E5E-9E5A-1C9D3B1E1050}" type="slidenum">
              <a:rPr lang="x-none" smtClean="0"/>
              <a:pPr/>
              <a:t>117</a:t>
            </a:fld>
            <a:endParaRPr lang="en-US"/>
          </a:p>
        </p:txBody>
      </p:sp>
      <p:sp>
        <p:nvSpPr>
          <p:cNvPr id="2826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35B220C-2A62-49C2-AEAE-EC673856988B}" type="slidenum">
              <a:rPr lang="x-none" sz="1200">
                <a:latin typeface="Marlett" pitchFamily="2" charset="2"/>
              </a:rPr>
              <a:pPr defTabSz="968375"/>
              <a:t>117</a:t>
            </a:fld>
            <a:endParaRPr lang="en-US" sz="1200">
              <a:latin typeface="Marlett" pitchFamily="2" charset="2"/>
            </a:endParaRPr>
          </a:p>
        </p:txBody>
      </p:sp>
      <p:sp>
        <p:nvSpPr>
          <p:cNvPr id="282628" name="Rectangle 2"/>
          <p:cNvSpPr>
            <a:spLocks noGrp="1" noRot="1" noChangeAspect="1" noChangeArrowheads="1" noTextEdit="1"/>
          </p:cNvSpPr>
          <p:nvPr>
            <p:ph type="sldImg"/>
          </p:nvPr>
        </p:nvSpPr>
        <p:spPr>
          <a:xfrm>
            <a:off x="1255713" y="719138"/>
            <a:ext cx="4802187" cy="3602037"/>
          </a:xfrm>
          <a:ln/>
        </p:spPr>
      </p:sp>
      <p:sp>
        <p:nvSpPr>
          <p:cNvPr id="28262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pushBottom code is very simple</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A84043A2-80A6-4D44-AB56-A1CD460B2606}" type="slidenum">
              <a:rPr lang="x-none" smtClean="0"/>
              <a:pPr/>
              <a:t>118</a:t>
            </a:fld>
            <a:endParaRPr lang="en-US"/>
          </a:p>
        </p:txBody>
      </p:sp>
      <p:sp>
        <p:nvSpPr>
          <p:cNvPr id="2836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925D007-D37C-454B-B1C9-6E3EA89B9840}" type="slidenum">
              <a:rPr lang="x-none" sz="1200">
                <a:latin typeface="Marlett" pitchFamily="2" charset="2"/>
              </a:rPr>
              <a:pPr defTabSz="968375"/>
              <a:t>118</a:t>
            </a:fld>
            <a:endParaRPr lang="en-US" sz="1200">
              <a:latin typeface="Marlett" pitchFamily="2" charset="2"/>
            </a:endParaRPr>
          </a:p>
        </p:txBody>
      </p:sp>
      <p:sp>
        <p:nvSpPr>
          <p:cNvPr id="283652" name="Rectangle 2"/>
          <p:cNvSpPr>
            <a:spLocks noGrp="1" noRot="1" noChangeAspect="1" noChangeArrowheads="1" noTextEdit="1"/>
          </p:cNvSpPr>
          <p:nvPr>
            <p:ph type="sldImg"/>
          </p:nvPr>
        </p:nvSpPr>
        <p:spPr>
          <a:xfrm>
            <a:off x="1255713" y="719138"/>
            <a:ext cx="4802187" cy="3602037"/>
          </a:xfrm>
          <a:ln/>
        </p:spPr>
      </p:sp>
      <p:sp>
        <p:nvSpPr>
          <p:cNvPr id="28365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pushBottom code is very simple</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80ED1BBB-C257-4932-8D45-45E08D05D942}" type="slidenum">
              <a:rPr lang="x-none" smtClean="0"/>
              <a:pPr/>
              <a:t>119</a:t>
            </a:fld>
            <a:endParaRPr lang="en-US"/>
          </a:p>
        </p:txBody>
      </p:sp>
      <p:sp>
        <p:nvSpPr>
          <p:cNvPr id="2846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04E6D8A-0F3B-4E9F-924F-4322917ABF2E}" type="slidenum">
              <a:rPr lang="x-none" sz="1200">
                <a:latin typeface="Marlett" pitchFamily="2" charset="2"/>
              </a:rPr>
              <a:pPr defTabSz="968375"/>
              <a:t>119</a:t>
            </a:fld>
            <a:endParaRPr lang="en-US" sz="1200">
              <a:latin typeface="Marlett" pitchFamily="2" charset="2"/>
            </a:endParaRPr>
          </a:p>
        </p:txBody>
      </p:sp>
      <p:sp>
        <p:nvSpPr>
          <p:cNvPr id="284676" name="Rectangle 2"/>
          <p:cNvSpPr>
            <a:spLocks noGrp="1" noRot="1" noChangeAspect="1" noChangeArrowheads="1" noTextEdit="1"/>
          </p:cNvSpPr>
          <p:nvPr>
            <p:ph type="sldImg"/>
          </p:nvPr>
        </p:nvSpPr>
        <p:spPr>
          <a:xfrm>
            <a:off x="1255713" y="719138"/>
            <a:ext cx="4802187" cy="3602037"/>
          </a:xfrm>
          <a:ln/>
        </p:spPr>
      </p:sp>
      <p:sp>
        <p:nvSpPr>
          <p:cNvPr id="28467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We will now look at the method called by the thief.</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p>
            <a:fld id="{D9E05420-FCC7-4E2D-98C8-96DA9FCE1993}" type="slidenum">
              <a:rPr lang="x-none" smtClean="0"/>
              <a:pPr/>
              <a:t>120</a:t>
            </a:fld>
            <a:endParaRPr lang="en-US"/>
          </a:p>
        </p:txBody>
      </p:sp>
      <p:sp>
        <p:nvSpPr>
          <p:cNvPr id="2856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BFABDE82-652C-4CB2-A1CB-9FD401893E93}" type="slidenum">
              <a:rPr lang="x-none" sz="1200">
                <a:latin typeface="Marlett" pitchFamily="2" charset="2"/>
              </a:rPr>
              <a:pPr defTabSz="968375"/>
              <a:t>120</a:t>
            </a:fld>
            <a:endParaRPr lang="en-US" sz="1200">
              <a:latin typeface="Marlett" pitchFamily="2" charset="2"/>
            </a:endParaRPr>
          </a:p>
        </p:txBody>
      </p:sp>
      <p:sp>
        <p:nvSpPr>
          <p:cNvPr id="285700" name="Rectangle 2"/>
          <p:cNvSpPr>
            <a:spLocks noGrp="1" noRot="1" noChangeAspect="1" noChangeArrowheads="1" noTextEdit="1"/>
          </p:cNvSpPr>
          <p:nvPr>
            <p:ph type="sldImg"/>
          </p:nvPr>
        </p:nvSpPr>
        <p:spPr>
          <a:xfrm>
            <a:off x="1255713" y="719138"/>
            <a:ext cx="4802187" cy="3602037"/>
          </a:xfrm>
          <a:ln/>
        </p:spPr>
      </p:sp>
      <p:sp>
        <p:nvSpPr>
          <p:cNvPr id="28570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thief first reads to top field. Because this is an atomic stamped reference, this field has two parts: the actual value, and the stamp used to avoid the ABA problem.</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p>
            <a:fld id="{6DFB2709-282E-42DD-8466-117C88350186}" type="slidenum">
              <a:rPr lang="x-none" smtClean="0"/>
              <a:pPr/>
              <a:t>121</a:t>
            </a:fld>
            <a:endParaRPr lang="en-US"/>
          </a:p>
        </p:txBody>
      </p:sp>
      <p:sp>
        <p:nvSpPr>
          <p:cNvPr id="2867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9DE51F4-16D6-4109-8ADD-CC485F905F40}" type="slidenum">
              <a:rPr lang="x-none" sz="1200">
                <a:latin typeface="Marlett" pitchFamily="2" charset="2"/>
              </a:rPr>
              <a:pPr defTabSz="968375"/>
              <a:t>121</a:t>
            </a:fld>
            <a:endParaRPr lang="en-US" sz="1200">
              <a:latin typeface="Marlett" pitchFamily="2" charset="2"/>
            </a:endParaRPr>
          </a:p>
        </p:txBody>
      </p:sp>
      <p:sp>
        <p:nvSpPr>
          <p:cNvPr id="286724" name="Rectangle 2"/>
          <p:cNvSpPr>
            <a:spLocks noGrp="1" noRot="1" noChangeAspect="1" noChangeArrowheads="1" noTextEdit="1"/>
          </p:cNvSpPr>
          <p:nvPr>
            <p:ph type="sldImg"/>
          </p:nvPr>
        </p:nvSpPr>
        <p:spPr>
          <a:xfrm>
            <a:off x="1255713" y="719138"/>
            <a:ext cx="4802187" cy="3602037"/>
          </a:xfrm>
          <a:ln/>
        </p:spPr>
      </p:sp>
      <p:sp>
        <p:nvSpPr>
          <p:cNvPr id="28672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We then compute new values for both components. One can make these timestamps bounded using a technique due to Moir. </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CA109BF6-2755-438B-B07D-7AE5922D7799}" type="slidenum">
              <a:rPr lang="x-none" smtClean="0"/>
              <a:pPr/>
              <a:t>122</a:t>
            </a:fld>
            <a:endParaRPr lang="en-US"/>
          </a:p>
        </p:txBody>
      </p:sp>
      <p:sp>
        <p:nvSpPr>
          <p:cNvPr id="28774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4BCB83F-9DF2-42D7-9D4A-1AD5A252F4D9}" type="slidenum">
              <a:rPr lang="x-none" sz="1200">
                <a:latin typeface="Marlett" pitchFamily="2" charset="2"/>
              </a:rPr>
              <a:pPr defTabSz="968375"/>
              <a:t>122</a:t>
            </a:fld>
            <a:endParaRPr lang="en-US" sz="1200">
              <a:latin typeface="Marlett" pitchFamily="2" charset="2"/>
            </a:endParaRPr>
          </a:p>
        </p:txBody>
      </p:sp>
      <p:sp>
        <p:nvSpPr>
          <p:cNvPr id="287748" name="Rectangle 2"/>
          <p:cNvSpPr>
            <a:spLocks noGrp="1" noRot="1" noChangeAspect="1" noChangeArrowheads="1" noTextEdit="1"/>
          </p:cNvSpPr>
          <p:nvPr>
            <p:ph type="sldImg"/>
          </p:nvPr>
        </p:nvSpPr>
        <p:spPr>
          <a:xfrm>
            <a:off x="1255713" y="719138"/>
            <a:ext cx="4802187" cy="3602037"/>
          </a:xfrm>
          <a:ln/>
        </p:spPr>
      </p:sp>
      <p:sp>
        <p:nvSpPr>
          <p:cNvPr id="28774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Before we try to steal, however, we check whether there is any thing to steal, returning null if not.</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4AAB54CD-16C1-46EC-AFAE-0F8B63B9A5DD}" type="slidenum">
              <a:rPr lang="x-none" smtClean="0"/>
              <a:pPr/>
              <a:t>123</a:t>
            </a:fld>
            <a:endParaRPr lang="en-US"/>
          </a:p>
        </p:txBody>
      </p:sp>
      <p:sp>
        <p:nvSpPr>
          <p:cNvPr id="28877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6C16349-D71F-4701-906C-E25C35A3B1DD}" type="slidenum">
              <a:rPr lang="x-none" sz="1200">
                <a:latin typeface="Marlett" pitchFamily="2" charset="2"/>
              </a:rPr>
              <a:pPr defTabSz="968375"/>
              <a:t>123</a:t>
            </a:fld>
            <a:endParaRPr lang="en-US" sz="1200">
              <a:latin typeface="Marlett" pitchFamily="2" charset="2"/>
            </a:endParaRPr>
          </a:p>
        </p:txBody>
      </p:sp>
      <p:sp>
        <p:nvSpPr>
          <p:cNvPr id="288772" name="Rectangle 2"/>
          <p:cNvSpPr>
            <a:spLocks noGrp="1" noRot="1" noChangeAspect="1" noChangeArrowheads="1" noTextEdit="1"/>
          </p:cNvSpPr>
          <p:nvPr>
            <p:ph type="sldImg"/>
          </p:nvPr>
        </p:nvSpPr>
        <p:spPr>
          <a:xfrm>
            <a:off x="1255713" y="719138"/>
            <a:ext cx="4802187" cy="3602037"/>
          </a:xfrm>
          <a:ln/>
        </p:spPr>
      </p:sp>
      <p:sp>
        <p:nvSpPr>
          <p:cNvPr id="28877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Next we read the task and then call CAS to lower the top. If we succeed, return the task …</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fld id="{F7CC778B-A335-4097-B36B-3D6AC257E7E1}" type="slidenum">
              <a:rPr lang="x-none" smtClean="0"/>
              <a:pPr/>
              <a:t>124</a:t>
            </a:fld>
            <a:endParaRPr lang="en-US"/>
          </a:p>
        </p:txBody>
      </p:sp>
      <p:sp>
        <p:nvSpPr>
          <p:cNvPr id="28979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C7FDD28-CD5A-4193-8E5D-765A0D37F7E3}" type="slidenum">
              <a:rPr lang="x-none" sz="1200">
                <a:latin typeface="Marlett" pitchFamily="2" charset="2"/>
              </a:rPr>
              <a:pPr defTabSz="968375"/>
              <a:t>124</a:t>
            </a:fld>
            <a:endParaRPr lang="en-US" sz="1200">
              <a:latin typeface="Marlett" pitchFamily="2" charset="2"/>
            </a:endParaRPr>
          </a:p>
        </p:txBody>
      </p:sp>
      <p:sp>
        <p:nvSpPr>
          <p:cNvPr id="289796" name="Rectangle 2"/>
          <p:cNvSpPr>
            <a:spLocks noGrp="1" noRot="1" noChangeAspect="1" noChangeArrowheads="1" noTextEdit="1"/>
          </p:cNvSpPr>
          <p:nvPr>
            <p:ph type="sldImg"/>
          </p:nvPr>
        </p:nvSpPr>
        <p:spPr>
          <a:xfrm>
            <a:off x="1255713" y="719138"/>
            <a:ext cx="4802187" cy="3602037"/>
          </a:xfrm>
          <a:ln/>
        </p:spPr>
      </p:sp>
      <p:sp>
        <p:nvSpPr>
          <p:cNvPr id="28979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If we fail, then there must have been a synchronization conflict, either with the owner or with anther thief. Either way, we simply return.</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E8D55DA9-D8A6-4EB2-8D86-34E58853DE3F}" type="slidenum">
              <a:rPr lang="x-none" smtClean="0"/>
              <a:pPr/>
              <a:t>125</a:t>
            </a:fld>
            <a:endParaRPr lang="en-US"/>
          </a:p>
        </p:txBody>
      </p:sp>
      <p:sp>
        <p:nvSpPr>
          <p:cNvPr id="29081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D180671-0A4E-4D43-BA5F-39AA08897077}" type="slidenum">
              <a:rPr lang="x-none" sz="1200">
                <a:latin typeface="Marlett" pitchFamily="2" charset="2"/>
              </a:rPr>
              <a:pPr defTabSz="968375"/>
              <a:t>125</a:t>
            </a:fld>
            <a:endParaRPr lang="en-US" sz="1200">
              <a:latin typeface="Marlett" pitchFamily="2" charset="2"/>
            </a:endParaRPr>
          </a:p>
        </p:txBody>
      </p:sp>
      <p:sp>
        <p:nvSpPr>
          <p:cNvPr id="290820" name="Rectangle 2"/>
          <p:cNvSpPr>
            <a:spLocks noGrp="1" noRot="1" noChangeAspect="1" noChangeArrowheads="1" noTextEdit="1"/>
          </p:cNvSpPr>
          <p:nvPr>
            <p:ph type="sldImg"/>
          </p:nvPr>
        </p:nvSpPr>
        <p:spPr>
          <a:xfrm>
            <a:off x="1255713" y="719138"/>
            <a:ext cx="4802187" cy="3602037"/>
          </a:xfrm>
          <a:ln/>
        </p:spPr>
      </p:sp>
      <p:sp>
        <p:nvSpPr>
          <p:cNvPr id="290821"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p>
            <a:fld id="{9ED1F7C3-89AA-47DB-8830-734BEADCA0BD}" type="slidenum">
              <a:rPr lang="x-none" smtClean="0"/>
              <a:pPr/>
              <a:t>126</a:t>
            </a:fld>
            <a:endParaRPr lang="en-US"/>
          </a:p>
        </p:txBody>
      </p:sp>
      <p:sp>
        <p:nvSpPr>
          <p:cNvPr id="29184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4CDD627-77B4-4E6C-9DA4-11DC0EE99213}" type="slidenum">
              <a:rPr lang="x-none" sz="1200">
                <a:latin typeface="Marlett" pitchFamily="2" charset="2"/>
              </a:rPr>
              <a:pPr defTabSz="968375"/>
              <a:t>126</a:t>
            </a:fld>
            <a:endParaRPr lang="en-US" sz="1200">
              <a:latin typeface="Marlett" pitchFamily="2" charset="2"/>
            </a:endParaRPr>
          </a:p>
        </p:txBody>
      </p:sp>
      <p:sp>
        <p:nvSpPr>
          <p:cNvPr id="291844" name="Rectangle 2"/>
          <p:cNvSpPr>
            <a:spLocks noGrp="1" noRot="1" noChangeAspect="1" noChangeArrowheads="1" noTextEdit="1"/>
          </p:cNvSpPr>
          <p:nvPr>
            <p:ph type="sldImg"/>
          </p:nvPr>
        </p:nvSpPr>
        <p:spPr>
          <a:xfrm>
            <a:off x="1255713" y="719138"/>
            <a:ext cx="4802187" cy="3602037"/>
          </a:xfrm>
          <a:ln/>
        </p:spPr>
      </p:sp>
      <p:sp>
        <p:nvSpPr>
          <p:cNvPr id="29184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C367AF63-3C69-4384-9F89-93B1F90B02DF}" type="slidenum">
              <a:rPr lang="x-none" smtClean="0"/>
              <a:pPr/>
              <a:t>127</a:t>
            </a:fld>
            <a:endParaRPr lang="en-US"/>
          </a:p>
        </p:txBody>
      </p:sp>
      <p:sp>
        <p:nvSpPr>
          <p:cNvPr id="29286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86D4257-0022-43B1-8E2E-25759F074739}" type="slidenum">
              <a:rPr lang="x-none" sz="1200">
                <a:latin typeface="Marlett" pitchFamily="2" charset="2"/>
              </a:rPr>
              <a:pPr defTabSz="968375"/>
              <a:t>127</a:t>
            </a:fld>
            <a:endParaRPr lang="en-US" sz="1200">
              <a:latin typeface="Marlett" pitchFamily="2" charset="2"/>
            </a:endParaRPr>
          </a:p>
        </p:txBody>
      </p:sp>
      <p:sp>
        <p:nvSpPr>
          <p:cNvPr id="292868" name="Rectangle 2"/>
          <p:cNvSpPr>
            <a:spLocks noGrp="1" noRot="1" noChangeAspect="1" noChangeArrowheads="1" noTextEdit="1"/>
          </p:cNvSpPr>
          <p:nvPr>
            <p:ph type="sldImg"/>
          </p:nvPr>
        </p:nvSpPr>
        <p:spPr>
          <a:xfrm>
            <a:off x="1255713" y="719138"/>
            <a:ext cx="4802187" cy="3602037"/>
          </a:xfrm>
          <a:ln/>
        </p:spPr>
      </p:sp>
      <p:sp>
        <p:nvSpPr>
          <p:cNvPr id="292869"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CAC2A3D4-8B94-4004-B0ED-96568719C3E0}" type="slidenum">
              <a:rPr lang="x-none" smtClean="0"/>
              <a:pPr/>
              <a:t>128</a:t>
            </a:fld>
            <a:endParaRPr lang="en-US"/>
          </a:p>
        </p:txBody>
      </p:sp>
      <p:sp>
        <p:nvSpPr>
          <p:cNvPr id="29389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97F047D-0B75-4FE8-A102-F0FCF6CA4B71}" type="slidenum">
              <a:rPr lang="x-none" sz="1200">
                <a:latin typeface="Marlett" pitchFamily="2" charset="2"/>
              </a:rPr>
              <a:pPr defTabSz="968375"/>
              <a:t>128</a:t>
            </a:fld>
            <a:endParaRPr lang="en-US" sz="1200">
              <a:latin typeface="Marlett" pitchFamily="2" charset="2"/>
            </a:endParaRPr>
          </a:p>
        </p:txBody>
      </p:sp>
      <p:sp>
        <p:nvSpPr>
          <p:cNvPr id="293892" name="Rectangle 2"/>
          <p:cNvSpPr>
            <a:spLocks noGrp="1" noRot="1" noChangeAspect="1" noChangeArrowheads="1" noTextEdit="1"/>
          </p:cNvSpPr>
          <p:nvPr>
            <p:ph type="sldImg"/>
          </p:nvPr>
        </p:nvSpPr>
        <p:spPr>
          <a:xfrm>
            <a:off x="1255713" y="719138"/>
            <a:ext cx="4802187" cy="3602037"/>
          </a:xfrm>
          <a:ln/>
        </p:spPr>
      </p:sp>
      <p:sp>
        <p:nvSpPr>
          <p:cNvPr id="293893"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p>
            <a:fld id="{18562C70-93B8-4B7D-9FF2-B52448CBC7C2}" type="slidenum">
              <a:rPr lang="x-none" smtClean="0"/>
              <a:pPr/>
              <a:t>129</a:t>
            </a:fld>
            <a:endParaRPr lang="en-US"/>
          </a:p>
        </p:txBody>
      </p:sp>
      <p:sp>
        <p:nvSpPr>
          <p:cNvPr id="29491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8BB61E0-B824-4AC6-8C22-041E6CCC314E}" type="slidenum">
              <a:rPr lang="x-none" sz="1200">
                <a:latin typeface="Marlett" pitchFamily="2" charset="2"/>
              </a:rPr>
              <a:pPr defTabSz="968375"/>
              <a:t>129</a:t>
            </a:fld>
            <a:endParaRPr lang="en-US" sz="1200">
              <a:latin typeface="Marlett" pitchFamily="2" charset="2"/>
            </a:endParaRPr>
          </a:p>
        </p:txBody>
      </p:sp>
      <p:sp>
        <p:nvSpPr>
          <p:cNvPr id="294916" name="Rectangle 2"/>
          <p:cNvSpPr>
            <a:spLocks noGrp="1" noRot="1" noChangeAspect="1" noChangeArrowheads="1" noTextEdit="1"/>
          </p:cNvSpPr>
          <p:nvPr>
            <p:ph type="sldImg"/>
          </p:nvPr>
        </p:nvSpPr>
        <p:spPr>
          <a:xfrm>
            <a:off x="1255713" y="719138"/>
            <a:ext cx="4802187" cy="3602037"/>
          </a:xfrm>
          <a:ln/>
        </p:spPr>
      </p:sp>
      <p:sp>
        <p:nvSpPr>
          <p:cNvPr id="294917"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p>
            <a:fld id="{8341A6EA-FDBF-47F7-92EB-8F1DE1BF57A6}" type="slidenum">
              <a:rPr lang="x-none" smtClean="0"/>
              <a:pPr/>
              <a:t>130</a:t>
            </a:fld>
            <a:endParaRPr lang="en-US"/>
          </a:p>
        </p:txBody>
      </p:sp>
      <p:sp>
        <p:nvSpPr>
          <p:cNvPr id="29593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E8F56A6-85C6-4D77-858B-404E37112916}" type="slidenum">
              <a:rPr lang="x-none" sz="1200">
                <a:latin typeface="Marlett" pitchFamily="2" charset="2"/>
              </a:rPr>
              <a:pPr defTabSz="968375"/>
              <a:t>130</a:t>
            </a:fld>
            <a:endParaRPr lang="en-US" sz="1200">
              <a:latin typeface="Marlett" pitchFamily="2" charset="2"/>
            </a:endParaRPr>
          </a:p>
        </p:txBody>
      </p:sp>
      <p:sp>
        <p:nvSpPr>
          <p:cNvPr id="295940" name="Rectangle 2"/>
          <p:cNvSpPr>
            <a:spLocks noGrp="1" noRot="1" noChangeAspect="1" noChangeArrowheads="1" noTextEdit="1"/>
          </p:cNvSpPr>
          <p:nvPr>
            <p:ph type="sldImg"/>
          </p:nvPr>
        </p:nvSpPr>
        <p:spPr>
          <a:xfrm>
            <a:off x="1255713" y="719138"/>
            <a:ext cx="4802187" cy="3602037"/>
          </a:xfrm>
          <a:ln/>
        </p:spPr>
      </p:sp>
      <p:sp>
        <p:nvSpPr>
          <p:cNvPr id="295941"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The caller resets Bottom to 0. Either the caller will succeed in claiming the task,</a:t>
            </a:r>
          </a:p>
          <a:p>
            <a:r>
              <a:rPr lang="en-US"/>
              <a:t>or a thief will steal it first.)</a:t>
            </a:r>
          </a:p>
          <a:p>
            <a:r>
              <a:rPr lang="en-US"/>
              <a:t>The caller resolves the potential conflict by calling CAS to reset Top</a:t>
            </a:r>
          </a:p>
          <a:p>
            <a:r>
              <a:rPr lang="en-US"/>
              <a:t>to 0, matching Bottom.</a:t>
            </a:r>
          </a:p>
          <a:p>
            <a:r>
              <a:rPr lang="en-US"/>
              <a:t>If this CAS succeeds, the Top has been reset to 0, and the task has been claimed, so the method returns.</a:t>
            </a:r>
          </a:p>
          <a:p>
            <a:r>
              <a:rPr lang="en-US"/>
              <a:t>Otherwise the queue must be empty because a thief succeeded, but this means that Top</a:t>
            </a:r>
          </a:p>
          <a:p>
            <a:r>
              <a:rPr lang="en-US"/>
              <a:t>points to some entry greater than Bottom which was set to 0 earlier. </a:t>
            </a:r>
          </a:p>
          <a:p>
            <a:r>
              <a:rPr lang="en-US"/>
              <a:t>So before the the caller returns Null, it resets Top to 0.</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47A68403-F24A-4B89-AF52-B4CB377D964A}" type="slidenum">
              <a:rPr lang="x-none" smtClean="0"/>
              <a:pPr/>
              <a:t>131</a:t>
            </a:fld>
            <a:endParaRPr lang="en-US"/>
          </a:p>
        </p:txBody>
      </p:sp>
      <p:sp>
        <p:nvSpPr>
          <p:cNvPr id="29696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A5054D48-E125-4C0A-AF39-24F81203D058}" type="slidenum">
              <a:rPr lang="x-none" sz="1200">
                <a:latin typeface="Marlett" pitchFamily="2" charset="2"/>
              </a:rPr>
              <a:pPr defTabSz="968375"/>
              <a:t>131</a:t>
            </a:fld>
            <a:endParaRPr lang="en-US" sz="1200">
              <a:latin typeface="Marlett" pitchFamily="2" charset="2"/>
            </a:endParaRPr>
          </a:p>
        </p:txBody>
      </p:sp>
      <p:sp>
        <p:nvSpPr>
          <p:cNvPr id="296964" name="Rectangle 2"/>
          <p:cNvSpPr>
            <a:spLocks noGrp="1" noRot="1" noChangeAspect="1" noChangeArrowheads="1" noTextEdit="1"/>
          </p:cNvSpPr>
          <p:nvPr>
            <p:ph type="sldImg"/>
          </p:nvPr>
        </p:nvSpPr>
        <p:spPr>
          <a:xfrm>
            <a:off x="1255713" y="719138"/>
            <a:ext cx="4802187" cy="3602037"/>
          </a:xfrm>
          <a:ln/>
        </p:spPr>
      </p:sp>
      <p:sp>
        <p:nvSpPr>
          <p:cNvPr id="296965"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Notice that a thread can reset bottom because either it succeeds in removing the last item or if it failed to do so it can only be because another thread succeeded. In either case the DEQueue will be empty following the CAS attempt. </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p>
            <a:fld id="{D67430BE-DEBA-4867-870D-F2CF891017C0}" type="slidenum">
              <a:rPr lang="x-none" smtClean="0"/>
              <a:pPr/>
              <a:t>132</a:t>
            </a:fld>
            <a:endParaRPr lang="en-US"/>
          </a:p>
        </p:txBody>
      </p:sp>
      <p:sp>
        <p:nvSpPr>
          <p:cNvPr id="29798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31491508-09E1-4A42-A79F-56D3D1C3F789}" type="slidenum">
              <a:rPr lang="x-none" sz="1200">
                <a:latin typeface="Marlett" pitchFamily="2" charset="2"/>
              </a:rPr>
              <a:pPr defTabSz="968375"/>
              <a:t>132</a:t>
            </a:fld>
            <a:endParaRPr lang="en-US" sz="1200">
              <a:latin typeface="Marlett" pitchFamily="2" charset="2"/>
            </a:endParaRPr>
          </a:p>
        </p:txBody>
      </p:sp>
      <p:sp>
        <p:nvSpPr>
          <p:cNvPr id="297988" name="Rectangle 2"/>
          <p:cNvSpPr>
            <a:spLocks noGrp="1" noRot="1" noChangeAspect="1" noChangeArrowheads="1" noTextEdit="1"/>
          </p:cNvSpPr>
          <p:nvPr>
            <p:ph type="sldImg"/>
          </p:nvPr>
        </p:nvSpPr>
        <p:spPr>
          <a:xfrm>
            <a:off x="1255713" y="719138"/>
            <a:ext cx="4802187" cy="3602037"/>
          </a:xfrm>
          <a:ln/>
        </p:spPr>
      </p:sp>
      <p:sp>
        <p:nvSpPr>
          <p:cNvPr id="297989"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Notice that newTop is 0 so top is being reset to be 0 and equal to bottom.</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A5BBE7B5-0ABE-4E21-9FFF-B3FDBECE8925}" type="slidenum">
              <a:rPr lang="x-none" smtClean="0"/>
              <a:pPr/>
              <a:t>133</a:t>
            </a:fld>
            <a:endParaRPr lang="en-US"/>
          </a:p>
        </p:txBody>
      </p:sp>
      <p:sp>
        <p:nvSpPr>
          <p:cNvPr id="29901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7EE5B756-4821-4F93-BEFB-5C1C49777B89}" type="slidenum">
              <a:rPr lang="x-none" sz="1200">
                <a:latin typeface="Marlett" pitchFamily="2" charset="2"/>
              </a:rPr>
              <a:pPr defTabSz="968375"/>
              <a:t>133</a:t>
            </a:fld>
            <a:endParaRPr lang="en-US" sz="1200">
              <a:latin typeface="Marlett" pitchFamily="2" charset="2"/>
            </a:endParaRPr>
          </a:p>
        </p:txBody>
      </p:sp>
      <p:sp>
        <p:nvSpPr>
          <p:cNvPr id="299012" name="Rectangle 2"/>
          <p:cNvSpPr>
            <a:spLocks noGrp="1" noRot="1" noChangeAspect="1" noChangeArrowheads="1" noTextEdit="1"/>
          </p:cNvSpPr>
          <p:nvPr>
            <p:ph type="sldImg"/>
          </p:nvPr>
        </p:nvSpPr>
        <p:spPr>
          <a:xfrm>
            <a:off x="1255713" y="719138"/>
            <a:ext cx="4802187" cy="3602037"/>
          </a:xfrm>
          <a:ln/>
        </p:spPr>
      </p:sp>
      <p:sp>
        <p:nvSpPr>
          <p:cNvPr id="299013"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Stealer won, sets top to be greater by 1 which is in any case greater than bottom wa set to 0. </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2D4A6D5C-57DF-4CBB-9974-861A3AC6646F}" type="slidenum">
              <a:rPr lang="x-none" smtClean="0"/>
              <a:pPr/>
              <a:t>134</a:t>
            </a:fld>
            <a:endParaRPr lang="en-US"/>
          </a:p>
        </p:txBody>
      </p:sp>
      <p:sp>
        <p:nvSpPr>
          <p:cNvPr id="30003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51FFD61A-B7C3-44EC-93B2-83420F75810A}" type="slidenum">
              <a:rPr lang="x-none" sz="1200">
                <a:latin typeface="Marlett" pitchFamily="2" charset="2"/>
              </a:rPr>
              <a:pPr defTabSz="968375"/>
              <a:t>134</a:t>
            </a:fld>
            <a:endParaRPr lang="en-US" sz="1200">
              <a:latin typeface="Marlett" pitchFamily="2" charset="2"/>
            </a:endParaRPr>
          </a:p>
        </p:txBody>
      </p:sp>
      <p:sp>
        <p:nvSpPr>
          <p:cNvPr id="300036" name="Rectangle 2"/>
          <p:cNvSpPr>
            <a:spLocks noGrp="1" noRot="1" noChangeAspect="1" noChangeArrowheads="1" noTextEdit="1"/>
          </p:cNvSpPr>
          <p:nvPr>
            <p:ph type="sldImg"/>
          </p:nvPr>
        </p:nvSpPr>
        <p:spPr>
          <a:xfrm>
            <a:off x="1255713" y="719138"/>
            <a:ext cx="4802187" cy="3602037"/>
          </a:xfrm>
          <a:ln/>
        </p:spPr>
      </p:sp>
      <p:sp>
        <p:nvSpPr>
          <p:cNvPr id="300037" name="Rectangle 3"/>
          <p:cNvSpPr>
            <a:spLocks noGrp="1" noChangeArrowheads="1"/>
          </p:cNvSpPr>
          <p:nvPr>
            <p:ph type="body" idx="1"/>
          </p:nvPr>
        </p:nvSpPr>
        <p:spPr>
          <a:xfrm>
            <a:off x="976313" y="4560888"/>
            <a:ext cx="5362575" cy="4321175"/>
          </a:xfrm>
          <a:noFill/>
          <a:ln/>
        </p:spPr>
        <p:txBody>
          <a:bodyPr lIns="96811" tIns="48406" rIns="96811" bIns="48406"/>
          <a:lstStyle/>
          <a:p>
            <a:r>
              <a:rPr lang="en-US"/>
              <a:t>Notice that the queue must be empty because a thief succeeded, but this means that Top</a:t>
            </a:r>
          </a:p>
          <a:p>
            <a:r>
              <a:rPr lang="en-US"/>
              <a:t>points to some entry greater than Bottom which was set to 0 earlier. </a:t>
            </a:r>
          </a:p>
          <a:p>
            <a:r>
              <a:rPr lang="en-US"/>
              <a:t>So before the the caller returns Null, it resets Top to 0.</a:t>
            </a:r>
          </a:p>
          <a:p>
            <a:endParaRPr lang="en-US"/>
          </a:p>
          <a:p>
            <a:r>
              <a:rPr lang="en-US"/>
              <a:t>Final comment: </a:t>
            </a:r>
          </a:p>
          <a:p>
            <a:endParaRPr lang="en-US"/>
          </a:p>
          <a:p>
            <a:r>
              <a:rPr lang="en-US"/>
              <a:t>This algorithm has threads agree on who gets the item </a:t>
            </a:r>
          </a:p>
          <a:p>
            <a:r>
              <a:rPr lang="en-US"/>
              <a:t>Such that in the common case no need to use a CAS…</a:t>
            </a:r>
          </a:p>
          <a:p>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42E031C6-4E01-47CE-8855-FE3B3CCD92E7}" type="slidenum">
              <a:rPr lang="x-none" smtClean="0"/>
              <a:pPr/>
              <a:t>135</a:t>
            </a:fld>
            <a:endParaRPr lang="en-US"/>
          </a:p>
        </p:txBody>
      </p:sp>
      <p:sp>
        <p:nvSpPr>
          <p:cNvPr id="30105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EDAD1554-84B9-4FB3-9F5C-69DAD31E46DE}" type="slidenum">
              <a:rPr lang="x-none" sz="1200">
                <a:latin typeface="Marlett" pitchFamily="2" charset="2"/>
              </a:rPr>
              <a:pPr defTabSz="968375"/>
              <a:t>135</a:t>
            </a:fld>
            <a:endParaRPr lang="en-US" sz="1200">
              <a:latin typeface="Marlett" pitchFamily="2" charset="2"/>
            </a:endParaRPr>
          </a:p>
        </p:txBody>
      </p:sp>
      <p:sp>
        <p:nvSpPr>
          <p:cNvPr id="301060" name="Rectangle 2"/>
          <p:cNvSpPr>
            <a:spLocks noGrp="1" noRot="1" noChangeAspect="1" noChangeArrowheads="1" noTextEdit="1"/>
          </p:cNvSpPr>
          <p:nvPr>
            <p:ph type="sldImg"/>
          </p:nvPr>
        </p:nvSpPr>
        <p:spPr>
          <a:xfrm>
            <a:off x="1255713" y="719138"/>
            <a:ext cx="4802187" cy="3602037"/>
          </a:xfrm>
          <a:ln/>
        </p:spPr>
      </p:sp>
      <p:sp>
        <p:nvSpPr>
          <p:cNvPr id="301061"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D9F38B73-7EC5-4F03-9261-D7FA60B969BE}" type="slidenum">
              <a:rPr lang="x-none" smtClean="0"/>
              <a:pPr/>
              <a:t>136</a:t>
            </a:fld>
            <a:endParaRPr lang="en-US"/>
          </a:p>
        </p:txBody>
      </p:sp>
      <p:sp>
        <p:nvSpPr>
          <p:cNvPr id="30208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971B0F1-A3DF-4304-B10C-0C2D5BCF0D01}" type="slidenum">
              <a:rPr lang="x-none" sz="1200">
                <a:latin typeface="Marlett" pitchFamily="2" charset="2"/>
              </a:rPr>
              <a:pPr defTabSz="968375"/>
              <a:t>136</a:t>
            </a:fld>
            <a:endParaRPr lang="en-US" sz="1200">
              <a:latin typeface="Marlett" pitchFamily="2" charset="2"/>
            </a:endParaRPr>
          </a:p>
        </p:txBody>
      </p:sp>
      <p:sp>
        <p:nvSpPr>
          <p:cNvPr id="302084" name="Rectangle 2"/>
          <p:cNvSpPr>
            <a:spLocks noGrp="1" noRot="1" noChangeAspect="1" noChangeArrowheads="1" noTextEdit="1"/>
          </p:cNvSpPr>
          <p:nvPr>
            <p:ph type="sldImg"/>
          </p:nvPr>
        </p:nvSpPr>
        <p:spPr>
          <a:xfrm>
            <a:off x="1255713" y="719138"/>
            <a:ext cx="4802187" cy="3602037"/>
          </a:xfrm>
          <a:ln/>
        </p:spPr>
      </p:sp>
      <p:sp>
        <p:nvSpPr>
          <p:cNvPr id="30208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B5A88D9D-23BD-47E8-816C-7B1A0A88868A}" type="slidenum">
              <a:rPr lang="x-none" smtClean="0"/>
              <a:pPr/>
              <a:t>137</a:t>
            </a:fld>
            <a:endParaRPr lang="en-US"/>
          </a:p>
        </p:txBody>
      </p:sp>
      <p:sp>
        <p:nvSpPr>
          <p:cNvPr id="30310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49941ECF-E273-457C-86A2-017498323A5E}" type="slidenum">
              <a:rPr lang="x-none" sz="1200">
                <a:latin typeface="Marlett" pitchFamily="2" charset="2"/>
              </a:rPr>
              <a:pPr defTabSz="968375"/>
              <a:t>137</a:t>
            </a:fld>
            <a:endParaRPr lang="en-US" sz="1200">
              <a:latin typeface="Marlett" pitchFamily="2" charset="2"/>
            </a:endParaRPr>
          </a:p>
        </p:txBody>
      </p:sp>
      <p:sp>
        <p:nvSpPr>
          <p:cNvPr id="303108" name="Rectangle 2"/>
          <p:cNvSpPr>
            <a:spLocks noGrp="1" noRot="1" noChangeAspect="1" noChangeArrowheads="1" noTextEdit="1"/>
          </p:cNvSpPr>
          <p:nvPr>
            <p:ph type="sldImg"/>
          </p:nvPr>
        </p:nvSpPr>
        <p:spPr>
          <a:ln/>
        </p:spPr>
      </p:sp>
      <p:sp>
        <p:nvSpPr>
          <p:cNvPr id="303109" name="Rectangle 3"/>
          <p:cNvSpPr>
            <a:spLocks noGrp="1" noChangeArrowheads="1"/>
          </p:cNvSpPr>
          <p:nvPr>
            <p:ph type="body" idx="1"/>
          </p:nvPr>
        </p:nvSpPr>
        <p:spPr>
          <a:noFill/>
          <a:ln/>
        </p:spPr>
        <p:txBody>
          <a:bodyPr lIns="96811" tIns="48406" rIns="96811" bIns="48406"/>
          <a:lstStyle/>
          <a:p>
            <a:r>
              <a:rPr lang="en-US"/>
              <a:t>In </a:t>
            </a:r>
            <a:r>
              <a:rPr lang="en-US" i="1"/>
              <a:t>work shedding</a:t>
            </a:r>
            <a:r>
              <a:rPr lang="en-US"/>
              <a:t>, an overloaded thread tries to offload surplus tasks on others. What’s wrong with this approach?</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3827E60B-DE3B-4C94-9EAA-1C661BD3CBD1}" type="slidenum">
              <a:rPr lang="x-none" smtClean="0"/>
              <a:pPr/>
              <a:t>138</a:t>
            </a:fld>
            <a:endParaRPr lang="en-US"/>
          </a:p>
        </p:txBody>
      </p:sp>
      <p:sp>
        <p:nvSpPr>
          <p:cNvPr id="30413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B98BE37-6B7F-4372-AA3E-A36D66C5EA16}" type="slidenum">
              <a:rPr lang="x-none" sz="1200">
                <a:latin typeface="Marlett" pitchFamily="2" charset="2"/>
              </a:rPr>
              <a:pPr defTabSz="968375"/>
              <a:t>138</a:t>
            </a:fld>
            <a:endParaRPr lang="en-US" sz="1200">
              <a:latin typeface="Marlett" pitchFamily="2" charset="2"/>
            </a:endParaRPr>
          </a:p>
        </p:txBody>
      </p:sp>
      <p:sp>
        <p:nvSpPr>
          <p:cNvPr id="304132" name="Rectangle 2"/>
          <p:cNvSpPr>
            <a:spLocks noGrp="1" noRot="1" noChangeAspect="1" noChangeArrowheads="1" noTextEdit="1"/>
          </p:cNvSpPr>
          <p:nvPr>
            <p:ph type="sldImg"/>
          </p:nvPr>
        </p:nvSpPr>
        <p:spPr>
          <a:xfrm>
            <a:off x="1255713" y="719138"/>
            <a:ext cx="4802187" cy="3602037"/>
          </a:xfrm>
          <a:ln/>
        </p:spPr>
      </p:sp>
      <p:sp>
        <p:nvSpPr>
          <p:cNvPr id="304133"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16177ABD-9D8E-463E-9EE6-036ADCC03918}" type="slidenum">
              <a:rPr lang="x-none" smtClean="0"/>
              <a:pPr/>
              <a:t>139</a:t>
            </a:fld>
            <a:endParaRPr lang="en-US"/>
          </a:p>
        </p:txBody>
      </p:sp>
      <p:sp>
        <p:nvSpPr>
          <p:cNvPr id="30515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1B20EB8D-B07E-4A22-881A-928D55A7F50B}" type="slidenum">
              <a:rPr lang="x-none" sz="1200">
                <a:latin typeface="Marlett" pitchFamily="2" charset="2"/>
              </a:rPr>
              <a:pPr defTabSz="968375"/>
              <a:t>139</a:t>
            </a:fld>
            <a:endParaRPr lang="en-US" sz="1200">
              <a:latin typeface="Marlett" pitchFamily="2" charset="2"/>
            </a:endParaRPr>
          </a:p>
        </p:txBody>
      </p:sp>
      <p:sp>
        <p:nvSpPr>
          <p:cNvPr id="305156" name="Rectangle 2"/>
          <p:cNvSpPr>
            <a:spLocks noGrp="1" noRot="1" noChangeAspect="1" noChangeArrowheads="1" noTextEdit="1"/>
          </p:cNvSpPr>
          <p:nvPr>
            <p:ph type="sldImg"/>
          </p:nvPr>
        </p:nvSpPr>
        <p:spPr>
          <a:xfrm>
            <a:off x="1255713" y="719138"/>
            <a:ext cx="4802187" cy="3602037"/>
          </a:xfrm>
          <a:ln/>
        </p:spPr>
      </p:sp>
      <p:sp>
        <p:nvSpPr>
          <p:cNvPr id="305157"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67D6E839-0EFD-4BB5-BAF7-12E32B0DD92E}" type="slidenum">
              <a:rPr lang="x-none" smtClean="0"/>
              <a:pPr/>
              <a:t>140</a:t>
            </a:fld>
            <a:endParaRPr lang="en-US"/>
          </a:p>
        </p:txBody>
      </p:sp>
      <p:sp>
        <p:nvSpPr>
          <p:cNvPr id="30617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9C1D41CE-0F72-4189-BE80-31040833CB77}" type="slidenum">
              <a:rPr lang="x-none" sz="1200">
                <a:latin typeface="Marlett" pitchFamily="2" charset="2"/>
              </a:rPr>
              <a:pPr defTabSz="968375"/>
              <a:t>140</a:t>
            </a:fld>
            <a:endParaRPr lang="en-US" sz="1200">
              <a:latin typeface="Marlett" pitchFamily="2" charset="2"/>
            </a:endParaRPr>
          </a:p>
        </p:txBody>
      </p:sp>
      <p:sp>
        <p:nvSpPr>
          <p:cNvPr id="306180" name="Rectangle 2"/>
          <p:cNvSpPr>
            <a:spLocks noGrp="1" noRot="1" noChangeAspect="1" noChangeArrowheads="1" noTextEdit="1"/>
          </p:cNvSpPr>
          <p:nvPr>
            <p:ph type="sldImg"/>
          </p:nvPr>
        </p:nvSpPr>
        <p:spPr>
          <a:xfrm>
            <a:off x="1255713" y="719138"/>
            <a:ext cx="4802187" cy="3602037"/>
          </a:xfrm>
          <a:ln/>
        </p:spPr>
      </p:sp>
      <p:sp>
        <p:nvSpPr>
          <p:cNvPr id="306181"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8B025442-8C6D-46AC-9524-A4AA615D280D}" type="slidenum">
              <a:rPr lang="x-none" smtClean="0"/>
              <a:pPr/>
              <a:t>141</a:t>
            </a:fld>
            <a:endParaRPr lang="en-US"/>
          </a:p>
        </p:txBody>
      </p:sp>
      <p:sp>
        <p:nvSpPr>
          <p:cNvPr id="30720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F7278A54-1E14-4B8B-9669-6A86EB22A1B4}" type="slidenum">
              <a:rPr lang="x-none" sz="1200">
                <a:latin typeface="Marlett" pitchFamily="2" charset="2"/>
              </a:rPr>
              <a:pPr defTabSz="968375"/>
              <a:t>141</a:t>
            </a:fld>
            <a:endParaRPr lang="en-US" sz="1200">
              <a:latin typeface="Marlett" pitchFamily="2" charset="2"/>
            </a:endParaRPr>
          </a:p>
        </p:txBody>
      </p:sp>
      <p:sp>
        <p:nvSpPr>
          <p:cNvPr id="307204" name="Rectangle 2"/>
          <p:cNvSpPr>
            <a:spLocks noGrp="1" noRot="1" noChangeAspect="1" noChangeArrowheads="1" noTextEdit="1"/>
          </p:cNvSpPr>
          <p:nvPr>
            <p:ph type="sldImg"/>
          </p:nvPr>
        </p:nvSpPr>
        <p:spPr>
          <a:xfrm>
            <a:off x="1255713" y="719138"/>
            <a:ext cx="4802187" cy="3602037"/>
          </a:xfrm>
          <a:ln/>
        </p:spPr>
      </p:sp>
      <p:sp>
        <p:nvSpPr>
          <p:cNvPr id="30720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CD6CEFD1-2A16-47B4-8ABE-E5DC38AAB304}" type="slidenum">
              <a:rPr lang="x-none" smtClean="0"/>
              <a:pPr/>
              <a:t>142</a:t>
            </a:fld>
            <a:endParaRPr lang="en-US"/>
          </a:p>
        </p:txBody>
      </p:sp>
      <p:sp>
        <p:nvSpPr>
          <p:cNvPr id="308227"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C0035F05-33B2-4B94-AB3D-B16D71CD8A81}" type="slidenum">
              <a:rPr lang="x-none" sz="1200">
                <a:latin typeface="Marlett" pitchFamily="2" charset="2"/>
              </a:rPr>
              <a:pPr defTabSz="968375"/>
              <a:t>142</a:t>
            </a:fld>
            <a:endParaRPr lang="en-US" sz="1200">
              <a:latin typeface="Marlett" pitchFamily="2" charset="2"/>
            </a:endParaRPr>
          </a:p>
        </p:txBody>
      </p:sp>
      <p:sp>
        <p:nvSpPr>
          <p:cNvPr id="308228" name="Rectangle 2"/>
          <p:cNvSpPr>
            <a:spLocks noGrp="1" noRot="1" noChangeAspect="1" noChangeArrowheads="1" noTextEdit="1"/>
          </p:cNvSpPr>
          <p:nvPr>
            <p:ph type="sldImg"/>
          </p:nvPr>
        </p:nvSpPr>
        <p:spPr>
          <a:xfrm>
            <a:off x="1255713" y="719138"/>
            <a:ext cx="4802187" cy="3602037"/>
          </a:xfrm>
          <a:ln/>
        </p:spPr>
      </p:sp>
      <p:sp>
        <p:nvSpPr>
          <p:cNvPr id="308229"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17577B84-AE55-49F2-891C-8DE2DB0767C9}" type="slidenum">
              <a:rPr lang="x-none" smtClean="0"/>
              <a:pPr/>
              <a:t>143</a:t>
            </a:fld>
            <a:endParaRPr lang="en-US"/>
          </a:p>
        </p:txBody>
      </p:sp>
      <p:sp>
        <p:nvSpPr>
          <p:cNvPr id="3092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3197C14-FDC8-4B51-BEF1-7B94355A1B8F}" type="slidenum">
              <a:rPr lang="x-none" sz="1200">
                <a:latin typeface="Marlett" pitchFamily="2" charset="2"/>
              </a:rPr>
              <a:pPr defTabSz="968375"/>
              <a:t>143</a:t>
            </a:fld>
            <a:endParaRPr lang="en-US" sz="1200">
              <a:latin typeface="Marlett" pitchFamily="2" charset="2"/>
            </a:endParaRPr>
          </a:p>
        </p:txBody>
      </p:sp>
      <p:sp>
        <p:nvSpPr>
          <p:cNvPr id="309252" name="Rectangle 2"/>
          <p:cNvSpPr>
            <a:spLocks noGrp="1" noRot="1" noChangeAspect="1" noChangeArrowheads="1" noTextEdit="1"/>
          </p:cNvSpPr>
          <p:nvPr>
            <p:ph type="sldImg"/>
          </p:nvPr>
        </p:nvSpPr>
        <p:spPr>
          <a:xfrm>
            <a:off x="1255713" y="719138"/>
            <a:ext cx="4802187" cy="3602037"/>
          </a:xfrm>
          <a:ln/>
        </p:spPr>
      </p:sp>
      <p:sp>
        <p:nvSpPr>
          <p:cNvPr id="309253"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2ED8FD3D-774A-468F-82FD-78A9AB08306D}" type="slidenum">
              <a:rPr lang="x-none" smtClean="0"/>
              <a:pPr/>
              <a:t>144</a:t>
            </a:fld>
            <a:endParaRPr lang="en-US"/>
          </a:p>
        </p:txBody>
      </p:sp>
      <p:sp>
        <p:nvSpPr>
          <p:cNvPr id="3102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89213386-9A9C-4855-8329-FC24CBFA1FB7}" type="slidenum">
              <a:rPr lang="x-none" sz="1200">
                <a:latin typeface="Marlett" pitchFamily="2" charset="2"/>
              </a:rPr>
              <a:pPr defTabSz="968375"/>
              <a:t>144</a:t>
            </a:fld>
            <a:endParaRPr lang="en-US" sz="1200">
              <a:latin typeface="Marlett" pitchFamily="2" charset="2"/>
            </a:endParaRPr>
          </a:p>
        </p:txBody>
      </p:sp>
      <p:sp>
        <p:nvSpPr>
          <p:cNvPr id="310276" name="Rectangle 2"/>
          <p:cNvSpPr>
            <a:spLocks noGrp="1" noRot="1" noChangeAspect="1" noChangeArrowheads="1" noTextEdit="1"/>
          </p:cNvSpPr>
          <p:nvPr>
            <p:ph type="sldImg"/>
          </p:nvPr>
        </p:nvSpPr>
        <p:spPr>
          <a:xfrm>
            <a:off x="1255713" y="719138"/>
            <a:ext cx="4802187" cy="3602037"/>
          </a:xfrm>
          <a:ln/>
        </p:spPr>
      </p:sp>
      <p:sp>
        <p:nvSpPr>
          <p:cNvPr id="310277"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386842E3-553E-413E-BFF3-27BF0CE2083C}" type="slidenum">
              <a:rPr lang="x-none" smtClean="0"/>
              <a:pPr/>
              <a:t>145</a:t>
            </a:fld>
            <a:endParaRPr lang="en-US"/>
          </a:p>
        </p:txBody>
      </p:sp>
      <p:sp>
        <p:nvSpPr>
          <p:cNvPr id="312323"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056CC406-FBD6-4FB7-96EE-2CBDCA692DC9}" type="slidenum">
              <a:rPr lang="x-none" sz="1200">
                <a:latin typeface="Marlett" pitchFamily="2" charset="2"/>
              </a:rPr>
              <a:pPr defTabSz="968375"/>
              <a:t>145</a:t>
            </a:fld>
            <a:endParaRPr lang="en-US" sz="1200">
              <a:latin typeface="Marlett" pitchFamily="2" charset="2"/>
            </a:endParaRPr>
          </a:p>
        </p:txBody>
      </p:sp>
      <p:sp>
        <p:nvSpPr>
          <p:cNvPr id="312324" name="Rectangle 2"/>
          <p:cNvSpPr>
            <a:spLocks noGrp="1" noRot="1" noChangeAspect="1" noChangeArrowheads="1" noTextEdit="1"/>
          </p:cNvSpPr>
          <p:nvPr>
            <p:ph type="sldImg"/>
          </p:nvPr>
        </p:nvSpPr>
        <p:spPr>
          <a:xfrm>
            <a:off x="1255713" y="719138"/>
            <a:ext cx="4802187" cy="3602037"/>
          </a:xfrm>
          <a:ln/>
        </p:spPr>
      </p:sp>
      <p:sp>
        <p:nvSpPr>
          <p:cNvPr id="312325"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90C547DE-E682-4920-BA4F-0BA8D2EBB380}" type="slidenum">
              <a:rPr lang="x-none" smtClean="0"/>
              <a:pPr/>
              <a:t>146</a:t>
            </a:fld>
            <a:endParaRPr lang="en-US"/>
          </a:p>
        </p:txBody>
      </p:sp>
      <p:sp>
        <p:nvSpPr>
          <p:cNvPr id="311299"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811" tIns="48406" rIns="96811" bIns="48406" anchor="b"/>
          <a:lstStyle/>
          <a:p>
            <a:pPr defTabSz="968375"/>
            <a:fld id="{6C43F8CD-CD4C-4B76-AF3C-D6A91AEB1C1A}" type="slidenum">
              <a:rPr lang="x-none" sz="1200">
                <a:latin typeface="Marlett" pitchFamily="2" charset="2"/>
              </a:rPr>
              <a:pPr defTabSz="968375"/>
              <a:t>146</a:t>
            </a:fld>
            <a:endParaRPr lang="en-US" sz="1200">
              <a:latin typeface="Marlett" pitchFamily="2" charset="2"/>
            </a:endParaRPr>
          </a:p>
        </p:txBody>
      </p:sp>
      <p:sp>
        <p:nvSpPr>
          <p:cNvPr id="311300" name="Rectangle 2"/>
          <p:cNvSpPr>
            <a:spLocks noGrp="1" noRot="1" noChangeAspect="1" noChangeArrowheads="1" noTextEdit="1"/>
          </p:cNvSpPr>
          <p:nvPr>
            <p:ph type="sldImg"/>
          </p:nvPr>
        </p:nvSpPr>
        <p:spPr>
          <a:xfrm>
            <a:off x="1255713" y="719138"/>
            <a:ext cx="4802187" cy="3602037"/>
          </a:xfrm>
          <a:ln/>
        </p:spPr>
      </p:sp>
      <p:sp>
        <p:nvSpPr>
          <p:cNvPr id="311301" name="Rectangle 3"/>
          <p:cNvSpPr>
            <a:spLocks noGrp="1" noChangeArrowheads="1"/>
          </p:cNvSpPr>
          <p:nvPr>
            <p:ph type="body" idx="1"/>
          </p:nvPr>
        </p:nvSpPr>
        <p:spPr>
          <a:xfrm>
            <a:off x="976313" y="4560888"/>
            <a:ext cx="5362575" cy="4321175"/>
          </a:xfrm>
          <a:noFill/>
          <a:ln/>
        </p:spPr>
        <p:txBody>
          <a:bodyPr lIns="96811" tIns="48406" rIns="96811" bIns="48406"/>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75650"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207565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sldNum" sz="quarter" idx="10"/>
          </p:nvPr>
        </p:nvSpPr>
        <p:spPr>
          <a:xfrm>
            <a:off x="6553200" y="6245225"/>
            <a:ext cx="2133600" cy="476250"/>
          </a:xfrm>
        </p:spPr>
        <p:txBody>
          <a:bodyPr/>
          <a:lstStyle>
            <a:lvl1pPr>
              <a:defRPr/>
            </a:lvl1pPr>
          </a:lstStyle>
          <a:p>
            <a:pPr>
              <a:defRPr/>
            </a:pPr>
            <a:fld id="{23046A2C-95EC-419F-92B0-069C1ABA038E}" type="slidenum">
              <a:rPr lang="x-none"/>
              <a:pPr>
                <a:defRPr/>
              </a:pPr>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CC665B8F-AF5D-4D78-BDFB-6D1492A75F0B}" type="slidenum">
              <a:rPr lang="x-none"/>
              <a:pPr>
                <a:defRPr/>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529112C-C1EA-427D-A3B4-717DF24C07E3}" type="slidenum">
              <a:rPr lang="x-none"/>
              <a:pPr>
                <a:defRPr/>
              </a:pPr>
              <a:t>‹#›</a:t>
            </a:fld>
            <a:endParaRPr lang="en-US"/>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F31B044D-BCF9-4717-AE89-31672202C0AF}" type="slidenum">
              <a:rPr lang="x-none"/>
              <a:pPr>
                <a:defRPr/>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7B5F979B-3D5E-4065-8C17-79601C8A5AC2}" type="slidenum">
              <a:rPr lang="x-none"/>
              <a:pPr>
                <a:defRPr/>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AEB457A5-4F19-494A-9C89-B8C25E3ECD09}" type="slidenum">
              <a:rPr lang="x-none"/>
              <a:pPr>
                <a:defRPr/>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787E89EA-07FC-40C9-8FBA-61DEDBD04152}" type="slidenum">
              <a:rPr lang="x-none"/>
              <a:pPr>
                <a:defRPr/>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A3213853-625B-4167-A6D0-E23DE5088E14}" type="slidenum">
              <a:rPr lang="x-none"/>
              <a:pPr>
                <a:defRPr/>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EEF97FE6-E7FC-48CA-82C0-D09A49B1B577}" type="slidenum">
              <a:rPr lang="x-none"/>
              <a:pPr>
                <a:defRPr/>
              </a:pPr>
              <a:t>‹#›</a:t>
            </a:fld>
            <a:endParaRPr lang="en-US"/>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A6CF199F-A715-4E1B-9FBD-B7F7C97D4497}" type="slidenum">
              <a:rPr lang="x-none"/>
              <a:pPr>
                <a:defRPr/>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C09E088B-5AA3-426A-9E45-B71C1B939ED1}" type="slidenum">
              <a:rPr lang="x-none"/>
              <a:pPr>
                <a:defRPr/>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4339"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31527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Arial" pitchFamily="34" charset="0"/>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itchFamily="34" charset="0"/>
                <a:cs typeface="Arial" pitchFamily="34" charset="0"/>
              </a:defRPr>
            </a:lvl1pPr>
          </a:lstStyle>
          <a:p>
            <a:pPr>
              <a:defRPr/>
            </a:pPr>
            <a:fld id="{711A54A2-5A91-4A2C-A42C-9F347066701B}" type="slidenum">
              <a:rPr lang="x-none"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transition spd="slow"/>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rgbClr val="0000FF"/>
          </a:solidFill>
          <a:latin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9.wmf"/><Relationship Id="rId4" Type="http://schemas.openxmlformats.org/officeDocument/2006/relationships/oleObject" Target="../embeddings/oleObject9.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4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sz="4400"/>
              <a:t>Futures, Scheduling, and Work Distribution</a:t>
            </a:r>
            <a:endParaRPr lang="en-US" dirty="0"/>
          </a:p>
        </p:txBody>
      </p:sp>
      <p:sp>
        <p:nvSpPr>
          <p:cNvPr id="5125" name="Rectangle 5"/>
          <p:cNvSpPr>
            <a:spLocks noGrp="1" noChangeArrowheads="1"/>
          </p:cNvSpPr>
          <p:nvPr>
            <p:ph type="subTitle" idx="4294967295"/>
          </p:nvPr>
        </p:nvSpPr>
        <p:spPr>
          <a:xfrm>
            <a:off x="1103313" y="4778844"/>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086" y="1535468"/>
            <a:ext cx="2731828" cy="2976836"/>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1"/>
          <p:cNvSpPr>
            <a:spLocks noGrp="1"/>
          </p:cNvSpPr>
          <p:nvPr>
            <p:ph type="ftr" sz="quarter" idx="10"/>
          </p:nvPr>
        </p:nvSpPr>
        <p:spPr>
          <a:noFill/>
        </p:spPr>
        <p:txBody>
          <a:bodyPr/>
          <a:lstStyle/>
          <a:p>
            <a:r>
              <a:rPr lang="en-US"/>
              <a:t>Art of Multiprocessor Programming</a:t>
            </a:r>
          </a:p>
        </p:txBody>
      </p:sp>
      <p:sp>
        <p:nvSpPr>
          <p:cNvPr id="17411" name="Slide Number Placeholder 2"/>
          <p:cNvSpPr>
            <a:spLocks noGrp="1"/>
          </p:cNvSpPr>
          <p:nvPr>
            <p:ph type="sldNum" sz="quarter" idx="11"/>
          </p:nvPr>
        </p:nvSpPr>
        <p:spPr>
          <a:noFill/>
        </p:spPr>
        <p:txBody>
          <a:bodyPr/>
          <a:lstStyle/>
          <a:p>
            <a:fld id="{7970B507-1D06-40C1-A4A9-3F45066A7376}" type="slidenum">
              <a:rPr lang="x-none" smtClean="0"/>
              <a:pPr/>
              <a:t>2</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B40957F-A018-4DF7-98FE-EFBAF55A13FB}" type="slidenum">
              <a:rPr lang="x-none" sz="1400">
                <a:solidFill>
                  <a:schemeClr val="tx1"/>
                </a:solidFill>
                <a:latin typeface="Arial" pitchFamily="34" charset="0"/>
                <a:cs typeface="Arial" pitchFamily="34" charset="0"/>
              </a:rPr>
              <a:pPr>
                <a:defRPr/>
              </a:pPr>
              <a:t>2</a:t>
            </a:fld>
            <a:endParaRPr lang="en-US" sz="1400" dirty="0">
              <a:solidFill>
                <a:schemeClr val="tx1"/>
              </a:solidFill>
              <a:latin typeface="Arial" pitchFamily="34" charset="0"/>
              <a:cs typeface="Arial" pitchFamily="34" charset="0"/>
            </a:endParaRPr>
          </a:p>
        </p:txBody>
      </p:sp>
      <p:sp>
        <p:nvSpPr>
          <p:cNvPr id="17413" name="Rectangle 2"/>
          <p:cNvSpPr>
            <a:spLocks noGrp="1" noChangeArrowheads="1"/>
          </p:cNvSpPr>
          <p:nvPr>
            <p:ph type="title" idx="4294967295"/>
          </p:nvPr>
        </p:nvSpPr>
        <p:spPr/>
        <p:txBody>
          <a:bodyPr/>
          <a:lstStyle/>
          <a:p>
            <a:r>
              <a:rPr lang="en-US" dirty="0"/>
              <a:t>How to write Parallel Apps?</a:t>
            </a:r>
          </a:p>
        </p:txBody>
      </p:sp>
      <p:sp>
        <p:nvSpPr>
          <p:cNvPr id="17414" name="Rectangle 3"/>
          <p:cNvSpPr>
            <a:spLocks noGrp="1" noChangeArrowheads="1"/>
          </p:cNvSpPr>
          <p:nvPr>
            <p:ph type="body" idx="4294967295"/>
          </p:nvPr>
        </p:nvSpPr>
        <p:spPr/>
        <p:txBody>
          <a:bodyPr/>
          <a:lstStyle/>
          <a:p>
            <a:r>
              <a:rPr lang="en-US" dirty="0"/>
              <a:t>Split a program into parallel parts</a:t>
            </a:r>
          </a:p>
          <a:p>
            <a:r>
              <a:rPr lang="en-US" dirty="0"/>
              <a:t>In an effective way</a:t>
            </a:r>
          </a:p>
          <a:p>
            <a:r>
              <a:rPr lang="en-US" dirty="0"/>
              <a:t>Thread management</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Footer Placeholder 1"/>
          <p:cNvSpPr>
            <a:spLocks noGrp="1"/>
          </p:cNvSpPr>
          <p:nvPr>
            <p:ph type="ftr" sz="quarter" idx="10"/>
          </p:nvPr>
        </p:nvSpPr>
        <p:spPr>
          <a:noFill/>
        </p:spPr>
        <p:txBody>
          <a:bodyPr/>
          <a:lstStyle/>
          <a:p>
            <a:r>
              <a:rPr lang="en-US"/>
              <a:t>Art of Multiprocessor Programming</a:t>
            </a:r>
          </a:p>
        </p:txBody>
      </p:sp>
      <p:sp>
        <p:nvSpPr>
          <p:cNvPr id="1028" name="Slide Number Placeholder 2"/>
          <p:cNvSpPr>
            <a:spLocks noGrp="1"/>
          </p:cNvSpPr>
          <p:nvPr>
            <p:ph type="sldNum" sz="quarter" idx="11"/>
          </p:nvPr>
        </p:nvSpPr>
        <p:spPr>
          <a:noFill/>
        </p:spPr>
        <p:txBody>
          <a:bodyPr/>
          <a:lstStyle/>
          <a:p>
            <a:fld id="{F90F3E48-7B55-4D8B-8289-8DCC74CAA74E}" type="slidenum">
              <a:rPr lang="x-none" smtClean="0"/>
              <a:pPr/>
              <a:t>3</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A0AFDF9-B58A-4AAB-9AB2-47429C631AC7}" type="slidenum">
              <a:rPr lang="x-none" sz="1400">
                <a:solidFill>
                  <a:schemeClr val="tx1"/>
                </a:solidFill>
                <a:latin typeface="Arial" pitchFamily="34" charset="0"/>
                <a:cs typeface="Arial" pitchFamily="34" charset="0"/>
              </a:rPr>
              <a:pPr>
                <a:defRPr/>
              </a:pPr>
              <a:t>3</a:t>
            </a:fld>
            <a:endParaRPr lang="en-US" sz="1400" dirty="0">
              <a:solidFill>
                <a:schemeClr val="tx1"/>
              </a:solidFill>
              <a:latin typeface="Arial" pitchFamily="34" charset="0"/>
              <a:cs typeface="Arial" pitchFamily="34" charset="0"/>
            </a:endParaRPr>
          </a:p>
        </p:txBody>
      </p:sp>
      <p:sp>
        <p:nvSpPr>
          <p:cNvPr id="1030" name="Rectangle 2"/>
          <p:cNvSpPr>
            <a:spLocks noGrp="1" noChangeArrowheads="1"/>
          </p:cNvSpPr>
          <p:nvPr>
            <p:ph type="title" idx="4294967295"/>
          </p:nvPr>
        </p:nvSpPr>
        <p:spPr/>
        <p:txBody>
          <a:bodyPr/>
          <a:lstStyle/>
          <a:p>
            <a:r>
              <a:rPr lang="en-US"/>
              <a:t>Matrix Multiplication</a:t>
            </a:r>
          </a:p>
        </p:txBody>
      </p:sp>
      <p:graphicFrame>
        <p:nvGraphicFramePr>
          <p:cNvPr id="1026" name="Object 3"/>
          <p:cNvGraphicFramePr>
            <a:graphicFrameLocks noGrp="1" noChangeAspect="1"/>
          </p:cNvGraphicFramePr>
          <p:nvPr>
            <p:ph idx="4294967295"/>
          </p:nvPr>
        </p:nvGraphicFramePr>
        <p:xfrm>
          <a:off x="1754188" y="3122613"/>
          <a:ext cx="5024437" cy="1169987"/>
        </p:xfrm>
        <a:graphic>
          <a:graphicData uri="http://schemas.openxmlformats.org/presentationml/2006/ole">
            <mc:AlternateContent xmlns:mc="http://schemas.openxmlformats.org/markup-compatibility/2006">
              <mc:Choice xmlns:v="urn:schemas-microsoft-com:vml" Requires="v">
                <p:oleObj spid="_x0000_s163866" name="Equation" r:id="rId4" imgW="926519" imgH="215931" progId="Equation.3">
                  <p:embed/>
                </p:oleObj>
              </mc:Choice>
              <mc:Fallback>
                <p:oleObj name="Equation" r:id="rId4" imgW="926519" imgH="215931" progId="Equation.3">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4188" y="3122613"/>
                        <a:ext cx="5024437" cy="1169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p:cNvSpPr>
            <a:spLocks noGrp="1"/>
          </p:cNvSpPr>
          <p:nvPr>
            <p:ph type="ftr" sz="quarter" idx="10"/>
          </p:nvPr>
        </p:nvSpPr>
        <p:spPr>
          <a:noFill/>
        </p:spPr>
        <p:txBody>
          <a:bodyPr/>
          <a:lstStyle/>
          <a:p>
            <a:r>
              <a:rPr lang="en-US"/>
              <a:t>Art of Multiprocessor Programming</a:t>
            </a:r>
          </a:p>
        </p:txBody>
      </p:sp>
      <p:sp>
        <p:nvSpPr>
          <p:cNvPr id="18435" name="Slide Number Placeholder 2"/>
          <p:cNvSpPr>
            <a:spLocks noGrp="1"/>
          </p:cNvSpPr>
          <p:nvPr>
            <p:ph type="sldNum" sz="quarter" idx="11"/>
          </p:nvPr>
        </p:nvSpPr>
        <p:spPr>
          <a:noFill/>
        </p:spPr>
        <p:txBody>
          <a:bodyPr/>
          <a:lstStyle/>
          <a:p>
            <a:fld id="{549EFBD7-2A5B-4AE6-A5A8-EDDE3BB53650}" type="slidenum">
              <a:rPr lang="ar-SA" smtClean="0"/>
              <a:pPr/>
              <a:t>4</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7EFF0C5-34E4-4649-8CAF-04FBA68842D6}" type="slidenum">
              <a:rPr lang="ar-SA" sz="1400">
                <a:solidFill>
                  <a:schemeClr val="tx1"/>
                </a:solidFill>
                <a:latin typeface="Arial" pitchFamily="34" charset="0"/>
                <a:cs typeface="Arial" pitchFamily="34" charset="0"/>
              </a:rPr>
              <a:pPr>
                <a:defRPr/>
              </a:pPr>
              <a:t>4</a:t>
            </a:fld>
            <a:endParaRPr lang="en-US" sz="1400" dirty="0">
              <a:solidFill>
                <a:schemeClr val="tx1"/>
              </a:solidFill>
              <a:latin typeface="Arial" pitchFamily="34" charset="0"/>
              <a:cs typeface="Arial" pitchFamily="34" charset="0"/>
            </a:endParaRPr>
          </a:p>
        </p:txBody>
      </p:sp>
      <p:sp>
        <p:nvSpPr>
          <p:cNvPr id="18437" name="Rectangle 2"/>
          <p:cNvSpPr>
            <a:spLocks noGrp="1" noChangeArrowheads="1"/>
          </p:cNvSpPr>
          <p:nvPr>
            <p:ph type="title" idx="4294967295"/>
          </p:nvPr>
        </p:nvSpPr>
        <p:spPr/>
        <p:txBody>
          <a:bodyPr/>
          <a:lstStyle/>
          <a:p>
            <a:r>
              <a:rPr lang="en-US"/>
              <a:t>Matrix Multiplication</a:t>
            </a:r>
          </a:p>
        </p:txBody>
      </p:sp>
      <p:pic>
        <p:nvPicPr>
          <p:cNvPr id="9" name="Picture 8" descr="TP_tmp.emf"/>
          <p:cNvPicPr>
            <a:picLocks noChangeAspect="1"/>
          </p:cNvPicPr>
          <p:nvPr>
            <p:custDataLst>
              <p:tags r:id="rId1"/>
            </p:custDataLst>
          </p:nvPr>
        </p:nvPicPr>
        <p:blipFill>
          <a:blip r:embed="rId4" cstate="print"/>
          <a:stretch>
            <a:fillRect/>
          </a:stretch>
        </p:blipFill>
        <p:spPr>
          <a:xfrm>
            <a:off x="2572006" y="2588094"/>
            <a:ext cx="3999988" cy="1681813"/>
          </a:xfrm>
          <a:prstGeom prst="rect">
            <a:avLst/>
          </a:prstGeom>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p:cNvSpPr>
            <a:spLocks noGrp="1"/>
          </p:cNvSpPr>
          <p:nvPr>
            <p:ph type="ftr" sz="quarter" idx="10"/>
          </p:nvPr>
        </p:nvSpPr>
        <p:spPr>
          <a:noFill/>
        </p:spPr>
        <p:txBody>
          <a:bodyPr/>
          <a:lstStyle/>
          <a:p>
            <a:r>
              <a:rPr lang="en-US"/>
              <a:t>Art of Multiprocessor Programming</a:t>
            </a:r>
          </a:p>
        </p:txBody>
      </p:sp>
      <p:sp>
        <p:nvSpPr>
          <p:cNvPr id="18435" name="Slide Number Placeholder 2"/>
          <p:cNvSpPr>
            <a:spLocks noGrp="1"/>
          </p:cNvSpPr>
          <p:nvPr>
            <p:ph type="sldNum" sz="quarter" idx="11"/>
          </p:nvPr>
        </p:nvSpPr>
        <p:spPr>
          <a:noFill/>
        </p:spPr>
        <p:txBody>
          <a:bodyPr/>
          <a:lstStyle/>
          <a:p>
            <a:fld id="{549EFBD7-2A5B-4AE6-A5A8-EDDE3BB53650}" type="slidenum">
              <a:rPr lang="x-none" smtClean="0"/>
              <a:pPr/>
              <a:t>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7EFF0C5-34E4-4649-8CAF-04FBA68842D6}" type="slidenum">
              <a:rPr lang="x-none" sz="1400">
                <a:solidFill>
                  <a:schemeClr val="tx1"/>
                </a:solidFill>
                <a:latin typeface="Arial" pitchFamily="34" charset="0"/>
                <a:cs typeface="Arial" pitchFamily="34" charset="0"/>
              </a:rPr>
              <a:pPr>
                <a:defRPr/>
              </a:pPr>
              <a:t>5</a:t>
            </a:fld>
            <a:endParaRPr lang="en-US" sz="1400" dirty="0">
              <a:solidFill>
                <a:schemeClr val="tx1"/>
              </a:solidFill>
              <a:latin typeface="Arial" pitchFamily="34" charset="0"/>
              <a:cs typeface="Arial" pitchFamily="34" charset="0"/>
            </a:endParaRPr>
          </a:p>
        </p:txBody>
      </p:sp>
      <p:sp>
        <p:nvSpPr>
          <p:cNvPr id="18437" name="Rectangle 2"/>
          <p:cNvSpPr>
            <a:spLocks noGrp="1" noChangeArrowheads="1"/>
          </p:cNvSpPr>
          <p:nvPr>
            <p:ph type="title" idx="4294967295"/>
          </p:nvPr>
        </p:nvSpPr>
        <p:spPr/>
        <p:txBody>
          <a:bodyPr/>
          <a:lstStyle/>
          <a:p>
            <a:r>
              <a:rPr lang="en-US"/>
              <a:t>Matrix Multiplication</a:t>
            </a:r>
          </a:p>
        </p:txBody>
      </p:sp>
      <p:sp>
        <p:nvSpPr>
          <p:cNvPr id="18438" name="Text Box 4"/>
          <p:cNvSpPr txBox="1">
            <a:spLocks noChangeArrowheads="1"/>
          </p:cNvSpPr>
          <p:nvPr/>
        </p:nvSpPr>
        <p:spPr bwMode="auto">
          <a:xfrm>
            <a:off x="1755775" y="3357563"/>
            <a:ext cx="4838184" cy="707886"/>
          </a:xfrm>
          <a:prstGeom prst="rect">
            <a:avLst/>
          </a:prstGeom>
          <a:noFill/>
          <a:ln w="38100" algn="ctr">
            <a:noFill/>
            <a:miter lim="800000"/>
            <a:headEnd/>
            <a:tailEnd/>
          </a:ln>
        </p:spPr>
        <p:txBody>
          <a:bodyPr wrap="none">
            <a:spAutoFit/>
          </a:bodyPr>
          <a:lstStyle/>
          <a:p>
            <a:pPr marL="342900" indent="-342900" algn="l">
              <a:spcBef>
                <a:spcPct val="20000"/>
              </a:spcBef>
            </a:pPr>
            <a:r>
              <a:rPr lang="en-US" sz="4000" b="1" dirty="0" err="1">
                <a:latin typeface="Arial" pitchFamily="34" charset="0"/>
              </a:rPr>
              <a:t>c</a:t>
            </a:r>
            <a:r>
              <a:rPr lang="en-US" sz="4000" b="1" baseline="-25000" dirty="0" err="1">
                <a:latin typeface="Arial" pitchFamily="34" charset="0"/>
              </a:rPr>
              <a:t>ij</a:t>
            </a:r>
            <a:r>
              <a:rPr lang="en-US" sz="4000" b="1" dirty="0">
                <a:latin typeface="Arial" pitchFamily="34" charset="0"/>
              </a:rPr>
              <a:t> = </a:t>
            </a:r>
            <a:r>
              <a:rPr lang="en-US" sz="4000" b="1" dirty="0">
                <a:latin typeface="Symbol" pitchFamily="18" charset="2"/>
                <a:sym typeface="Symbol" pitchFamily="18" charset="2"/>
              </a:rPr>
              <a:t></a:t>
            </a:r>
            <a:r>
              <a:rPr lang="en-US" sz="4000" b="1" baseline="-25000" dirty="0">
                <a:latin typeface="Arial" pitchFamily="34" charset="0"/>
                <a:sym typeface="Symbol" pitchFamily="18" charset="2"/>
              </a:rPr>
              <a:t>k=0</a:t>
            </a:r>
            <a:r>
              <a:rPr lang="en-US" sz="4000" b="1" baseline="30000" dirty="0">
                <a:latin typeface="Arial" pitchFamily="34" charset="0"/>
                <a:sym typeface="Symbol" pitchFamily="18" charset="2"/>
              </a:rPr>
              <a:t>N-1</a:t>
            </a:r>
            <a:r>
              <a:rPr lang="en-US" sz="4000" b="1" dirty="0">
                <a:latin typeface="Arial" pitchFamily="34" charset="0"/>
              </a:rPr>
              <a:t> </a:t>
            </a:r>
            <a:r>
              <a:rPr lang="en-US" sz="4000" b="1" dirty="0" err="1">
                <a:latin typeface="Arial" pitchFamily="34" charset="0"/>
              </a:rPr>
              <a:t>a</a:t>
            </a:r>
            <a:r>
              <a:rPr lang="en-US" sz="4000" b="1" baseline="-25000" dirty="0" err="1">
                <a:latin typeface="Arial" pitchFamily="34" charset="0"/>
              </a:rPr>
              <a:t>ki</a:t>
            </a:r>
            <a:r>
              <a:rPr lang="en-US" sz="4000" b="1" dirty="0">
                <a:latin typeface="Arial" pitchFamily="34" charset="0"/>
              </a:rPr>
              <a:t> </a:t>
            </a:r>
            <a:r>
              <a:rPr lang="en-US" sz="4000" b="1" dirty="0">
                <a:latin typeface="cmsy10" pitchFamily="34" charset="0"/>
              </a:rPr>
              <a:t>*</a:t>
            </a:r>
            <a:r>
              <a:rPr lang="en-US" sz="4000" b="1" dirty="0">
                <a:latin typeface="Arial" pitchFamily="34" charset="0"/>
              </a:rPr>
              <a:t> </a:t>
            </a:r>
            <a:r>
              <a:rPr lang="en-US" sz="4000" b="1" dirty="0" err="1">
                <a:latin typeface="Arial" pitchFamily="34" charset="0"/>
              </a:rPr>
              <a:t>b</a:t>
            </a:r>
            <a:r>
              <a:rPr lang="en-US" sz="4000" b="1" baseline="-25000" dirty="0" err="1">
                <a:latin typeface="Arial" pitchFamily="34" charset="0"/>
              </a:rPr>
              <a:t>jk</a:t>
            </a:r>
            <a:endParaRPr lang="en-US" sz="4000" b="1" baseline="-25000" dirty="0">
              <a:latin typeface="Arial" pitchFamily="34" charset="0"/>
            </a:endParaRPr>
          </a:p>
        </p:txBody>
      </p:sp>
    </p:spTree>
    <p:extLst>
      <p:ext uri="{BB962C8B-B14F-4D97-AF65-F5344CB8AC3E}">
        <p14:creationId xmlns:p14="http://schemas.microsoft.com/office/powerpoint/2010/main" val="329815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1"/>
          <p:cNvSpPr>
            <a:spLocks noGrp="1"/>
          </p:cNvSpPr>
          <p:nvPr>
            <p:ph type="ftr" sz="quarter" idx="10"/>
          </p:nvPr>
        </p:nvSpPr>
        <p:spPr>
          <a:noFill/>
        </p:spPr>
        <p:txBody>
          <a:bodyPr/>
          <a:lstStyle/>
          <a:p>
            <a:r>
              <a:rPr lang="en-US"/>
              <a:t>Art of Multiprocessor Programming</a:t>
            </a:r>
          </a:p>
        </p:txBody>
      </p:sp>
      <p:sp>
        <p:nvSpPr>
          <p:cNvPr id="19459" name="Slide Number Placeholder 2"/>
          <p:cNvSpPr>
            <a:spLocks noGrp="1"/>
          </p:cNvSpPr>
          <p:nvPr>
            <p:ph type="sldNum" sz="quarter" idx="11"/>
          </p:nvPr>
        </p:nvSpPr>
        <p:spPr>
          <a:noFill/>
        </p:spPr>
        <p:txBody>
          <a:bodyPr/>
          <a:lstStyle/>
          <a:p>
            <a:fld id="{2DC0B97B-C3BA-4853-B8A6-73AD975CEA04}" type="slidenum">
              <a:rPr lang="x-none" smtClean="0"/>
              <a:pPr/>
              <a:t>6</a:t>
            </a:fld>
            <a:endParaRPr lang="en-US"/>
          </a:p>
        </p:txBody>
      </p:sp>
      <p:sp>
        <p:nvSpPr>
          <p:cNvPr id="19460" name="Rectangle 2"/>
          <p:cNvSpPr>
            <a:spLocks noGrp="1" noChangeArrowheads="1"/>
          </p:cNvSpPr>
          <p:nvPr>
            <p:ph type="title" idx="4294967295"/>
          </p:nvPr>
        </p:nvSpPr>
        <p:spPr/>
        <p:txBody>
          <a:bodyPr/>
          <a:lstStyle/>
          <a:p>
            <a:r>
              <a:rPr lang="en-US"/>
              <a:t>Matrix Multiplication</a:t>
            </a:r>
          </a:p>
        </p:txBody>
      </p:sp>
      <p:sp>
        <p:nvSpPr>
          <p:cNvPr id="19461" name="Rectangle 3"/>
          <p:cNvSpPr>
            <a:spLocks noChangeArrowheads="1"/>
          </p:cNvSpPr>
          <p:nvPr/>
        </p:nvSpPr>
        <p:spPr bwMode="auto">
          <a:xfrm>
            <a:off x="838200" y="1752600"/>
            <a:ext cx="6159500" cy="4154984"/>
          </a:xfrm>
          <a:prstGeom prst="rect">
            <a:avLst/>
          </a:prstGeom>
          <a:solidFill>
            <a:srgbClr val="FFFFCC"/>
          </a:solidFill>
          <a:ln w="9525">
            <a:noFill/>
            <a:miter lim="800000"/>
            <a:headEnd/>
            <a:tailEnd/>
          </a:ln>
        </p:spPr>
        <p:txBody>
          <a:bodyPr>
            <a:spAutoFit/>
          </a:bodyPr>
          <a:lstStyle/>
          <a:p>
            <a:pPr algn="l"/>
            <a:r>
              <a:rPr lang="en-US" b="1" dirty="0">
                <a:latin typeface="Arial" pitchFamily="34" charset="0"/>
              </a:rPr>
              <a:t>  </a:t>
            </a:r>
            <a:r>
              <a:rPr lang="en-US" b="1" dirty="0">
                <a:solidFill>
                  <a:schemeClr val="tx1"/>
                </a:solidFill>
                <a:latin typeface="Arial" pitchFamily="34" charset="0"/>
              </a:rPr>
              <a:t>class</a:t>
            </a:r>
            <a:r>
              <a:rPr lang="en-US" b="1" dirty="0">
                <a:latin typeface="Arial" pitchFamily="34" charset="0"/>
              </a:rPr>
              <a:t> Worker </a:t>
            </a:r>
            <a:r>
              <a:rPr lang="en-US" b="1" dirty="0">
                <a:solidFill>
                  <a:schemeClr val="tx1"/>
                </a:solidFill>
                <a:latin typeface="Arial" pitchFamily="34" charset="0"/>
              </a:rPr>
              <a:t>extends</a:t>
            </a:r>
            <a:r>
              <a:rPr lang="en-US" b="1" dirty="0">
                <a:latin typeface="Arial" pitchFamily="34" charset="0"/>
              </a:rPr>
              <a:t> Thread {</a:t>
            </a:r>
          </a:p>
          <a:p>
            <a:pPr algn="l"/>
            <a:r>
              <a:rPr lang="en-US" b="1" dirty="0">
                <a:latin typeface="Arial" pitchFamily="34" charset="0"/>
              </a:rPr>
              <a:t>    </a:t>
            </a:r>
            <a:r>
              <a:rPr lang="en-US" b="1" dirty="0" err="1">
                <a:solidFill>
                  <a:schemeClr val="tx1"/>
                </a:solidFill>
                <a:latin typeface="Arial" pitchFamily="34" charset="0"/>
              </a:rPr>
              <a:t>int</a:t>
            </a:r>
            <a:r>
              <a:rPr lang="en-US" b="1" dirty="0">
                <a:latin typeface="Arial" pitchFamily="34" charset="0"/>
              </a:rPr>
              <a:t> row, </a:t>
            </a:r>
            <a:r>
              <a:rPr lang="en-US" b="1" dirty="0" err="1">
                <a:latin typeface="Arial" pitchFamily="34" charset="0"/>
              </a:rPr>
              <a:t>col</a:t>
            </a:r>
            <a:r>
              <a:rPr lang="en-US" b="1" dirty="0">
                <a:latin typeface="Arial" pitchFamily="34" charset="0"/>
              </a:rPr>
              <a:t>;</a:t>
            </a:r>
          </a:p>
          <a:p>
            <a:pPr algn="l"/>
            <a:r>
              <a:rPr lang="en-US" b="1" dirty="0">
                <a:latin typeface="Arial" pitchFamily="34" charset="0"/>
              </a:rPr>
              <a:t>    Worker(</a:t>
            </a:r>
            <a:r>
              <a:rPr lang="en-US" b="1" dirty="0" err="1">
                <a:solidFill>
                  <a:schemeClr val="tx1"/>
                </a:solidFill>
                <a:latin typeface="Arial" pitchFamily="34" charset="0"/>
              </a:rPr>
              <a:t>int</a:t>
            </a:r>
            <a:r>
              <a:rPr lang="en-US" b="1" dirty="0">
                <a:latin typeface="Arial" pitchFamily="34" charset="0"/>
              </a:rPr>
              <a:t> row, </a:t>
            </a:r>
            <a:r>
              <a:rPr lang="en-US" b="1" dirty="0" err="1">
                <a:solidFill>
                  <a:schemeClr val="tx1"/>
                </a:solidFill>
                <a:latin typeface="Arial" pitchFamily="34" charset="0"/>
              </a:rPr>
              <a:t>int</a:t>
            </a:r>
            <a:r>
              <a:rPr lang="en-US" b="1" dirty="0">
                <a:latin typeface="Arial" pitchFamily="34" charset="0"/>
              </a:rPr>
              <a:t> </a:t>
            </a:r>
            <a:r>
              <a:rPr lang="en-US" b="1" dirty="0" err="1">
                <a:latin typeface="Arial" pitchFamily="34" charset="0"/>
              </a:rPr>
              <a:t>col</a:t>
            </a:r>
            <a:r>
              <a:rPr lang="en-US" b="1" dirty="0">
                <a:latin typeface="Arial" pitchFamily="34" charset="0"/>
              </a:rPr>
              <a:t>) {</a:t>
            </a:r>
          </a:p>
          <a:p>
            <a:pPr algn="l"/>
            <a:r>
              <a:rPr lang="en-US" b="1" dirty="0">
                <a:latin typeface="Arial" pitchFamily="34" charset="0"/>
              </a:rPr>
              <a:t>      row = row; </a:t>
            </a:r>
            <a:r>
              <a:rPr lang="en-US" b="1" dirty="0" err="1">
                <a:latin typeface="Arial" pitchFamily="34" charset="0"/>
              </a:rPr>
              <a:t>col</a:t>
            </a:r>
            <a:r>
              <a:rPr lang="en-US" b="1" dirty="0">
                <a:latin typeface="Arial" pitchFamily="34" charset="0"/>
              </a:rPr>
              <a:t> = </a:t>
            </a:r>
            <a:r>
              <a:rPr lang="en-US" b="1" dirty="0" err="1">
                <a:latin typeface="Arial" pitchFamily="34" charset="0"/>
              </a:rPr>
              <a:t>col</a:t>
            </a:r>
            <a:r>
              <a:rPr lang="en-US" b="1" dirty="0">
                <a:latin typeface="Arial" pitchFamily="34" charset="0"/>
              </a:rPr>
              <a:t>;</a:t>
            </a:r>
          </a:p>
          <a:p>
            <a:pPr algn="l"/>
            <a:r>
              <a:rPr lang="en-US" b="1" dirty="0">
                <a:latin typeface="Arial" pitchFamily="34" charset="0"/>
              </a:rPr>
              <a:t>    }</a:t>
            </a:r>
          </a:p>
          <a:p>
            <a:pPr algn="l"/>
            <a:r>
              <a:rPr lang="en-US" b="1" dirty="0">
                <a:latin typeface="Arial" pitchFamily="34" charset="0"/>
              </a:rPr>
              <a:t>    </a:t>
            </a:r>
            <a:r>
              <a:rPr lang="en-US" b="1" dirty="0">
                <a:solidFill>
                  <a:schemeClr val="tx1"/>
                </a:solidFill>
                <a:latin typeface="Arial" pitchFamily="34" charset="0"/>
              </a:rPr>
              <a:t>public</a:t>
            </a:r>
            <a:r>
              <a:rPr lang="en-US" b="1" dirty="0">
                <a:latin typeface="Arial" pitchFamily="34" charset="0"/>
              </a:rPr>
              <a:t> </a:t>
            </a:r>
            <a:r>
              <a:rPr lang="en-US" b="1" dirty="0">
                <a:solidFill>
                  <a:schemeClr val="tx1"/>
                </a:solidFill>
                <a:latin typeface="Arial" pitchFamily="34" charset="0"/>
              </a:rPr>
              <a:t>void</a:t>
            </a:r>
            <a:r>
              <a:rPr lang="en-US" b="1" dirty="0">
                <a:latin typeface="Arial" pitchFamily="34" charset="0"/>
              </a:rPr>
              <a:t> run() {</a:t>
            </a:r>
          </a:p>
          <a:p>
            <a:pPr algn="l"/>
            <a:r>
              <a:rPr lang="en-US" b="1" dirty="0">
                <a:latin typeface="Arial" pitchFamily="34" charset="0"/>
              </a:rPr>
              <a:t>      </a:t>
            </a:r>
            <a:r>
              <a:rPr lang="en-US" b="1" dirty="0">
                <a:solidFill>
                  <a:schemeClr val="tx1"/>
                </a:solidFill>
                <a:latin typeface="Arial" pitchFamily="34" charset="0"/>
              </a:rPr>
              <a:t>double</a:t>
            </a:r>
            <a:r>
              <a:rPr lang="en-US" b="1" dirty="0">
                <a:latin typeface="Arial" pitchFamily="34" charset="0"/>
              </a:rPr>
              <a:t> </a:t>
            </a:r>
            <a:r>
              <a:rPr lang="en-US" b="1" dirty="0" err="1">
                <a:latin typeface="Arial" pitchFamily="34" charset="0"/>
              </a:rPr>
              <a:t>dotProduct</a:t>
            </a:r>
            <a:r>
              <a:rPr lang="en-US" b="1" dirty="0">
                <a:latin typeface="Arial" pitchFamily="34" charset="0"/>
              </a:rPr>
              <a:t> = 0.0;</a:t>
            </a:r>
          </a:p>
          <a:p>
            <a:pPr algn="l"/>
            <a:r>
              <a:rPr lang="en-US" b="1" dirty="0">
                <a:latin typeface="Arial" pitchFamily="34" charset="0"/>
              </a:rPr>
              <a:t>      </a:t>
            </a:r>
            <a:r>
              <a:rPr lang="en-US" b="1" dirty="0">
                <a:solidFill>
                  <a:schemeClr val="tx1"/>
                </a:solidFill>
                <a:latin typeface="Arial" pitchFamily="34" charset="0"/>
              </a:rPr>
              <a:t>for</a:t>
            </a:r>
            <a:r>
              <a:rPr lang="en-US" b="1" dirty="0">
                <a:latin typeface="Arial" pitchFamily="34" charset="0"/>
              </a:rPr>
              <a:t> (</a:t>
            </a:r>
            <a:r>
              <a:rPr lang="en-US" b="1" dirty="0" err="1">
                <a:solidFill>
                  <a:schemeClr val="tx1"/>
                </a:solidFill>
                <a:latin typeface="Arial" pitchFamily="34" charset="0"/>
              </a:rPr>
              <a:t>int</a:t>
            </a:r>
            <a:r>
              <a:rPr lang="en-US" b="1" dirty="0">
                <a:latin typeface="Arial" pitchFamily="34" charset="0"/>
              </a:rPr>
              <a:t> </a:t>
            </a:r>
            <a:r>
              <a:rPr lang="en-US" b="1" dirty="0" err="1">
                <a:latin typeface="Arial" pitchFamily="34" charset="0"/>
              </a:rPr>
              <a:t>i</a:t>
            </a:r>
            <a:r>
              <a:rPr lang="en-US" b="1" dirty="0">
                <a:latin typeface="Arial" pitchFamily="34" charset="0"/>
              </a:rPr>
              <a:t> = 0; </a:t>
            </a:r>
            <a:r>
              <a:rPr lang="en-US" b="1" dirty="0" err="1">
                <a:latin typeface="Arial" pitchFamily="34" charset="0"/>
              </a:rPr>
              <a:t>i</a:t>
            </a:r>
            <a:r>
              <a:rPr lang="en-US" b="1" dirty="0">
                <a:latin typeface="Arial" pitchFamily="34" charset="0"/>
              </a:rPr>
              <a:t> &lt; n; </a:t>
            </a:r>
            <a:r>
              <a:rPr lang="en-US" b="1" dirty="0" err="1">
                <a:latin typeface="Arial" pitchFamily="34" charset="0"/>
              </a:rPr>
              <a:t>i</a:t>
            </a:r>
            <a:r>
              <a:rPr lang="en-US" b="1" dirty="0">
                <a:latin typeface="Arial" pitchFamily="34" charset="0"/>
              </a:rPr>
              <a:t>++)</a:t>
            </a:r>
          </a:p>
          <a:p>
            <a:pPr algn="l"/>
            <a:r>
              <a:rPr lang="en-US" b="1" dirty="0">
                <a:latin typeface="Arial" pitchFamily="34" charset="0"/>
              </a:rPr>
              <a:t>        </a:t>
            </a:r>
            <a:r>
              <a:rPr lang="en-US" b="1" dirty="0" err="1">
                <a:latin typeface="Arial" pitchFamily="34" charset="0"/>
              </a:rPr>
              <a:t>dotProduct</a:t>
            </a:r>
            <a:r>
              <a:rPr lang="en-US" b="1" dirty="0">
                <a:latin typeface="Arial" pitchFamily="34" charset="0"/>
              </a:rPr>
              <a:t> += a[row][</a:t>
            </a:r>
            <a:r>
              <a:rPr lang="en-US" b="1" dirty="0" err="1">
                <a:latin typeface="Arial" pitchFamily="34" charset="0"/>
              </a:rPr>
              <a:t>i</a:t>
            </a:r>
            <a:r>
              <a:rPr lang="en-US" b="1" dirty="0">
                <a:latin typeface="Arial" pitchFamily="34" charset="0"/>
              </a:rPr>
              <a:t>] * b[</a:t>
            </a:r>
            <a:r>
              <a:rPr lang="en-US" b="1" dirty="0" err="1">
                <a:latin typeface="Arial" pitchFamily="34" charset="0"/>
              </a:rPr>
              <a:t>i</a:t>
            </a:r>
            <a:r>
              <a:rPr lang="en-US" b="1" dirty="0">
                <a:latin typeface="Arial" pitchFamily="34" charset="0"/>
              </a:rPr>
              <a:t>][</a:t>
            </a:r>
            <a:r>
              <a:rPr lang="en-US" b="1" dirty="0" err="1">
                <a:latin typeface="Arial" pitchFamily="34" charset="0"/>
              </a:rPr>
              <a:t>col</a:t>
            </a:r>
            <a:r>
              <a:rPr lang="en-US" b="1" dirty="0">
                <a:latin typeface="Arial" pitchFamily="34" charset="0"/>
              </a:rPr>
              <a:t>];</a:t>
            </a:r>
          </a:p>
          <a:p>
            <a:pPr algn="l"/>
            <a:r>
              <a:rPr lang="en-US" b="1" dirty="0">
                <a:latin typeface="Arial" pitchFamily="34" charset="0"/>
              </a:rPr>
              <a:t>      c[row][</a:t>
            </a:r>
            <a:r>
              <a:rPr lang="en-US" b="1" dirty="0" err="1">
                <a:latin typeface="Arial" pitchFamily="34" charset="0"/>
              </a:rPr>
              <a:t>col</a:t>
            </a:r>
            <a:r>
              <a:rPr lang="en-US" b="1" dirty="0">
                <a:latin typeface="Arial" pitchFamily="34" charset="0"/>
              </a:rPr>
              <a:t>] = </a:t>
            </a:r>
            <a:r>
              <a:rPr lang="en-US" b="1" dirty="0" err="1">
                <a:latin typeface="Arial" pitchFamily="34" charset="0"/>
              </a:rPr>
              <a:t>dotProduct</a:t>
            </a:r>
            <a:r>
              <a:rPr lang="en-US" b="1" dirty="0">
                <a:latin typeface="Arial" pitchFamily="34" charset="0"/>
              </a:rPr>
              <a:t>;</a:t>
            </a:r>
          </a:p>
          <a:p>
            <a:pPr algn="l"/>
            <a:r>
              <a:rPr lang="en-US" b="1" dirty="0">
                <a:latin typeface="Arial" pitchFamily="34" charset="0"/>
              </a:rPr>
              <a:t>    }}}</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1"/>
          <p:cNvSpPr>
            <a:spLocks noGrp="1"/>
          </p:cNvSpPr>
          <p:nvPr>
            <p:ph type="ftr" sz="quarter" idx="10"/>
          </p:nvPr>
        </p:nvSpPr>
        <p:spPr>
          <a:noFill/>
        </p:spPr>
        <p:txBody>
          <a:bodyPr/>
          <a:lstStyle/>
          <a:p>
            <a:r>
              <a:rPr lang="en-US"/>
              <a:t>Art of Multiprocessor Programming</a:t>
            </a:r>
          </a:p>
        </p:txBody>
      </p:sp>
      <p:sp>
        <p:nvSpPr>
          <p:cNvPr id="20483" name="Slide Number Placeholder 2"/>
          <p:cNvSpPr>
            <a:spLocks noGrp="1"/>
          </p:cNvSpPr>
          <p:nvPr>
            <p:ph type="sldNum" sz="quarter" idx="11"/>
          </p:nvPr>
        </p:nvSpPr>
        <p:spPr>
          <a:noFill/>
        </p:spPr>
        <p:txBody>
          <a:bodyPr/>
          <a:lstStyle/>
          <a:p>
            <a:fld id="{07B2E4C9-24E4-474E-A8E1-86ED3C571D7B}" type="slidenum">
              <a:rPr lang="x-none" smtClean="0"/>
              <a:pPr/>
              <a:t>7</a:t>
            </a:fld>
            <a:endParaRPr lang="en-US"/>
          </a:p>
        </p:txBody>
      </p:sp>
      <p:sp>
        <p:nvSpPr>
          <p:cNvPr id="20484" name="Rectangle 2"/>
          <p:cNvSpPr>
            <a:spLocks noGrp="1" noChangeArrowheads="1"/>
          </p:cNvSpPr>
          <p:nvPr>
            <p:ph type="title" idx="4294967295"/>
          </p:nvPr>
        </p:nvSpPr>
        <p:spPr/>
        <p:txBody>
          <a:bodyPr/>
          <a:lstStyle/>
          <a:p>
            <a:r>
              <a:rPr lang="en-US"/>
              <a:t>Matrix Multiplication</a:t>
            </a:r>
          </a:p>
        </p:txBody>
      </p:sp>
      <p:sp>
        <p:nvSpPr>
          <p:cNvPr id="20485" name="Rectangle 3"/>
          <p:cNvSpPr>
            <a:spLocks noChangeArrowheads="1"/>
          </p:cNvSpPr>
          <p:nvPr/>
        </p:nvSpPr>
        <p:spPr bwMode="auto">
          <a:xfrm>
            <a:off x="838200" y="1752600"/>
            <a:ext cx="6159500" cy="4154984"/>
          </a:xfrm>
          <a:prstGeom prst="rect">
            <a:avLst/>
          </a:prstGeom>
          <a:solidFill>
            <a:srgbClr val="FFFFCC"/>
          </a:solidFill>
          <a:ln w="9525">
            <a:noFill/>
            <a:miter lim="800000"/>
            <a:headEnd/>
            <a:tailEnd/>
          </a:ln>
        </p:spPr>
        <p:txBody>
          <a:bodyPr>
            <a:spAutoFit/>
          </a:bodyPr>
          <a:lstStyle/>
          <a:p>
            <a:pPr algn="l"/>
            <a:r>
              <a:rPr lang="en-US" b="1" dirty="0">
                <a:latin typeface="Arial" pitchFamily="34" charset="0"/>
              </a:rPr>
              <a:t>  </a:t>
            </a:r>
            <a:r>
              <a:rPr lang="en-US" b="1" dirty="0">
                <a:solidFill>
                  <a:schemeClr val="folHlink"/>
                </a:solidFill>
                <a:latin typeface="Arial" pitchFamily="34" charset="0"/>
              </a:rPr>
              <a:t>class Worker</a:t>
            </a:r>
            <a:r>
              <a:rPr lang="en-US" b="1" dirty="0">
                <a:latin typeface="Arial" pitchFamily="34" charset="0"/>
              </a:rPr>
              <a:t> </a:t>
            </a:r>
            <a:r>
              <a:rPr lang="en-US" b="1" dirty="0">
                <a:solidFill>
                  <a:schemeClr val="tx1"/>
                </a:solidFill>
                <a:latin typeface="Arial" pitchFamily="34" charset="0"/>
              </a:rPr>
              <a:t>extends</a:t>
            </a:r>
            <a:r>
              <a:rPr lang="en-US" b="1" dirty="0">
                <a:latin typeface="Arial" pitchFamily="34" charset="0"/>
              </a:rPr>
              <a:t> Thread {</a:t>
            </a:r>
          </a:p>
          <a:p>
            <a:pPr algn="l"/>
            <a:r>
              <a:rPr lang="en-US" b="1" dirty="0">
                <a:latin typeface="Arial" pitchFamily="34" charset="0"/>
              </a:rPr>
              <a:t>    </a:t>
            </a:r>
            <a:r>
              <a:rPr lang="en-US" b="1" dirty="0" err="1">
                <a:solidFill>
                  <a:schemeClr val="folHlink"/>
                </a:solidFill>
                <a:latin typeface="Arial" pitchFamily="34" charset="0"/>
              </a:rPr>
              <a:t>int</a:t>
            </a:r>
            <a:r>
              <a:rPr lang="en-US" b="1" dirty="0">
                <a:solidFill>
                  <a:schemeClr val="folHlink"/>
                </a:solidFill>
                <a:latin typeface="Arial" pitchFamily="34" charset="0"/>
              </a:rPr>
              <a:t> row,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Worker(</a:t>
            </a:r>
            <a:r>
              <a:rPr lang="en-US" b="1" dirty="0" err="1">
                <a:solidFill>
                  <a:schemeClr val="folHlink"/>
                </a:solidFill>
                <a:latin typeface="Arial" pitchFamily="34" charset="0"/>
              </a:rPr>
              <a:t>int</a:t>
            </a:r>
            <a:r>
              <a:rPr lang="en-US" b="1" dirty="0">
                <a:solidFill>
                  <a:schemeClr val="folHlink"/>
                </a:solidFill>
                <a:latin typeface="Arial" pitchFamily="34" charset="0"/>
              </a:rPr>
              <a:t> row, </a:t>
            </a:r>
            <a:r>
              <a:rPr lang="en-US" b="1" dirty="0" err="1">
                <a:solidFill>
                  <a:schemeClr val="folHlink"/>
                </a:solidFill>
                <a:latin typeface="Arial" pitchFamily="34" charset="0"/>
              </a:rPr>
              <a:t>int</a:t>
            </a:r>
            <a:r>
              <a:rPr lang="en-US" b="1" dirty="0">
                <a:solidFill>
                  <a:schemeClr val="folHlink"/>
                </a:solidFill>
                <a:latin typeface="Arial" pitchFamily="34" charset="0"/>
              </a:rPr>
              <a:t> </a:t>
            </a:r>
            <a:r>
              <a:rPr lang="en-US" b="1" dirty="0" err="1">
                <a:solidFill>
                  <a:schemeClr val="folHlink"/>
                </a:solidFill>
                <a:latin typeface="Arial" pitchFamily="34" charset="0"/>
              </a:rPr>
              <a:t>col</a:t>
            </a:r>
            <a:r>
              <a:rPr lang="en-US" b="1" dirty="0">
                <a:solidFill>
                  <a:schemeClr val="folHlink"/>
                </a:solidFill>
                <a:latin typeface="Arial" pitchFamily="34" charset="0"/>
              </a:rPr>
              <a:t>) {</a:t>
            </a:r>
          </a:p>
          <a:p>
            <a:pPr algn="l"/>
            <a:r>
              <a:rPr lang="en-US" b="1" dirty="0">
                <a:solidFill>
                  <a:schemeClr val="folHlink"/>
                </a:solidFill>
                <a:latin typeface="Arial" pitchFamily="34" charset="0"/>
              </a:rPr>
              <a:t>      row = row; </a:t>
            </a:r>
            <a:r>
              <a:rPr lang="en-US" b="1" dirty="0" err="1">
                <a:solidFill>
                  <a:schemeClr val="folHlink"/>
                </a:solidFill>
                <a:latin typeface="Arial" pitchFamily="34" charset="0"/>
              </a:rPr>
              <a:t>col</a:t>
            </a:r>
            <a:r>
              <a:rPr lang="en-US" b="1" dirty="0">
                <a:solidFill>
                  <a:schemeClr val="folHlink"/>
                </a:solidFill>
                <a:latin typeface="Arial" pitchFamily="34" charset="0"/>
              </a:rPr>
              <a:t> =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p>
          <a:p>
            <a:pPr algn="l"/>
            <a:r>
              <a:rPr lang="en-US" b="1" dirty="0">
                <a:solidFill>
                  <a:schemeClr val="folHlink"/>
                </a:solidFill>
                <a:latin typeface="Arial" pitchFamily="34" charset="0"/>
              </a:rPr>
              <a:t>    public void run() {</a:t>
            </a:r>
          </a:p>
          <a:p>
            <a:pPr algn="l"/>
            <a:r>
              <a:rPr lang="en-US" b="1" dirty="0">
                <a:solidFill>
                  <a:schemeClr val="folHlink"/>
                </a:solidFill>
                <a:latin typeface="Arial" pitchFamily="34" charset="0"/>
              </a:rPr>
              <a:t>      double </a:t>
            </a:r>
            <a:r>
              <a:rPr lang="en-US" b="1" dirty="0" err="1">
                <a:solidFill>
                  <a:schemeClr val="folHlink"/>
                </a:solidFill>
                <a:latin typeface="Arial" pitchFamily="34" charset="0"/>
              </a:rPr>
              <a:t>dotProduct</a:t>
            </a:r>
            <a:r>
              <a:rPr lang="en-US" b="1" dirty="0">
                <a:solidFill>
                  <a:schemeClr val="folHlink"/>
                </a:solidFill>
                <a:latin typeface="Arial" pitchFamily="34" charset="0"/>
              </a:rPr>
              <a:t> = 0.0;</a:t>
            </a:r>
          </a:p>
          <a:p>
            <a:pPr algn="l"/>
            <a:r>
              <a:rPr lang="en-US" b="1" dirty="0">
                <a:solidFill>
                  <a:schemeClr val="folHlink"/>
                </a:solidFill>
                <a:latin typeface="Arial" pitchFamily="34" charset="0"/>
              </a:rPr>
              <a:t>      for (</a:t>
            </a:r>
            <a:r>
              <a:rPr lang="en-US" b="1" dirty="0" err="1">
                <a:solidFill>
                  <a:schemeClr val="folHlink"/>
                </a:solidFill>
                <a:latin typeface="Arial" pitchFamily="34" charset="0"/>
              </a:rPr>
              <a:t>int</a:t>
            </a:r>
            <a:r>
              <a:rPr lang="en-US" b="1" dirty="0">
                <a:solidFill>
                  <a:schemeClr val="folHlink"/>
                </a:solidFill>
                <a:latin typeface="Arial" pitchFamily="34" charset="0"/>
              </a:rPr>
              <a:t> </a:t>
            </a:r>
            <a:r>
              <a:rPr lang="en-US" b="1" dirty="0" err="1">
                <a:solidFill>
                  <a:schemeClr val="folHlink"/>
                </a:solidFill>
                <a:latin typeface="Arial" pitchFamily="34" charset="0"/>
              </a:rPr>
              <a:t>i</a:t>
            </a:r>
            <a:r>
              <a:rPr lang="en-US" b="1" dirty="0">
                <a:solidFill>
                  <a:schemeClr val="folHlink"/>
                </a:solidFill>
                <a:latin typeface="Arial" pitchFamily="34" charset="0"/>
              </a:rPr>
              <a:t> = 0; </a:t>
            </a:r>
            <a:r>
              <a:rPr lang="en-US" b="1" dirty="0" err="1">
                <a:solidFill>
                  <a:schemeClr val="folHlink"/>
                </a:solidFill>
                <a:latin typeface="Arial" pitchFamily="34" charset="0"/>
              </a:rPr>
              <a:t>i</a:t>
            </a:r>
            <a:r>
              <a:rPr lang="en-US" b="1" dirty="0">
                <a:solidFill>
                  <a:schemeClr val="folHlink"/>
                </a:solidFill>
                <a:latin typeface="Arial" pitchFamily="34" charset="0"/>
              </a:rPr>
              <a:t> &lt; n; </a:t>
            </a:r>
            <a:r>
              <a:rPr lang="en-US" b="1" dirty="0" err="1">
                <a:solidFill>
                  <a:schemeClr val="folHlink"/>
                </a:solidFill>
                <a:latin typeface="Arial" pitchFamily="34" charset="0"/>
              </a:rPr>
              <a:t>i</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r>
              <a:rPr lang="en-US" b="1" dirty="0" err="1">
                <a:solidFill>
                  <a:schemeClr val="folHlink"/>
                </a:solidFill>
                <a:latin typeface="Arial" pitchFamily="34" charset="0"/>
              </a:rPr>
              <a:t>dotProduct</a:t>
            </a:r>
            <a:r>
              <a:rPr lang="en-US" b="1" dirty="0">
                <a:solidFill>
                  <a:schemeClr val="folHlink"/>
                </a:solidFill>
                <a:latin typeface="Arial" pitchFamily="34" charset="0"/>
              </a:rPr>
              <a:t> += a[row][</a:t>
            </a:r>
            <a:r>
              <a:rPr lang="en-US" b="1" dirty="0" err="1">
                <a:solidFill>
                  <a:schemeClr val="folHlink"/>
                </a:solidFill>
                <a:latin typeface="Arial" pitchFamily="34" charset="0"/>
              </a:rPr>
              <a:t>i</a:t>
            </a:r>
            <a:r>
              <a:rPr lang="en-US" b="1" dirty="0">
                <a:solidFill>
                  <a:schemeClr val="folHlink"/>
                </a:solidFill>
                <a:latin typeface="Arial" pitchFamily="34" charset="0"/>
              </a:rPr>
              <a:t>] * b[</a:t>
            </a:r>
            <a:r>
              <a:rPr lang="en-US" b="1" dirty="0" err="1">
                <a:solidFill>
                  <a:schemeClr val="folHlink"/>
                </a:solidFill>
                <a:latin typeface="Arial" pitchFamily="34" charset="0"/>
              </a:rPr>
              <a:t>i</a:t>
            </a:r>
            <a:r>
              <a:rPr lang="en-US" b="1" dirty="0">
                <a:solidFill>
                  <a:schemeClr val="folHlink"/>
                </a:solidFill>
                <a:latin typeface="Arial" pitchFamily="34" charset="0"/>
              </a:rPr>
              <a:t>][</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c[row][</a:t>
            </a:r>
            <a:r>
              <a:rPr lang="en-US" b="1" dirty="0" err="1">
                <a:solidFill>
                  <a:schemeClr val="folHlink"/>
                </a:solidFill>
                <a:latin typeface="Arial" pitchFamily="34" charset="0"/>
              </a:rPr>
              <a:t>col</a:t>
            </a:r>
            <a:r>
              <a:rPr lang="en-US" b="1" dirty="0">
                <a:solidFill>
                  <a:schemeClr val="folHlink"/>
                </a:solidFill>
                <a:latin typeface="Arial" pitchFamily="34" charset="0"/>
              </a:rPr>
              <a:t>] = </a:t>
            </a:r>
            <a:r>
              <a:rPr lang="en-US" b="1" dirty="0" err="1">
                <a:solidFill>
                  <a:schemeClr val="folHlink"/>
                </a:solidFill>
                <a:latin typeface="Arial" pitchFamily="34" charset="0"/>
              </a:rPr>
              <a:t>dotProduct</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p>
        </p:txBody>
      </p:sp>
      <p:sp>
        <p:nvSpPr>
          <p:cNvPr id="20486" name="AutoShape 4"/>
          <p:cNvSpPr>
            <a:spLocks noChangeArrowheads="1"/>
          </p:cNvSpPr>
          <p:nvPr/>
        </p:nvSpPr>
        <p:spPr bwMode="auto">
          <a:xfrm>
            <a:off x="3009900" y="1765300"/>
            <a:ext cx="2679700" cy="558800"/>
          </a:xfrm>
          <a:prstGeom prst="wedgeRoundRectCallout">
            <a:avLst>
              <a:gd name="adj1" fmla="val 36847"/>
              <a:gd name="adj2" fmla="val 261931"/>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0487" name="Text Box 5"/>
          <p:cNvSpPr txBox="1">
            <a:spLocks noChangeArrowheads="1"/>
          </p:cNvSpPr>
          <p:nvPr/>
        </p:nvSpPr>
        <p:spPr bwMode="auto">
          <a:xfrm>
            <a:off x="4987250" y="3476625"/>
            <a:ext cx="1584088"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a thread</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1"/>
          <p:cNvSpPr>
            <a:spLocks noGrp="1"/>
          </p:cNvSpPr>
          <p:nvPr>
            <p:ph type="ftr" sz="quarter" idx="10"/>
          </p:nvPr>
        </p:nvSpPr>
        <p:spPr>
          <a:noFill/>
        </p:spPr>
        <p:txBody>
          <a:bodyPr/>
          <a:lstStyle/>
          <a:p>
            <a:r>
              <a:rPr lang="en-US"/>
              <a:t>Art of Multiprocessor Programming</a:t>
            </a:r>
          </a:p>
        </p:txBody>
      </p:sp>
      <p:sp>
        <p:nvSpPr>
          <p:cNvPr id="21507" name="Slide Number Placeholder 2"/>
          <p:cNvSpPr>
            <a:spLocks noGrp="1"/>
          </p:cNvSpPr>
          <p:nvPr>
            <p:ph type="sldNum" sz="quarter" idx="11"/>
          </p:nvPr>
        </p:nvSpPr>
        <p:spPr>
          <a:noFill/>
        </p:spPr>
        <p:txBody>
          <a:bodyPr/>
          <a:lstStyle/>
          <a:p>
            <a:fld id="{4957BD1F-DBC5-4D15-B0BE-9F03929A8F60}" type="slidenum">
              <a:rPr lang="x-none" smtClean="0"/>
              <a:pPr/>
              <a:t>8</a:t>
            </a:fld>
            <a:endParaRPr lang="en-US"/>
          </a:p>
        </p:txBody>
      </p:sp>
      <p:sp>
        <p:nvSpPr>
          <p:cNvPr id="21508" name="Rectangle 2"/>
          <p:cNvSpPr>
            <a:spLocks noGrp="1" noChangeArrowheads="1"/>
          </p:cNvSpPr>
          <p:nvPr>
            <p:ph type="title" idx="4294967295"/>
          </p:nvPr>
        </p:nvSpPr>
        <p:spPr/>
        <p:txBody>
          <a:bodyPr/>
          <a:lstStyle/>
          <a:p>
            <a:r>
              <a:rPr lang="en-US"/>
              <a:t>Matrix Multiplication</a:t>
            </a:r>
          </a:p>
        </p:txBody>
      </p:sp>
      <p:sp>
        <p:nvSpPr>
          <p:cNvPr id="21509" name="Rectangle 3"/>
          <p:cNvSpPr>
            <a:spLocks noChangeArrowheads="1"/>
          </p:cNvSpPr>
          <p:nvPr/>
        </p:nvSpPr>
        <p:spPr bwMode="auto">
          <a:xfrm>
            <a:off x="838200" y="1752600"/>
            <a:ext cx="6159500" cy="4154984"/>
          </a:xfrm>
          <a:prstGeom prst="rect">
            <a:avLst/>
          </a:prstGeom>
          <a:solidFill>
            <a:srgbClr val="FFFFCC"/>
          </a:solidFill>
          <a:ln w="9525">
            <a:noFill/>
            <a:miter lim="800000"/>
            <a:headEnd/>
            <a:tailEnd/>
          </a:ln>
        </p:spPr>
        <p:txBody>
          <a:bodyPr>
            <a:spAutoFit/>
          </a:bodyPr>
          <a:lstStyle/>
          <a:p>
            <a:pPr algn="l"/>
            <a:r>
              <a:rPr lang="en-US" b="1" dirty="0">
                <a:latin typeface="Arial" pitchFamily="34" charset="0"/>
              </a:rPr>
              <a:t>  </a:t>
            </a:r>
            <a:r>
              <a:rPr lang="en-US" b="1" dirty="0">
                <a:solidFill>
                  <a:schemeClr val="folHlink"/>
                </a:solidFill>
                <a:latin typeface="Arial" pitchFamily="34" charset="0"/>
              </a:rPr>
              <a:t>class Worker extends Thread {</a:t>
            </a:r>
          </a:p>
          <a:p>
            <a:pPr algn="l"/>
            <a:r>
              <a:rPr lang="en-US" b="1" dirty="0">
                <a:solidFill>
                  <a:schemeClr val="folHlink"/>
                </a:solidFill>
                <a:latin typeface="Arial" pitchFamily="34" charset="0"/>
              </a:rPr>
              <a:t>    </a:t>
            </a:r>
            <a:r>
              <a:rPr lang="en-US" b="1" dirty="0" err="1">
                <a:solidFill>
                  <a:schemeClr val="folHlink"/>
                </a:solidFill>
                <a:latin typeface="Arial" pitchFamily="34" charset="0"/>
              </a:rPr>
              <a:t>int</a:t>
            </a:r>
            <a:r>
              <a:rPr lang="en-US" b="1" dirty="0">
                <a:solidFill>
                  <a:schemeClr val="folHlink"/>
                </a:solidFill>
                <a:latin typeface="Arial" pitchFamily="34" charset="0"/>
              </a:rPr>
              <a:t> row,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latin typeface="Arial" pitchFamily="34" charset="0"/>
              </a:rPr>
              <a:t>    </a:t>
            </a:r>
            <a:r>
              <a:rPr lang="en-US" b="1" dirty="0">
                <a:solidFill>
                  <a:schemeClr val="folHlink"/>
                </a:solidFill>
                <a:latin typeface="Arial" pitchFamily="34" charset="0"/>
              </a:rPr>
              <a:t>Worker</a:t>
            </a:r>
            <a:r>
              <a:rPr lang="en-US" b="1" dirty="0">
                <a:latin typeface="Arial" pitchFamily="34" charset="0"/>
              </a:rPr>
              <a:t>(</a:t>
            </a:r>
            <a:r>
              <a:rPr lang="en-US" b="1" dirty="0" err="1">
                <a:solidFill>
                  <a:schemeClr val="tx1"/>
                </a:solidFill>
                <a:latin typeface="Arial" pitchFamily="34" charset="0"/>
              </a:rPr>
              <a:t>int</a:t>
            </a:r>
            <a:r>
              <a:rPr lang="en-US" b="1" dirty="0">
                <a:latin typeface="Arial" pitchFamily="34" charset="0"/>
              </a:rPr>
              <a:t> row, </a:t>
            </a:r>
            <a:r>
              <a:rPr lang="en-US" b="1" dirty="0" err="1">
                <a:solidFill>
                  <a:schemeClr val="tx1"/>
                </a:solidFill>
                <a:latin typeface="Arial" pitchFamily="34" charset="0"/>
              </a:rPr>
              <a:t>int</a:t>
            </a:r>
            <a:r>
              <a:rPr lang="en-US" b="1" dirty="0">
                <a:latin typeface="Arial" pitchFamily="34" charset="0"/>
              </a:rPr>
              <a:t> </a:t>
            </a:r>
            <a:r>
              <a:rPr lang="en-US" b="1" dirty="0" err="1">
                <a:latin typeface="Arial" pitchFamily="34" charset="0"/>
              </a:rPr>
              <a:t>col</a:t>
            </a:r>
            <a:r>
              <a:rPr lang="en-US" b="1" dirty="0">
                <a:latin typeface="Arial" pitchFamily="34" charset="0"/>
              </a:rPr>
              <a:t>) </a:t>
            </a:r>
            <a:r>
              <a:rPr lang="en-US" b="1" dirty="0">
                <a:solidFill>
                  <a:schemeClr val="folHlink"/>
                </a:solidFill>
                <a:latin typeface="Arial" pitchFamily="34" charset="0"/>
              </a:rPr>
              <a:t>{</a:t>
            </a:r>
          </a:p>
          <a:p>
            <a:pPr algn="l"/>
            <a:r>
              <a:rPr lang="en-US" b="1" dirty="0">
                <a:latin typeface="Arial" pitchFamily="34" charset="0"/>
              </a:rPr>
              <a:t>      </a:t>
            </a:r>
            <a:r>
              <a:rPr lang="en-US" b="1" dirty="0">
                <a:solidFill>
                  <a:schemeClr val="folHlink"/>
                </a:solidFill>
                <a:latin typeface="Arial" pitchFamily="34" charset="0"/>
              </a:rPr>
              <a:t>row = row; </a:t>
            </a:r>
            <a:r>
              <a:rPr lang="en-US" b="1" dirty="0" err="1">
                <a:solidFill>
                  <a:schemeClr val="folHlink"/>
                </a:solidFill>
                <a:latin typeface="Arial" pitchFamily="34" charset="0"/>
              </a:rPr>
              <a:t>col</a:t>
            </a:r>
            <a:r>
              <a:rPr lang="en-US" b="1" dirty="0">
                <a:solidFill>
                  <a:schemeClr val="folHlink"/>
                </a:solidFill>
                <a:latin typeface="Arial" pitchFamily="34" charset="0"/>
              </a:rPr>
              <a:t> =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p>
          <a:p>
            <a:pPr algn="l"/>
            <a:r>
              <a:rPr lang="en-US" b="1" dirty="0">
                <a:solidFill>
                  <a:schemeClr val="folHlink"/>
                </a:solidFill>
                <a:latin typeface="Arial" pitchFamily="34" charset="0"/>
              </a:rPr>
              <a:t>    public void run() {</a:t>
            </a:r>
          </a:p>
          <a:p>
            <a:pPr algn="l"/>
            <a:r>
              <a:rPr lang="en-US" b="1" dirty="0">
                <a:solidFill>
                  <a:schemeClr val="folHlink"/>
                </a:solidFill>
                <a:latin typeface="Arial" pitchFamily="34" charset="0"/>
              </a:rPr>
              <a:t>      double </a:t>
            </a:r>
            <a:r>
              <a:rPr lang="en-US" b="1" dirty="0" err="1">
                <a:solidFill>
                  <a:schemeClr val="folHlink"/>
                </a:solidFill>
                <a:latin typeface="Arial" pitchFamily="34" charset="0"/>
              </a:rPr>
              <a:t>dotProduct</a:t>
            </a:r>
            <a:r>
              <a:rPr lang="en-US" b="1" dirty="0">
                <a:solidFill>
                  <a:schemeClr val="folHlink"/>
                </a:solidFill>
                <a:latin typeface="Arial" pitchFamily="34" charset="0"/>
              </a:rPr>
              <a:t> = 0.0;</a:t>
            </a:r>
          </a:p>
          <a:p>
            <a:pPr algn="l"/>
            <a:r>
              <a:rPr lang="en-US" b="1" dirty="0">
                <a:solidFill>
                  <a:schemeClr val="folHlink"/>
                </a:solidFill>
                <a:latin typeface="Arial" pitchFamily="34" charset="0"/>
              </a:rPr>
              <a:t>      for (</a:t>
            </a:r>
            <a:r>
              <a:rPr lang="en-US" b="1" dirty="0" err="1">
                <a:solidFill>
                  <a:schemeClr val="folHlink"/>
                </a:solidFill>
                <a:latin typeface="Arial" pitchFamily="34" charset="0"/>
              </a:rPr>
              <a:t>int</a:t>
            </a:r>
            <a:r>
              <a:rPr lang="en-US" b="1" dirty="0">
                <a:solidFill>
                  <a:schemeClr val="folHlink"/>
                </a:solidFill>
                <a:latin typeface="Arial" pitchFamily="34" charset="0"/>
              </a:rPr>
              <a:t> </a:t>
            </a:r>
            <a:r>
              <a:rPr lang="en-US" b="1" dirty="0" err="1">
                <a:solidFill>
                  <a:schemeClr val="folHlink"/>
                </a:solidFill>
                <a:latin typeface="Arial" pitchFamily="34" charset="0"/>
              </a:rPr>
              <a:t>i</a:t>
            </a:r>
            <a:r>
              <a:rPr lang="en-US" b="1" dirty="0">
                <a:solidFill>
                  <a:schemeClr val="folHlink"/>
                </a:solidFill>
                <a:latin typeface="Arial" pitchFamily="34" charset="0"/>
              </a:rPr>
              <a:t> = 0; </a:t>
            </a:r>
            <a:r>
              <a:rPr lang="en-US" b="1" dirty="0" err="1">
                <a:solidFill>
                  <a:schemeClr val="folHlink"/>
                </a:solidFill>
                <a:latin typeface="Arial" pitchFamily="34" charset="0"/>
              </a:rPr>
              <a:t>i</a:t>
            </a:r>
            <a:r>
              <a:rPr lang="en-US" b="1" dirty="0">
                <a:solidFill>
                  <a:schemeClr val="folHlink"/>
                </a:solidFill>
                <a:latin typeface="Arial" pitchFamily="34" charset="0"/>
              </a:rPr>
              <a:t> &lt; n; </a:t>
            </a:r>
            <a:r>
              <a:rPr lang="en-US" b="1" dirty="0" err="1">
                <a:solidFill>
                  <a:schemeClr val="folHlink"/>
                </a:solidFill>
                <a:latin typeface="Arial" pitchFamily="34" charset="0"/>
              </a:rPr>
              <a:t>i</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r>
              <a:rPr lang="en-US" b="1" dirty="0" err="1">
                <a:solidFill>
                  <a:schemeClr val="folHlink"/>
                </a:solidFill>
                <a:latin typeface="Arial" pitchFamily="34" charset="0"/>
              </a:rPr>
              <a:t>dotProduct</a:t>
            </a:r>
            <a:r>
              <a:rPr lang="en-US" b="1" dirty="0">
                <a:solidFill>
                  <a:schemeClr val="folHlink"/>
                </a:solidFill>
                <a:latin typeface="Arial" pitchFamily="34" charset="0"/>
              </a:rPr>
              <a:t> += a[row][</a:t>
            </a:r>
            <a:r>
              <a:rPr lang="en-US" b="1" dirty="0" err="1">
                <a:solidFill>
                  <a:schemeClr val="folHlink"/>
                </a:solidFill>
                <a:latin typeface="Arial" pitchFamily="34" charset="0"/>
              </a:rPr>
              <a:t>i</a:t>
            </a:r>
            <a:r>
              <a:rPr lang="en-US" b="1" dirty="0">
                <a:solidFill>
                  <a:schemeClr val="folHlink"/>
                </a:solidFill>
                <a:latin typeface="Arial" pitchFamily="34" charset="0"/>
              </a:rPr>
              <a:t>] * b[</a:t>
            </a:r>
            <a:r>
              <a:rPr lang="en-US" b="1" dirty="0" err="1">
                <a:solidFill>
                  <a:schemeClr val="folHlink"/>
                </a:solidFill>
                <a:latin typeface="Arial" pitchFamily="34" charset="0"/>
              </a:rPr>
              <a:t>i</a:t>
            </a:r>
            <a:r>
              <a:rPr lang="en-US" b="1" dirty="0">
                <a:solidFill>
                  <a:schemeClr val="folHlink"/>
                </a:solidFill>
                <a:latin typeface="Arial" pitchFamily="34" charset="0"/>
              </a:rPr>
              <a:t>][</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c[row][</a:t>
            </a:r>
            <a:r>
              <a:rPr lang="en-US" b="1" dirty="0" err="1">
                <a:solidFill>
                  <a:schemeClr val="folHlink"/>
                </a:solidFill>
                <a:latin typeface="Arial" pitchFamily="34" charset="0"/>
              </a:rPr>
              <a:t>col</a:t>
            </a:r>
            <a:r>
              <a:rPr lang="en-US" b="1" dirty="0">
                <a:solidFill>
                  <a:schemeClr val="folHlink"/>
                </a:solidFill>
                <a:latin typeface="Arial" pitchFamily="34" charset="0"/>
              </a:rPr>
              <a:t>] = </a:t>
            </a:r>
            <a:r>
              <a:rPr lang="en-US" b="1" dirty="0" err="1">
                <a:solidFill>
                  <a:schemeClr val="folHlink"/>
                </a:solidFill>
                <a:latin typeface="Arial" pitchFamily="34" charset="0"/>
              </a:rPr>
              <a:t>dotProduct</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p>
        </p:txBody>
      </p:sp>
      <p:sp>
        <p:nvSpPr>
          <p:cNvPr id="21510" name="AutoShape 4"/>
          <p:cNvSpPr>
            <a:spLocks noChangeArrowheads="1"/>
          </p:cNvSpPr>
          <p:nvPr/>
        </p:nvSpPr>
        <p:spPr bwMode="auto">
          <a:xfrm>
            <a:off x="2273300" y="2514600"/>
            <a:ext cx="2362200" cy="444500"/>
          </a:xfrm>
          <a:prstGeom prst="wedgeRoundRectCallout">
            <a:avLst>
              <a:gd name="adj1" fmla="val 60347"/>
              <a:gd name="adj2" fmla="val 219287"/>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1511" name="Text Box 5"/>
          <p:cNvSpPr txBox="1">
            <a:spLocks noChangeArrowheads="1"/>
          </p:cNvSpPr>
          <p:nvPr/>
        </p:nvSpPr>
        <p:spPr bwMode="auto">
          <a:xfrm>
            <a:off x="3192463" y="3781425"/>
            <a:ext cx="3736975" cy="946150"/>
          </a:xfrm>
          <a:prstGeom prst="rect">
            <a:avLst/>
          </a:prstGeom>
          <a:solidFill>
            <a:srgbClr val="FFFFCC">
              <a:alpha val="72156"/>
            </a:srgbClr>
          </a:solidFill>
          <a:ln w="38100" algn="ctr">
            <a:noFill/>
            <a:miter lim="800000"/>
            <a:headEnd/>
            <a:tailEnd/>
          </a:ln>
        </p:spPr>
        <p:txBody>
          <a:bodyPr>
            <a:spAutoFit/>
          </a:bodyPr>
          <a:lstStyle/>
          <a:p>
            <a:pPr algn="ctr"/>
            <a:r>
              <a:rPr lang="en-US" sz="2800" b="1" dirty="0">
                <a:solidFill>
                  <a:srgbClr val="FF0000"/>
                </a:solidFill>
                <a:latin typeface="Arial" pitchFamily="34" charset="0"/>
              </a:rPr>
              <a:t>Which matrix entry to compute</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1"/>
          <p:cNvSpPr>
            <a:spLocks noGrp="1"/>
          </p:cNvSpPr>
          <p:nvPr>
            <p:ph type="ftr" sz="quarter" idx="10"/>
          </p:nvPr>
        </p:nvSpPr>
        <p:spPr>
          <a:noFill/>
        </p:spPr>
        <p:txBody>
          <a:bodyPr/>
          <a:lstStyle/>
          <a:p>
            <a:r>
              <a:rPr lang="en-US"/>
              <a:t>Art of Multiprocessor Programming</a:t>
            </a:r>
          </a:p>
        </p:txBody>
      </p:sp>
      <p:sp>
        <p:nvSpPr>
          <p:cNvPr id="22531" name="Slide Number Placeholder 2"/>
          <p:cNvSpPr>
            <a:spLocks noGrp="1"/>
          </p:cNvSpPr>
          <p:nvPr>
            <p:ph type="sldNum" sz="quarter" idx="11"/>
          </p:nvPr>
        </p:nvSpPr>
        <p:spPr>
          <a:noFill/>
        </p:spPr>
        <p:txBody>
          <a:bodyPr/>
          <a:lstStyle/>
          <a:p>
            <a:fld id="{95C7A08B-C9B7-440D-834D-8ECDB13496F3}" type="slidenum">
              <a:rPr lang="x-none" smtClean="0"/>
              <a:pPr/>
              <a:t>9</a:t>
            </a:fld>
            <a:endParaRPr lang="en-US"/>
          </a:p>
        </p:txBody>
      </p:sp>
      <p:sp>
        <p:nvSpPr>
          <p:cNvPr id="22532" name="Rectangle 2"/>
          <p:cNvSpPr>
            <a:spLocks noGrp="1" noChangeArrowheads="1"/>
          </p:cNvSpPr>
          <p:nvPr>
            <p:ph type="title" idx="4294967295"/>
          </p:nvPr>
        </p:nvSpPr>
        <p:spPr/>
        <p:txBody>
          <a:bodyPr/>
          <a:lstStyle/>
          <a:p>
            <a:r>
              <a:rPr lang="en-US"/>
              <a:t>Matrix Multiplication</a:t>
            </a:r>
          </a:p>
        </p:txBody>
      </p:sp>
      <p:sp>
        <p:nvSpPr>
          <p:cNvPr id="22533" name="Rectangle 3"/>
          <p:cNvSpPr>
            <a:spLocks noChangeArrowheads="1"/>
          </p:cNvSpPr>
          <p:nvPr/>
        </p:nvSpPr>
        <p:spPr bwMode="auto">
          <a:xfrm>
            <a:off x="838200" y="1752600"/>
            <a:ext cx="6159500" cy="4154984"/>
          </a:xfrm>
          <a:prstGeom prst="rect">
            <a:avLst/>
          </a:prstGeom>
          <a:solidFill>
            <a:srgbClr val="FFFFCC"/>
          </a:solidFill>
          <a:ln w="9525">
            <a:noFill/>
            <a:miter lim="800000"/>
            <a:headEnd/>
            <a:tailEnd/>
          </a:ln>
        </p:spPr>
        <p:txBody>
          <a:bodyPr>
            <a:spAutoFit/>
          </a:bodyPr>
          <a:lstStyle/>
          <a:p>
            <a:pPr algn="l"/>
            <a:r>
              <a:rPr lang="en-US" b="1" dirty="0">
                <a:latin typeface="Arial" pitchFamily="34" charset="0"/>
              </a:rPr>
              <a:t>  </a:t>
            </a:r>
            <a:r>
              <a:rPr lang="en-US" b="1" dirty="0">
                <a:solidFill>
                  <a:schemeClr val="folHlink"/>
                </a:solidFill>
                <a:latin typeface="Arial" pitchFamily="34" charset="0"/>
              </a:rPr>
              <a:t>class Worker extends Thread {</a:t>
            </a:r>
          </a:p>
          <a:p>
            <a:pPr algn="l"/>
            <a:r>
              <a:rPr lang="en-US" b="1" dirty="0">
                <a:solidFill>
                  <a:schemeClr val="folHlink"/>
                </a:solidFill>
                <a:latin typeface="Arial" pitchFamily="34" charset="0"/>
              </a:rPr>
              <a:t>    </a:t>
            </a:r>
            <a:r>
              <a:rPr lang="en-US" b="1" dirty="0" err="1">
                <a:solidFill>
                  <a:schemeClr val="folHlink"/>
                </a:solidFill>
                <a:latin typeface="Arial" pitchFamily="34" charset="0"/>
              </a:rPr>
              <a:t>int</a:t>
            </a:r>
            <a:r>
              <a:rPr lang="en-US" b="1" dirty="0">
                <a:solidFill>
                  <a:schemeClr val="folHlink"/>
                </a:solidFill>
                <a:latin typeface="Arial" pitchFamily="34" charset="0"/>
              </a:rPr>
              <a:t> row,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Worker(</a:t>
            </a:r>
            <a:r>
              <a:rPr lang="en-US" b="1" dirty="0" err="1">
                <a:solidFill>
                  <a:schemeClr val="folHlink"/>
                </a:solidFill>
                <a:latin typeface="Arial" pitchFamily="34" charset="0"/>
              </a:rPr>
              <a:t>int</a:t>
            </a:r>
            <a:r>
              <a:rPr lang="en-US" b="1" dirty="0">
                <a:solidFill>
                  <a:schemeClr val="folHlink"/>
                </a:solidFill>
                <a:latin typeface="Arial" pitchFamily="34" charset="0"/>
              </a:rPr>
              <a:t> row, </a:t>
            </a:r>
            <a:r>
              <a:rPr lang="en-US" b="1" dirty="0" err="1">
                <a:solidFill>
                  <a:schemeClr val="folHlink"/>
                </a:solidFill>
                <a:latin typeface="Arial" pitchFamily="34" charset="0"/>
              </a:rPr>
              <a:t>int</a:t>
            </a:r>
            <a:r>
              <a:rPr lang="en-US" b="1" dirty="0">
                <a:solidFill>
                  <a:schemeClr val="folHlink"/>
                </a:solidFill>
                <a:latin typeface="Arial" pitchFamily="34" charset="0"/>
              </a:rPr>
              <a:t> </a:t>
            </a:r>
            <a:r>
              <a:rPr lang="en-US" b="1" dirty="0" err="1">
                <a:solidFill>
                  <a:schemeClr val="folHlink"/>
                </a:solidFill>
                <a:latin typeface="Arial" pitchFamily="34" charset="0"/>
              </a:rPr>
              <a:t>col</a:t>
            </a:r>
            <a:r>
              <a:rPr lang="en-US" b="1" dirty="0">
                <a:solidFill>
                  <a:schemeClr val="folHlink"/>
                </a:solidFill>
                <a:latin typeface="Arial" pitchFamily="34" charset="0"/>
              </a:rPr>
              <a:t>) {</a:t>
            </a:r>
          </a:p>
          <a:p>
            <a:pPr algn="l"/>
            <a:r>
              <a:rPr lang="en-US" b="1" dirty="0">
                <a:solidFill>
                  <a:schemeClr val="folHlink"/>
                </a:solidFill>
                <a:latin typeface="Arial" pitchFamily="34" charset="0"/>
              </a:rPr>
              <a:t>      row = row; </a:t>
            </a:r>
            <a:r>
              <a:rPr lang="en-US" b="1" dirty="0" err="1">
                <a:solidFill>
                  <a:schemeClr val="folHlink"/>
                </a:solidFill>
                <a:latin typeface="Arial" pitchFamily="34" charset="0"/>
              </a:rPr>
              <a:t>col</a:t>
            </a:r>
            <a:r>
              <a:rPr lang="en-US" b="1" dirty="0">
                <a:solidFill>
                  <a:schemeClr val="folHlink"/>
                </a:solidFill>
                <a:latin typeface="Arial" pitchFamily="34" charset="0"/>
              </a:rPr>
              <a:t> = </a:t>
            </a:r>
            <a:r>
              <a:rPr lang="en-US" b="1" dirty="0" err="1">
                <a:solidFill>
                  <a:schemeClr val="folHlink"/>
                </a:solidFill>
                <a:latin typeface="Arial" pitchFamily="34" charset="0"/>
              </a:rPr>
              <a:t>col</a:t>
            </a:r>
            <a:r>
              <a:rPr lang="en-US" b="1" dirty="0">
                <a:solidFill>
                  <a:schemeClr val="folHlink"/>
                </a:solidFill>
                <a:latin typeface="Arial" pitchFamily="34" charset="0"/>
              </a:rPr>
              <a:t>;</a:t>
            </a:r>
          </a:p>
          <a:p>
            <a:pPr algn="l"/>
            <a:r>
              <a:rPr lang="en-US" b="1" dirty="0">
                <a:solidFill>
                  <a:schemeClr val="folHlink"/>
                </a:solidFill>
                <a:latin typeface="Arial" pitchFamily="34" charset="0"/>
              </a:rPr>
              <a:t>    }</a:t>
            </a:r>
          </a:p>
          <a:p>
            <a:pPr algn="l"/>
            <a:r>
              <a:rPr lang="en-US" b="1" dirty="0">
                <a:solidFill>
                  <a:schemeClr val="folHlink"/>
                </a:solidFill>
                <a:latin typeface="Arial" pitchFamily="34" charset="0"/>
              </a:rPr>
              <a:t>    public void run() {</a:t>
            </a:r>
          </a:p>
          <a:p>
            <a:pPr algn="l"/>
            <a:r>
              <a:rPr lang="en-US" b="1" dirty="0">
                <a:solidFill>
                  <a:schemeClr val="folHlink"/>
                </a:solidFill>
                <a:latin typeface="Arial" pitchFamily="34" charset="0"/>
              </a:rPr>
              <a:t>      double </a:t>
            </a:r>
            <a:r>
              <a:rPr lang="en-US" b="1" dirty="0" err="1">
                <a:solidFill>
                  <a:schemeClr val="folHlink"/>
                </a:solidFill>
                <a:latin typeface="Arial" pitchFamily="34" charset="0"/>
              </a:rPr>
              <a:t>dotProduct</a:t>
            </a:r>
            <a:r>
              <a:rPr lang="en-US" b="1" dirty="0">
                <a:solidFill>
                  <a:schemeClr val="folHlink"/>
                </a:solidFill>
                <a:latin typeface="Arial" pitchFamily="34" charset="0"/>
              </a:rPr>
              <a:t> = 0.0;</a:t>
            </a:r>
          </a:p>
          <a:p>
            <a:pPr algn="l"/>
            <a:r>
              <a:rPr lang="en-US" b="1" dirty="0">
                <a:solidFill>
                  <a:schemeClr val="folHlink"/>
                </a:solidFill>
                <a:latin typeface="Arial" pitchFamily="34" charset="0"/>
              </a:rPr>
              <a:t>      for (</a:t>
            </a:r>
            <a:r>
              <a:rPr lang="en-US" b="1" dirty="0" err="1">
                <a:solidFill>
                  <a:schemeClr val="folHlink"/>
                </a:solidFill>
                <a:latin typeface="Arial" pitchFamily="34" charset="0"/>
              </a:rPr>
              <a:t>int</a:t>
            </a:r>
            <a:r>
              <a:rPr lang="en-US" b="1" dirty="0">
                <a:solidFill>
                  <a:schemeClr val="folHlink"/>
                </a:solidFill>
                <a:latin typeface="Arial" pitchFamily="34" charset="0"/>
              </a:rPr>
              <a:t> </a:t>
            </a:r>
            <a:r>
              <a:rPr lang="en-US" b="1" dirty="0" err="1">
                <a:solidFill>
                  <a:schemeClr val="folHlink"/>
                </a:solidFill>
                <a:latin typeface="Arial" pitchFamily="34" charset="0"/>
              </a:rPr>
              <a:t>i</a:t>
            </a:r>
            <a:r>
              <a:rPr lang="en-US" b="1" dirty="0">
                <a:solidFill>
                  <a:schemeClr val="folHlink"/>
                </a:solidFill>
                <a:latin typeface="Arial" pitchFamily="34" charset="0"/>
              </a:rPr>
              <a:t> = 0; </a:t>
            </a:r>
            <a:r>
              <a:rPr lang="en-US" b="1" dirty="0" err="1">
                <a:solidFill>
                  <a:schemeClr val="folHlink"/>
                </a:solidFill>
                <a:latin typeface="Arial" pitchFamily="34" charset="0"/>
              </a:rPr>
              <a:t>i</a:t>
            </a:r>
            <a:r>
              <a:rPr lang="en-US" b="1" dirty="0">
                <a:solidFill>
                  <a:schemeClr val="folHlink"/>
                </a:solidFill>
                <a:latin typeface="Arial" pitchFamily="34" charset="0"/>
              </a:rPr>
              <a:t> &lt; n; </a:t>
            </a:r>
            <a:r>
              <a:rPr lang="en-US" b="1" dirty="0" err="1">
                <a:solidFill>
                  <a:schemeClr val="folHlink"/>
                </a:solidFill>
                <a:latin typeface="Arial" pitchFamily="34" charset="0"/>
              </a:rPr>
              <a:t>i</a:t>
            </a:r>
            <a:r>
              <a:rPr lang="en-US" b="1" dirty="0">
                <a:solidFill>
                  <a:schemeClr val="folHlink"/>
                </a:solidFill>
                <a:latin typeface="Arial" pitchFamily="34" charset="0"/>
              </a:rPr>
              <a:t>++)</a:t>
            </a:r>
          </a:p>
          <a:p>
            <a:pPr algn="l"/>
            <a:r>
              <a:rPr lang="en-US" b="1" dirty="0">
                <a:latin typeface="Arial" pitchFamily="34" charset="0"/>
              </a:rPr>
              <a:t>        </a:t>
            </a:r>
            <a:r>
              <a:rPr lang="en-US" b="1" dirty="0" err="1">
                <a:latin typeface="Arial" pitchFamily="34" charset="0"/>
              </a:rPr>
              <a:t>dotProduct</a:t>
            </a:r>
            <a:r>
              <a:rPr lang="en-US" b="1" dirty="0">
                <a:latin typeface="Arial" pitchFamily="34" charset="0"/>
              </a:rPr>
              <a:t> += a[row][</a:t>
            </a:r>
            <a:r>
              <a:rPr lang="en-US" b="1" dirty="0" err="1">
                <a:latin typeface="Arial" pitchFamily="34" charset="0"/>
              </a:rPr>
              <a:t>i</a:t>
            </a:r>
            <a:r>
              <a:rPr lang="en-US" b="1" dirty="0">
                <a:latin typeface="Arial" pitchFamily="34" charset="0"/>
              </a:rPr>
              <a:t>] * b[</a:t>
            </a:r>
            <a:r>
              <a:rPr lang="en-US" b="1" dirty="0" err="1">
                <a:latin typeface="Arial" pitchFamily="34" charset="0"/>
              </a:rPr>
              <a:t>i</a:t>
            </a:r>
            <a:r>
              <a:rPr lang="en-US" b="1" dirty="0">
                <a:latin typeface="Arial" pitchFamily="34" charset="0"/>
              </a:rPr>
              <a:t>][</a:t>
            </a:r>
            <a:r>
              <a:rPr lang="en-US" b="1" dirty="0" err="1">
                <a:latin typeface="Arial" pitchFamily="34" charset="0"/>
              </a:rPr>
              <a:t>col</a:t>
            </a:r>
            <a:r>
              <a:rPr lang="en-US" b="1" dirty="0">
                <a:latin typeface="Arial" pitchFamily="34" charset="0"/>
              </a:rPr>
              <a:t>];</a:t>
            </a:r>
          </a:p>
          <a:p>
            <a:pPr algn="l"/>
            <a:r>
              <a:rPr lang="en-US" b="1" dirty="0">
                <a:latin typeface="Arial" pitchFamily="34" charset="0"/>
              </a:rPr>
              <a:t>      c[row][</a:t>
            </a:r>
            <a:r>
              <a:rPr lang="en-US" b="1" dirty="0" err="1">
                <a:latin typeface="Arial" pitchFamily="34" charset="0"/>
              </a:rPr>
              <a:t>col</a:t>
            </a:r>
            <a:r>
              <a:rPr lang="en-US" b="1" dirty="0">
                <a:latin typeface="Arial" pitchFamily="34" charset="0"/>
              </a:rPr>
              <a:t>] = </a:t>
            </a:r>
            <a:r>
              <a:rPr lang="en-US" b="1" dirty="0" err="1">
                <a:latin typeface="Arial" pitchFamily="34" charset="0"/>
              </a:rPr>
              <a:t>dotProduct</a:t>
            </a:r>
            <a:r>
              <a:rPr lang="en-US" b="1" dirty="0">
                <a:latin typeface="Arial" pitchFamily="34" charset="0"/>
              </a:rPr>
              <a:t>;</a:t>
            </a:r>
          </a:p>
          <a:p>
            <a:pPr algn="l"/>
            <a:r>
              <a:rPr lang="en-US" b="1" dirty="0">
                <a:latin typeface="Arial" pitchFamily="34" charset="0"/>
              </a:rPr>
              <a:t>    </a:t>
            </a:r>
            <a:r>
              <a:rPr lang="en-US" b="1" dirty="0">
                <a:solidFill>
                  <a:schemeClr val="folHlink"/>
                </a:solidFill>
                <a:latin typeface="Arial" pitchFamily="34" charset="0"/>
              </a:rPr>
              <a:t>}}}</a:t>
            </a:r>
          </a:p>
        </p:txBody>
      </p:sp>
      <p:sp>
        <p:nvSpPr>
          <p:cNvPr id="22534" name="AutoShape 4"/>
          <p:cNvSpPr>
            <a:spLocks noChangeArrowheads="1"/>
          </p:cNvSpPr>
          <p:nvPr/>
        </p:nvSpPr>
        <p:spPr bwMode="auto">
          <a:xfrm>
            <a:off x="1435100" y="4660900"/>
            <a:ext cx="5232400" cy="825500"/>
          </a:xfrm>
          <a:prstGeom prst="wedgeRoundRectCallout">
            <a:avLst>
              <a:gd name="adj1" fmla="val 18750"/>
              <a:gd name="adj2" fmla="val -180384"/>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2535" name="Text Box 5"/>
          <p:cNvSpPr txBox="1">
            <a:spLocks noChangeArrowheads="1"/>
          </p:cNvSpPr>
          <p:nvPr/>
        </p:nvSpPr>
        <p:spPr bwMode="auto">
          <a:xfrm>
            <a:off x="3090863" y="3032125"/>
            <a:ext cx="3736975" cy="519113"/>
          </a:xfrm>
          <a:prstGeom prst="rect">
            <a:avLst/>
          </a:prstGeom>
          <a:solidFill>
            <a:srgbClr val="FFFFCC">
              <a:alpha val="72156"/>
            </a:srgbClr>
          </a:solidFill>
          <a:ln w="38100" algn="ctr">
            <a:noFill/>
            <a:miter lim="800000"/>
            <a:headEnd/>
            <a:tailEnd/>
          </a:ln>
        </p:spPr>
        <p:txBody>
          <a:bodyPr>
            <a:spAutoFit/>
          </a:bodyPr>
          <a:lstStyle/>
          <a:p>
            <a:pPr algn="ctr"/>
            <a:r>
              <a:rPr lang="en-US" sz="2800" b="1" dirty="0">
                <a:solidFill>
                  <a:srgbClr val="FF0000"/>
                </a:solidFill>
                <a:latin typeface="Arial" pitchFamily="34" charset="0"/>
              </a:rPr>
              <a:t>Actual computation</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1"/>
          <p:cNvSpPr>
            <a:spLocks noGrp="1"/>
          </p:cNvSpPr>
          <p:nvPr>
            <p:ph type="ftr" sz="quarter" idx="10"/>
          </p:nvPr>
        </p:nvSpPr>
        <p:spPr>
          <a:noFill/>
        </p:spPr>
        <p:txBody>
          <a:bodyPr/>
          <a:lstStyle/>
          <a:p>
            <a:r>
              <a:rPr lang="en-US"/>
              <a:t>Art of Multiprocessor Programming</a:t>
            </a:r>
          </a:p>
        </p:txBody>
      </p:sp>
      <p:sp>
        <p:nvSpPr>
          <p:cNvPr id="23555" name="Slide Number Placeholder 2"/>
          <p:cNvSpPr>
            <a:spLocks noGrp="1"/>
          </p:cNvSpPr>
          <p:nvPr>
            <p:ph type="sldNum" sz="quarter" idx="11"/>
          </p:nvPr>
        </p:nvSpPr>
        <p:spPr>
          <a:noFill/>
        </p:spPr>
        <p:txBody>
          <a:bodyPr/>
          <a:lstStyle/>
          <a:p>
            <a:fld id="{D3FC8357-C423-4738-9F1D-1616E9E836EA}" type="slidenum">
              <a:rPr lang="x-none" smtClean="0"/>
              <a:pPr/>
              <a:t>10</a:t>
            </a:fld>
            <a:endParaRPr lang="en-US"/>
          </a:p>
        </p:txBody>
      </p:sp>
      <p:sp>
        <p:nvSpPr>
          <p:cNvPr id="23556" name="Rectangle 2"/>
          <p:cNvSpPr>
            <a:spLocks noGrp="1" noChangeArrowheads="1"/>
          </p:cNvSpPr>
          <p:nvPr>
            <p:ph type="title" idx="4294967295"/>
          </p:nvPr>
        </p:nvSpPr>
        <p:spPr/>
        <p:txBody>
          <a:bodyPr/>
          <a:lstStyle/>
          <a:p>
            <a:r>
              <a:rPr lang="en-US"/>
              <a:t>Matrix Multiplication</a:t>
            </a:r>
          </a:p>
        </p:txBody>
      </p:sp>
      <p:sp>
        <p:nvSpPr>
          <p:cNvPr id="23557" name="Rectangle 3"/>
          <p:cNvSpPr>
            <a:spLocks noChangeArrowheads="1"/>
          </p:cNvSpPr>
          <p:nvPr/>
        </p:nvSpPr>
        <p:spPr bwMode="auto">
          <a:xfrm>
            <a:off x="838200" y="1752600"/>
            <a:ext cx="6972300" cy="4473575"/>
          </a:xfrm>
          <a:prstGeom prst="rect">
            <a:avLst/>
          </a:prstGeom>
          <a:solidFill>
            <a:srgbClr val="FFFFCC"/>
          </a:solidFill>
          <a:ln w="9525">
            <a:noFill/>
            <a:miter lim="800000"/>
            <a:headEnd/>
            <a:tailEnd/>
          </a:ln>
        </p:spPr>
        <p:txBody>
          <a:bodyPr>
            <a:spAutoFit/>
          </a:bodyPr>
          <a:lstStyle/>
          <a:p>
            <a:pPr algn="l"/>
            <a:r>
              <a:rPr lang="en-US" b="1">
                <a:latin typeface="Arial" pitchFamily="34" charset="0"/>
              </a:rPr>
              <a:t>  </a:t>
            </a:r>
            <a:r>
              <a:rPr lang="en-US" b="1">
                <a:solidFill>
                  <a:schemeClr val="tx1"/>
                </a:solidFill>
                <a:latin typeface="Arial" pitchFamily="34" charset="0"/>
              </a:rPr>
              <a:t>void</a:t>
            </a:r>
            <a:r>
              <a:rPr lang="en-US" b="1">
                <a:latin typeface="Arial" pitchFamily="34" charset="0"/>
              </a:rPr>
              <a:t> multiply() {</a:t>
            </a:r>
          </a:p>
          <a:p>
            <a:pPr algn="l"/>
            <a:r>
              <a:rPr lang="en-US" b="1">
                <a:latin typeface="Arial" pitchFamily="34" charset="0"/>
              </a:rPr>
              <a:t>    Worker[][] worker = </a:t>
            </a:r>
            <a:r>
              <a:rPr lang="en-US" b="1">
                <a:solidFill>
                  <a:schemeClr val="tx1"/>
                </a:solidFill>
                <a:latin typeface="Arial" pitchFamily="34" charset="0"/>
              </a:rPr>
              <a:t>new</a:t>
            </a:r>
            <a:r>
              <a:rPr lang="en-US" b="1">
                <a:latin typeface="Arial" pitchFamily="34" charset="0"/>
              </a:rPr>
              <a:t> Worker[n][n];</a:t>
            </a:r>
          </a:p>
          <a:p>
            <a:pPr algn="l"/>
            <a:r>
              <a:rPr lang="en-US" b="1">
                <a:solidFill>
                  <a:schemeClr val="tx1"/>
                </a:solidFill>
                <a:latin typeface="Arial" pitchFamily="34" charset="0"/>
              </a:rPr>
              <a:t>    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 = </a:t>
            </a:r>
            <a:r>
              <a:rPr lang="en-US" b="1">
                <a:solidFill>
                  <a:schemeClr val="tx1"/>
                </a:solidFill>
                <a:latin typeface="Arial" pitchFamily="34" charset="0"/>
              </a:rPr>
              <a:t>new</a:t>
            </a:r>
            <a:r>
              <a:rPr lang="en-US" b="1">
                <a:latin typeface="Arial" pitchFamily="34" charset="0"/>
              </a:rPr>
              <a:t> Worker(row,col);</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worker[row][col].start();</a:t>
            </a:r>
          </a:p>
          <a:p>
            <a:pPr algn="l"/>
            <a:r>
              <a:rPr lang="en-US" b="1">
                <a:solidFill>
                  <a:schemeClr val="tx1"/>
                </a:solidFill>
                <a:latin typeface="Arial" pitchFamily="34" charset="0"/>
              </a:rPr>
              <a:t>    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worker[row][col].join();</a:t>
            </a:r>
          </a:p>
          <a:p>
            <a:pPr algn="l"/>
            <a:r>
              <a:rPr lang="en-US" b="1">
                <a:latin typeface="Arial" pitchFamily="34" charset="0"/>
              </a:rPr>
              <a:t>}</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1"/>
          <p:cNvSpPr>
            <a:spLocks noGrp="1"/>
          </p:cNvSpPr>
          <p:nvPr>
            <p:ph type="ftr" sz="quarter" idx="10"/>
          </p:nvPr>
        </p:nvSpPr>
        <p:spPr>
          <a:noFill/>
        </p:spPr>
        <p:txBody>
          <a:bodyPr/>
          <a:lstStyle/>
          <a:p>
            <a:r>
              <a:rPr lang="en-US"/>
              <a:t>Art of Multiprocessor Programming</a:t>
            </a:r>
          </a:p>
        </p:txBody>
      </p:sp>
      <p:sp>
        <p:nvSpPr>
          <p:cNvPr id="24579" name="Slide Number Placeholder 2"/>
          <p:cNvSpPr>
            <a:spLocks noGrp="1"/>
          </p:cNvSpPr>
          <p:nvPr>
            <p:ph type="sldNum" sz="quarter" idx="11"/>
          </p:nvPr>
        </p:nvSpPr>
        <p:spPr>
          <a:noFill/>
        </p:spPr>
        <p:txBody>
          <a:bodyPr/>
          <a:lstStyle/>
          <a:p>
            <a:fld id="{A54E9077-8694-4852-9EDD-D8E854E2BFCD}" type="slidenum">
              <a:rPr lang="x-none" smtClean="0"/>
              <a:pPr/>
              <a:t>11</a:t>
            </a:fld>
            <a:endParaRPr lang="en-US"/>
          </a:p>
        </p:txBody>
      </p:sp>
      <p:sp>
        <p:nvSpPr>
          <p:cNvPr id="24580" name="Rectangle 2"/>
          <p:cNvSpPr>
            <a:spLocks noGrp="1" noChangeArrowheads="1"/>
          </p:cNvSpPr>
          <p:nvPr>
            <p:ph type="title" idx="4294967295"/>
          </p:nvPr>
        </p:nvSpPr>
        <p:spPr/>
        <p:txBody>
          <a:bodyPr/>
          <a:lstStyle/>
          <a:p>
            <a:r>
              <a:rPr lang="en-US"/>
              <a:t>Matrix Multiplication</a:t>
            </a:r>
          </a:p>
        </p:txBody>
      </p:sp>
      <p:sp>
        <p:nvSpPr>
          <p:cNvPr id="24581" name="Rectangle 3"/>
          <p:cNvSpPr>
            <a:spLocks noChangeArrowheads="1"/>
          </p:cNvSpPr>
          <p:nvPr/>
        </p:nvSpPr>
        <p:spPr bwMode="auto">
          <a:xfrm>
            <a:off x="838200" y="1752600"/>
            <a:ext cx="6972300" cy="4473575"/>
          </a:xfrm>
          <a:prstGeom prst="rect">
            <a:avLst/>
          </a:prstGeom>
          <a:solidFill>
            <a:srgbClr val="FFFFCC"/>
          </a:solidFill>
          <a:ln w="9525">
            <a:noFill/>
            <a:miter lim="800000"/>
            <a:headEnd/>
            <a:tailEnd/>
          </a:ln>
        </p:spPr>
        <p:txBody>
          <a:bodyPr>
            <a:spAutoFit/>
          </a:bodyPr>
          <a:lstStyle/>
          <a:p>
            <a:pPr algn="l"/>
            <a:r>
              <a:rPr lang="en-US" b="1">
                <a:latin typeface="Arial" pitchFamily="34" charset="0"/>
              </a:rPr>
              <a:t>  </a:t>
            </a:r>
            <a:r>
              <a:rPr lang="en-US" b="1">
                <a:solidFill>
                  <a:schemeClr val="folHlink"/>
                </a:solidFill>
                <a:latin typeface="Arial" pitchFamily="34" charset="0"/>
              </a:rPr>
              <a:t>void multiply() {</a:t>
            </a:r>
          </a:p>
          <a:p>
            <a:pPr algn="l"/>
            <a:r>
              <a:rPr lang="en-US" b="1">
                <a:solidFill>
                  <a:schemeClr val="folHlink"/>
                </a:solidFill>
                <a:latin typeface="Arial" pitchFamily="34" charset="0"/>
              </a:rPr>
              <a:t>    Worker[][] worker = new Worker[n][n];</a:t>
            </a:r>
          </a:p>
          <a:p>
            <a:pPr algn="l"/>
            <a:r>
              <a:rPr lang="en-US" b="1">
                <a:solidFill>
                  <a:schemeClr val="tx1"/>
                </a:solidFill>
                <a:latin typeface="Arial" pitchFamily="34" charset="0"/>
              </a:rPr>
              <a:t>    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 = </a:t>
            </a:r>
            <a:r>
              <a:rPr lang="en-US" b="1">
                <a:solidFill>
                  <a:schemeClr val="tx1"/>
                </a:solidFill>
                <a:latin typeface="Arial" pitchFamily="34" charset="0"/>
              </a:rPr>
              <a:t>new</a:t>
            </a:r>
            <a:r>
              <a:rPr lang="en-US" b="1">
                <a:latin typeface="Arial" pitchFamily="34" charset="0"/>
              </a:rPr>
              <a:t> Worker(row,col);</a:t>
            </a:r>
          </a:p>
          <a:p>
            <a:pPr algn="l"/>
            <a:r>
              <a:rPr lang="en-US" b="1">
                <a:latin typeface="Arial" pitchFamily="34" charset="0"/>
              </a:rPr>
              <a:t>    </a:t>
            </a:r>
            <a:r>
              <a:rPr lang="en-US" b="1">
                <a:solidFill>
                  <a:schemeClr val="folHlink"/>
                </a:solidFill>
                <a:latin typeface="Arial" pitchFamily="34" charset="0"/>
              </a:rPr>
              <a:t>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worker[row][col].start();</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worker[row][col].join();</a:t>
            </a:r>
          </a:p>
          <a:p>
            <a:pPr algn="l"/>
            <a:r>
              <a:rPr lang="en-US" b="1">
                <a:solidFill>
                  <a:schemeClr val="folHlink"/>
                </a:solidFill>
                <a:latin typeface="Arial" pitchFamily="34" charset="0"/>
              </a:rPr>
              <a:t>}</a:t>
            </a:r>
          </a:p>
        </p:txBody>
      </p:sp>
      <p:sp>
        <p:nvSpPr>
          <p:cNvPr id="24582" name="AutoShape 4"/>
          <p:cNvSpPr>
            <a:spLocks noChangeArrowheads="1"/>
          </p:cNvSpPr>
          <p:nvPr/>
        </p:nvSpPr>
        <p:spPr bwMode="auto">
          <a:xfrm>
            <a:off x="800100" y="2527300"/>
            <a:ext cx="6718300" cy="1193800"/>
          </a:xfrm>
          <a:prstGeom prst="wedgeRoundRectCallout">
            <a:avLst>
              <a:gd name="adj1" fmla="val 32278"/>
              <a:gd name="adj2" fmla="val 148139"/>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4583" name="Text Box 5"/>
          <p:cNvSpPr txBox="1">
            <a:spLocks noChangeArrowheads="1"/>
          </p:cNvSpPr>
          <p:nvPr/>
        </p:nvSpPr>
        <p:spPr bwMode="auto">
          <a:xfrm>
            <a:off x="4992688" y="4772025"/>
            <a:ext cx="2605087" cy="946150"/>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Create n </a:t>
            </a:r>
            <a:r>
              <a:rPr lang="en-US" sz="2800" b="1" dirty="0">
                <a:solidFill>
                  <a:srgbClr val="FF0000"/>
                </a:solidFill>
                <a:latin typeface="Arial" pitchFamily="34" charset="0"/>
                <a:sym typeface="Math1" pitchFamily="2" charset="2"/>
              </a:rPr>
              <a:t>x n</a:t>
            </a:r>
            <a:r>
              <a:rPr lang="en-US" sz="2800" b="1" dirty="0">
                <a:solidFill>
                  <a:srgbClr val="FF0000"/>
                </a:solidFill>
                <a:latin typeface="Arial" pitchFamily="34" charset="0"/>
              </a:rPr>
              <a:t> threads</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1"/>
          <p:cNvSpPr>
            <a:spLocks noGrp="1"/>
          </p:cNvSpPr>
          <p:nvPr>
            <p:ph type="ftr" sz="quarter" idx="10"/>
          </p:nvPr>
        </p:nvSpPr>
        <p:spPr>
          <a:noFill/>
        </p:spPr>
        <p:txBody>
          <a:bodyPr/>
          <a:lstStyle/>
          <a:p>
            <a:r>
              <a:rPr lang="en-US"/>
              <a:t>Art of Multiprocessor Programming</a:t>
            </a:r>
          </a:p>
        </p:txBody>
      </p:sp>
      <p:sp>
        <p:nvSpPr>
          <p:cNvPr id="25603" name="Slide Number Placeholder 2"/>
          <p:cNvSpPr>
            <a:spLocks noGrp="1"/>
          </p:cNvSpPr>
          <p:nvPr>
            <p:ph type="sldNum" sz="quarter" idx="11"/>
          </p:nvPr>
        </p:nvSpPr>
        <p:spPr>
          <a:noFill/>
        </p:spPr>
        <p:txBody>
          <a:bodyPr/>
          <a:lstStyle/>
          <a:p>
            <a:fld id="{49BAD62A-4B43-43F7-94B3-03E8BE20F22B}" type="slidenum">
              <a:rPr lang="x-none" smtClean="0"/>
              <a:pPr/>
              <a:t>12</a:t>
            </a:fld>
            <a:endParaRPr lang="en-US"/>
          </a:p>
        </p:txBody>
      </p:sp>
      <p:sp>
        <p:nvSpPr>
          <p:cNvPr id="25604" name="Rectangle 2"/>
          <p:cNvSpPr>
            <a:spLocks noGrp="1" noChangeArrowheads="1"/>
          </p:cNvSpPr>
          <p:nvPr>
            <p:ph type="title" idx="4294967295"/>
          </p:nvPr>
        </p:nvSpPr>
        <p:spPr/>
        <p:txBody>
          <a:bodyPr/>
          <a:lstStyle/>
          <a:p>
            <a:r>
              <a:rPr lang="en-US"/>
              <a:t>Matrix Multiplication</a:t>
            </a:r>
          </a:p>
        </p:txBody>
      </p:sp>
      <p:sp>
        <p:nvSpPr>
          <p:cNvPr id="25605" name="Rectangle 3"/>
          <p:cNvSpPr>
            <a:spLocks noChangeArrowheads="1"/>
          </p:cNvSpPr>
          <p:nvPr/>
        </p:nvSpPr>
        <p:spPr bwMode="auto">
          <a:xfrm>
            <a:off x="838200" y="1752600"/>
            <a:ext cx="6972300" cy="4473575"/>
          </a:xfrm>
          <a:prstGeom prst="rect">
            <a:avLst/>
          </a:prstGeom>
          <a:solidFill>
            <a:srgbClr val="FFFFCC"/>
          </a:solidFill>
          <a:ln w="9525">
            <a:noFill/>
            <a:miter lim="800000"/>
            <a:headEnd/>
            <a:tailEnd/>
          </a:ln>
        </p:spPr>
        <p:txBody>
          <a:bodyPr>
            <a:spAutoFit/>
          </a:bodyPr>
          <a:lstStyle/>
          <a:p>
            <a:pPr algn="l"/>
            <a:r>
              <a:rPr lang="en-US" b="1">
                <a:latin typeface="Arial" pitchFamily="34" charset="0"/>
              </a:rPr>
              <a:t>  </a:t>
            </a:r>
            <a:r>
              <a:rPr lang="en-US" b="1">
                <a:solidFill>
                  <a:schemeClr val="folHlink"/>
                </a:solidFill>
                <a:latin typeface="Arial" pitchFamily="34" charset="0"/>
              </a:rPr>
              <a:t>void multiply() {</a:t>
            </a:r>
          </a:p>
          <a:p>
            <a:pPr algn="l"/>
            <a:r>
              <a:rPr lang="en-US" b="1">
                <a:solidFill>
                  <a:schemeClr val="folHlink"/>
                </a:solidFill>
                <a:latin typeface="Arial" pitchFamily="34" charset="0"/>
              </a:rPr>
              <a:t>    Worker[][] worker = new Worker[n][n];</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 = new Worker(row,col);</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worker[row][col].start();</a:t>
            </a:r>
          </a:p>
          <a:p>
            <a:pPr algn="l"/>
            <a:r>
              <a:rPr lang="en-US" b="1">
                <a:solidFill>
                  <a:schemeClr val="tx1"/>
                </a:solidFill>
                <a:latin typeface="Arial" pitchFamily="34" charset="0"/>
              </a:rPr>
              <a:t>    </a:t>
            </a:r>
            <a:r>
              <a:rPr lang="en-US" b="1">
                <a:solidFill>
                  <a:schemeClr val="folHlink"/>
                </a:solidFill>
                <a:latin typeface="Arial" pitchFamily="34" charset="0"/>
              </a:rPr>
              <a:t>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worker[row][col].join();</a:t>
            </a:r>
          </a:p>
          <a:p>
            <a:pPr algn="l"/>
            <a:r>
              <a:rPr lang="en-US" b="1">
                <a:solidFill>
                  <a:schemeClr val="folHlink"/>
                </a:solidFill>
                <a:latin typeface="Arial" pitchFamily="34" charset="0"/>
              </a:rPr>
              <a:t>}</a:t>
            </a:r>
          </a:p>
        </p:txBody>
      </p:sp>
      <p:sp>
        <p:nvSpPr>
          <p:cNvPr id="25606" name="AutoShape 4"/>
          <p:cNvSpPr>
            <a:spLocks noChangeArrowheads="1"/>
          </p:cNvSpPr>
          <p:nvPr/>
        </p:nvSpPr>
        <p:spPr bwMode="auto">
          <a:xfrm>
            <a:off x="1081088" y="3556000"/>
            <a:ext cx="4075112" cy="1193800"/>
          </a:xfrm>
          <a:prstGeom prst="wedgeRoundRectCallout">
            <a:avLst>
              <a:gd name="adj1" fmla="val 57245"/>
              <a:gd name="adj2" fmla="val -102926"/>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5607" name="Text Box 5"/>
          <p:cNvSpPr txBox="1">
            <a:spLocks noChangeArrowheads="1"/>
          </p:cNvSpPr>
          <p:nvPr/>
        </p:nvSpPr>
        <p:spPr bwMode="auto">
          <a:xfrm>
            <a:off x="5334000" y="2546350"/>
            <a:ext cx="2605088"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Start them</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1"/>
          <p:cNvSpPr>
            <a:spLocks noGrp="1"/>
          </p:cNvSpPr>
          <p:nvPr>
            <p:ph type="ftr" sz="quarter" idx="10"/>
          </p:nvPr>
        </p:nvSpPr>
        <p:spPr>
          <a:noFill/>
        </p:spPr>
        <p:txBody>
          <a:bodyPr/>
          <a:lstStyle/>
          <a:p>
            <a:r>
              <a:rPr lang="en-US"/>
              <a:t>Art of Multiprocessor Programming</a:t>
            </a:r>
          </a:p>
        </p:txBody>
      </p:sp>
      <p:sp>
        <p:nvSpPr>
          <p:cNvPr id="26627" name="Slide Number Placeholder 2"/>
          <p:cNvSpPr>
            <a:spLocks noGrp="1"/>
          </p:cNvSpPr>
          <p:nvPr>
            <p:ph type="sldNum" sz="quarter" idx="11"/>
          </p:nvPr>
        </p:nvSpPr>
        <p:spPr>
          <a:noFill/>
        </p:spPr>
        <p:txBody>
          <a:bodyPr/>
          <a:lstStyle/>
          <a:p>
            <a:fld id="{551496D7-F8C4-410E-9D31-437F52FD4AF6}" type="slidenum">
              <a:rPr lang="x-none" smtClean="0"/>
              <a:pPr/>
              <a:t>13</a:t>
            </a:fld>
            <a:endParaRPr lang="en-US"/>
          </a:p>
        </p:txBody>
      </p:sp>
      <p:sp>
        <p:nvSpPr>
          <p:cNvPr id="26628" name="Rectangle 2"/>
          <p:cNvSpPr>
            <a:spLocks noGrp="1" noChangeArrowheads="1"/>
          </p:cNvSpPr>
          <p:nvPr>
            <p:ph type="title" idx="4294967295"/>
          </p:nvPr>
        </p:nvSpPr>
        <p:spPr/>
        <p:txBody>
          <a:bodyPr/>
          <a:lstStyle/>
          <a:p>
            <a:r>
              <a:rPr lang="en-US"/>
              <a:t>Matrix Multiplication</a:t>
            </a:r>
          </a:p>
        </p:txBody>
      </p:sp>
      <p:sp>
        <p:nvSpPr>
          <p:cNvPr id="26629" name="Rectangle 3"/>
          <p:cNvSpPr>
            <a:spLocks noChangeArrowheads="1"/>
          </p:cNvSpPr>
          <p:nvPr/>
        </p:nvSpPr>
        <p:spPr bwMode="auto">
          <a:xfrm>
            <a:off x="838200" y="1752600"/>
            <a:ext cx="6972300" cy="4473575"/>
          </a:xfrm>
          <a:prstGeom prst="rect">
            <a:avLst/>
          </a:prstGeom>
          <a:solidFill>
            <a:srgbClr val="FFFFCC"/>
          </a:solidFill>
          <a:ln w="9525">
            <a:noFill/>
            <a:miter lim="800000"/>
            <a:headEnd/>
            <a:tailEnd/>
          </a:ln>
        </p:spPr>
        <p:txBody>
          <a:bodyPr>
            <a:spAutoFit/>
          </a:bodyPr>
          <a:lstStyle/>
          <a:p>
            <a:pPr algn="l"/>
            <a:r>
              <a:rPr lang="en-US" b="1">
                <a:latin typeface="Arial" pitchFamily="34" charset="0"/>
              </a:rPr>
              <a:t>  </a:t>
            </a:r>
            <a:r>
              <a:rPr lang="en-US" b="1">
                <a:solidFill>
                  <a:schemeClr val="folHlink"/>
                </a:solidFill>
                <a:latin typeface="Arial" pitchFamily="34" charset="0"/>
              </a:rPr>
              <a:t>void multiply() {</a:t>
            </a:r>
          </a:p>
          <a:p>
            <a:pPr algn="l"/>
            <a:r>
              <a:rPr lang="en-US" b="1">
                <a:solidFill>
                  <a:schemeClr val="folHlink"/>
                </a:solidFill>
                <a:latin typeface="Arial" pitchFamily="34" charset="0"/>
              </a:rPr>
              <a:t>    Worker[][] worker = new Worker[n][n];</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 = new Worker(row,col);</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worker[row][col].start();</a:t>
            </a:r>
          </a:p>
          <a:p>
            <a:pPr algn="l"/>
            <a:r>
              <a:rPr lang="en-US" b="1">
                <a:solidFill>
                  <a:schemeClr val="tx1"/>
                </a:solidFill>
                <a:latin typeface="Arial" pitchFamily="34" charset="0"/>
              </a:rPr>
              <a:t>    for</a:t>
            </a:r>
            <a:r>
              <a:rPr lang="en-US" b="1">
                <a:latin typeface="Arial" pitchFamily="34" charset="0"/>
              </a:rPr>
              <a:t> (</a:t>
            </a:r>
            <a:r>
              <a:rPr lang="en-US" b="1">
                <a:solidFill>
                  <a:schemeClr val="tx1"/>
                </a:solidFill>
                <a:latin typeface="Arial" pitchFamily="34" charset="0"/>
              </a:rPr>
              <a:t>int</a:t>
            </a:r>
            <a:r>
              <a:rPr lang="en-US" b="1">
                <a:latin typeface="Arial" pitchFamily="34" charset="0"/>
              </a:rPr>
              <a:t> row …)</a:t>
            </a:r>
          </a:p>
          <a:p>
            <a:pPr algn="l"/>
            <a:r>
              <a:rPr lang="en-US" b="1">
                <a:latin typeface="Arial" pitchFamily="34" charset="0"/>
              </a:rPr>
              <a:t>      </a:t>
            </a:r>
            <a:r>
              <a:rPr lang="en-US" b="1">
                <a:solidFill>
                  <a:schemeClr val="tx1"/>
                </a:solidFill>
                <a:latin typeface="Arial" pitchFamily="34" charset="0"/>
              </a:rPr>
              <a:t>for</a:t>
            </a:r>
            <a:r>
              <a:rPr lang="en-US" b="1">
                <a:latin typeface="Arial" pitchFamily="34" charset="0"/>
              </a:rPr>
              <a:t> (</a:t>
            </a:r>
            <a:r>
              <a:rPr lang="en-US" b="1">
                <a:solidFill>
                  <a:schemeClr val="tx1"/>
                </a:solidFill>
                <a:latin typeface="Arial" pitchFamily="34" charset="0"/>
              </a:rPr>
              <a:t>int</a:t>
            </a:r>
            <a:r>
              <a:rPr lang="en-US" b="1">
                <a:latin typeface="Arial" pitchFamily="34" charset="0"/>
              </a:rPr>
              <a:t> col …)</a:t>
            </a:r>
          </a:p>
          <a:p>
            <a:pPr algn="l"/>
            <a:r>
              <a:rPr lang="en-US" b="1">
                <a:latin typeface="Arial" pitchFamily="34" charset="0"/>
              </a:rPr>
              <a:t>        worker[row][col].join();</a:t>
            </a:r>
          </a:p>
          <a:p>
            <a:pPr algn="l"/>
            <a:r>
              <a:rPr lang="en-US" b="1">
                <a:solidFill>
                  <a:schemeClr val="folHlink"/>
                </a:solidFill>
                <a:latin typeface="Arial" pitchFamily="34" charset="0"/>
              </a:rPr>
              <a:t>}</a:t>
            </a:r>
          </a:p>
        </p:txBody>
      </p:sp>
      <p:sp>
        <p:nvSpPr>
          <p:cNvPr id="26630" name="AutoShape 4"/>
          <p:cNvSpPr>
            <a:spLocks noChangeArrowheads="1"/>
          </p:cNvSpPr>
          <p:nvPr/>
        </p:nvSpPr>
        <p:spPr bwMode="auto">
          <a:xfrm>
            <a:off x="1123950" y="4724400"/>
            <a:ext cx="4133850" cy="1117600"/>
          </a:xfrm>
          <a:prstGeom prst="wedgeRoundRectCallout">
            <a:avLst>
              <a:gd name="adj1" fmla="val 69125"/>
              <a:gd name="adj2" fmla="val 2556"/>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26631" name="Text Box 5"/>
          <p:cNvSpPr txBox="1">
            <a:spLocks noChangeArrowheads="1"/>
          </p:cNvSpPr>
          <p:nvPr/>
        </p:nvSpPr>
        <p:spPr bwMode="auto">
          <a:xfrm>
            <a:off x="5884863" y="4741863"/>
            <a:ext cx="2071687" cy="1373187"/>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Wait for them to finish</a:t>
            </a:r>
          </a:p>
        </p:txBody>
      </p:sp>
      <p:sp>
        <p:nvSpPr>
          <p:cNvPr id="26632" name="Text Box 7"/>
          <p:cNvSpPr txBox="1">
            <a:spLocks noChangeArrowheads="1"/>
          </p:cNvSpPr>
          <p:nvPr/>
        </p:nvSpPr>
        <p:spPr bwMode="auto">
          <a:xfrm>
            <a:off x="5335588" y="2587625"/>
            <a:ext cx="2605087"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Start them</a:t>
            </a:r>
          </a:p>
        </p:txBody>
      </p:sp>
      <p:sp>
        <p:nvSpPr>
          <p:cNvPr id="26633" name="AutoShape 4"/>
          <p:cNvSpPr>
            <a:spLocks noChangeArrowheads="1"/>
          </p:cNvSpPr>
          <p:nvPr/>
        </p:nvSpPr>
        <p:spPr bwMode="auto">
          <a:xfrm>
            <a:off x="1081088" y="3556000"/>
            <a:ext cx="4075112" cy="1193800"/>
          </a:xfrm>
          <a:prstGeom prst="wedgeRoundRectCallout">
            <a:avLst>
              <a:gd name="adj1" fmla="val 57245"/>
              <a:gd name="adj2" fmla="val -102926"/>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1"/>
          <p:cNvSpPr>
            <a:spLocks noGrp="1"/>
          </p:cNvSpPr>
          <p:nvPr>
            <p:ph type="ftr" sz="quarter" idx="10"/>
          </p:nvPr>
        </p:nvSpPr>
        <p:spPr>
          <a:noFill/>
        </p:spPr>
        <p:txBody>
          <a:bodyPr/>
          <a:lstStyle/>
          <a:p>
            <a:r>
              <a:rPr lang="en-US"/>
              <a:t>Art of Multiprocessor Programming</a:t>
            </a:r>
          </a:p>
        </p:txBody>
      </p:sp>
      <p:sp>
        <p:nvSpPr>
          <p:cNvPr id="27651" name="Slide Number Placeholder 2"/>
          <p:cNvSpPr>
            <a:spLocks noGrp="1"/>
          </p:cNvSpPr>
          <p:nvPr>
            <p:ph type="sldNum" sz="quarter" idx="11"/>
          </p:nvPr>
        </p:nvSpPr>
        <p:spPr>
          <a:noFill/>
        </p:spPr>
        <p:txBody>
          <a:bodyPr/>
          <a:lstStyle/>
          <a:p>
            <a:fld id="{2353DBA4-8894-4492-9F29-CAA76F26F352}" type="slidenum">
              <a:rPr lang="x-none" smtClean="0"/>
              <a:pPr/>
              <a:t>14</a:t>
            </a:fld>
            <a:endParaRPr lang="en-US"/>
          </a:p>
        </p:txBody>
      </p:sp>
      <p:sp>
        <p:nvSpPr>
          <p:cNvPr id="27652" name="Rectangle 2"/>
          <p:cNvSpPr>
            <a:spLocks noGrp="1" noChangeArrowheads="1"/>
          </p:cNvSpPr>
          <p:nvPr>
            <p:ph type="title" idx="4294967295"/>
          </p:nvPr>
        </p:nvSpPr>
        <p:spPr/>
        <p:txBody>
          <a:bodyPr/>
          <a:lstStyle/>
          <a:p>
            <a:r>
              <a:rPr lang="en-US"/>
              <a:t>Matrix Multiplication</a:t>
            </a:r>
          </a:p>
        </p:txBody>
      </p:sp>
      <p:sp>
        <p:nvSpPr>
          <p:cNvPr id="27653" name="Rectangle 3"/>
          <p:cNvSpPr>
            <a:spLocks noChangeArrowheads="1"/>
          </p:cNvSpPr>
          <p:nvPr/>
        </p:nvSpPr>
        <p:spPr bwMode="auto">
          <a:xfrm>
            <a:off x="838200" y="1752600"/>
            <a:ext cx="6972300" cy="4473575"/>
          </a:xfrm>
          <a:prstGeom prst="rect">
            <a:avLst/>
          </a:prstGeom>
          <a:solidFill>
            <a:srgbClr val="FFFFCC"/>
          </a:solidFill>
          <a:ln w="9525">
            <a:noFill/>
            <a:miter lim="800000"/>
            <a:headEnd/>
            <a:tailEnd/>
          </a:ln>
        </p:spPr>
        <p:txBody>
          <a:bodyPr>
            <a:spAutoFit/>
          </a:bodyPr>
          <a:lstStyle/>
          <a:p>
            <a:pPr algn="l"/>
            <a:r>
              <a:rPr lang="en-US" b="1">
                <a:solidFill>
                  <a:schemeClr val="folHlink"/>
                </a:solidFill>
                <a:latin typeface="Arial" pitchFamily="34" charset="0"/>
              </a:rPr>
              <a:t>  void multiply() {</a:t>
            </a:r>
          </a:p>
          <a:p>
            <a:pPr algn="l"/>
            <a:r>
              <a:rPr lang="en-US" b="1">
                <a:solidFill>
                  <a:schemeClr val="folHlink"/>
                </a:solidFill>
                <a:latin typeface="Arial" pitchFamily="34" charset="0"/>
              </a:rPr>
              <a:t>    Worker[][] worker = new Worker[n][n];</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 = new Worker(row,col);</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worker[row][col].start();</a:t>
            </a:r>
          </a:p>
          <a:p>
            <a:pPr algn="l"/>
            <a:r>
              <a:rPr lang="en-US" b="1">
                <a:solidFill>
                  <a:schemeClr val="folHlink"/>
                </a:solidFill>
                <a:latin typeface="Arial" pitchFamily="34" charset="0"/>
              </a:rPr>
              <a:t>    for (int row …)</a:t>
            </a:r>
          </a:p>
          <a:p>
            <a:pPr algn="l"/>
            <a:r>
              <a:rPr lang="en-US" b="1">
                <a:solidFill>
                  <a:schemeClr val="folHlink"/>
                </a:solidFill>
                <a:latin typeface="Arial" pitchFamily="34" charset="0"/>
              </a:rPr>
              <a:t>      for (int col …)</a:t>
            </a:r>
          </a:p>
          <a:p>
            <a:pPr algn="l"/>
            <a:r>
              <a:rPr lang="en-US" b="1">
                <a:solidFill>
                  <a:schemeClr val="folHlink"/>
                </a:solidFill>
                <a:latin typeface="Arial" pitchFamily="34" charset="0"/>
              </a:rPr>
              <a:t>        worker[row][col].join();</a:t>
            </a:r>
          </a:p>
          <a:p>
            <a:pPr algn="l"/>
            <a:r>
              <a:rPr lang="en-US" b="1">
                <a:solidFill>
                  <a:schemeClr val="folHlink"/>
                </a:solidFill>
                <a:latin typeface="Arial" pitchFamily="34" charset="0"/>
              </a:rPr>
              <a:t>}</a:t>
            </a:r>
          </a:p>
        </p:txBody>
      </p:sp>
      <p:sp>
        <p:nvSpPr>
          <p:cNvPr id="27654" name="AutoShape 4"/>
          <p:cNvSpPr>
            <a:spLocks noChangeArrowheads="1"/>
          </p:cNvSpPr>
          <p:nvPr/>
        </p:nvSpPr>
        <p:spPr bwMode="auto">
          <a:xfrm>
            <a:off x="1123950" y="4724400"/>
            <a:ext cx="4133850" cy="1117600"/>
          </a:xfrm>
          <a:prstGeom prst="wedgeRoundRectCallout">
            <a:avLst>
              <a:gd name="adj1" fmla="val 69125"/>
              <a:gd name="adj2" fmla="val 2556"/>
              <a:gd name="adj3" fmla="val 16667"/>
            </a:avLst>
          </a:prstGeom>
          <a:noFill/>
          <a:ln w="38100" algn="ctr">
            <a:solidFill>
              <a:schemeClr val="bg2"/>
            </a:solidFill>
            <a:miter lim="800000"/>
            <a:headEnd/>
            <a:tailEnd/>
          </a:ln>
        </p:spPr>
        <p:txBody>
          <a:bodyPr anchor="ctr"/>
          <a:lstStyle/>
          <a:p>
            <a:pPr algn="ctr"/>
            <a:endParaRPr lang="en-US" sz="4000" dirty="0">
              <a:solidFill>
                <a:schemeClr val="bg2"/>
              </a:solidFill>
              <a:latin typeface="Arial" pitchFamily="34" charset="0"/>
            </a:endParaRPr>
          </a:p>
        </p:txBody>
      </p:sp>
      <p:sp>
        <p:nvSpPr>
          <p:cNvPr id="27655" name="Text Box 5"/>
          <p:cNvSpPr txBox="1">
            <a:spLocks noChangeArrowheads="1"/>
          </p:cNvSpPr>
          <p:nvPr/>
        </p:nvSpPr>
        <p:spPr bwMode="auto">
          <a:xfrm>
            <a:off x="5884863" y="4741863"/>
            <a:ext cx="2071687" cy="1373187"/>
          </a:xfrm>
          <a:prstGeom prst="rect">
            <a:avLst/>
          </a:prstGeom>
          <a:noFill/>
          <a:ln w="38100" algn="ctr">
            <a:noFill/>
            <a:miter lim="800000"/>
            <a:headEnd/>
            <a:tailEnd/>
          </a:ln>
        </p:spPr>
        <p:txBody>
          <a:bodyPr>
            <a:spAutoFit/>
          </a:bodyPr>
          <a:lstStyle/>
          <a:p>
            <a:pPr algn="ctr"/>
            <a:r>
              <a:rPr lang="en-US" sz="2800" b="1" dirty="0">
                <a:solidFill>
                  <a:schemeClr val="bg2"/>
                </a:solidFill>
                <a:latin typeface="Arial" pitchFamily="34" charset="0"/>
              </a:rPr>
              <a:t>Wait for them to finish</a:t>
            </a:r>
          </a:p>
        </p:txBody>
      </p:sp>
      <p:sp>
        <p:nvSpPr>
          <p:cNvPr id="27656" name="Text Box 7"/>
          <p:cNvSpPr txBox="1">
            <a:spLocks noChangeArrowheads="1"/>
          </p:cNvSpPr>
          <p:nvPr/>
        </p:nvSpPr>
        <p:spPr bwMode="auto">
          <a:xfrm>
            <a:off x="5335588" y="2587625"/>
            <a:ext cx="2605087" cy="519113"/>
          </a:xfrm>
          <a:prstGeom prst="rect">
            <a:avLst/>
          </a:prstGeom>
          <a:noFill/>
          <a:ln w="38100" algn="ctr">
            <a:noFill/>
            <a:miter lim="800000"/>
            <a:headEnd/>
            <a:tailEnd/>
          </a:ln>
        </p:spPr>
        <p:txBody>
          <a:bodyPr>
            <a:spAutoFit/>
          </a:bodyPr>
          <a:lstStyle/>
          <a:p>
            <a:pPr algn="ctr"/>
            <a:r>
              <a:rPr lang="en-US" sz="2800" b="1" dirty="0">
                <a:solidFill>
                  <a:schemeClr val="bg2"/>
                </a:solidFill>
                <a:latin typeface="Arial" pitchFamily="34" charset="0"/>
              </a:rPr>
              <a:t>Start them</a:t>
            </a:r>
          </a:p>
        </p:txBody>
      </p:sp>
      <p:sp>
        <p:nvSpPr>
          <p:cNvPr id="27657" name="AutoShape 4"/>
          <p:cNvSpPr>
            <a:spLocks noChangeArrowheads="1"/>
          </p:cNvSpPr>
          <p:nvPr/>
        </p:nvSpPr>
        <p:spPr bwMode="auto">
          <a:xfrm>
            <a:off x="1081088" y="3556000"/>
            <a:ext cx="4075112" cy="1193800"/>
          </a:xfrm>
          <a:prstGeom prst="wedgeRoundRectCallout">
            <a:avLst>
              <a:gd name="adj1" fmla="val 57245"/>
              <a:gd name="adj2" fmla="val -102926"/>
              <a:gd name="adj3" fmla="val 16667"/>
            </a:avLst>
          </a:prstGeom>
          <a:noFill/>
          <a:ln w="38100" algn="ctr">
            <a:solidFill>
              <a:schemeClr val="bg2"/>
            </a:solidFill>
            <a:miter lim="800000"/>
            <a:headEnd/>
            <a:tailEnd/>
          </a:ln>
        </p:spPr>
        <p:txBody>
          <a:bodyPr anchor="ctr"/>
          <a:lstStyle/>
          <a:p>
            <a:pPr algn="ctr"/>
            <a:endParaRPr lang="en-US" sz="4000" dirty="0">
              <a:solidFill>
                <a:schemeClr val="bg2"/>
              </a:solidFill>
              <a:latin typeface="Arial" pitchFamily="34" charset="0"/>
            </a:endParaRPr>
          </a:p>
        </p:txBody>
      </p:sp>
      <p:sp>
        <p:nvSpPr>
          <p:cNvPr id="27658" name="Text Box 11"/>
          <p:cNvSpPr txBox="1">
            <a:spLocks noChangeArrowheads="1"/>
          </p:cNvSpPr>
          <p:nvPr/>
        </p:nvSpPr>
        <p:spPr bwMode="auto">
          <a:xfrm>
            <a:off x="1968500" y="4051300"/>
            <a:ext cx="3810000" cy="860425"/>
          </a:xfrm>
          <a:prstGeom prst="rect">
            <a:avLst/>
          </a:prstGeom>
          <a:solidFill>
            <a:schemeClr val="bg1">
              <a:alpha val="79999"/>
            </a:schemeClr>
          </a:solidFill>
          <a:ln w="38100" algn="ctr">
            <a:solidFill>
              <a:srgbClr val="FF0000"/>
            </a:solidFill>
            <a:miter lim="800000"/>
            <a:headEnd/>
            <a:tailEnd/>
          </a:ln>
        </p:spPr>
        <p:txBody>
          <a:bodyPr>
            <a:spAutoFit/>
          </a:bodyPr>
          <a:lstStyle/>
          <a:p>
            <a:pPr marL="342900" indent="-342900" algn="ctr">
              <a:spcBef>
                <a:spcPct val="50000"/>
              </a:spcBef>
            </a:pPr>
            <a:r>
              <a:rPr lang="en-US" b="1" dirty="0">
                <a:solidFill>
                  <a:srgbClr val="FF0000"/>
                </a:solidFill>
                <a:latin typeface="Arial" pitchFamily="34" charset="0"/>
              </a:rPr>
              <a:t>What’s wrong with this picture?</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1"/>
          <p:cNvSpPr>
            <a:spLocks noGrp="1"/>
          </p:cNvSpPr>
          <p:nvPr>
            <p:ph type="ftr" sz="quarter" idx="10"/>
          </p:nvPr>
        </p:nvSpPr>
        <p:spPr>
          <a:noFill/>
        </p:spPr>
        <p:txBody>
          <a:bodyPr/>
          <a:lstStyle/>
          <a:p>
            <a:r>
              <a:rPr lang="en-US"/>
              <a:t>Art of Multiprocessor Programming</a:t>
            </a:r>
          </a:p>
        </p:txBody>
      </p:sp>
      <p:sp>
        <p:nvSpPr>
          <p:cNvPr id="28675" name="Slide Number Placeholder 2"/>
          <p:cNvSpPr>
            <a:spLocks noGrp="1"/>
          </p:cNvSpPr>
          <p:nvPr>
            <p:ph type="sldNum" sz="quarter" idx="11"/>
          </p:nvPr>
        </p:nvSpPr>
        <p:spPr>
          <a:noFill/>
        </p:spPr>
        <p:txBody>
          <a:bodyPr/>
          <a:lstStyle/>
          <a:p>
            <a:fld id="{2295FEF5-BD91-4427-AADC-73391D9003C5}" type="slidenum">
              <a:rPr lang="x-none" smtClean="0"/>
              <a:pPr/>
              <a:t>15</a:t>
            </a:fld>
            <a:endParaRPr lang="en-US"/>
          </a:p>
        </p:txBody>
      </p:sp>
      <p:sp>
        <p:nvSpPr>
          <p:cNvPr id="28676" name="Rectangle 2"/>
          <p:cNvSpPr>
            <a:spLocks noGrp="1" noChangeArrowheads="1"/>
          </p:cNvSpPr>
          <p:nvPr>
            <p:ph type="title" idx="4294967295"/>
          </p:nvPr>
        </p:nvSpPr>
        <p:spPr/>
        <p:txBody>
          <a:bodyPr/>
          <a:lstStyle/>
          <a:p>
            <a:r>
              <a:rPr lang="en-US"/>
              <a:t>Thread Overhead</a:t>
            </a:r>
          </a:p>
        </p:txBody>
      </p:sp>
      <p:sp>
        <p:nvSpPr>
          <p:cNvPr id="28677" name="Rectangle 3"/>
          <p:cNvSpPr>
            <a:spLocks noGrp="1" noChangeArrowheads="1"/>
          </p:cNvSpPr>
          <p:nvPr>
            <p:ph type="body" idx="4294967295"/>
          </p:nvPr>
        </p:nvSpPr>
        <p:spPr/>
        <p:txBody>
          <a:bodyPr/>
          <a:lstStyle/>
          <a:p>
            <a:r>
              <a:rPr lang="en-US" dirty="0"/>
              <a:t>Threads Require </a:t>
            </a:r>
            <a:r>
              <a:rPr lang="en-US" dirty="0">
                <a:solidFill>
                  <a:schemeClr val="tx1"/>
                </a:solidFill>
              </a:rPr>
              <a:t>resources</a:t>
            </a:r>
          </a:p>
          <a:p>
            <a:pPr lvl="1"/>
            <a:r>
              <a:rPr lang="en-US" dirty="0"/>
              <a:t>Memory for stacks</a:t>
            </a:r>
          </a:p>
          <a:p>
            <a:pPr lvl="1"/>
            <a:r>
              <a:rPr lang="en-US" dirty="0"/>
              <a:t>Setup, teardown</a:t>
            </a:r>
          </a:p>
          <a:p>
            <a:pPr lvl="1"/>
            <a:r>
              <a:rPr lang="en-US" dirty="0"/>
              <a:t>Scheduler overhead</a:t>
            </a:r>
          </a:p>
          <a:p>
            <a:r>
              <a:rPr lang="en-US" dirty="0"/>
              <a:t>Short-lived threads</a:t>
            </a:r>
          </a:p>
          <a:p>
            <a:pPr lvl="1"/>
            <a:r>
              <a:rPr lang="en-US" dirty="0"/>
              <a:t>Ratio of work versus overhead bad</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1"/>
          <p:cNvSpPr>
            <a:spLocks noGrp="1"/>
          </p:cNvSpPr>
          <p:nvPr>
            <p:ph type="ftr" sz="quarter" idx="10"/>
          </p:nvPr>
        </p:nvSpPr>
        <p:spPr>
          <a:noFill/>
        </p:spPr>
        <p:txBody>
          <a:bodyPr/>
          <a:lstStyle/>
          <a:p>
            <a:r>
              <a:rPr lang="en-US"/>
              <a:t>Art of Multiprocessor Programming</a:t>
            </a:r>
          </a:p>
        </p:txBody>
      </p:sp>
      <p:sp>
        <p:nvSpPr>
          <p:cNvPr id="29699" name="Slide Number Placeholder 2"/>
          <p:cNvSpPr>
            <a:spLocks noGrp="1"/>
          </p:cNvSpPr>
          <p:nvPr>
            <p:ph type="sldNum" sz="quarter" idx="11"/>
          </p:nvPr>
        </p:nvSpPr>
        <p:spPr>
          <a:noFill/>
        </p:spPr>
        <p:txBody>
          <a:bodyPr/>
          <a:lstStyle/>
          <a:p>
            <a:fld id="{275798F4-6936-4562-B335-D580BAF163B8}" type="slidenum">
              <a:rPr lang="x-none" smtClean="0"/>
              <a:pPr/>
              <a:t>16</a:t>
            </a:fld>
            <a:endParaRPr lang="en-US"/>
          </a:p>
        </p:txBody>
      </p:sp>
      <p:sp>
        <p:nvSpPr>
          <p:cNvPr id="29700" name="Rectangle 2"/>
          <p:cNvSpPr>
            <a:spLocks noGrp="1" noChangeArrowheads="1"/>
          </p:cNvSpPr>
          <p:nvPr>
            <p:ph type="title" idx="4294967295"/>
          </p:nvPr>
        </p:nvSpPr>
        <p:spPr/>
        <p:txBody>
          <a:bodyPr/>
          <a:lstStyle/>
          <a:p>
            <a:r>
              <a:rPr lang="en-US"/>
              <a:t>Thread Pools</a:t>
            </a:r>
          </a:p>
        </p:txBody>
      </p:sp>
      <p:sp>
        <p:nvSpPr>
          <p:cNvPr id="29701" name="Rectangle 3"/>
          <p:cNvSpPr>
            <a:spLocks noGrp="1" noChangeArrowheads="1"/>
          </p:cNvSpPr>
          <p:nvPr>
            <p:ph type="body" idx="4294967295"/>
          </p:nvPr>
        </p:nvSpPr>
        <p:spPr/>
        <p:txBody>
          <a:bodyPr/>
          <a:lstStyle/>
          <a:p>
            <a:r>
              <a:rPr lang="en-US" dirty="0"/>
              <a:t>More sensible to keep a </a:t>
            </a:r>
            <a:r>
              <a:rPr lang="en-US" dirty="0">
                <a:solidFill>
                  <a:schemeClr val="tx1"/>
                </a:solidFill>
              </a:rPr>
              <a:t>pool </a:t>
            </a:r>
            <a:r>
              <a:rPr lang="en-US" dirty="0"/>
              <a:t>of</a:t>
            </a:r>
          </a:p>
          <a:p>
            <a:pPr lvl="1"/>
            <a:r>
              <a:rPr lang="en-US" dirty="0"/>
              <a:t>long-lived threads</a:t>
            </a:r>
          </a:p>
          <a:p>
            <a:r>
              <a:rPr lang="en-US" dirty="0"/>
              <a:t>Threads assigned short-lived </a:t>
            </a:r>
            <a:r>
              <a:rPr lang="en-US" dirty="0">
                <a:solidFill>
                  <a:schemeClr val="tx1"/>
                </a:solidFill>
              </a:rPr>
              <a:t>tasks</a:t>
            </a:r>
          </a:p>
          <a:p>
            <a:pPr lvl="1"/>
            <a:r>
              <a:rPr lang="en-US" dirty="0"/>
              <a:t>Run the task</a:t>
            </a:r>
          </a:p>
          <a:p>
            <a:pPr lvl="1"/>
            <a:r>
              <a:rPr lang="en-US" dirty="0"/>
              <a:t>Rejoin pool</a:t>
            </a:r>
          </a:p>
          <a:p>
            <a:pPr lvl="1"/>
            <a:r>
              <a:rPr lang="en-US" dirty="0"/>
              <a:t>Wait for next assignment</a:t>
            </a:r>
          </a:p>
          <a:p>
            <a:pPr lvl="1"/>
            <a:endParaRPr lang="en-US" dirty="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1"/>
          <p:cNvSpPr>
            <a:spLocks noGrp="1"/>
          </p:cNvSpPr>
          <p:nvPr>
            <p:ph type="ftr" sz="quarter" idx="10"/>
          </p:nvPr>
        </p:nvSpPr>
        <p:spPr>
          <a:noFill/>
        </p:spPr>
        <p:txBody>
          <a:bodyPr/>
          <a:lstStyle/>
          <a:p>
            <a:r>
              <a:rPr lang="en-US"/>
              <a:t>Art of Multiprocessor Programming</a:t>
            </a:r>
          </a:p>
        </p:txBody>
      </p:sp>
      <p:sp>
        <p:nvSpPr>
          <p:cNvPr id="30723" name="Slide Number Placeholder 2"/>
          <p:cNvSpPr>
            <a:spLocks noGrp="1"/>
          </p:cNvSpPr>
          <p:nvPr>
            <p:ph type="sldNum" sz="quarter" idx="11"/>
          </p:nvPr>
        </p:nvSpPr>
        <p:spPr>
          <a:noFill/>
        </p:spPr>
        <p:txBody>
          <a:bodyPr/>
          <a:lstStyle/>
          <a:p>
            <a:fld id="{045B8ABA-95FC-49B6-B840-1143416ACE7E}" type="slidenum">
              <a:rPr lang="x-none" smtClean="0"/>
              <a:pPr/>
              <a:t>17</a:t>
            </a:fld>
            <a:endParaRPr lang="en-US"/>
          </a:p>
        </p:txBody>
      </p:sp>
      <p:sp>
        <p:nvSpPr>
          <p:cNvPr id="30724" name="Rectangle 2"/>
          <p:cNvSpPr>
            <a:spLocks noGrp="1" noChangeArrowheads="1"/>
          </p:cNvSpPr>
          <p:nvPr>
            <p:ph type="title" idx="4294967295"/>
          </p:nvPr>
        </p:nvSpPr>
        <p:spPr/>
        <p:txBody>
          <a:bodyPr/>
          <a:lstStyle/>
          <a:p>
            <a:r>
              <a:rPr lang="en-US"/>
              <a:t>Thread Pool = Abstraction</a:t>
            </a:r>
          </a:p>
        </p:txBody>
      </p:sp>
      <p:sp>
        <p:nvSpPr>
          <p:cNvPr id="30725" name="Rectangle 3"/>
          <p:cNvSpPr>
            <a:spLocks noGrp="1" noChangeArrowheads="1"/>
          </p:cNvSpPr>
          <p:nvPr>
            <p:ph type="body" idx="4294967295"/>
          </p:nvPr>
        </p:nvSpPr>
        <p:spPr/>
        <p:txBody>
          <a:bodyPr/>
          <a:lstStyle/>
          <a:p>
            <a:r>
              <a:rPr lang="en-US" dirty="0"/>
              <a:t>Insulate programmer from platform</a:t>
            </a:r>
          </a:p>
          <a:p>
            <a:pPr lvl="1"/>
            <a:r>
              <a:rPr lang="en-US" dirty="0"/>
              <a:t>Big machine, big pool</a:t>
            </a:r>
          </a:p>
          <a:p>
            <a:pPr lvl="1"/>
            <a:r>
              <a:rPr lang="en-US" dirty="0"/>
              <a:t>Small machine, small pool</a:t>
            </a:r>
          </a:p>
          <a:p>
            <a:r>
              <a:rPr lang="en-US" dirty="0"/>
              <a:t>Portable code</a:t>
            </a:r>
          </a:p>
          <a:p>
            <a:pPr lvl="1"/>
            <a:r>
              <a:rPr lang="en-US" dirty="0"/>
              <a:t>Works across platforms</a:t>
            </a:r>
          </a:p>
          <a:p>
            <a:pPr lvl="1"/>
            <a:r>
              <a:rPr lang="en-US" dirty="0"/>
              <a:t>Worry about algorithm, not platform</a:t>
            </a:r>
          </a:p>
          <a:p>
            <a:endParaRPr lang="en-US"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1"/>
          <p:cNvSpPr>
            <a:spLocks noGrp="1"/>
          </p:cNvSpPr>
          <p:nvPr>
            <p:ph type="ftr" sz="quarter" idx="10"/>
          </p:nvPr>
        </p:nvSpPr>
        <p:spPr>
          <a:noFill/>
        </p:spPr>
        <p:txBody>
          <a:bodyPr/>
          <a:lstStyle/>
          <a:p>
            <a:r>
              <a:rPr lang="en-US"/>
              <a:t>Art of Multiprocessor Programming</a:t>
            </a:r>
          </a:p>
        </p:txBody>
      </p:sp>
      <p:sp>
        <p:nvSpPr>
          <p:cNvPr id="31747" name="Slide Number Placeholder 2"/>
          <p:cNvSpPr>
            <a:spLocks noGrp="1"/>
          </p:cNvSpPr>
          <p:nvPr>
            <p:ph type="sldNum" sz="quarter" idx="11"/>
          </p:nvPr>
        </p:nvSpPr>
        <p:spPr>
          <a:noFill/>
        </p:spPr>
        <p:txBody>
          <a:bodyPr/>
          <a:lstStyle/>
          <a:p>
            <a:fld id="{A93F46FF-6E0A-4555-8B5B-572F947A90B5}" type="slidenum">
              <a:rPr lang="x-none" smtClean="0"/>
              <a:pPr/>
              <a:t>18</a:t>
            </a:fld>
            <a:endParaRPr lang="en-US"/>
          </a:p>
        </p:txBody>
      </p:sp>
      <p:sp>
        <p:nvSpPr>
          <p:cNvPr id="31748" name="Rectangle 2"/>
          <p:cNvSpPr>
            <a:spLocks noGrp="1" noChangeArrowheads="1"/>
          </p:cNvSpPr>
          <p:nvPr>
            <p:ph type="title" idx="4294967295"/>
          </p:nvPr>
        </p:nvSpPr>
        <p:spPr/>
        <p:txBody>
          <a:bodyPr/>
          <a:lstStyle/>
          <a:p>
            <a:r>
              <a:rPr lang="en-US">
                <a:latin typeface="Arial" pitchFamily="34" charset="0"/>
              </a:rPr>
              <a:t>ExecutorService</a:t>
            </a:r>
            <a:r>
              <a:rPr lang="en-US"/>
              <a:t> Interface</a:t>
            </a:r>
          </a:p>
        </p:txBody>
      </p:sp>
      <p:sp>
        <p:nvSpPr>
          <p:cNvPr id="31749" name="Rectangle 3"/>
          <p:cNvSpPr>
            <a:spLocks noGrp="1" noChangeArrowheads="1"/>
          </p:cNvSpPr>
          <p:nvPr>
            <p:ph type="body" idx="4294967295"/>
          </p:nvPr>
        </p:nvSpPr>
        <p:spPr/>
        <p:txBody>
          <a:bodyPr/>
          <a:lstStyle/>
          <a:p>
            <a:r>
              <a:rPr lang="en-US"/>
              <a:t>In </a:t>
            </a:r>
            <a:r>
              <a:rPr lang="en-US">
                <a:solidFill>
                  <a:schemeClr val="tx1"/>
                </a:solidFill>
                <a:latin typeface="Arial" pitchFamily="34" charset="0"/>
              </a:rPr>
              <a:t>java.util.concurrent</a:t>
            </a:r>
          </a:p>
          <a:p>
            <a:pPr lvl="1"/>
            <a:r>
              <a:rPr lang="en-US"/>
              <a:t>Task = </a:t>
            </a:r>
            <a:r>
              <a:rPr lang="en-US" b="1">
                <a:solidFill>
                  <a:schemeClr val="tx1"/>
                </a:solidFill>
                <a:latin typeface="Arial" pitchFamily="34" charset="0"/>
              </a:rPr>
              <a:t>Runnable</a:t>
            </a:r>
            <a:r>
              <a:rPr lang="en-US"/>
              <a:t> object</a:t>
            </a:r>
          </a:p>
          <a:p>
            <a:pPr lvl="2"/>
            <a:r>
              <a:rPr lang="en-US"/>
              <a:t>If no result value expected</a:t>
            </a:r>
          </a:p>
          <a:p>
            <a:pPr lvl="2"/>
            <a:r>
              <a:rPr lang="en-US"/>
              <a:t>Calls </a:t>
            </a:r>
            <a:r>
              <a:rPr lang="en-US" b="1">
                <a:solidFill>
                  <a:schemeClr val="tx1"/>
                </a:solidFill>
                <a:latin typeface="Arial" pitchFamily="34" charset="0"/>
              </a:rPr>
              <a:t>run()</a:t>
            </a:r>
            <a:r>
              <a:rPr lang="en-US"/>
              <a:t> method.</a:t>
            </a:r>
          </a:p>
          <a:p>
            <a:pPr lvl="1"/>
            <a:r>
              <a:rPr lang="en-US"/>
              <a:t>Task = </a:t>
            </a:r>
            <a:r>
              <a:rPr lang="en-US" b="1">
                <a:solidFill>
                  <a:schemeClr val="tx1"/>
                </a:solidFill>
                <a:latin typeface="Arial" pitchFamily="34" charset="0"/>
              </a:rPr>
              <a:t>Callable&lt;T&gt;</a:t>
            </a:r>
            <a:r>
              <a:rPr lang="en-US"/>
              <a:t> object</a:t>
            </a:r>
          </a:p>
          <a:p>
            <a:pPr lvl="2"/>
            <a:r>
              <a:rPr lang="en-US"/>
              <a:t>If result value of type </a:t>
            </a:r>
            <a:r>
              <a:rPr lang="en-US" b="1">
                <a:solidFill>
                  <a:schemeClr val="tx1"/>
                </a:solidFill>
                <a:latin typeface="Arial" pitchFamily="34" charset="0"/>
              </a:rPr>
              <a:t>T</a:t>
            </a:r>
            <a:r>
              <a:rPr lang="en-US"/>
              <a:t> expected</a:t>
            </a:r>
          </a:p>
          <a:p>
            <a:pPr lvl="2"/>
            <a:r>
              <a:rPr lang="en-US"/>
              <a:t>Calls </a:t>
            </a:r>
            <a:r>
              <a:rPr lang="en-US" b="1">
                <a:solidFill>
                  <a:schemeClr val="tx1"/>
                </a:solidFill>
                <a:latin typeface="Arial" pitchFamily="34" charset="0"/>
              </a:rPr>
              <a:t>T call()</a:t>
            </a:r>
            <a:r>
              <a:rPr lang="en-US"/>
              <a:t> method.</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1"/>
          <p:cNvSpPr>
            <a:spLocks noGrp="1"/>
          </p:cNvSpPr>
          <p:nvPr>
            <p:ph type="ftr" sz="quarter" idx="10"/>
          </p:nvPr>
        </p:nvSpPr>
        <p:spPr>
          <a:noFill/>
        </p:spPr>
        <p:txBody>
          <a:bodyPr/>
          <a:lstStyle/>
          <a:p>
            <a:r>
              <a:rPr lang="en-US"/>
              <a:t>Art of Multiprocessor Programming</a:t>
            </a:r>
          </a:p>
        </p:txBody>
      </p:sp>
      <p:sp>
        <p:nvSpPr>
          <p:cNvPr id="32771" name="Slide Number Placeholder 2"/>
          <p:cNvSpPr>
            <a:spLocks noGrp="1"/>
          </p:cNvSpPr>
          <p:nvPr>
            <p:ph type="sldNum" sz="quarter" idx="11"/>
          </p:nvPr>
        </p:nvSpPr>
        <p:spPr>
          <a:noFill/>
        </p:spPr>
        <p:txBody>
          <a:bodyPr/>
          <a:lstStyle/>
          <a:p>
            <a:fld id="{54C26DED-3BCD-44F5-8551-1B43BE5A10AE}" type="slidenum">
              <a:rPr lang="x-none" smtClean="0"/>
              <a:pPr/>
              <a:t>19</a:t>
            </a:fld>
            <a:endParaRPr lang="en-US"/>
          </a:p>
        </p:txBody>
      </p:sp>
      <p:sp>
        <p:nvSpPr>
          <p:cNvPr id="32772" name="Rectangle 2"/>
          <p:cNvSpPr>
            <a:spLocks noGrp="1" noChangeArrowheads="1"/>
          </p:cNvSpPr>
          <p:nvPr>
            <p:ph type="title" idx="4294967295"/>
          </p:nvPr>
        </p:nvSpPr>
        <p:spPr/>
        <p:txBody>
          <a:bodyPr/>
          <a:lstStyle/>
          <a:p>
            <a:r>
              <a:rPr lang="en-US"/>
              <a:t>Future&lt;T&gt;</a:t>
            </a:r>
          </a:p>
        </p:txBody>
      </p:sp>
      <p:sp>
        <p:nvSpPr>
          <p:cNvPr id="32773"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latin typeface="Arial" pitchFamily="34" charset="0"/>
              </a:rPr>
              <a:t>Callable&lt;T&gt; task = …;</a:t>
            </a:r>
            <a:r>
              <a:rPr lang="en-US" sz="2000" b="1">
                <a:solidFill>
                  <a:srgbClr val="FF0000"/>
                </a:solidFill>
                <a:latin typeface="Arial" pitchFamily="34" charset="0"/>
              </a:rPr>
              <a:t> </a:t>
            </a:r>
          </a:p>
          <a:p>
            <a:pPr algn="l"/>
            <a:r>
              <a:rPr lang="en-US" sz="2000" b="1">
                <a:latin typeface="Arial" pitchFamily="34" charset="0"/>
              </a:rPr>
              <a:t>…</a:t>
            </a:r>
          </a:p>
          <a:p>
            <a:pPr algn="l">
              <a:spcBef>
                <a:spcPct val="20000"/>
              </a:spcBef>
            </a:pPr>
            <a:r>
              <a:rPr lang="en-US" sz="2000" b="1">
                <a:latin typeface="Arial" pitchFamily="34" charset="0"/>
              </a:rPr>
              <a:t>Future&lt;T&gt; future = executor.submit(task);</a:t>
            </a:r>
          </a:p>
          <a:p>
            <a:pPr algn="l">
              <a:spcBef>
                <a:spcPct val="20000"/>
              </a:spcBef>
            </a:pPr>
            <a:r>
              <a:rPr lang="en-US" sz="2000" b="1">
                <a:latin typeface="Arial" pitchFamily="34" charset="0"/>
              </a:rPr>
              <a:t>…</a:t>
            </a:r>
          </a:p>
          <a:p>
            <a:pPr algn="l">
              <a:spcBef>
                <a:spcPct val="20000"/>
              </a:spcBef>
            </a:pPr>
            <a:r>
              <a:rPr lang="en-US" sz="2000" b="1">
                <a:latin typeface="Arial" pitchFamily="34" charset="0"/>
              </a:rPr>
              <a:t>T value = future.get(); </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1"/>
          <p:cNvSpPr>
            <a:spLocks noGrp="1"/>
          </p:cNvSpPr>
          <p:nvPr>
            <p:ph type="ftr" sz="quarter" idx="10"/>
          </p:nvPr>
        </p:nvSpPr>
        <p:spPr>
          <a:noFill/>
        </p:spPr>
        <p:txBody>
          <a:bodyPr/>
          <a:lstStyle/>
          <a:p>
            <a:r>
              <a:rPr lang="en-US"/>
              <a:t>Art of Multiprocessor Programming</a:t>
            </a:r>
          </a:p>
        </p:txBody>
      </p:sp>
      <p:sp>
        <p:nvSpPr>
          <p:cNvPr id="33795" name="Slide Number Placeholder 2"/>
          <p:cNvSpPr>
            <a:spLocks noGrp="1"/>
          </p:cNvSpPr>
          <p:nvPr>
            <p:ph type="sldNum" sz="quarter" idx="11"/>
          </p:nvPr>
        </p:nvSpPr>
        <p:spPr>
          <a:noFill/>
        </p:spPr>
        <p:txBody>
          <a:bodyPr/>
          <a:lstStyle/>
          <a:p>
            <a:fld id="{FD1703A8-F3CA-4DA8-ACA5-379DE88EF9F4}" type="slidenum">
              <a:rPr lang="x-none" smtClean="0"/>
              <a:pPr/>
              <a:t>20</a:t>
            </a:fld>
            <a:endParaRPr lang="en-US"/>
          </a:p>
        </p:txBody>
      </p:sp>
      <p:sp>
        <p:nvSpPr>
          <p:cNvPr id="33796" name="Rectangle 2"/>
          <p:cNvSpPr>
            <a:spLocks noGrp="1" noChangeArrowheads="1"/>
          </p:cNvSpPr>
          <p:nvPr>
            <p:ph type="title" idx="4294967295"/>
          </p:nvPr>
        </p:nvSpPr>
        <p:spPr/>
        <p:txBody>
          <a:bodyPr/>
          <a:lstStyle/>
          <a:p>
            <a:r>
              <a:rPr lang="en-US"/>
              <a:t>Future&lt;T&gt;</a:t>
            </a:r>
          </a:p>
        </p:txBody>
      </p:sp>
      <p:sp>
        <p:nvSpPr>
          <p:cNvPr id="33797"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Callable&lt;T&gt; task = …; </a:t>
            </a:r>
          </a:p>
          <a:p>
            <a:pPr algn="l"/>
            <a:r>
              <a:rPr lang="en-US" sz="2000" b="1">
                <a:solidFill>
                  <a:schemeClr val="folHlink"/>
                </a:solidFill>
                <a:latin typeface="Arial" pitchFamily="34" charset="0"/>
              </a:rPr>
              <a:t>…</a:t>
            </a:r>
          </a:p>
          <a:p>
            <a:pPr algn="l">
              <a:spcBef>
                <a:spcPct val="20000"/>
              </a:spcBef>
            </a:pPr>
            <a:r>
              <a:rPr lang="en-US" sz="2000" b="1">
                <a:latin typeface="Arial" pitchFamily="34" charset="0"/>
              </a:rPr>
              <a:t>Future&lt;T&gt; future = executor.submit(task);</a:t>
            </a:r>
          </a:p>
          <a:p>
            <a:pPr algn="l">
              <a:spcBef>
                <a:spcPct val="20000"/>
              </a:spcBef>
            </a:pPr>
            <a:r>
              <a:rPr lang="en-US" sz="2000" b="1">
                <a:solidFill>
                  <a:schemeClr val="folHlink"/>
                </a:solidFill>
                <a:latin typeface="Arial" pitchFamily="34" charset="0"/>
              </a:rPr>
              <a:t>…</a:t>
            </a:r>
          </a:p>
          <a:p>
            <a:pPr algn="l">
              <a:spcBef>
                <a:spcPct val="20000"/>
              </a:spcBef>
            </a:pPr>
            <a:r>
              <a:rPr lang="en-US" sz="2000" b="1">
                <a:solidFill>
                  <a:schemeClr val="folHlink"/>
                </a:solidFill>
                <a:latin typeface="Arial" pitchFamily="34" charset="0"/>
              </a:rPr>
              <a:t>T value = future.get(); </a:t>
            </a:r>
          </a:p>
        </p:txBody>
      </p:sp>
      <p:sp>
        <p:nvSpPr>
          <p:cNvPr id="33798" name="AutoShape 7"/>
          <p:cNvSpPr>
            <a:spLocks noChangeArrowheads="1"/>
          </p:cNvSpPr>
          <p:nvPr/>
        </p:nvSpPr>
        <p:spPr bwMode="auto">
          <a:xfrm>
            <a:off x="800100" y="2362200"/>
            <a:ext cx="5372100" cy="558800"/>
          </a:xfrm>
          <a:prstGeom prst="wedgeRoundRectCallout">
            <a:avLst>
              <a:gd name="adj1" fmla="val 25472"/>
              <a:gd name="adj2" fmla="val 350569"/>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3799" name="Text Box 8"/>
          <p:cNvSpPr txBox="1">
            <a:spLocks noChangeArrowheads="1"/>
          </p:cNvSpPr>
          <p:nvPr/>
        </p:nvSpPr>
        <p:spPr bwMode="auto">
          <a:xfrm>
            <a:off x="1970088" y="4568825"/>
            <a:ext cx="5716587" cy="946150"/>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Submitting a </a:t>
            </a:r>
            <a:r>
              <a:rPr lang="en-US" sz="2800" b="1" dirty="0">
                <a:solidFill>
                  <a:srgbClr val="FF0000"/>
                </a:solidFill>
                <a:latin typeface="Arial" pitchFamily="34" charset="0"/>
              </a:rPr>
              <a:t>Callable&lt;T&gt;</a:t>
            </a:r>
            <a:r>
              <a:rPr lang="en-US" sz="2800" dirty="0">
                <a:solidFill>
                  <a:srgbClr val="FF0000"/>
                </a:solidFill>
                <a:latin typeface="Arial" pitchFamily="34" charset="0"/>
              </a:rPr>
              <a:t> task returns a </a:t>
            </a:r>
            <a:r>
              <a:rPr lang="en-US" sz="2800" b="1" dirty="0">
                <a:solidFill>
                  <a:srgbClr val="FF0000"/>
                </a:solidFill>
                <a:latin typeface="Arial" pitchFamily="34" charset="0"/>
              </a:rPr>
              <a:t>Future&lt;T&gt;</a:t>
            </a:r>
            <a:r>
              <a:rPr lang="en-US" sz="2800" dirty="0">
                <a:solidFill>
                  <a:srgbClr val="FF0000"/>
                </a:solidFill>
                <a:latin typeface="Arial" pitchFamily="34" charset="0"/>
              </a:rPr>
              <a:t> object </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1"/>
          <p:cNvSpPr>
            <a:spLocks noGrp="1"/>
          </p:cNvSpPr>
          <p:nvPr>
            <p:ph type="ftr" sz="quarter" idx="10"/>
          </p:nvPr>
        </p:nvSpPr>
        <p:spPr>
          <a:noFill/>
        </p:spPr>
        <p:txBody>
          <a:bodyPr/>
          <a:lstStyle/>
          <a:p>
            <a:r>
              <a:rPr lang="en-US"/>
              <a:t>Art of Multiprocessor Programming</a:t>
            </a:r>
          </a:p>
        </p:txBody>
      </p:sp>
      <p:sp>
        <p:nvSpPr>
          <p:cNvPr id="34819" name="Slide Number Placeholder 2"/>
          <p:cNvSpPr>
            <a:spLocks noGrp="1"/>
          </p:cNvSpPr>
          <p:nvPr>
            <p:ph type="sldNum" sz="quarter" idx="11"/>
          </p:nvPr>
        </p:nvSpPr>
        <p:spPr>
          <a:noFill/>
        </p:spPr>
        <p:txBody>
          <a:bodyPr/>
          <a:lstStyle/>
          <a:p>
            <a:fld id="{812DFD24-8467-4896-A274-4B90D0F9632E}" type="slidenum">
              <a:rPr lang="x-none" smtClean="0"/>
              <a:pPr/>
              <a:t>21</a:t>
            </a:fld>
            <a:endParaRPr lang="en-US"/>
          </a:p>
        </p:txBody>
      </p:sp>
      <p:sp>
        <p:nvSpPr>
          <p:cNvPr id="34820" name="Rectangle 2"/>
          <p:cNvSpPr>
            <a:spLocks noGrp="1" noChangeArrowheads="1"/>
          </p:cNvSpPr>
          <p:nvPr>
            <p:ph type="title" idx="4294967295"/>
          </p:nvPr>
        </p:nvSpPr>
        <p:spPr/>
        <p:txBody>
          <a:bodyPr/>
          <a:lstStyle/>
          <a:p>
            <a:r>
              <a:rPr lang="en-US"/>
              <a:t>Future&lt;T&gt;</a:t>
            </a:r>
          </a:p>
        </p:txBody>
      </p:sp>
      <p:sp>
        <p:nvSpPr>
          <p:cNvPr id="34821"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Callable&lt;T&gt; task = …; </a:t>
            </a:r>
          </a:p>
          <a:p>
            <a:pPr algn="l"/>
            <a:r>
              <a:rPr lang="en-US" sz="2000" b="1">
                <a:solidFill>
                  <a:schemeClr val="folHlink"/>
                </a:solidFill>
                <a:latin typeface="Arial" pitchFamily="34" charset="0"/>
              </a:rPr>
              <a:t>…</a:t>
            </a:r>
          </a:p>
          <a:p>
            <a:pPr algn="l">
              <a:spcBef>
                <a:spcPct val="20000"/>
              </a:spcBef>
            </a:pPr>
            <a:r>
              <a:rPr lang="en-US" sz="2000" b="1">
                <a:solidFill>
                  <a:schemeClr val="folHlink"/>
                </a:solidFill>
                <a:latin typeface="Arial" pitchFamily="34" charset="0"/>
              </a:rPr>
              <a:t>Future&lt;T&gt; future = executor.submit(task);</a:t>
            </a:r>
          </a:p>
          <a:p>
            <a:pPr algn="l">
              <a:spcBef>
                <a:spcPct val="20000"/>
              </a:spcBef>
            </a:pPr>
            <a:r>
              <a:rPr lang="en-US" sz="2000" b="1">
                <a:solidFill>
                  <a:schemeClr val="folHlink"/>
                </a:solidFill>
                <a:latin typeface="Arial" pitchFamily="34" charset="0"/>
              </a:rPr>
              <a:t>…</a:t>
            </a:r>
          </a:p>
          <a:p>
            <a:pPr algn="l">
              <a:spcBef>
                <a:spcPct val="20000"/>
              </a:spcBef>
            </a:pPr>
            <a:r>
              <a:rPr lang="en-US" sz="2000" b="1">
                <a:latin typeface="Arial" pitchFamily="34" charset="0"/>
              </a:rPr>
              <a:t>T value = future.get(); </a:t>
            </a:r>
          </a:p>
        </p:txBody>
      </p:sp>
      <p:sp>
        <p:nvSpPr>
          <p:cNvPr id="34822" name="AutoShape 4"/>
          <p:cNvSpPr>
            <a:spLocks noChangeArrowheads="1"/>
          </p:cNvSpPr>
          <p:nvPr/>
        </p:nvSpPr>
        <p:spPr bwMode="auto">
          <a:xfrm>
            <a:off x="850900" y="3136900"/>
            <a:ext cx="2819400" cy="444500"/>
          </a:xfrm>
          <a:prstGeom prst="wedgeRoundRectCallout">
            <a:avLst>
              <a:gd name="adj1" fmla="val 38403"/>
              <a:gd name="adj2" fmla="val 25071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4823" name="Text Box 5"/>
          <p:cNvSpPr txBox="1">
            <a:spLocks noChangeArrowheads="1"/>
          </p:cNvSpPr>
          <p:nvPr/>
        </p:nvSpPr>
        <p:spPr bwMode="auto">
          <a:xfrm>
            <a:off x="1970088" y="4568825"/>
            <a:ext cx="5716587" cy="946150"/>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The Future’s </a:t>
            </a:r>
            <a:r>
              <a:rPr lang="en-US" sz="2800" b="1" dirty="0">
                <a:solidFill>
                  <a:srgbClr val="FF0000"/>
                </a:solidFill>
                <a:latin typeface="Arial" pitchFamily="34" charset="0"/>
              </a:rPr>
              <a:t>get()</a:t>
            </a:r>
            <a:r>
              <a:rPr lang="en-US" sz="2800" dirty="0">
                <a:solidFill>
                  <a:srgbClr val="FF0000"/>
                </a:solidFill>
                <a:latin typeface="Arial" pitchFamily="34" charset="0"/>
              </a:rPr>
              <a:t> method blocks until the value is available</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1"/>
          <p:cNvSpPr>
            <a:spLocks noGrp="1"/>
          </p:cNvSpPr>
          <p:nvPr>
            <p:ph type="ftr" sz="quarter" idx="10"/>
          </p:nvPr>
        </p:nvSpPr>
        <p:spPr>
          <a:noFill/>
        </p:spPr>
        <p:txBody>
          <a:bodyPr/>
          <a:lstStyle/>
          <a:p>
            <a:r>
              <a:rPr lang="en-US"/>
              <a:t>Art of Multiprocessor Programming</a:t>
            </a:r>
          </a:p>
        </p:txBody>
      </p:sp>
      <p:sp>
        <p:nvSpPr>
          <p:cNvPr id="35843" name="Slide Number Placeholder 2"/>
          <p:cNvSpPr>
            <a:spLocks noGrp="1"/>
          </p:cNvSpPr>
          <p:nvPr>
            <p:ph type="sldNum" sz="quarter" idx="11"/>
          </p:nvPr>
        </p:nvSpPr>
        <p:spPr>
          <a:noFill/>
        </p:spPr>
        <p:txBody>
          <a:bodyPr/>
          <a:lstStyle/>
          <a:p>
            <a:fld id="{011D6942-CD10-4517-A6E6-A0699C2A1F22}" type="slidenum">
              <a:rPr lang="x-none" smtClean="0"/>
              <a:pPr/>
              <a:t>22</a:t>
            </a:fld>
            <a:endParaRPr lang="en-US"/>
          </a:p>
        </p:txBody>
      </p:sp>
      <p:sp>
        <p:nvSpPr>
          <p:cNvPr id="35844" name="Rectangle 2"/>
          <p:cNvSpPr>
            <a:spLocks noGrp="1" noChangeArrowheads="1"/>
          </p:cNvSpPr>
          <p:nvPr>
            <p:ph type="title" idx="4294967295"/>
          </p:nvPr>
        </p:nvSpPr>
        <p:spPr/>
        <p:txBody>
          <a:bodyPr/>
          <a:lstStyle/>
          <a:p>
            <a:r>
              <a:rPr lang="en-US"/>
              <a:t>Future&lt;?&gt;</a:t>
            </a:r>
          </a:p>
        </p:txBody>
      </p:sp>
      <p:sp>
        <p:nvSpPr>
          <p:cNvPr id="35845"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latin typeface="Arial" pitchFamily="34" charset="0"/>
              </a:rPr>
              <a:t>Runnable task = …;</a:t>
            </a:r>
            <a:r>
              <a:rPr lang="en-US" sz="2000" b="1">
                <a:solidFill>
                  <a:srgbClr val="FF0000"/>
                </a:solidFill>
                <a:latin typeface="Arial" pitchFamily="34" charset="0"/>
              </a:rPr>
              <a:t> </a:t>
            </a:r>
          </a:p>
          <a:p>
            <a:pPr algn="l"/>
            <a:r>
              <a:rPr lang="en-US" sz="2000" b="1">
                <a:latin typeface="Arial" pitchFamily="34" charset="0"/>
              </a:rPr>
              <a:t>…</a:t>
            </a:r>
          </a:p>
          <a:p>
            <a:pPr algn="l">
              <a:spcBef>
                <a:spcPct val="20000"/>
              </a:spcBef>
            </a:pPr>
            <a:r>
              <a:rPr lang="en-US" sz="2000" b="1">
                <a:latin typeface="Arial" pitchFamily="34" charset="0"/>
              </a:rPr>
              <a:t>Future&lt;?&gt; future = executor.submit(task);</a:t>
            </a:r>
          </a:p>
          <a:p>
            <a:pPr algn="l">
              <a:spcBef>
                <a:spcPct val="20000"/>
              </a:spcBef>
            </a:pPr>
            <a:r>
              <a:rPr lang="en-US" sz="2000" b="1">
                <a:latin typeface="Arial" pitchFamily="34" charset="0"/>
              </a:rPr>
              <a:t>…</a:t>
            </a:r>
          </a:p>
          <a:p>
            <a:pPr algn="l">
              <a:spcBef>
                <a:spcPct val="20000"/>
              </a:spcBef>
            </a:pPr>
            <a:r>
              <a:rPr lang="en-US" sz="2000" b="1">
                <a:latin typeface="Arial" pitchFamily="34" charset="0"/>
              </a:rPr>
              <a:t>future.get(); </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1"/>
          <p:cNvSpPr>
            <a:spLocks noGrp="1"/>
          </p:cNvSpPr>
          <p:nvPr>
            <p:ph type="ftr" sz="quarter" idx="10"/>
          </p:nvPr>
        </p:nvSpPr>
        <p:spPr>
          <a:noFill/>
        </p:spPr>
        <p:txBody>
          <a:bodyPr/>
          <a:lstStyle/>
          <a:p>
            <a:r>
              <a:rPr lang="en-US"/>
              <a:t>Art of Multiprocessor Programming</a:t>
            </a:r>
          </a:p>
        </p:txBody>
      </p:sp>
      <p:sp>
        <p:nvSpPr>
          <p:cNvPr id="36867" name="Slide Number Placeholder 2"/>
          <p:cNvSpPr>
            <a:spLocks noGrp="1"/>
          </p:cNvSpPr>
          <p:nvPr>
            <p:ph type="sldNum" sz="quarter" idx="11"/>
          </p:nvPr>
        </p:nvSpPr>
        <p:spPr>
          <a:noFill/>
        </p:spPr>
        <p:txBody>
          <a:bodyPr/>
          <a:lstStyle/>
          <a:p>
            <a:fld id="{7CA05CBF-78A6-417C-A88B-43E02AB74193}" type="slidenum">
              <a:rPr lang="x-none" smtClean="0"/>
              <a:pPr/>
              <a:t>23</a:t>
            </a:fld>
            <a:endParaRPr lang="en-US"/>
          </a:p>
        </p:txBody>
      </p:sp>
      <p:sp>
        <p:nvSpPr>
          <p:cNvPr id="7"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F6D3B81-6353-4A5B-9D7E-825071DA5EA9}" type="slidenum">
              <a:rPr lang="x-none" sz="1400">
                <a:solidFill>
                  <a:schemeClr val="tx1"/>
                </a:solidFill>
                <a:latin typeface="Arial" pitchFamily="34" charset="0"/>
                <a:cs typeface="Arial" pitchFamily="34" charset="0"/>
              </a:rPr>
              <a:pPr>
                <a:defRPr/>
              </a:pPr>
              <a:t>23</a:t>
            </a:fld>
            <a:endParaRPr lang="en-US" sz="1400" dirty="0">
              <a:solidFill>
                <a:schemeClr val="tx1"/>
              </a:solidFill>
              <a:latin typeface="Arial" pitchFamily="34" charset="0"/>
              <a:cs typeface="Arial" pitchFamily="34" charset="0"/>
            </a:endParaRPr>
          </a:p>
        </p:txBody>
      </p:sp>
      <p:sp>
        <p:nvSpPr>
          <p:cNvPr id="36869" name="Rectangle 2"/>
          <p:cNvSpPr>
            <a:spLocks noGrp="1" noChangeArrowheads="1"/>
          </p:cNvSpPr>
          <p:nvPr>
            <p:ph type="title" idx="4294967295"/>
          </p:nvPr>
        </p:nvSpPr>
        <p:spPr/>
        <p:txBody>
          <a:bodyPr/>
          <a:lstStyle/>
          <a:p>
            <a:r>
              <a:rPr lang="en-US"/>
              <a:t>Future&lt;?&gt;</a:t>
            </a:r>
          </a:p>
        </p:txBody>
      </p:sp>
      <p:sp>
        <p:nvSpPr>
          <p:cNvPr id="36870"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Runnable task = …; </a:t>
            </a:r>
          </a:p>
          <a:p>
            <a:pPr algn="l"/>
            <a:r>
              <a:rPr lang="en-US" sz="2000" b="1">
                <a:solidFill>
                  <a:schemeClr val="folHlink"/>
                </a:solidFill>
                <a:latin typeface="Arial" pitchFamily="34" charset="0"/>
              </a:rPr>
              <a:t>…</a:t>
            </a:r>
          </a:p>
          <a:p>
            <a:pPr algn="l">
              <a:spcBef>
                <a:spcPct val="20000"/>
              </a:spcBef>
            </a:pPr>
            <a:r>
              <a:rPr lang="en-US" sz="2000" b="1">
                <a:latin typeface="Arial" pitchFamily="34" charset="0"/>
              </a:rPr>
              <a:t>Future&lt;?&gt; future = executor.submit(task);</a:t>
            </a:r>
          </a:p>
          <a:p>
            <a:pPr algn="l">
              <a:spcBef>
                <a:spcPct val="20000"/>
              </a:spcBef>
            </a:pPr>
            <a:r>
              <a:rPr lang="en-US" sz="2000" b="1">
                <a:solidFill>
                  <a:schemeClr val="folHlink"/>
                </a:solidFill>
                <a:latin typeface="Arial" pitchFamily="34" charset="0"/>
              </a:rPr>
              <a:t>…</a:t>
            </a:r>
          </a:p>
          <a:p>
            <a:pPr algn="l">
              <a:spcBef>
                <a:spcPct val="20000"/>
              </a:spcBef>
            </a:pPr>
            <a:r>
              <a:rPr lang="en-US" sz="2000" b="1">
                <a:solidFill>
                  <a:schemeClr val="folHlink"/>
                </a:solidFill>
                <a:latin typeface="Arial" pitchFamily="34" charset="0"/>
              </a:rPr>
              <a:t>future.get(); </a:t>
            </a:r>
          </a:p>
        </p:txBody>
      </p:sp>
      <p:sp>
        <p:nvSpPr>
          <p:cNvPr id="36871" name="AutoShape 4"/>
          <p:cNvSpPr>
            <a:spLocks noChangeArrowheads="1"/>
          </p:cNvSpPr>
          <p:nvPr/>
        </p:nvSpPr>
        <p:spPr bwMode="auto">
          <a:xfrm>
            <a:off x="800100" y="2362200"/>
            <a:ext cx="5372100" cy="558800"/>
          </a:xfrm>
          <a:prstGeom prst="wedgeRoundRectCallout">
            <a:avLst>
              <a:gd name="adj1" fmla="val 25472"/>
              <a:gd name="adj2" fmla="val 350569"/>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6872" name="Text Box 5"/>
          <p:cNvSpPr txBox="1">
            <a:spLocks noChangeArrowheads="1"/>
          </p:cNvSpPr>
          <p:nvPr/>
        </p:nvSpPr>
        <p:spPr bwMode="auto">
          <a:xfrm>
            <a:off x="1970088" y="4568825"/>
            <a:ext cx="5716587" cy="946150"/>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Submitting a </a:t>
            </a:r>
            <a:r>
              <a:rPr lang="en-US" sz="2800" b="1" dirty="0" err="1">
                <a:solidFill>
                  <a:srgbClr val="FF0000"/>
                </a:solidFill>
                <a:latin typeface="Arial" pitchFamily="34" charset="0"/>
              </a:rPr>
              <a:t>Runnable</a:t>
            </a:r>
            <a:r>
              <a:rPr lang="en-US" sz="2800" dirty="0">
                <a:solidFill>
                  <a:srgbClr val="FF0000"/>
                </a:solidFill>
                <a:latin typeface="Arial" pitchFamily="34" charset="0"/>
              </a:rPr>
              <a:t> task returns a </a:t>
            </a:r>
            <a:r>
              <a:rPr lang="en-US" sz="2800" b="1" dirty="0">
                <a:solidFill>
                  <a:srgbClr val="FF0000"/>
                </a:solidFill>
                <a:latin typeface="Arial" pitchFamily="34" charset="0"/>
              </a:rPr>
              <a:t>Future&lt;?&gt;</a:t>
            </a:r>
            <a:r>
              <a:rPr lang="en-US" sz="2800" dirty="0">
                <a:solidFill>
                  <a:srgbClr val="FF0000"/>
                </a:solidFill>
                <a:latin typeface="Arial" pitchFamily="34" charset="0"/>
              </a:rPr>
              <a:t> object </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1"/>
          <p:cNvSpPr>
            <a:spLocks noGrp="1"/>
          </p:cNvSpPr>
          <p:nvPr>
            <p:ph type="ftr" sz="quarter" idx="10"/>
          </p:nvPr>
        </p:nvSpPr>
        <p:spPr>
          <a:noFill/>
        </p:spPr>
        <p:txBody>
          <a:bodyPr/>
          <a:lstStyle/>
          <a:p>
            <a:r>
              <a:rPr lang="en-US"/>
              <a:t>Art of Multiprocessor Programming</a:t>
            </a:r>
          </a:p>
        </p:txBody>
      </p:sp>
      <p:sp>
        <p:nvSpPr>
          <p:cNvPr id="37891" name="Slide Number Placeholder 2"/>
          <p:cNvSpPr>
            <a:spLocks noGrp="1"/>
          </p:cNvSpPr>
          <p:nvPr>
            <p:ph type="sldNum" sz="quarter" idx="11"/>
          </p:nvPr>
        </p:nvSpPr>
        <p:spPr>
          <a:noFill/>
        </p:spPr>
        <p:txBody>
          <a:bodyPr/>
          <a:lstStyle/>
          <a:p>
            <a:fld id="{E4F497DA-3745-4E46-9257-9568642E5FD0}" type="slidenum">
              <a:rPr lang="x-none" smtClean="0"/>
              <a:pPr/>
              <a:t>24</a:t>
            </a:fld>
            <a:endParaRPr lang="en-US"/>
          </a:p>
        </p:txBody>
      </p:sp>
      <p:sp>
        <p:nvSpPr>
          <p:cNvPr id="7"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9A709E6-1739-47C1-A241-C030AD0BDA18}" type="slidenum">
              <a:rPr lang="x-none" sz="1400">
                <a:solidFill>
                  <a:schemeClr val="tx1"/>
                </a:solidFill>
                <a:latin typeface="Arial" pitchFamily="34" charset="0"/>
                <a:cs typeface="Arial" pitchFamily="34" charset="0"/>
              </a:rPr>
              <a:pPr>
                <a:defRPr/>
              </a:pPr>
              <a:t>24</a:t>
            </a:fld>
            <a:endParaRPr lang="en-US" sz="1400" dirty="0">
              <a:solidFill>
                <a:schemeClr val="tx1"/>
              </a:solidFill>
              <a:latin typeface="Arial" pitchFamily="34" charset="0"/>
              <a:cs typeface="Arial" pitchFamily="34" charset="0"/>
            </a:endParaRPr>
          </a:p>
        </p:txBody>
      </p:sp>
      <p:sp>
        <p:nvSpPr>
          <p:cNvPr id="37893" name="Rectangle 2"/>
          <p:cNvSpPr>
            <a:spLocks noGrp="1" noChangeArrowheads="1"/>
          </p:cNvSpPr>
          <p:nvPr>
            <p:ph type="title" idx="4294967295"/>
          </p:nvPr>
        </p:nvSpPr>
        <p:spPr/>
        <p:txBody>
          <a:bodyPr/>
          <a:lstStyle/>
          <a:p>
            <a:r>
              <a:rPr lang="en-US"/>
              <a:t>Future&lt;?&gt;</a:t>
            </a:r>
          </a:p>
        </p:txBody>
      </p:sp>
      <p:sp>
        <p:nvSpPr>
          <p:cNvPr id="37894" name="Rectangle 3"/>
          <p:cNvSpPr>
            <a:spLocks noChangeArrowheads="1"/>
          </p:cNvSpPr>
          <p:nvPr/>
        </p:nvSpPr>
        <p:spPr bwMode="auto">
          <a:xfrm>
            <a:off x="838200" y="1752600"/>
            <a:ext cx="6502400" cy="1797050"/>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Runnable task = …; </a:t>
            </a:r>
          </a:p>
          <a:p>
            <a:pPr algn="l"/>
            <a:r>
              <a:rPr lang="en-US" sz="2000" b="1">
                <a:solidFill>
                  <a:schemeClr val="folHlink"/>
                </a:solidFill>
                <a:latin typeface="Arial" pitchFamily="34" charset="0"/>
              </a:rPr>
              <a:t>…</a:t>
            </a:r>
          </a:p>
          <a:p>
            <a:pPr algn="l">
              <a:spcBef>
                <a:spcPct val="20000"/>
              </a:spcBef>
            </a:pPr>
            <a:r>
              <a:rPr lang="en-US" sz="2000" b="1">
                <a:solidFill>
                  <a:schemeClr val="folHlink"/>
                </a:solidFill>
                <a:latin typeface="Arial" pitchFamily="34" charset="0"/>
              </a:rPr>
              <a:t>Future&lt;?&gt; future = executor.submit(task);</a:t>
            </a:r>
          </a:p>
          <a:p>
            <a:pPr algn="l">
              <a:spcBef>
                <a:spcPct val="20000"/>
              </a:spcBef>
            </a:pPr>
            <a:r>
              <a:rPr lang="en-US" sz="2000" b="1">
                <a:solidFill>
                  <a:schemeClr val="folHlink"/>
                </a:solidFill>
                <a:latin typeface="Arial" pitchFamily="34" charset="0"/>
              </a:rPr>
              <a:t>…</a:t>
            </a:r>
          </a:p>
          <a:p>
            <a:pPr algn="l">
              <a:spcBef>
                <a:spcPct val="20000"/>
              </a:spcBef>
            </a:pPr>
            <a:r>
              <a:rPr lang="en-US" sz="2000" b="1">
                <a:latin typeface="Arial" pitchFamily="34" charset="0"/>
              </a:rPr>
              <a:t>future.get(); </a:t>
            </a:r>
          </a:p>
        </p:txBody>
      </p:sp>
      <p:sp>
        <p:nvSpPr>
          <p:cNvPr id="37895" name="AutoShape 4"/>
          <p:cNvSpPr>
            <a:spLocks noChangeArrowheads="1"/>
          </p:cNvSpPr>
          <p:nvPr/>
        </p:nvSpPr>
        <p:spPr bwMode="auto">
          <a:xfrm>
            <a:off x="850900" y="3136900"/>
            <a:ext cx="1625600" cy="444500"/>
          </a:xfrm>
          <a:prstGeom prst="wedgeRoundRectCallout">
            <a:avLst>
              <a:gd name="adj1" fmla="val 103319"/>
              <a:gd name="adj2" fmla="val 25071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7896" name="Text Box 5"/>
          <p:cNvSpPr txBox="1">
            <a:spLocks noChangeArrowheads="1"/>
          </p:cNvSpPr>
          <p:nvPr/>
        </p:nvSpPr>
        <p:spPr bwMode="auto">
          <a:xfrm>
            <a:off x="1970088" y="4568825"/>
            <a:ext cx="6127750" cy="946150"/>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The Future’s </a:t>
            </a:r>
            <a:r>
              <a:rPr lang="en-US" sz="2800" b="1" dirty="0">
                <a:solidFill>
                  <a:srgbClr val="FF0000"/>
                </a:solidFill>
                <a:latin typeface="Arial" pitchFamily="34" charset="0"/>
              </a:rPr>
              <a:t>get()</a:t>
            </a:r>
            <a:r>
              <a:rPr lang="en-US" sz="2800" dirty="0">
                <a:solidFill>
                  <a:srgbClr val="FF0000"/>
                </a:solidFill>
                <a:latin typeface="Arial" pitchFamily="34" charset="0"/>
              </a:rPr>
              <a:t> method blocks until the computation is complete</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1"/>
          <p:cNvSpPr>
            <a:spLocks noGrp="1"/>
          </p:cNvSpPr>
          <p:nvPr>
            <p:ph type="ftr" sz="quarter" idx="10"/>
          </p:nvPr>
        </p:nvSpPr>
        <p:spPr>
          <a:noFill/>
        </p:spPr>
        <p:txBody>
          <a:bodyPr/>
          <a:lstStyle/>
          <a:p>
            <a:r>
              <a:rPr lang="en-US"/>
              <a:t>Art of Multiprocessor Programming</a:t>
            </a:r>
          </a:p>
        </p:txBody>
      </p:sp>
      <p:sp>
        <p:nvSpPr>
          <p:cNvPr id="38915" name="Slide Number Placeholder 2"/>
          <p:cNvSpPr>
            <a:spLocks noGrp="1"/>
          </p:cNvSpPr>
          <p:nvPr>
            <p:ph type="sldNum" sz="quarter" idx="11"/>
          </p:nvPr>
        </p:nvSpPr>
        <p:spPr>
          <a:noFill/>
        </p:spPr>
        <p:txBody>
          <a:bodyPr/>
          <a:lstStyle/>
          <a:p>
            <a:fld id="{3719C38D-D083-4582-ABE8-B556E7FE5649}" type="slidenum">
              <a:rPr lang="x-none" smtClean="0"/>
              <a:pPr/>
              <a:t>25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B15AAEE-FB3F-4F52-B7FD-7C6CD8655421}" type="slidenum">
              <a:rPr lang="x-none" sz="1400">
                <a:solidFill>
                  <a:schemeClr val="tx1"/>
                </a:solidFill>
                <a:latin typeface="Arial" pitchFamily="34" charset="0"/>
                <a:cs typeface="Arial" pitchFamily="34" charset="0"/>
              </a:rPr>
              <a:pPr>
                <a:defRPr/>
              </a:pPr>
              <a:t>25</a:t>
            </a:fld>
            <a:endParaRPr lang="en-US" sz="1400" dirty="0">
              <a:solidFill>
                <a:schemeClr val="tx1"/>
              </a:solidFill>
              <a:latin typeface="Arial" pitchFamily="34" charset="0"/>
              <a:cs typeface="Arial" pitchFamily="34" charset="0"/>
            </a:endParaRPr>
          </a:p>
        </p:txBody>
      </p:sp>
      <p:sp>
        <p:nvSpPr>
          <p:cNvPr id="38917" name="Rectangle 2"/>
          <p:cNvSpPr>
            <a:spLocks noGrp="1" noChangeArrowheads="1"/>
          </p:cNvSpPr>
          <p:nvPr>
            <p:ph type="title" idx="4294967295"/>
          </p:nvPr>
        </p:nvSpPr>
        <p:spPr/>
        <p:txBody>
          <a:bodyPr/>
          <a:lstStyle/>
          <a:p>
            <a:r>
              <a:rPr lang="en-US"/>
              <a:t>Note</a:t>
            </a:r>
          </a:p>
        </p:txBody>
      </p:sp>
      <p:sp>
        <p:nvSpPr>
          <p:cNvPr id="38918" name="Rectangle 3"/>
          <p:cNvSpPr>
            <a:spLocks noGrp="1" noChangeArrowheads="1"/>
          </p:cNvSpPr>
          <p:nvPr>
            <p:ph type="body" idx="4294967295"/>
          </p:nvPr>
        </p:nvSpPr>
        <p:spPr/>
        <p:txBody>
          <a:bodyPr/>
          <a:lstStyle/>
          <a:p>
            <a:r>
              <a:rPr lang="en-US" dirty="0"/>
              <a:t>Executor Service submissions</a:t>
            </a:r>
          </a:p>
          <a:p>
            <a:pPr lvl="1"/>
            <a:r>
              <a:rPr lang="en-US" dirty="0"/>
              <a:t>Like New England traffic signs</a:t>
            </a:r>
          </a:p>
          <a:p>
            <a:pPr lvl="1"/>
            <a:r>
              <a:rPr lang="en-US" dirty="0"/>
              <a:t>Are purely </a:t>
            </a:r>
            <a:r>
              <a:rPr lang="en-US" dirty="0">
                <a:solidFill>
                  <a:schemeClr val="tx1"/>
                </a:solidFill>
              </a:rPr>
              <a:t>advisory</a:t>
            </a:r>
            <a:r>
              <a:rPr lang="en-US" dirty="0"/>
              <a:t> in nature</a:t>
            </a:r>
          </a:p>
          <a:p>
            <a:r>
              <a:rPr lang="en-US" dirty="0"/>
              <a:t>The </a:t>
            </a:r>
            <a:r>
              <a:rPr lang="en-US" dirty="0">
                <a:solidFill>
                  <a:schemeClr val="tx1"/>
                </a:solidFill>
              </a:rPr>
              <a:t>executor</a:t>
            </a:r>
          </a:p>
          <a:p>
            <a:pPr lvl="1"/>
            <a:r>
              <a:rPr lang="en-US" dirty="0"/>
              <a:t>Like </a:t>
            </a:r>
            <a:r>
              <a:rPr lang="en-US"/>
              <a:t>the Boston driver</a:t>
            </a:r>
            <a:endParaRPr lang="en-US" dirty="0"/>
          </a:p>
          <a:p>
            <a:pPr lvl="1"/>
            <a:r>
              <a:rPr lang="en-US" dirty="0"/>
              <a:t>Is free to ignore any such advice</a:t>
            </a:r>
          </a:p>
          <a:p>
            <a:pPr lvl="1"/>
            <a:r>
              <a:rPr lang="en-US" dirty="0"/>
              <a:t>And could execute tasks sequentially …</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Footer Placeholder 1"/>
          <p:cNvSpPr>
            <a:spLocks noGrp="1"/>
          </p:cNvSpPr>
          <p:nvPr>
            <p:ph type="ftr" sz="quarter" idx="10"/>
          </p:nvPr>
        </p:nvSpPr>
        <p:spPr>
          <a:noFill/>
        </p:spPr>
        <p:txBody>
          <a:bodyPr/>
          <a:lstStyle/>
          <a:p>
            <a:r>
              <a:rPr lang="en-US"/>
              <a:t>Art of Multiprocessor Programming</a:t>
            </a:r>
          </a:p>
        </p:txBody>
      </p:sp>
      <p:sp>
        <p:nvSpPr>
          <p:cNvPr id="2052" name="Slide Number Placeholder 2"/>
          <p:cNvSpPr>
            <a:spLocks noGrp="1"/>
          </p:cNvSpPr>
          <p:nvPr>
            <p:ph type="sldNum" sz="quarter" idx="11"/>
          </p:nvPr>
        </p:nvSpPr>
        <p:spPr>
          <a:noFill/>
        </p:spPr>
        <p:txBody>
          <a:bodyPr/>
          <a:lstStyle/>
          <a:p>
            <a:fld id="{5D634305-A5E1-4C88-91D7-D4BC69E7335A}" type="slidenum">
              <a:rPr lang="x-none" smtClean="0"/>
              <a:pPr/>
              <a:t>26</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F4CAB82-47C9-4EB7-BAAB-4083A3A39494}" type="slidenum">
              <a:rPr lang="x-none" sz="1400">
                <a:solidFill>
                  <a:schemeClr val="tx1"/>
                </a:solidFill>
                <a:latin typeface="Arial" pitchFamily="34" charset="0"/>
                <a:cs typeface="Arial" pitchFamily="34" charset="0"/>
              </a:rPr>
              <a:pPr>
                <a:defRPr/>
              </a:pPr>
              <a:t>26</a:t>
            </a:fld>
            <a:endParaRPr lang="en-US" sz="1400" dirty="0">
              <a:solidFill>
                <a:schemeClr val="tx1"/>
              </a:solidFill>
              <a:latin typeface="Arial" pitchFamily="34" charset="0"/>
              <a:cs typeface="Arial" pitchFamily="34" charset="0"/>
            </a:endParaRPr>
          </a:p>
        </p:txBody>
      </p:sp>
      <p:sp>
        <p:nvSpPr>
          <p:cNvPr id="2054" name="Rectangle 2"/>
          <p:cNvSpPr>
            <a:spLocks noGrp="1" noChangeArrowheads="1"/>
          </p:cNvSpPr>
          <p:nvPr>
            <p:ph type="title" idx="4294967295"/>
          </p:nvPr>
        </p:nvSpPr>
        <p:spPr/>
        <p:txBody>
          <a:bodyPr/>
          <a:lstStyle/>
          <a:p>
            <a:r>
              <a:rPr lang="en-US"/>
              <a:t>Matrix Addition</a:t>
            </a:r>
          </a:p>
        </p:txBody>
      </p:sp>
      <p:graphicFrame>
        <p:nvGraphicFramePr>
          <p:cNvPr id="2050" name="Object 4"/>
          <p:cNvGraphicFramePr>
            <a:graphicFrameLocks noGrp="1" noChangeAspect="1"/>
          </p:cNvGraphicFramePr>
          <p:nvPr>
            <p:ph idx="4294967295"/>
          </p:nvPr>
        </p:nvGraphicFramePr>
        <p:xfrm>
          <a:off x="1119188" y="2279650"/>
          <a:ext cx="7443787" cy="1606550"/>
        </p:xfrm>
        <a:graphic>
          <a:graphicData uri="http://schemas.openxmlformats.org/presentationml/2006/ole">
            <mc:AlternateContent xmlns:mc="http://schemas.openxmlformats.org/markup-compatibility/2006">
              <mc:Choice xmlns:v="urn:schemas-microsoft-com:vml" Requires="v">
                <p:oleObj spid="_x0000_s164890" name="Equation" r:id="rId4" imgW="2235016" imgH="482278" progId="">
                  <p:embed/>
                </p:oleObj>
              </mc:Choice>
              <mc:Fallback>
                <p:oleObj name="Equation" r:id="rId4" imgW="2235016" imgH="482278" progId="">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9188" y="2279650"/>
                        <a:ext cx="7443787" cy="160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1"/>
          <p:cNvSpPr>
            <a:spLocks noGrp="1"/>
          </p:cNvSpPr>
          <p:nvPr>
            <p:ph type="ftr" sz="quarter" idx="10"/>
          </p:nvPr>
        </p:nvSpPr>
        <p:spPr>
          <a:noFill/>
        </p:spPr>
        <p:txBody>
          <a:bodyPr/>
          <a:lstStyle/>
          <a:p>
            <a:r>
              <a:rPr lang="en-US"/>
              <a:t>Art of Multiprocessor Programming</a:t>
            </a:r>
          </a:p>
        </p:txBody>
      </p:sp>
      <p:sp>
        <p:nvSpPr>
          <p:cNvPr id="3076" name="Slide Number Placeholder 2"/>
          <p:cNvSpPr>
            <a:spLocks noGrp="1"/>
          </p:cNvSpPr>
          <p:nvPr>
            <p:ph type="sldNum" sz="quarter" idx="11"/>
          </p:nvPr>
        </p:nvSpPr>
        <p:spPr>
          <a:noFill/>
        </p:spPr>
        <p:txBody>
          <a:bodyPr/>
          <a:lstStyle/>
          <a:p>
            <a:fld id="{83B8A10B-1975-4B83-95E6-65E7105C209C}" type="slidenum">
              <a:rPr lang="x-none" smtClean="0"/>
              <a:pPr/>
              <a:t>27</a:t>
            </a:fld>
            <a:endParaRPr lang="en-US"/>
          </a:p>
        </p:txBody>
      </p:sp>
      <p:sp>
        <p:nvSpPr>
          <p:cNvPr id="10"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ABAA909-7658-472A-A376-B582A37E2C9B}" type="slidenum">
              <a:rPr lang="x-none" sz="1400">
                <a:solidFill>
                  <a:schemeClr val="tx1"/>
                </a:solidFill>
                <a:latin typeface="Arial" pitchFamily="34" charset="0"/>
                <a:cs typeface="Arial" pitchFamily="34" charset="0"/>
              </a:rPr>
              <a:pPr>
                <a:defRPr/>
              </a:pPr>
              <a:t>27</a:t>
            </a:fld>
            <a:endParaRPr lang="en-US" sz="1400" dirty="0">
              <a:solidFill>
                <a:schemeClr val="tx1"/>
              </a:solidFill>
              <a:latin typeface="Arial" pitchFamily="34" charset="0"/>
              <a:cs typeface="Arial" pitchFamily="34" charset="0"/>
            </a:endParaRPr>
          </a:p>
        </p:txBody>
      </p:sp>
      <p:sp>
        <p:nvSpPr>
          <p:cNvPr id="3078" name="AutoShape 2"/>
          <p:cNvSpPr>
            <a:spLocks noChangeArrowheads="1"/>
          </p:cNvSpPr>
          <p:nvPr/>
        </p:nvSpPr>
        <p:spPr bwMode="auto">
          <a:xfrm>
            <a:off x="3937000" y="2370138"/>
            <a:ext cx="1903413" cy="663575"/>
          </a:xfrm>
          <a:prstGeom prst="wedgeRoundRectCallout">
            <a:avLst>
              <a:gd name="adj1" fmla="val -6463"/>
              <a:gd name="adj2" fmla="val 347370"/>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079" name="AutoShape 3"/>
          <p:cNvSpPr>
            <a:spLocks noChangeArrowheads="1"/>
          </p:cNvSpPr>
          <p:nvPr/>
        </p:nvSpPr>
        <p:spPr bwMode="auto">
          <a:xfrm>
            <a:off x="6083300" y="2370138"/>
            <a:ext cx="1852613" cy="638175"/>
          </a:xfrm>
          <a:prstGeom prst="wedgeRoundRectCallout">
            <a:avLst>
              <a:gd name="adj1" fmla="val -94389"/>
              <a:gd name="adj2" fmla="val 38109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080" name="AutoShape 4"/>
          <p:cNvSpPr>
            <a:spLocks noChangeArrowheads="1"/>
          </p:cNvSpPr>
          <p:nvPr/>
        </p:nvSpPr>
        <p:spPr bwMode="auto">
          <a:xfrm>
            <a:off x="3929063" y="3098800"/>
            <a:ext cx="1927225" cy="647700"/>
          </a:xfrm>
          <a:prstGeom prst="wedgeRoundRectCallout">
            <a:avLst>
              <a:gd name="adj1" fmla="val -25042"/>
              <a:gd name="adj2" fmla="val 266176"/>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081" name="AutoShape 5"/>
          <p:cNvSpPr>
            <a:spLocks noChangeArrowheads="1"/>
          </p:cNvSpPr>
          <p:nvPr/>
        </p:nvSpPr>
        <p:spPr bwMode="auto">
          <a:xfrm>
            <a:off x="6240463" y="3149600"/>
            <a:ext cx="1582737" cy="622300"/>
          </a:xfrm>
          <a:prstGeom prst="wedgeRoundRectCallout">
            <a:avLst>
              <a:gd name="adj1" fmla="val -90222"/>
              <a:gd name="adj2" fmla="val 268880"/>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3082" name="Rectangle 6"/>
          <p:cNvSpPr>
            <a:spLocks noGrp="1" noChangeArrowheads="1"/>
          </p:cNvSpPr>
          <p:nvPr>
            <p:ph type="title" idx="4294967295"/>
          </p:nvPr>
        </p:nvSpPr>
        <p:spPr/>
        <p:txBody>
          <a:bodyPr/>
          <a:lstStyle/>
          <a:p>
            <a:r>
              <a:rPr lang="en-US"/>
              <a:t>Matrix Addition</a:t>
            </a:r>
          </a:p>
        </p:txBody>
      </p:sp>
      <p:graphicFrame>
        <p:nvGraphicFramePr>
          <p:cNvPr id="3074" name="Object 7"/>
          <p:cNvGraphicFramePr>
            <a:graphicFrameLocks noGrp="1" noChangeAspect="1"/>
          </p:cNvGraphicFramePr>
          <p:nvPr>
            <p:ph idx="4294967295"/>
          </p:nvPr>
        </p:nvGraphicFramePr>
        <p:xfrm>
          <a:off x="1079500" y="2292350"/>
          <a:ext cx="7124700" cy="1538288"/>
        </p:xfrm>
        <a:graphic>
          <a:graphicData uri="http://schemas.openxmlformats.org/presentationml/2006/ole">
            <mc:AlternateContent xmlns:mc="http://schemas.openxmlformats.org/markup-compatibility/2006">
              <mc:Choice xmlns:v="urn:schemas-microsoft-com:vml" Requires="v">
                <p:oleObj spid="_x0000_s165914" name="Equation" r:id="rId4" imgW="2235016" imgH="482278" progId="">
                  <p:embed/>
                </p:oleObj>
              </mc:Choice>
              <mc:Fallback>
                <p:oleObj name="Equation" r:id="rId4" imgW="2235016" imgH="482278" progId="">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2292350"/>
                        <a:ext cx="7124700" cy="1538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3" name="Text Box 8"/>
          <p:cNvSpPr txBox="1">
            <a:spLocks noChangeArrowheads="1"/>
          </p:cNvSpPr>
          <p:nvPr/>
        </p:nvSpPr>
        <p:spPr bwMode="auto">
          <a:xfrm>
            <a:off x="3201988" y="5216525"/>
            <a:ext cx="3905250" cy="519113"/>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4 parallel additions</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1"/>
          <p:cNvSpPr>
            <a:spLocks noGrp="1"/>
          </p:cNvSpPr>
          <p:nvPr>
            <p:ph type="ftr" sz="quarter" idx="10"/>
          </p:nvPr>
        </p:nvSpPr>
        <p:spPr>
          <a:noFill/>
        </p:spPr>
        <p:txBody>
          <a:bodyPr/>
          <a:lstStyle/>
          <a:p>
            <a:r>
              <a:rPr lang="en-US"/>
              <a:t>Art of Multiprocessor Programming</a:t>
            </a:r>
          </a:p>
        </p:txBody>
      </p:sp>
      <p:sp>
        <p:nvSpPr>
          <p:cNvPr id="39939" name="Slide Number Placeholder 2"/>
          <p:cNvSpPr>
            <a:spLocks noGrp="1"/>
          </p:cNvSpPr>
          <p:nvPr>
            <p:ph type="sldNum" sz="quarter" idx="11"/>
          </p:nvPr>
        </p:nvSpPr>
        <p:spPr>
          <a:noFill/>
        </p:spPr>
        <p:txBody>
          <a:bodyPr/>
          <a:lstStyle/>
          <a:p>
            <a:fld id="{7D986B9A-848F-4E10-BB04-798609FFEC72}" type="slidenum">
              <a:rPr lang="x-none" smtClean="0"/>
              <a:pPr/>
              <a:t>28</a:t>
            </a:fld>
            <a:endParaRPr lang="en-US"/>
          </a:p>
        </p:txBody>
      </p:sp>
      <p:sp>
        <p:nvSpPr>
          <p:cNvPr id="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DAEA28D-57A3-4C22-9486-6E53CD5E1982}" type="slidenum">
              <a:rPr lang="x-none" sz="1400">
                <a:solidFill>
                  <a:schemeClr val="tx1"/>
                </a:solidFill>
                <a:latin typeface="Arial" pitchFamily="34" charset="0"/>
                <a:cs typeface="Arial" pitchFamily="34" charset="0"/>
              </a:rPr>
              <a:pPr>
                <a:defRPr/>
              </a:pPr>
              <a:t>28</a:t>
            </a:fld>
            <a:endParaRPr lang="en-US" sz="1400" dirty="0">
              <a:solidFill>
                <a:schemeClr val="tx1"/>
              </a:solidFill>
              <a:latin typeface="Arial" pitchFamily="34" charset="0"/>
              <a:cs typeface="Arial" pitchFamily="34" charset="0"/>
            </a:endParaRPr>
          </a:p>
        </p:txBody>
      </p:sp>
      <p:sp>
        <p:nvSpPr>
          <p:cNvPr id="39941" name="Rectangle 2"/>
          <p:cNvSpPr>
            <a:spLocks noGrp="1" noChangeArrowheads="1"/>
          </p:cNvSpPr>
          <p:nvPr>
            <p:ph type="title" idx="4294967295"/>
          </p:nvPr>
        </p:nvSpPr>
        <p:spPr/>
        <p:txBody>
          <a:bodyPr/>
          <a:lstStyle/>
          <a:p>
            <a:r>
              <a:rPr lang="en-US"/>
              <a:t>Matrix Addition Task</a:t>
            </a:r>
          </a:p>
        </p:txBody>
      </p:sp>
      <p:sp>
        <p:nvSpPr>
          <p:cNvPr id="39942" name="Rectangle 3"/>
          <p:cNvSpPr>
            <a:spLocks noChangeArrowheads="1"/>
          </p:cNvSpPr>
          <p:nvPr/>
        </p:nvSpPr>
        <p:spPr bwMode="auto">
          <a:xfrm>
            <a:off x="838200" y="1752600"/>
            <a:ext cx="7277100" cy="4054475"/>
          </a:xfrm>
          <a:prstGeom prst="rect">
            <a:avLst/>
          </a:prstGeom>
          <a:solidFill>
            <a:srgbClr val="FFFFCC"/>
          </a:solidFill>
          <a:ln w="9525">
            <a:noFill/>
            <a:miter lim="800000"/>
            <a:headEnd/>
            <a:tailEnd/>
          </a:ln>
        </p:spPr>
        <p:txBody>
          <a:bodyPr>
            <a:spAutoFit/>
          </a:bodyPr>
          <a:lstStyle/>
          <a:p>
            <a:pPr algn="l"/>
            <a:r>
              <a:rPr lang="en-US" sz="2000" b="1" dirty="0">
                <a:solidFill>
                  <a:schemeClr val="tx1"/>
                </a:solidFill>
                <a:latin typeface="Arial" pitchFamily="34" charset="0"/>
              </a:rPr>
              <a:t>class</a:t>
            </a:r>
            <a:r>
              <a:rPr lang="en-US" sz="2000" b="1" dirty="0">
                <a:latin typeface="Arial" pitchFamily="34" charset="0"/>
              </a:rPr>
              <a:t> </a:t>
            </a:r>
            <a:r>
              <a:rPr lang="en-US" sz="2000" b="1" dirty="0" err="1">
                <a:latin typeface="Arial" pitchFamily="34" charset="0"/>
              </a:rPr>
              <a:t>AddTask</a:t>
            </a:r>
            <a:r>
              <a:rPr lang="en-US" sz="2000" b="1" dirty="0">
                <a:latin typeface="Arial" pitchFamily="34" charset="0"/>
              </a:rPr>
              <a:t> </a:t>
            </a:r>
            <a:r>
              <a:rPr lang="en-US" sz="2000" b="1" dirty="0">
                <a:solidFill>
                  <a:schemeClr val="tx1"/>
                </a:solidFill>
                <a:latin typeface="Arial" pitchFamily="34" charset="0"/>
              </a:rPr>
              <a:t>implements</a:t>
            </a:r>
            <a:r>
              <a:rPr lang="en-US" sz="2000" b="1" dirty="0">
                <a:latin typeface="Arial" pitchFamily="34" charset="0"/>
              </a:rPr>
              <a:t> </a:t>
            </a:r>
            <a:r>
              <a:rPr lang="en-US" sz="2000" b="1" dirty="0" err="1">
                <a:latin typeface="Arial" pitchFamily="34" charset="0"/>
              </a:rPr>
              <a:t>Runnable</a:t>
            </a:r>
            <a:r>
              <a:rPr lang="en-US" sz="2000" b="1" dirty="0">
                <a:latin typeface="Arial" pitchFamily="34" charset="0"/>
              </a:rPr>
              <a:t> {</a:t>
            </a:r>
          </a:p>
          <a:p>
            <a:pPr algn="l"/>
            <a:r>
              <a:rPr lang="en-US" sz="2000" b="1" dirty="0">
                <a:latin typeface="Arial" pitchFamily="34" charset="0"/>
              </a:rPr>
              <a:t>   Matrix a, b; </a:t>
            </a:r>
            <a:r>
              <a:rPr lang="en-US" sz="2000" b="1" dirty="0">
                <a:solidFill>
                  <a:schemeClr val="accent1"/>
                </a:solidFill>
                <a:latin typeface="Arial" pitchFamily="34" charset="0"/>
              </a:rPr>
              <a:t>// add this!</a:t>
            </a:r>
          </a:p>
          <a:p>
            <a:pPr algn="l"/>
            <a:r>
              <a:rPr lang="en-US" sz="2000" b="1" dirty="0">
                <a:latin typeface="Arial" pitchFamily="34" charset="0"/>
              </a:rPr>
              <a:t>   </a:t>
            </a:r>
            <a:r>
              <a:rPr lang="en-US" sz="2000" b="1" dirty="0">
                <a:solidFill>
                  <a:schemeClr val="tx1"/>
                </a:solidFill>
                <a:latin typeface="Arial" pitchFamily="34" charset="0"/>
              </a:rPr>
              <a:t>public</a:t>
            </a:r>
            <a:r>
              <a:rPr lang="en-US" sz="2000" b="1" dirty="0">
                <a:latin typeface="Arial" pitchFamily="34" charset="0"/>
              </a:rPr>
              <a:t> </a:t>
            </a:r>
            <a:r>
              <a:rPr lang="en-US" sz="2000" b="1" dirty="0">
                <a:solidFill>
                  <a:schemeClr val="tx1"/>
                </a:solidFill>
                <a:latin typeface="Arial" pitchFamily="34" charset="0"/>
              </a:rPr>
              <a:t>void</a:t>
            </a:r>
            <a:r>
              <a:rPr lang="en-US" sz="2000" b="1" dirty="0">
                <a:latin typeface="Arial" pitchFamily="34" charset="0"/>
              </a:rPr>
              <a:t> run() {</a:t>
            </a:r>
          </a:p>
          <a:p>
            <a:pPr algn="l"/>
            <a:r>
              <a:rPr lang="en-US" sz="2000" b="1" dirty="0">
                <a:latin typeface="Arial" pitchFamily="34" charset="0"/>
              </a:rPr>
              <a:t>     </a:t>
            </a:r>
            <a:r>
              <a:rPr lang="en-US" sz="2000" b="1" dirty="0">
                <a:solidFill>
                  <a:schemeClr val="tx1"/>
                </a:solidFill>
                <a:latin typeface="Arial" pitchFamily="34" charset="0"/>
              </a:rPr>
              <a:t>if</a:t>
            </a:r>
            <a:r>
              <a:rPr lang="en-US" sz="2000" b="1" dirty="0">
                <a:latin typeface="Arial" pitchFamily="34" charset="0"/>
              </a:rPr>
              <a:t> (a.dim == 1) {</a:t>
            </a:r>
          </a:p>
          <a:p>
            <a:pPr algn="l"/>
            <a:r>
              <a:rPr lang="en-US" sz="2000" b="1" dirty="0">
                <a:latin typeface="Arial" pitchFamily="34" charset="0"/>
              </a:rPr>
              <a:t>      c[0][0] = a[0][0] + b[0][0]; </a:t>
            </a:r>
            <a:r>
              <a:rPr lang="en-US" sz="2000" b="1" dirty="0">
                <a:solidFill>
                  <a:schemeClr val="accent1"/>
                </a:solidFill>
                <a:latin typeface="Arial" pitchFamily="34" charset="0"/>
              </a:rPr>
              <a:t>// base case</a:t>
            </a:r>
          </a:p>
          <a:p>
            <a:pPr algn="l"/>
            <a:r>
              <a:rPr lang="en-US" sz="2000" b="1" dirty="0">
                <a:latin typeface="Arial" pitchFamily="34" charset="0"/>
              </a:rPr>
              <a:t>     } </a:t>
            </a:r>
            <a:r>
              <a:rPr lang="en-US" sz="2000" b="1" dirty="0">
                <a:solidFill>
                  <a:schemeClr val="tx1"/>
                </a:solidFill>
                <a:latin typeface="Arial" pitchFamily="34" charset="0"/>
              </a:rPr>
              <a:t>else</a:t>
            </a:r>
            <a:r>
              <a:rPr lang="en-US" sz="2000" b="1" dirty="0">
                <a:latin typeface="Arial" pitchFamily="34" charset="0"/>
              </a:rPr>
              <a:t> {</a:t>
            </a:r>
          </a:p>
          <a:p>
            <a:pPr algn="l"/>
            <a:r>
              <a:rPr lang="en-US" sz="2000" b="1" dirty="0">
                <a:solidFill>
                  <a:srgbClr val="3333FF"/>
                </a:solidFill>
                <a:latin typeface="Arial" pitchFamily="34" charset="0"/>
              </a:rPr>
              <a:t>      (partition a, b into half-size matrices </a:t>
            </a:r>
            <a:r>
              <a:rPr lang="en-US" sz="2000" b="1" dirty="0" err="1">
                <a:solidFill>
                  <a:srgbClr val="3333FF"/>
                </a:solidFill>
                <a:latin typeface="Arial" pitchFamily="34" charset="0"/>
              </a:rPr>
              <a:t>a</a:t>
            </a:r>
            <a:r>
              <a:rPr lang="en-US" sz="2000" b="1" baseline="-25000" dirty="0" err="1">
                <a:solidFill>
                  <a:srgbClr val="3333FF"/>
                </a:solidFill>
                <a:latin typeface="Arial" pitchFamily="34" charset="0"/>
              </a:rPr>
              <a:t>ij</a:t>
            </a:r>
            <a:r>
              <a:rPr lang="en-US" sz="2000" b="1" dirty="0">
                <a:solidFill>
                  <a:srgbClr val="3333FF"/>
                </a:solidFill>
                <a:latin typeface="Arial" pitchFamily="34" charset="0"/>
              </a:rPr>
              <a:t> and </a:t>
            </a:r>
            <a:r>
              <a:rPr lang="en-US" sz="2000" b="1" dirty="0" err="1">
                <a:solidFill>
                  <a:srgbClr val="3333FF"/>
                </a:solidFill>
                <a:latin typeface="Arial" pitchFamily="34" charset="0"/>
              </a:rPr>
              <a:t>b</a:t>
            </a:r>
            <a:r>
              <a:rPr lang="en-US" sz="2000" b="1" baseline="-25000" dirty="0" err="1">
                <a:solidFill>
                  <a:srgbClr val="3333FF"/>
                </a:solidFill>
                <a:latin typeface="Arial" pitchFamily="34" charset="0"/>
              </a:rPr>
              <a:t>ij</a:t>
            </a:r>
            <a:r>
              <a:rPr lang="en-US" sz="2000" b="1" dirty="0">
                <a:solidFill>
                  <a:srgbClr val="3333FF"/>
                </a:solidFill>
                <a:latin typeface="Arial" pitchFamily="34" charset="0"/>
              </a:rPr>
              <a:t>)</a:t>
            </a:r>
          </a:p>
          <a:p>
            <a:pPr algn="l"/>
            <a:r>
              <a:rPr lang="en-US" sz="2000" b="1" dirty="0">
                <a:latin typeface="Arial" pitchFamily="34" charset="0"/>
              </a:rPr>
              <a:t>      Future&lt;?&gt; f</a:t>
            </a:r>
            <a:r>
              <a:rPr lang="en-US" sz="2000" b="1" baseline="-25000" dirty="0">
                <a:latin typeface="Arial" pitchFamily="34" charset="0"/>
              </a:rPr>
              <a:t>00</a:t>
            </a:r>
            <a:r>
              <a:rPr lang="en-US" sz="2000" b="1" dirty="0">
                <a:latin typeface="Arial" pitchFamily="34" charset="0"/>
              </a:rPr>
              <a:t> = </a:t>
            </a:r>
            <a:r>
              <a:rPr lang="en-US" sz="2000" b="1" dirty="0" err="1">
                <a:latin typeface="Arial" pitchFamily="34" charset="0"/>
              </a:rPr>
              <a:t>exec.submit</a:t>
            </a:r>
            <a:r>
              <a:rPr lang="en-US" sz="2000" b="1" dirty="0">
                <a:latin typeface="Arial" pitchFamily="34" charset="0"/>
              </a:rPr>
              <a:t>(</a:t>
            </a:r>
            <a:r>
              <a:rPr lang="en-US" sz="2000" b="1" dirty="0" err="1">
                <a:latin typeface="Arial" pitchFamily="34" charset="0"/>
              </a:rPr>
              <a:t>addTask</a:t>
            </a:r>
            <a:r>
              <a:rPr lang="en-US" sz="2000" b="1" dirty="0">
                <a:latin typeface="Arial" pitchFamily="34" charset="0"/>
              </a:rPr>
              <a:t>(a</a:t>
            </a:r>
            <a:r>
              <a:rPr lang="en-US" sz="2000" b="1" baseline="-25000" dirty="0">
                <a:latin typeface="Arial" pitchFamily="34" charset="0"/>
              </a:rPr>
              <a:t>00</a:t>
            </a:r>
            <a:r>
              <a:rPr lang="en-US" sz="2000" b="1" dirty="0">
                <a:latin typeface="Arial" pitchFamily="34" charset="0"/>
              </a:rPr>
              <a:t>,b</a:t>
            </a:r>
            <a:r>
              <a:rPr lang="en-US" sz="2000" b="1" baseline="-25000" dirty="0">
                <a:latin typeface="b"/>
              </a:rPr>
              <a:t>00</a:t>
            </a:r>
            <a:r>
              <a:rPr lang="en-US" sz="2000" b="1" dirty="0">
                <a:latin typeface="Arial" pitchFamily="34" charset="0"/>
              </a:rPr>
              <a:t>));</a:t>
            </a:r>
          </a:p>
          <a:p>
            <a:pPr algn="l"/>
            <a:r>
              <a:rPr lang="en-US" sz="2000" b="1" dirty="0">
                <a:latin typeface="Arial" pitchFamily="34" charset="0"/>
              </a:rPr>
              <a:t>      …</a:t>
            </a:r>
            <a:endParaRPr lang="en-US" sz="2000" b="1" dirty="0">
              <a:solidFill>
                <a:schemeClr val="accent2"/>
              </a:solidFill>
              <a:latin typeface="Arial" pitchFamily="34" charset="0"/>
            </a:endParaRPr>
          </a:p>
          <a:p>
            <a:pPr algn="l"/>
            <a:r>
              <a:rPr lang="en-US" sz="2000" b="1" dirty="0">
                <a:latin typeface="Arial" pitchFamily="34" charset="0"/>
              </a:rPr>
              <a:t>      Future&lt;?&gt; f</a:t>
            </a:r>
            <a:r>
              <a:rPr lang="en-US" sz="2000" b="1" baseline="-25000" dirty="0">
                <a:latin typeface="Arial" pitchFamily="34" charset="0"/>
              </a:rPr>
              <a:t>11</a:t>
            </a:r>
            <a:r>
              <a:rPr lang="en-US" sz="2000" b="1" dirty="0">
                <a:latin typeface="Arial" pitchFamily="34" charset="0"/>
              </a:rPr>
              <a:t> = </a:t>
            </a:r>
            <a:r>
              <a:rPr lang="en-US" sz="2000" b="1" dirty="0" err="1">
                <a:latin typeface="Arial" pitchFamily="34" charset="0"/>
              </a:rPr>
              <a:t>exec.submit</a:t>
            </a:r>
            <a:r>
              <a:rPr lang="en-US" sz="2000" b="1" dirty="0">
                <a:latin typeface="Arial" pitchFamily="34" charset="0"/>
              </a:rPr>
              <a:t>(</a:t>
            </a:r>
            <a:r>
              <a:rPr lang="en-US" sz="2000" b="1" dirty="0" err="1">
                <a:latin typeface="Arial" pitchFamily="34" charset="0"/>
              </a:rPr>
              <a:t>addTask</a:t>
            </a:r>
            <a:r>
              <a:rPr lang="en-US" sz="2000" b="1" dirty="0">
                <a:latin typeface="Arial" pitchFamily="34" charset="0"/>
              </a:rPr>
              <a:t>(a</a:t>
            </a:r>
            <a:r>
              <a:rPr lang="en-US" sz="2000" b="1" baseline="-25000" dirty="0">
                <a:latin typeface="Arial" pitchFamily="34" charset="0"/>
              </a:rPr>
              <a:t>11</a:t>
            </a:r>
            <a:r>
              <a:rPr lang="en-US" sz="2000" b="1" dirty="0">
                <a:latin typeface="Arial" pitchFamily="34" charset="0"/>
              </a:rPr>
              <a:t>,b</a:t>
            </a:r>
            <a:r>
              <a:rPr lang="en-US" sz="2000" b="1" baseline="-25000" dirty="0">
                <a:latin typeface="Arial" pitchFamily="34" charset="0"/>
              </a:rPr>
              <a:t>11</a:t>
            </a:r>
            <a:r>
              <a:rPr lang="en-US" sz="2000" b="1" dirty="0">
                <a:latin typeface="Arial" pitchFamily="34" charset="0"/>
              </a:rPr>
              <a:t>));</a:t>
            </a:r>
          </a:p>
          <a:p>
            <a:pPr algn="l"/>
            <a:r>
              <a:rPr lang="en-US" sz="2000" b="1" dirty="0">
                <a:latin typeface="Arial" pitchFamily="34" charset="0"/>
              </a:rPr>
              <a:t>      f</a:t>
            </a:r>
            <a:r>
              <a:rPr lang="en-US" sz="2000" b="1" baseline="-25000" dirty="0">
                <a:latin typeface="Arial" pitchFamily="34" charset="0"/>
              </a:rPr>
              <a:t>00</a:t>
            </a:r>
            <a:r>
              <a:rPr lang="en-US" sz="2000" b="1" dirty="0">
                <a:latin typeface="Arial" pitchFamily="34" charset="0"/>
              </a:rPr>
              <a:t>.get(); …; f</a:t>
            </a:r>
            <a:r>
              <a:rPr lang="en-US" sz="2000" b="1" baseline="-25000" dirty="0">
                <a:latin typeface="Arial" pitchFamily="34" charset="0"/>
              </a:rPr>
              <a:t>11</a:t>
            </a:r>
            <a:r>
              <a:rPr lang="en-US" sz="2000" b="1" dirty="0">
                <a:latin typeface="Arial" pitchFamily="34" charset="0"/>
              </a:rPr>
              <a:t>.get(); </a:t>
            </a:r>
          </a:p>
          <a:p>
            <a:pPr algn="l"/>
            <a:r>
              <a:rPr lang="en-US" sz="2000" b="1" dirty="0">
                <a:latin typeface="Arial" pitchFamily="34" charset="0"/>
              </a:rPr>
              <a:t>      …</a:t>
            </a:r>
          </a:p>
          <a:p>
            <a:pPr algn="l"/>
            <a:r>
              <a:rPr lang="en-US" sz="2000" b="1" dirty="0">
                <a:latin typeface="Arial" pitchFamily="34" charset="0"/>
              </a:rPr>
              <a:t>     }}  </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1"/>
          <p:cNvSpPr>
            <a:spLocks noGrp="1"/>
          </p:cNvSpPr>
          <p:nvPr>
            <p:ph type="ftr" sz="quarter" idx="10"/>
          </p:nvPr>
        </p:nvSpPr>
        <p:spPr>
          <a:noFill/>
        </p:spPr>
        <p:txBody>
          <a:bodyPr/>
          <a:lstStyle/>
          <a:p>
            <a:r>
              <a:rPr lang="en-US"/>
              <a:t>Art of Multiprocessor Programming</a:t>
            </a:r>
          </a:p>
        </p:txBody>
      </p:sp>
      <p:sp>
        <p:nvSpPr>
          <p:cNvPr id="41987" name="Slide Number Placeholder 2"/>
          <p:cNvSpPr>
            <a:spLocks noGrp="1"/>
          </p:cNvSpPr>
          <p:nvPr>
            <p:ph type="sldNum" sz="quarter" idx="11"/>
          </p:nvPr>
        </p:nvSpPr>
        <p:spPr>
          <a:noFill/>
        </p:spPr>
        <p:txBody>
          <a:bodyPr/>
          <a:lstStyle/>
          <a:p>
            <a:fld id="{1324828F-094B-4FCC-A148-B64C20ADAF13}" type="slidenum">
              <a:rPr lang="x-none" smtClean="0"/>
              <a:pPr/>
              <a:t>29</a:t>
            </a:fld>
            <a:endParaRPr lang="en-US"/>
          </a:p>
        </p:txBody>
      </p:sp>
      <p:sp>
        <p:nvSpPr>
          <p:cNvPr id="41988" name="Rectangle 2"/>
          <p:cNvSpPr>
            <a:spLocks noGrp="1" noChangeArrowheads="1"/>
          </p:cNvSpPr>
          <p:nvPr>
            <p:ph type="title" idx="4294967295"/>
          </p:nvPr>
        </p:nvSpPr>
        <p:spPr/>
        <p:txBody>
          <a:bodyPr/>
          <a:lstStyle/>
          <a:p>
            <a:r>
              <a:rPr lang="en-US"/>
              <a:t>Matrix Addition Task</a:t>
            </a:r>
          </a:p>
        </p:txBody>
      </p:sp>
      <p:sp>
        <p:nvSpPr>
          <p:cNvPr id="41989" name="Rectangle 3"/>
          <p:cNvSpPr>
            <a:spLocks noChangeArrowheads="1"/>
          </p:cNvSpPr>
          <p:nvPr/>
        </p:nvSpPr>
        <p:spPr bwMode="auto">
          <a:xfrm>
            <a:off x="838200" y="1752600"/>
            <a:ext cx="7277100"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Arial" pitchFamily="34" charset="0"/>
              </a:rPr>
              <a:t>class </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 implements </a:t>
            </a:r>
            <a:r>
              <a:rPr lang="en-US" sz="2000" b="1" dirty="0" err="1">
                <a:solidFill>
                  <a:schemeClr val="folHlink"/>
                </a:solidFill>
                <a:latin typeface="Arial" pitchFamily="34" charset="0"/>
              </a:rPr>
              <a:t>Runnable</a:t>
            </a:r>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Matrix a, b; // add this!</a:t>
            </a:r>
          </a:p>
          <a:p>
            <a:pPr algn="l"/>
            <a:r>
              <a:rPr lang="en-US" sz="2000" b="1" dirty="0">
                <a:solidFill>
                  <a:schemeClr val="folHlink"/>
                </a:solidFill>
                <a:latin typeface="Arial" pitchFamily="34" charset="0"/>
              </a:rPr>
              <a:t>   public void run() {</a:t>
            </a:r>
          </a:p>
          <a:p>
            <a:pPr algn="l"/>
            <a:r>
              <a:rPr lang="en-US" sz="2000" b="1" dirty="0">
                <a:solidFill>
                  <a:schemeClr val="folHlink"/>
                </a:solidFill>
                <a:latin typeface="Arial" pitchFamily="34" charset="0"/>
              </a:rPr>
              <a:t>     if (a.dim == 1) {</a:t>
            </a:r>
          </a:p>
          <a:p>
            <a:pPr algn="l"/>
            <a:r>
              <a:rPr lang="en-US" sz="2000" b="1" dirty="0">
                <a:solidFill>
                  <a:schemeClr val="folHlink"/>
                </a:solidFill>
                <a:latin typeface="Arial" pitchFamily="34" charset="0"/>
              </a:rPr>
              <a:t>      c[0][0] = a[0][0] + b[0][0]; // base case</a:t>
            </a:r>
          </a:p>
          <a:p>
            <a:pPr algn="l"/>
            <a:r>
              <a:rPr lang="en-US" sz="2000" b="1" dirty="0">
                <a:solidFill>
                  <a:schemeClr val="folHlink"/>
                </a:solidFill>
                <a:latin typeface="Arial" pitchFamily="34" charset="0"/>
              </a:rPr>
              <a:t>     } else {</a:t>
            </a:r>
          </a:p>
          <a:p>
            <a:pPr algn="l"/>
            <a:r>
              <a:rPr lang="en-US" sz="2000" b="1" dirty="0">
                <a:solidFill>
                  <a:srgbClr val="3333FF"/>
                </a:solidFill>
                <a:latin typeface="Arial" pitchFamily="34" charset="0"/>
              </a:rPr>
              <a:t>      (partition a, b into half-size matrices </a:t>
            </a:r>
            <a:r>
              <a:rPr lang="en-US" sz="2000" b="1" dirty="0" err="1">
                <a:solidFill>
                  <a:srgbClr val="3333FF"/>
                </a:solidFill>
                <a:latin typeface="Arial" pitchFamily="34" charset="0"/>
              </a:rPr>
              <a:t>a</a:t>
            </a:r>
            <a:r>
              <a:rPr lang="en-US" sz="2000" b="1" baseline="-25000" dirty="0" err="1">
                <a:solidFill>
                  <a:srgbClr val="3333FF"/>
                </a:solidFill>
                <a:latin typeface="Arial" pitchFamily="34" charset="0"/>
              </a:rPr>
              <a:t>ij</a:t>
            </a:r>
            <a:r>
              <a:rPr lang="en-US" sz="2000" b="1" dirty="0">
                <a:solidFill>
                  <a:srgbClr val="3333FF"/>
                </a:solidFill>
                <a:latin typeface="Arial" pitchFamily="34" charset="0"/>
              </a:rPr>
              <a:t> and </a:t>
            </a:r>
            <a:r>
              <a:rPr lang="en-US" sz="2000" b="1" dirty="0" err="1">
                <a:solidFill>
                  <a:srgbClr val="3333FF"/>
                </a:solidFill>
                <a:latin typeface="Arial" pitchFamily="34" charset="0"/>
              </a:rPr>
              <a:t>b</a:t>
            </a:r>
            <a:r>
              <a:rPr lang="en-US" sz="2000" b="1" baseline="-25000" dirty="0" err="1">
                <a:solidFill>
                  <a:srgbClr val="3333FF"/>
                </a:solidFill>
                <a:latin typeface="Arial" pitchFamily="34" charset="0"/>
              </a:rPr>
              <a:t>ij</a:t>
            </a:r>
            <a:r>
              <a:rPr lang="en-US" sz="2000" b="1" dirty="0">
                <a:solidFill>
                  <a:srgbClr val="3333FF"/>
                </a:solidFill>
                <a:latin typeface="Arial" pitchFamily="34" charset="0"/>
              </a:rPr>
              <a:t>)</a:t>
            </a:r>
          </a:p>
          <a:p>
            <a:pPr algn="l"/>
            <a:r>
              <a:rPr lang="en-US" sz="2000" b="1" dirty="0">
                <a:latin typeface="Arial" pitchFamily="34" charset="0"/>
              </a:rPr>
              <a:t>      </a:t>
            </a:r>
            <a:r>
              <a:rPr lang="en-US" sz="2000" b="1" dirty="0">
                <a:solidFill>
                  <a:schemeClr val="folHlink"/>
                </a:solidFill>
                <a:latin typeface="Arial" pitchFamily="34" charset="0"/>
              </a:rPr>
              <a:t>Future&lt;?&gt; 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,b</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Future&lt;?&gt;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,b</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.get(); …;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.get(); </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  </a:t>
            </a:r>
          </a:p>
        </p:txBody>
      </p:sp>
      <p:sp>
        <p:nvSpPr>
          <p:cNvPr id="41990" name="AutoShape 4"/>
          <p:cNvSpPr>
            <a:spLocks noChangeArrowheads="1"/>
          </p:cNvSpPr>
          <p:nvPr/>
        </p:nvSpPr>
        <p:spPr bwMode="auto">
          <a:xfrm>
            <a:off x="1295400" y="3517900"/>
            <a:ext cx="5791200" cy="546100"/>
          </a:xfrm>
          <a:prstGeom prst="wedgeRoundRectCallout">
            <a:avLst>
              <a:gd name="adj1" fmla="val 18694"/>
              <a:gd name="adj2" fmla="val 262208"/>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41991" name="Text Box 5"/>
          <p:cNvSpPr txBox="1">
            <a:spLocks noChangeArrowheads="1"/>
          </p:cNvSpPr>
          <p:nvPr/>
        </p:nvSpPr>
        <p:spPr bwMode="auto">
          <a:xfrm>
            <a:off x="2884488" y="5229225"/>
            <a:ext cx="5111750"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Constant-time operation</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1"/>
          <p:cNvSpPr>
            <a:spLocks noGrp="1"/>
          </p:cNvSpPr>
          <p:nvPr>
            <p:ph type="ftr" sz="quarter" idx="10"/>
          </p:nvPr>
        </p:nvSpPr>
        <p:spPr>
          <a:noFill/>
        </p:spPr>
        <p:txBody>
          <a:bodyPr/>
          <a:lstStyle/>
          <a:p>
            <a:r>
              <a:rPr lang="en-US"/>
              <a:t>Art of Multiprocessor Programming</a:t>
            </a:r>
          </a:p>
        </p:txBody>
      </p:sp>
      <p:sp>
        <p:nvSpPr>
          <p:cNvPr id="43011" name="Slide Number Placeholder 2"/>
          <p:cNvSpPr>
            <a:spLocks noGrp="1"/>
          </p:cNvSpPr>
          <p:nvPr>
            <p:ph type="sldNum" sz="quarter" idx="11"/>
          </p:nvPr>
        </p:nvSpPr>
        <p:spPr>
          <a:noFill/>
        </p:spPr>
        <p:txBody>
          <a:bodyPr/>
          <a:lstStyle/>
          <a:p>
            <a:fld id="{93C928A7-F938-4B43-A906-38678E8BB721}" type="slidenum">
              <a:rPr lang="x-none" smtClean="0"/>
              <a:pPr/>
              <a:t>30</a:t>
            </a:fld>
            <a:endParaRPr lang="en-US"/>
          </a:p>
        </p:txBody>
      </p:sp>
      <p:sp>
        <p:nvSpPr>
          <p:cNvPr id="43012" name="Rectangle 2"/>
          <p:cNvSpPr>
            <a:spLocks noGrp="1" noChangeArrowheads="1"/>
          </p:cNvSpPr>
          <p:nvPr>
            <p:ph type="title" idx="4294967295"/>
          </p:nvPr>
        </p:nvSpPr>
        <p:spPr/>
        <p:txBody>
          <a:bodyPr/>
          <a:lstStyle/>
          <a:p>
            <a:r>
              <a:rPr lang="en-US"/>
              <a:t>Matrix Addition Task</a:t>
            </a:r>
          </a:p>
        </p:txBody>
      </p:sp>
      <p:sp>
        <p:nvSpPr>
          <p:cNvPr id="43013" name="Rectangle 3"/>
          <p:cNvSpPr>
            <a:spLocks noChangeArrowheads="1"/>
          </p:cNvSpPr>
          <p:nvPr/>
        </p:nvSpPr>
        <p:spPr bwMode="auto">
          <a:xfrm>
            <a:off x="838200" y="1752600"/>
            <a:ext cx="7277100"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Arial" pitchFamily="34" charset="0"/>
              </a:rPr>
              <a:t>class </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 implements </a:t>
            </a:r>
            <a:r>
              <a:rPr lang="en-US" sz="2000" b="1" dirty="0" err="1">
                <a:solidFill>
                  <a:schemeClr val="folHlink"/>
                </a:solidFill>
                <a:latin typeface="Arial" pitchFamily="34" charset="0"/>
              </a:rPr>
              <a:t>Runnable</a:t>
            </a:r>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Matrix a, b; // add this!</a:t>
            </a:r>
          </a:p>
          <a:p>
            <a:pPr algn="l"/>
            <a:r>
              <a:rPr lang="en-US" sz="2000" b="1" dirty="0">
                <a:solidFill>
                  <a:schemeClr val="folHlink"/>
                </a:solidFill>
                <a:latin typeface="Arial" pitchFamily="34" charset="0"/>
              </a:rPr>
              <a:t>   public void run() {</a:t>
            </a:r>
          </a:p>
          <a:p>
            <a:pPr algn="l"/>
            <a:r>
              <a:rPr lang="en-US" sz="2000" b="1" dirty="0">
                <a:solidFill>
                  <a:schemeClr val="folHlink"/>
                </a:solidFill>
                <a:latin typeface="Arial" pitchFamily="34" charset="0"/>
              </a:rPr>
              <a:t>     if (a.dim == 1) {</a:t>
            </a:r>
          </a:p>
          <a:p>
            <a:pPr algn="l"/>
            <a:r>
              <a:rPr lang="en-US" sz="2000" b="1" dirty="0">
                <a:solidFill>
                  <a:schemeClr val="folHlink"/>
                </a:solidFill>
                <a:latin typeface="Arial" pitchFamily="34" charset="0"/>
              </a:rPr>
              <a:t>      c[0][0] = a[0][0] + b[0][0]; // base case</a:t>
            </a:r>
          </a:p>
          <a:p>
            <a:pPr algn="l"/>
            <a:r>
              <a:rPr lang="en-US" sz="2000" b="1" dirty="0">
                <a:solidFill>
                  <a:schemeClr val="folHlink"/>
                </a:solidFill>
                <a:latin typeface="Arial" pitchFamily="34" charset="0"/>
              </a:rPr>
              <a:t>     } else {</a:t>
            </a:r>
          </a:p>
          <a:p>
            <a:pPr algn="l"/>
            <a:r>
              <a:rPr lang="en-US" sz="2000" b="1" dirty="0">
                <a:solidFill>
                  <a:schemeClr val="folHlink"/>
                </a:solidFill>
                <a:latin typeface="Arial" pitchFamily="34" charset="0"/>
              </a:rPr>
              <a:t>      (partition a, b into half-size matrices </a:t>
            </a:r>
            <a:r>
              <a:rPr lang="en-US" sz="2000" b="1" dirty="0" err="1">
                <a:solidFill>
                  <a:schemeClr val="folHlink"/>
                </a:solidFill>
                <a:latin typeface="Arial" pitchFamily="34" charset="0"/>
              </a:rPr>
              <a:t>a</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 and </a:t>
            </a:r>
            <a:r>
              <a:rPr lang="en-US" sz="2000" b="1" dirty="0" err="1">
                <a:solidFill>
                  <a:schemeClr val="folHlink"/>
                </a:solidFill>
                <a:latin typeface="Arial" pitchFamily="34" charset="0"/>
              </a:rPr>
              <a:t>b</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a:t>
            </a:r>
          </a:p>
          <a:p>
            <a:pPr algn="l"/>
            <a:r>
              <a:rPr lang="en-US" sz="2000" b="1" dirty="0">
                <a:latin typeface="Arial" pitchFamily="34" charset="0"/>
              </a:rPr>
              <a:t>      Future&lt;?&gt; f</a:t>
            </a:r>
            <a:r>
              <a:rPr lang="en-US" sz="2000" b="1" baseline="-25000" dirty="0">
                <a:latin typeface="Arial" pitchFamily="34" charset="0"/>
              </a:rPr>
              <a:t>00</a:t>
            </a:r>
            <a:r>
              <a:rPr lang="en-US" sz="2000" b="1" dirty="0">
                <a:latin typeface="Arial" pitchFamily="34" charset="0"/>
              </a:rPr>
              <a:t> = </a:t>
            </a:r>
            <a:r>
              <a:rPr lang="en-US" sz="2000" b="1" dirty="0" err="1">
                <a:latin typeface="Arial" pitchFamily="34" charset="0"/>
              </a:rPr>
              <a:t>exec.submit</a:t>
            </a:r>
            <a:r>
              <a:rPr lang="en-US" sz="2000" b="1" dirty="0">
                <a:latin typeface="Arial" pitchFamily="34" charset="0"/>
              </a:rPr>
              <a:t>(</a:t>
            </a:r>
            <a:r>
              <a:rPr lang="en-US" sz="2000" b="1" dirty="0" err="1">
                <a:latin typeface="Arial" pitchFamily="34" charset="0"/>
              </a:rPr>
              <a:t>addTask</a:t>
            </a:r>
            <a:r>
              <a:rPr lang="en-US" sz="2000" b="1" dirty="0">
                <a:latin typeface="Arial" pitchFamily="34" charset="0"/>
              </a:rPr>
              <a:t>(a</a:t>
            </a:r>
            <a:r>
              <a:rPr lang="en-US" sz="2000" b="1" baseline="-25000" dirty="0">
                <a:latin typeface="Arial" pitchFamily="34" charset="0"/>
              </a:rPr>
              <a:t>00</a:t>
            </a:r>
            <a:r>
              <a:rPr lang="en-US" sz="2000" b="1" dirty="0">
                <a:latin typeface="Arial" pitchFamily="34" charset="0"/>
              </a:rPr>
              <a:t>,b</a:t>
            </a:r>
            <a:r>
              <a:rPr lang="en-US" sz="2000" b="1" baseline="-25000" dirty="0">
                <a:latin typeface="Arial" pitchFamily="34" charset="0"/>
              </a:rPr>
              <a:t>00</a:t>
            </a:r>
            <a:r>
              <a:rPr lang="en-US" sz="2000" b="1" dirty="0">
                <a:latin typeface="Arial" pitchFamily="34" charset="0"/>
              </a:rPr>
              <a:t>));</a:t>
            </a:r>
          </a:p>
          <a:p>
            <a:pPr algn="l"/>
            <a:r>
              <a:rPr lang="en-US" sz="2000" b="1" dirty="0">
                <a:latin typeface="Arial" pitchFamily="34" charset="0"/>
              </a:rPr>
              <a:t>      …</a:t>
            </a:r>
            <a:endParaRPr lang="en-US" sz="2000" b="1" dirty="0">
              <a:solidFill>
                <a:schemeClr val="accent2"/>
              </a:solidFill>
              <a:latin typeface="Arial" pitchFamily="34" charset="0"/>
            </a:endParaRPr>
          </a:p>
          <a:p>
            <a:pPr algn="l"/>
            <a:r>
              <a:rPr lang="en-US" sz="2000" b="1" dirty="0">
                <a:latin typeface="Arial" pitchFamily="34" charset="0"/>
              </a:rPr>
              <a:t>      Future&lt;?&gt; f</a:t>
            </a:r>
            <a:r>
              <a:rPr lang="en-US" sz="2000" b="1" baseline="-25000" dirty="0">
                <a:latin typeface="Arial" pitchFamily="34" charset="0"/>
              </a:rPr>
              <a:t>11</a:t>
            </a:r>
            <a:r>
              <a:rPr lang="en-US" sz="2000" b="1" dirty="0">
                <a:latin typeface="Arial" pitchFamily="34" charset="0"/>
              </a:rPr>
              <a:t> = </a:t>
            </a:r>
            <a:r>
              <a:rPr lang="en-US" sz="2000" b="1" dirty="0" err="1">
                <a:latin typeface="Arial" pitchFamily="34" charset="0"/>
              </a:rPr>
              <a:t>exec.submit</a:t>
            </a:r>
            <a:r>
              <a:rPr lang="en-US" sz="2000" b="1" dirty="0">
                <a:latin typeface="Arial" pitchFamily="34" charset="0"/>
              </a:rPr>
              <a:t>(</a:t>
            </a:r>
            <a:r>
              <a:rPr lang="en-US" sz="2000" b="1" dirty="0" err="1">
                <a:latin typeface="Arial" pitchFamily="34" charset="0"/>
              </a:rPr>
              <a:t>addTask</a:t>
            </a:r>
            <a:r>
              <a:rPr lang="en-US" sz="2000" b="1" dirty="0">
                <a:latin typeface="Arial" pitchFamily="34" charset="0"/>
              </a:rPr>
              <a:t>(a</a:t>
            </a:r>
            <a:r>
              <a:rPr lang="en-US" sz="2000" b="1" baseline="-25000" dirty="0">
                <a:latin typeface="Arial" pitchFamily="34" charset="0"/>
              </a:rPr>
              <a:t>11</a:t>
            </a:r>
            <a:r>
              <a:rPr lang="en-US" sz="2000" b="1" dirty="0">
                <a:latin typeface="Arial" pitchFamily="34" charset="0"/>
              </a:rPr>
              <a:t>,b</a:t>
            </a:r>
            <a:r>
              <a:rPr lang="en-US" sz="2000" b="1" baseline="-25000" dirty="0">
                <a:latin typeface="Arial" pitchFamily="34" charset="0"/>
              </a:rPr>
              <a:t>11</a:t>
            </a:r>
            <a:r>
              <a:rPr lang="en-US" sz="2000" b="1" dirty="0">
                <a:latin typeface="Arial" pitchFamily="34" charset="0"/>
              </a:rPr>
              <a:t>));</a:t>
            </a:r>
          </a:p>
          <a:p>
            <a:pPr algn="l"/>
            <a:r>
              <a:rPr lang="en-US" sz="2000" b="1" dirty="0">
                <a:latin typeface="Arial" pitchFamily="34" charset="0"/>
              </a:rPr>
              <a:t>      </a:t>
            </a:r>
            <a:r>
              <a:rPr lang="en-US" sz="2000" b="1" dirty="0">
                <a:solidFill>
                  <a:schemeClr val="folHlink"/>
                </a:solidFill>
                <a:latin typeface="Arial" pitchFamily="34" charset="0"/>
              </a:rPr>
              <a:t>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.get(); …;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.get(); </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  </a:t>
            </a:r>
          </a:p>
        </p:txBody>
      </p:sp>
      <p:sp>
        <p:nvSpPr>
          <p:cNvPr id="43014" name="AutoShape 4"/>
          <p:cNvSpPr>
            <a:spLocks noChangeArrowheads="1"/>
          </p:cNvSpPr>
          <p:nvPr/>
        </p:nvSpPr>
        <p:spPr bwMode="auto">
          <a:xfrm>
            <a:off x="1231900" y="3898900"/>
            <a:ext cx="5694644" cy="1041400"/>
          </a:xfrm>
          <a:prstGeom prst="wedgeRoundRectCallout">
            <a:avLst>
              <a:gd name="adj1" fmla="val 37167"/>
              <a:gd name="adj2" fmla="val 89329"/>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43015" name="Text Box 5"/>
          <p:cNvSpPr txBox="1">
            <a:spLocks noChangeArrowheads="1"/>
          </p:cNvSpPr>
          <p:nvPr/>
        </p:nvSpPr>
        <p:spPr bwMode="auto">
          <a:xfrm>
            <a:off x="4764088" y="5280025"/>
            <a:ext cx="3244850"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Submit 4 tasks</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1"/>
          <p:cNvSpPr>
            <a:spLocks noGrp="1"/>
          </p:cNvSpPr>
          <p:nvPr>
            <p:ph type="ftr" sz="quarter" idx="10"/>
          </p:nvPr>
        </p:nvSpPr>
        <p:spPr>
          <a:noFill/>
        </p:spPr>
        <p:txBody>
          <a:bodyPr/>
          <a:lstStyle/>
          <a:p>
            <a:r>
              <a:rPr lang="en-US"/>
              <a:t>Art of Multiprocessor Programming</a:t>
            </a:r>
          </a:p>
        </p:txBody>
      </p:sp>
      <p:sp>
        <p:nvSpPr>
          <p:cNvPr id="40963" name="Slide Number Placeholder 2"/>
          <p:cNvSpPr>
            <a:spLocks noGrp="1"/>
          </p:cNvSpPr>
          <p:nvPr>
            <p:ph type="sldNum" sz="quarter" idx="11"/>
          </p:nvPr>
        </p:nvSpPr>
        <p:spPr>
          <a:noFill/>
        </p:spPr>
        <p:txBody>
          <a:bodyPr/>
          <a:lstStyle/>
          <a:p>
            <a:fld id="{09C262CF-DA56-4D5B-B473-95C772626DA7}" type="slidenum">
              <a:rPr lang="x-none" smtClean="0"/>
              <a:pPr/>
              <a:t>31</a:t>
            </a:fld>
            <a:endParaRPr lang="en-US"/>
          </a:p>
        </p:txBody>
      </p:sp>
      <p:sp>
        <p:nvSpPr>
          <p:cNvPr id="40964" name="Rectangle 2"/>
          <p:cNvSpPr>
            <a:spLocks noGrp="1" noChangeArrowheads="1"/>
          </p:cNvSpPr>
          <p:nvPr>
            <p:ph type="title" idx="4294967295"/>
          </p:nvPr>
        </p:nvSpPr>
        <p:spPr/>
        <p:txBody>
          <a:bodyPr/>
          <a:lstStyle/>
          <a:p>
            <a:r>
              <a:rPr lang="en-US"/>
              <a:t>Matrix Addition Task</a:t>
            </a:r>
          </a:p>
        </p:txBody>
      </p:sp>
      <p:sp>
        <p:nvSpPr>
          <p:cNvPr id="40965" name="Rectangle 3"/>
          <p:cNvSpPr>
            <a:spLocks noChangeArrowheads="1"/>
          </p:cNvSpPr>
          <p:nvPr/>
        </p:nvSpPr>
        <p:spPr bwMode="auto">
          <a:xfrm>
            <a:off x="838200" y="1752600"/>
            <a:ext cx="7277100"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Arial" pitchFamily="34" charset="0"/>
              </a:rPr>
              <a:t>class </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 implements </a:t>
            </a:r>
            <a:r>
              <a:rPr lang="en-US" sz="2000" b="1" dirty="0" err="1">
                <a:solidFill>
                  <a:schemeClr val="folHlink"/>
                </a:solidFill>
                <a:latin typeface="Arial" pitchFamily="34" charset="0"/>
              </a:rPr>
              <a:t>Runnable</a:t>
            </a:r>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Matrix a, b; // add this!</a:t>
            </a:r>
          </a:p>
          <a:p>
            <a:pPr algn="l"/>
            <a:r>
              <a:rPr lang="en-US" sz="2000" b="1" dirty="0">
                <a:solidFill>
                  <a:schemeClr val="folHlink"/>
                </a:solidFill>
                <a:latin typeface="Arial" pitchFamily="34" charset="0"/>
              </a:rPr>
              <a:t>   public void run() {</a:t>
            </a:r>
          </a:p>
          <a:p>
            <a:pPr algn="l"/>
            <a:r>
              <a:rPr lang="en-US" sz="2000" b="1" dirty="0">
                <a:latin typeface="Arial" pitchFamily="34" charset="0"/>
              </a:rPr>
              <a:t>     </a:t>
            </a:r>
            <a:r>
              <a:rPr lang="en-US" sz="2000" b="1" dirty="0">
                <a:solidFill>
                  <a:schemeClr val="tx1"/>
                </a:solidFill>
                <a:latin typeface="Arial" pitchFamily="34" charset="0"/>
              </a:rPr>
              <a:t>if</a:t>
            </a:r>
            <a:r>
              <a:rPr lang="en-US" sz="2000" b="1" dirty="0">
                <a:latin typeface="Arial" pitchFamily="34" charset="0"/>
              </a:rPr>
              <a:t> (a.dim == 1) {</a:t>
            </a:r>
          </a:p>
          <a:p>
            <a:pPr algn="l"/>
            <a:r>
              <a:rPr lang="en-US" sz="2000" b="1" dirty="0">
                <a:latin typeface="Arial" pitchFamily="34" charset="0"/>
              </a:rPr>
              <a:t>      c[0][0] = a[0][0] + b[0][0]; </a:t>
            </a:r>
            <a:r>
              <a:rPr lang="en-US" sz="2000" b="1" dirty="0">
                <a:solidFill>
                  <a:schemeClr val="accent1"/>
                </a:solidFill>
                <a:latin typeface="Arial" pitchFamily="34" charset="0"/>
              </a:rPr>
              <a:t>// base case</a:t>
            </a:r>
          </a:p>
          <a:p>
            <a:pPr algn="l"/>
            <a:r>
              <a:rPr lang="en-US" sz="2000" b="1" dirty="0">
                <a:latin typeface="Arial" pitchFamily="34" charset="0"/>
              </a:rPr>
              <a:t>     </a:t>
            </a:r>
            <a:r>
              <a:rPr lang="en-US" sz="2000" b="1" dirty="0">
                <a:solidFill>
                  <a:schemeClr val="folHlink"/>
                </a:solidFill>
                <a:latin typeface="Arial" pitchFamily="34" charset="0"/>
              </a:rPr>
              <a:t>} else {</a:t>
            </a:r>
          </a:p>
          <a:p>
            <a:pPr algn="l"/>
            <a:r>
              <a:rPr lang="en-US" sz="2000" b="1" dirty="0">
                <a:solidFill>
                  <a:schemeClr val="folHlink"/>
                </a:solidFill>
                <a:latin typeface="Arial" pitchFamily="34" charset="0"/>
              </a:rPr>
              <a:t>      (partition a, b into half-size matrices </a:t>
            </a:r>
            <a:r>
              <a:rPr lang="en-US" sz="2000" b="1" dirty="0" err="1">
                <a:solidFill>
                  <a:schemeClr val="folHlink"/>
                </a:solidFill>
                <a:latin typeface="Arial" pitchFamily="34" charset="0"/>
              </a:rPr>
              <a:t>a</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 and </a:t>
            </a:r>
            <a:r>
              <a:rPr lang="en-US" sz="2000" b="1" dirty="0" err="1">
                <a:solidFill>
                  <a:schemeClr val="folHlink"/>
                </a:solidFill>
                <a:latin typeface="Arial" pitchFamily="34" charset="0"/>
              </a:rPr>
              <a:t>b</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Future&lt;?&gt; 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,b</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Future&lt;?&gt;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,b</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.get(); …;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.get(); </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  </a:t>
            </a:r>
          </a:p>
        </p:txBody>
      </p:sp>
      <p:sp>
        <p:nvSpPr>
          <p:cNvPr id="40966" name="AutoShape 4"/>
          <p:cNvSpPr>
            <a:spLocks noChangeArrowheads="1"/>
          </p:cNvSpPr>
          <p:nvPr/>
        </p:nvSpPr>
        <p:spPr bwMode="auto">
          <a:xfrm>
            <a:off x="1168400" y="2679700"/>
            <a:ext cx="4991100" cy="787400"/>
          </a:xfrm>
          <a:prstGeom prst="wedgeRoundRectCallout">
            <a:avLst>
              <a:gd name="adj1" fmla="val 22329"/>
              <a:gd name="adj2" fmla="val 252014"/>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40967" name="Text Box 5"/>
          <p:cNvSpPr txBox="1">
            <a:spLocks noChangeArrowheads="1"/>
          </p:cNvSpPr>
          <p:nvPr/>
        </p:nvSpPr>
        <p:spPr bwMode="auto">
          <a:xfrm>
            <a:off x="3519488" y="5153025"/>
            <a:ext cx="5111750"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Base case: add directly</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1"/>
          <p:cNvSpPr>
            <a:spLocks noGrp="1"/>
          </p:cNvSpPr>
          <p:nvPr>
            <p:ph type="ftr" sz="quarter" idx="10"/>
          </p:nvPr>
        </p:nvSpPr>
        <p:spPr>
          <a:noFill/>
        </p:spPr>
        <p:txBody>
          <a:bodyPr/>
          <a:lstStyle/>
          <a:p>
            <a:r>
              <a:rPr lang="en-US"/>
              <a:t>Art of Multiprocessor Programming</a:t>
            </a:r>
          </a:p>
        </p:txBody>
      </p:sp>
      <p:sp>
        <p:nvSpPr>
          <p:cNvPr id="44035" name="Slide Number Placeholder 2"/>
          <p:cNvSpPr>
            <a:spLocks noGrp="1"/>
          </p:cNvSpPr>
          <p:nvPr>
            <p:ph type="sldNum" sz="quarter" idx="11"/>
          </p:nvPr>
        </p:nvSpPr>
        <p:spPr>
          <a:noFill/>
        </p:spPr>
        <p:txBody>
          <a:bodyPr/>
          <a:lstStyle/>
          <a:p>
            <a:fld id="{8055E6C6-1341-46EF-804F-0CD60D123613}" type="slidenum">
              <a:rPr lang="x-none" smtClean="0"/>
              <a:pPr/>
              <a:t>32</a:t>
            </a:fld>
            <a:endParaRPr lang="en-US"/>
          </a:p>
        </p:txBody>
      </p:sp>
      <p:sp>
        <p:nvSpPr>
          <p:cNvPr id="44036" name="Rectangle 2"/>
          <p:cNvSpPr>
            <a:spLocks noGrp="1" noChangeArrowheads="1"/>
          </p:cNvSpPr>
          <p:nvPr>
            <p:ph type="title" idx="4294967295"/>
          </p:nvPr>
        </p:nvSpPr>
        <p:spPr/>
        <p:txBody>
          <a:bodyPr/>
          <a:lstStyle/>
          <a:p>
            <a:r>
              <a:rPr lang="en-US"/>
              <a:t>Matrix Addition Task</a:t>
            </a:r>
          </a:p>
        </p:txBody>
      </p:sp>
      <p:sp>
        <p:nvSpPr>
          <p:cNvPr id="44037" name="Rectangle 3"/>
          <p:cNvSpPr>
            <a:spLocks noChangeArrowheads="1"/>
          </p:cNvSpPr>
          <p:nvPr/>
        </p:nvSpPr>
        <p:spPr bwMode="auto">
          <a:xfrm>
            <a:off x="838200" y="1752600"/>
            <a:ext cx="7277100"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Arial" pitchFamily="34" charset="0"/>
              </a:rPr>
              <a:t>class </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 implements Runnable {</a:t>
            </a:r>
          </a:p>
          <a:p>
            <a:pPr algn="l"/>
            <a:r>
              <a:rPr lang="en-US" sz="2000" b="1" dirty="0">
                <a:solidFill>
                  <a:schemeClr val="folHlink"/>
                </a:solidFill>
                <a:latin typeface="Arial" pitchFamily="34" charset="0"/>
              </a:rPr>
              <a:t>   Matrix a, b; // multiply this!</a:t>
            </a:r>
          </a:p>
          <a:p>
            <a:pPr algn="l"/>
            <a:r>
              <a:rPr lang="en-US" sz="2000" b="1" dirty="0">
                <a:solidFill>
                  <a:schemeClr val="folHlink"/>
                </a:solidFill>
                <a:latin typeface="Arial" pitchFamily="34" charset="0"/>
              </a:rPr>
              <a:t>   public void run() {</a:t>
            </a:r>
          </a:p>
          <a:p>
            <a:pPr algn="l"/>
            <a:r>
              <a:rPr lang="en-US" sz="2000" b="1" dirty="0">
                <a:solidFill>
                  <a:schemeClr val="folHlink"/>
                </a:solidFill>
                <a:latin typeface="Arial" pitchFamily="34" charset="0"/>
              </a:rPr>
              <a:t>     if (</a:t>
            </a:r>
            <a:r>
              <a:rPr lang="en-US" sz="2000" b="1" dirty="0" err="1">
                <a:solidFill>
                  <a:schemeClr val="folHlink"/>
                </a:solidFill>
                <a:latin typeface="Arial" pitchFamily="34" charset="0"/>
              </a:rPr>
              <a:t>a.dim</a:t>
            </a:r>
            <a:r>
              <a:rPr lang="en-US" sz="2000" b="1" dirty="0">
                <a:solidFill>
                  <a:schemeClr val="folHlink"/>
                </a:solidFill>
                <a:latin typeface="Arial" pitchFamily="34" charset="0"/>
              </a:rPr>
              <a:t> == 1) {</a:t>
            </a:r>
          </a:p>
          <a:p>
            <a:pPr algn="l"/>
            <a:r>
              <a:rPr lang="en-US" sz="2000" b="1" dirty="0">
                <a:solidFill>
                  <a:schemeClr val="folHlink"/>
                </a:solidFill>
                <a:latin typeface="Arial" pitchFamily="34" charset="0"/>
              </a:rPr>
              <a:t>      c[0][0] = a[0][0] + b[0][0]; // base case</a:t>
            </a:r>
          </a:p>
          <a:p>
            <a:pPr algn="l"/>
            <a:r>
              <a:rPr lang="en-US" sz="2000" b="1" dirty="0">
                <a:solidFill>
                  <a:schemeClr val="folHlink"/>
                </a:solidFill>
                <a:latin typeface="Arial" pitchFamily="34" charset="0"/>
              </a:rPr>
              <a:t>     } else {</a:t>
            </a:r>
          </a:p>
          <a:p>
            <a:pPr algn="l"/>
            <a:r>
              <a:rPr lang="en-US" sz="2000" b="1" dirty="0">
                <a:solidFill>
                  <a:schemeClr val="folHlink"/>
                </a:solidFill>
                <a:latin typeface="Arial" pitchFamily="34" charset="0"/>
              </a:rPr>
              <a:t>      (partition a, b into half-size matrices </a:t>
            </a:r>
            <a:r>
              <a:rPr lang="en-US" sz="2000" b="1" dirty="0" err="1">
                <a:solidFill>
                  <a:schemeClr val="folHlink"/>
                </a:solidFill>
                <a:latin typeface="Arial" pitchFamily="34" charset="0"/>
              </a:rPr>
              <a:t>a</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 and </a:t>
            </a:r>
            <a:r>
              <a:rPr lang="en-US" sz="2000" b="1" dirty="0" err="1">
                <a:solidFill>
                  <a:schemeClr val="folHlink"/>
                </a:solidFill>
                <a:latin typeface="Arial" pitchFamily="34" charset="0"/>
              </a:rPr>
              <a:t>b</a:t>
            </a:r>
            <a:r>
              <a:rPr lang="en-US" sz="2000" b="1" baseline="-25000" dirty="0" err="1">
                <a:solidFill>
                  <a:schemeClr val="folHlink"/>
                </a:solidFill>
                <a:latin typeface="Arial" pitchFamily="34" charset="0"/>
              </a:rPr>
              <a:t>ij</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Future&lt;?&gt; f</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00</a:t>
            </a:r>
            <a:r>
              <a:rPr lang="en-US" sz="2000" b="1" dirty="0">
                <a:solidFill>
                  <a:schemeClr val="folHlink"/>
                </a:solidFill>
                <a:latin typeface="Arial" pitchFamily="34" charset="0"/>
              </a:rPr>
              <a:t>,b</a:t>
            </a:r>
            <a:r>
              <a:rPr lang="en-US" sz="2000" b="1" baseline="-25000" dirty="0">
                <a:solidFill>
                  <a:schemeClr val="folHlink"/>
                </a:solidFill>
                <a:latin typeface="b"/>
              </a:rPr>
              <a:t>00</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a:t>
            </a:r>
          </a:p>
          <a:p>
            <a:pPr algn="l"/>
            <a:r>
              <a:rPr lang="en-US" sz="2000" b="1" dirty="0">
                <a:solidFill>
                  <a:schemeClr val="folHlink"/>
                </a:solidFill>
                <a:latin typeface="Arial" pitchFamily="34" charset="0"/>
              </a:rPr>
              <a:t>      Future&lt;?&gt; f</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 = </a:t>
            </a:r>
            <a:r>
              <a:rPr lang="en-US" sz="2000" b="1" dirty="0" err="1">
                <a:solidFill>
                  <a:schemeClr val="folHlink"/>
                </a:solidFill>
                <a:latin typeface="Arial" pitchFamily="34" charset="0"/>
              </a:rPr>
              <a:t>exec.submit</a:t>
            </a:r>
            <a:r>
              <a:rPr lang="en-US" sz="2000" b="1" dirty="0">
                <a:solidFill>
                  <a:schemeClr val="folHlink"/>
                </a:solidFill>
                <a:latin typeface="Arial" pitchFamily="34" charset="0"/>
              </a:rPr>
              <a:t>(</a:t>
            </a:r>
            <a:r>
              <a:rPr lang="en-US" sz="2000" b="1" dirty="0" err="1">
                <a:solidFill>
                  <a:schemeClr val="folHlink"/>
                </a:solidFill>
                <a:latin typeface="Arial" pitchFamily="34" charset="0"/>
              </a:rPr>
              <a:t>addTask</a:t>
            </a:r>
            <a:r>
              <a:rPr lang="en-US" sz="2000" b="1" dirty="0">
                <a:solidFill>
                  <a:schemeClr val="folHlink"/>
                </a:solidFill>
                <a:latin typeface="Arial" pitchFamily="34" charset="0"/>
              </a:rPr>
              <a:t>(a</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,b</a:t>
            </a:r>
            <a:r>
              <a:rPr lang="en-US" sz="2000" b="1" baseline="-25000" dirty="0">
                <a:solidFill>
                  <a:schemeClr val="folHlink"/>
                </a:solidFill>
                <a:latin typeface="Arial" pitchFamily="34" charset="0"/>
              </a:rPr>
              <a:t>11</a:t>
            </a:r>
            <a:r>
              <a:rPr lang="en-US" sz="2000" b="1" dirty="0">
                <a:solidFill>
                  <a:schemeClr val="folHlink"/>
                </a:solidFill>
                <a:latin typeface="Arial" pitchFamily="34" charset="0"/>
              </a:rPr>
              <a:t>));</a:t>
            </a:r>
          </a:p>
          <a:p>
            <a:pPr algn="l"/>
            <a:r>
              <a:rPr lang="en-US" sz="2000" b="1" dirty="0">
                <a:latin typeface="Arial" pitchFamily="34" charset="0"/>
              </a:rPr>
              <a:t>      f</a:t>
            </a:r>
            <a:r>
              <a:rPr lang="en-US" sz="2000" b="1" baseline="-25000" dirty="0">
                <a:latin typeface="Arial" pitchFamily="34" charset="0"/>
              </a:rPr>
              <a:t>00</a:t>
            </a:r>
            <a:r>
              <a:rPr lang="en-US" sz="2000" b="1" dirty="0">
                <a:latin typeface="Arial" pitchFamily="34" charset="0"/>
              </a:rPr>
              <a:t>.get(); …; f</a:t>
            </a:r>
            <a:r>
              <a:rPr lang="en-US" sz="2000" b="1" baseline="-25000" dirty="0">
                <a:latin typeface="Arial" pitchFamily="34" charset="0"/>
              </a:rPr>
              <a:t>11</a:t>
            </a:r>
            <a:r>
              <a:rPr lang="en-US" sz="2000" b="1" dirty="0">
                <a:latin typeface="Arial" pitchFamily="34" charset="0"/>
              </a:rPr>
              <a:t>.get(); </a:t>
            </a:r>
          </a:p>
          <a:p>
            <a:pPr algn="l"/>
            <a:r>
              <a:rPr lang="en-US" sz="2000" b="1" dirty="0">
                <a:latin typeface="Arial" pitchFamily="34" charset="0"/>
              </a:rPr>
              <a:t>      </a:t>
            </a:r>
            <a:r>
              <a:rPr lang="en-US" sz="2000" b="1" dirty="0">
                <a:solidFill>
                  <a:schemeClr val="folHlink"/>
                </a:solidFill>
                <a:latin typeface="Arial" pitchFamily="34" charset="0"/>
              </a:rPr>
              <a:t>…</a:t>
            </a:r>
          </a:p>
          <a:p>
            <a:pPr algn="l"/>
            <a:r>
              <a:rPr lang="en-US" sz="2000" b="1" dirty="0">
                <a:solidFill>
                  <a:schemeClr val="folHlink"/>
                </a:solidFill>
                <a:latin typeface="Arial" pitchFamily="34" charset="0"/>
              </a:rPr>
              <a:t>     }}  </a:t>
            </a:r>
          </a:p>
        </p:txBody>
      </p:sp>
      <p:sp>
        <p:nvSpPr>
          <p:cNvPr id="44038" name="AutoShape 4"/>
          <p:cNvSpPr>
            <a:spLocks noChangeArrowheads="1"/>
          </p:cNvSpPr>
          <p:nvPr/>
        </p:nvSpPr>
        <p:spPr bwMode="auto">
          <a:xfrm>
            <a:off x="1168400" y="4851400"/>
            <a:ext cx="2705100" cy="393700"/>
          </a:xfrm>
          <a:prstGeom prst="wedgeRoundRectCallout">
            <a:avLst>
              <a:gd name="adj1" fmla="val 64204"/>
              <a:gd name="adj2" fmla="val 108870"/>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44039" name="Text Box 5"/>
          <p:cNvSpPr txBox="1">
            <a:spLocks noChangeArrowheads="1"/>
          </p:cNvSpPr>
          <p:nvPr/>
        </p:nvSpPr>
        <p:spPr bwMode="auto">
          <a:xfrm>
            <a:off x="4167188" y="5254625"/>
            <a:ext cx="3359150"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Let them finish</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1"/>
          <p:cNvSpPr>
            <a:spLocks noGrp="1"/>
          </p:cNvSpPr>
          <p:nvPr>
            <p:ph type="ftr" sz="quarter" idx="10"/>
          </p:nvPr>
        </p:nvSpPr>
        <p:spPr>
          <a:noFill/>
        </p:spPr>
        <p:txBody>
          <a:bodyPr/>
          <a:lstStyle/>
          <a:p>
            <a:r>
              <a:rPr lang="en-US"/>
              <a:t>Art of Multiprocessor Programming</a:t>
            </a:r>
          </a:p>
        </p:txBody>
      </p:sp>
      <p:sp>
        <p:nvSpPr>
          <p:cNvPr id="45059" name="Slide Number Placeholder 2"/>
          <p:cNvSpPr>
            <a:spLocks noGrp="1"/>
          </p:cNvSpPr>
          <p:nvPr>
            <p:ph type="sldNum" sz="quarter" idx="11"/>
          </p:nvPr>
        </p:nvSpPr>
        <p:spPr>
          <a:noFill/>
        </p:spPr>
        <p:txBody>
          <a:bodyPr/>
          <a:lstStyle/>
          <a:p>
            <a:fld id="{A66AF473-CC1B-4AE6-82A8-9510208A9630}" type="slidenum">
              <a:rPr lang="x-none" smtClean="0"/>
              <a:pPr/>
              <a:t>33</a:t>
            </a:fld>
            <a:endParaRPr lang="en-US"/>
          </a:p>
        </p:txBody>
      </p:sp>
      <p:sp>
        <p:nvSpPr>
          <p:cNvPr id="45060" name="Rectangle 2"/>
          <p:cNvSpPr>
            <a:spLocks noGrp="1" noChangeArrowheads="1"/>
          </p:cNvSpPr>
          <p:nvPr>
            <p:ph type="title" idx="4294967295"/>
          </p:nvPr>
        </p:nvSpPr>
        <p:spPr/>
        <p:txBody>
          <a:bodyPr/>
          <a:lstStyle/>
          <a:p>
            <a:r>
              <a:rPr lang="en-US"/>
              <a:t>Dependencies</a:t>
            </a:r>
          </a:p>
        </p:txBody>
      </p:sp>
      <p:sp>
        <p:nvSpPr>
          <p:cNvPr id="45061" name="Rectangle 3"/>
          <p:cNvSpPr>
            <a:spLocks noGrp="1" noChangeArrowheads="1"/>
          </p:cNvSpPr>
          <p:nvPr>
            <p:ph type="body" idx="4294967295"/>
          </p:nvPr>
        </p:nvSpPr>
        <p:spPr/>
        <p:txBody>
          <a:bodyPr/>
          <a:lstStyle/>
          <a:p>
            <a:r>
              <a:rPr lang="en-US"/>
              <a:t>Matrix example is not typical</a:t>
            </a:r>
          </a:p>
          <a:p>
            <a:r>
              <a:rPr lang="en-US"/>
              <a:t>Tasks are independent</a:t>
            </a:r>
          </a:p>
          <a:p>
            <a:pPr lvl="1"/>
            <a:r>
              <a:rPr lang="en-US"/>
              <a:t>Don’t need results of one task …</a:t>
            </a:r>
          </a:p>
          <a:p>
            <a:pPr lvl="1"/>
            <a:r>
              <a:rPr lang="en-US"/>
              <a:t>To complete another</a:t>
            </a:r>
          </a:p>
          <a:p>
            <a:r>
              <a:rPr lang="en-US"/>
              <a:t>Often tasks are not independent</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1"/>
          <p:cNvSpPr>
            <a:spLocks noGrp="1"/>
          </p:cNvSpPr>
          <p:nvPr>
            <p:ph type="ftr" sz="quarter" idx="10"/>
          </p:nvPr>
        </p:nvSpPr>
        <p:spPr>
          <a:noFill/>
        </p:spPr>
        <p:txBody>
          <a:bodyPr/>
          <a:lstStyle/>
          <a:p>
            <a:r>
              <a:rPr lang="en-US"/>
              <a:t>Art of Multiprocessor Programming</a:t>
            </a:r>
          </a:p>
        </p:txBody>
      </p:sp>
      <p:sp>
        <p:nvSpPr>
          <p:cNvPr id="46083" name="Slide Number Placeholder 2"/>
          <p:cNvSpPr>
            <a:spLocks noGrp="1"/>
          </p:cNvSpPr>
          <p:nvPr>
            <p:ph type="sldNum" sz="quarter" idx="11"/>
          </p:nvPr>
        </p:nvSpPr>
        <p:spPr>
          <a:noFill/>
        </p:spPr>
        <p:txBody>
          <a:bodyPr/>
          <a:lstStyle/>
          <a:p>
            <a:fld id="{D13075CA-109B-4569-85E7-101052F26A3B}" type="slidenum">
              <a:rPr lang="x-none" smtClean="0"/>
              <a:pPr/>
              <a:t>34</a:t>
            </a:fld>
            <a:endParaRPr lang="en-US"/>
          </a:p>
        </p:txBody>
      </p:sp>
      <p:sp>
        <p:nvSpPr>
          <p:cNvPr id="10"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8BD9F098-1386-4042-99F6-C5022BCC3565}" type="slidenum">
              <a:rPr lang="x-none" sz="1400">
                <a:solidFill>
                  <a:schemeClr val="tx1"/>
                </a:solidFill>
                <a:latin typeface="Arial" pitchFamily="34" charset="0"/>
                <a:cs typeface="Arial" pitchFamily="34" charset="0"/>
              </a:rPr>
              <a:pPr>
                <a:defRPr/>
              </a:pPr>
              <a:t>34</a:t>
            </a:fld>
            <a:endParaRPr lang="en-US" sz="1400" dirty="0">
              <a:solidFill>
                <a:schemeClr val="tx1"/>
              </a:solidFill>
              <a:latin typeface="Arial" pitchFamily="34" charset="0"/>
              <a:cs typeface="Arial" pitchFamily="34" charset="0"/>
            </a:endParaRPr>
          </a:p>
        </p:txBody>
      </p:sp>
      <p:sp>
        <p:nvSpPr>
          <p:cNvPr id="46085" name="Rectangle 2"/>
          <p:cNvSpPr>
            <a:spLocks noGrp="1" noChangeArrowheads="1"/>
          </p:cNvSpPr>
          <p:nvPr>
            <p:ph type="title" idx="4294967295"/>
          </p:nvPr>
        </p:nvSpPr>
        <p:spPr/>
        <p:txBody>
          <a:bodyPr/>
          <a:lstStyle/>
          <a:p>
            <a:r>
              <a:rPr lang="en-US"/>
              <a:t>Fibonacci</a:t>
            </a:r>
          </a:p>
        </p:txBody>
      </p:sp>
      <p:sp>
        <p:nvSpPr>
          <p:cNvPr id="46086" name="Text Box 4"/>
          <p:cNvSpPr txBox="1">
            <a:spLocks noChangeArrowheads="1"/>
          </p:cNvSpPr>
          <p:nvPr/>
        </p:nvSpPr>
        <p:spPr bwMode="auto">
          <a:xfrm>
            <a:off x="2397125" y="2671763"/>
            <a:ext cx="184150" cy="641350"/>
          </a:xfrm>
          <a:prstGeom prst="rect">
            <a:avLst/>
          </a:prstGeom>
          <a:noFill/>
          <a:ln w="9525" algn="ctr">
            <a:noFill/>
            <a:miter lim="800000"/>
            <a:headEnd/>
            <a:tailEnd/>
          </a:ln>
        </p:spPr>
        <p:txBody>
          <a:bodyPr wrap="none">
            <a:spAutoFit/>
          </a:bodyPr>
          <a:lstStyle/>
          <a:p>
            <a:pPr algn="l"/>
            <a:endParaRPr lang="en-US" sz="3600" b="1">
              <a:latin typeface="Arial" pitchFamily="34" charset="0"/>
            </a:endParaRPr>
          </a:p>
        </p:txBody>
      </p:sp>
      <p:sp>
        <p:nvSpPr>
          <p:cNvPr id="46087" name="AutoShape 5"/>
          <p:cNvSpPr>
            <a:spLocks/>
          </p:cNvSpPr>
          <p:nvPr/>
        </p:nvSpPr>
        <p:spPr bwMode="auto">
          <a:xfrm>
            <a:off x="2336800" y="2019300"/>
            <a:ext cx="596900" cy="1689100"/>
          </a:xfrm>
          <a:prstGeom prst="leftBrace">
            <a:avLst>
              <a:gd name="adj1" fmla="val 23582"/>
              <a:gd name="adj2" fmla="val 50000"/>
            </a:avLst>
          </a:prstGeom>
          <a:noFill/>
          <a:ln w="38100">
            <a:solidFill>
              <a:srgbClr val="0000FF"/>
            </a:solidFill>
            <a:round/>
            <a:headEnd/>
            <a:tailEnd/>
          </a:ln>
        </p:spPr>
        <p:txBody>
          <a:bodyPr anchor="ctr">
            <a:spAutoFit/>
          </a:bodyPr>
          <a:lstStyle/>
          <a:p>
            <a:pPr algn="l"/>
            <a:endParaRPr lang="en-US" b="1">
              <a:latin typeface="Arial" pitchFamily="34" charset="0"/>
            </a:endParaRPr>
          </a:p>
        </p:txBody>
      </p:sp>
      <p:sp>
        <p:nvSpPr>
          <p:cNvPr id="46088" name="Text Box 6"/>
          <p:cNvSpPr txBox="1">
            <a:spLocks noChangeArrowheads="1"/>
          </p:cNvSpPr>
          <p:nvPr/>
        </p:nvSpPr>
        <p:spPr bwMode="auto">
          <a:xfrm>
            <a:off x="2981325" y="1995488"/>
            <a:ext cx="3044423" cy="646331"/>
          </a:xfrm>
          <a:prstGeom prst="rect">
            <a:avLst/>
          </a:prstGeom>
          <a:noFill/>
          <a:ln w="9525" algn="ctr">
            <a:noFill/>
            <a:miter lim="800000"/>
            <a:headEnd/>
            <a:tailEnd/>
          </a:ln>
        </p:spPr>
        <p:txBody>
          <a:bodyPr wrap="none">
            <a:spAutoFit/>
          </a:bodyPr>
          <a:lstStyle/>
          <a:p>
            <a:pPr algn="l"/>
            <a:r>
              <a:rPr lang="en-US" sz="3600" b="1" dirty="0">
                <a:solidFill>
                  <a:schemeClr val="tx1"/>
                </a:solidFill>
                <a:latin typeface="Arial" pitchFamily="34" charset="0"/>
              </a:rPr>
              <a:t>1</a:t>
            </a:r>
            <a:r>
              <a:rPr lang="en-US" sz="3600" b="1" dirty="0">
                <a:latin typeface="Arial" pitchFamily="34" charset="0"/>
              </a:rPr>
              <a:t> if </a:t>
            </a:r>
            <a:r>
              <a:rPr lang="en-US" sz="3600" b="1" dirty="0">
                <a:solidFill>
                  <a:schemeClr val="tx1"/>
                </a:solidFill>
                <a:latin typeface="Arial" pitchFamily="34" charset="0"/>
              </a:rPr>
              <a:t>n</a:t>
            </a:r>
            <a:r>
              <a:rPr lang="en-US" sz="3600" b="1" dirty="0">
                <a:latin typeface="Arial" pitchFamily="34" charset="0"/>
              </a:rPr>
              <a:t> = </a:t>
            </a:r>
            <a:r>
              <a:rPr lang="en-US" sz="3600" b="1" dirty="0">
                <a:solidFill>
                  <a:schemeClr val="tx1"/>
                </a:solidFill>
                <a:latin typeface="Arial" pitchFamily="34" charset="0"/>
              </a:rPr>
              <a:t>0</a:t>
            </a:r>
            <a:r>
              <a:rPr lang="en-US" sz="3600" b="1" dirty="0">
                <a:latin typeface="Arial" pitchFamily="34" charset="0"/>
              </a:rPr>
              <a:t> or </a:t>
            </a:r>
            <a:r>
              <a:rPr lang="en-US" sz="3600" b="1" dirty="0">
                <a:solidFill>
                  <a:schemeClr val="tx1"/>
                </a:solidFill>
                <a:latin typeface="Arial" pitchFamily="34" charset="0"/>
              </a:rPr>
              <a:t>1</a:t>
            </a:r>
          </a:p>
        </p:txBody>
      </p:sp>
      <p:sp>
        <p:nvSpPr>
          <p:cNvPr id="46089" name="Text Box 7"/>
          <p:cNvSpPr txBox="1">
            <a:spLocks noChangeArrowheads="1"/>
          </p:cNvSpPr>
          <p:nvPr/>
        </p:nvSpPr>
        <p:spPr bwMode="auto">
          <a:xfrm>
            <a:off x="949325" y="2528888"/>
            <a:ext cx="1056700" cy="646331"/>
          </a:xfrm>
          <a:prstGeom prst="rect">
            <a:avLst/>
          </a:prstGeom>
          <a:noFill/>
          <a:ln w="9525" algn="ctr">
            <a:noFill/>
            <a:miter lim="800000"/>
            <a:headEnd/>
            <a:tailEnd/>
          </a:ln>
        </p:spPr>
        <p:txBody>
          <a:bodyPr wrap="none">
            <a:spAutoFit/>
          </a:bodyPr>
          <a:lstStyle/>
          <a:p>
            <a:pPr algn="l"/>
            <a:r>
              <a:rPr lang="en-US" sz="3600" b="1" dirty="0">
                <a:solidFill>
                  <a:schemeClr val="tx1"/>
                </a:solidFill>
                <a:latin typeface="Arial" pitchFamily="34" charset="0"/>
              </a:rPr>
              <a:t>F(n)</a:t>
            </a:r>
          </a:p>
        </p:txBody>
      </p:sp>
      <p:sp>
        <p:nvSpPr>
          <p:cNvPr id="46090" name="Text Box 8"/>
          <p:cNvSpPr txBox="1">
            <a:spLocks noChangeArrowheads="1"/>
          </p:cNvSpPr>
          <p:nvPr/>
        </p:nvSpPr>
        <p:spPr bwMode="auto">
          <a:xfrm>
            <a:off x="2981325" y="2986088"/>
            <a:ext cx="5750292" cy="646331"/>
          </a:xfrm>
          <a:prstGeom prst="rect">
            <a:avLst/>
          </a:prstGeom>
          <a:noFill/>
          <a:ln w="9525" algn="ctr">
            <a:noFill/>
            <a:miter lim="800000"/>
            <a:headEnd/>
            <a:tailEnd/>
          </a:ln>
        </p:spPr>
        <p:txBody>
          <a:bodyPr wrap="none">
            <a:spAutoFit/>
          </a:bodyPr>
          <a:lstStyle/>
          <a:p>
            <a:pPr algn="l"/>
            <a:r>
              <a:rPr lang="en-US" sz="3600" b="1" dirty="0">
                <a:solidFill>
                  <a:schemeClr val="tx1"/>
                </a:solidFill>
                <a:latin typeface="Arial" pitchFamily="34" charset="0"/>
              </a:rPr>
              <a:t>F(n-1)</a:t>
            </a:r>
            <a:r>
              <a:rPr lang="en-US" sz="3600" b="1" dirty="0">
                <a:latin typeface="Arial" pitchFamily="34" charset="0"/>
              </a:rPr>
              <a:t> + </a:t>
            </a:r>
            <a:r>
              <a:rPr lang="en-US" sz="3600" b="1" dirty="0">
                <a:solidFill>
                  <a:schemeClr val="tx1"/>
                </a:solidFill>
                <a:latin typeface="Arial" pitchFamily="34" charset="0"/>
              </a:rPr>
              <a:t>F(n-2)</a:t>
            </a:r>
            <a:r>
              <a:rPr lang="en-US" sz="3600" b="1" dirty="0">
                <a:latin typeface="Arial" pitchFamily="34" charset="0"/>
              </a:rPr>
              <a:t> otherwise</a:t>
            </a:r>
          </a:p>
        </p:txBody>
      </p:sp>
      <p:sp>
        <p:nvSpPr>
          <p:cNvPr id="46091" name="Rectangle 9"/>
          <p:cNvSpPr>
            <a:spLocks noGrp="1" noChangeArrowheads="1"/>
          </p:cNvSpPr>
          <p:nvPr>
            <p:ph type="body" idx="4294967295"/>
          </p:nvPr>
        </p:nvSpPr>
        <p:spPr>
          <a:xfrm>
            <a:off x="685800" y="3898900"/>
            <a:ext cx="7772400" cy="2197100"/>
          </a:xfrm>
        </p:spPr>
        <p:txBody>
          <a:bodyPr/>
          <a:lstStyle/>
          <a:p>
            <a:r>
              <a:rPr lang="en-US" dirty="0"/>
              <a:t>Note</a:t>
            </a:r>
          </a:p>
          <a:p>
            <a:pPr lvl="1"/>
            <a:r>
              <a:rPr lang="en-US" dirty="0"/>
              <a:t>Potential parallelism</a:t>
            </a:r>
          </a:p>
          <a:p>
            <a:pPr lvl="1"/>
            <a:r>
              <a:rPr lang="en-US" dirty="0"/>
              <a:t>Dependencies</a:t>
            </a:r>
          </a:p>
          <a:p>
            <a:endParaRPr lang="en-US"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1"/>
          <p:cNvSpPr>
            <a:spLocks noGrp="1"/>
          </p:cNvSpPr>
          <p:nvPr>
            <p:ph type="ftr" sz="quarter" idx="10"/>
          </p:nvPr>
        </p:nvSpPr>
        <p:spPr>
          <a:noFill/>
        </p:spPr>
        <p:txBody>
          <a:bodyPr/>
          <a:lstStyle/>
          <a:p>
            <a:r>
              <a:rPr lang="en-US"/>
              <a:t>Art of Multiprocessor Programming</a:t>
            </a:r>
          </a:p>
        </p:txBody>
      </p:sp>
      <p:sp>
        <p:nvSpPr>
          <p:cNvPr id="47107" name="Slide Number Placeholder 2"/>
          <p:cNvSpPr>
            <a:spLocks noGrp="1"/>
          </p:cNvSpPr>
          <p:nvPr>
            <p:ph type="sldNum" sz="quarter" idx="11"/>
          </p:nvPr>
        </p:nvSpPr>
        <p:spPr>
          <a:noFill/>
        </p:spPr>
        <p:txBody>
          <a:bodyPr/>
          <a:lstStyle/>
          <a:p>
            <a:fld id="{0F565F8E-9237-4F81-AE2D-2302139B3D40}" type="slidenum">
              <a:rPr lang="x-none" smtClean="0"/>
              <a:pPr/>
              <a:t>35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E0D013B-9017-47F8-84BA-A9C1A5CBF8A6}" type="slidenum">
              <a:rPr lang="x-none" sz="1400">
                <a:solidFill>
                  <a:schemeClr val="tx1"/>
                </a:solidFill>
                <a:latin typeface="Arial" pitchFamily="34" charset="0"/>
                <a:cs typeface="Arial" pitchFamily="34" charset="0"/>
              </a:rPr>
              <a:pPr>
                <a:defRPr/>
              </a:pPr>
              <a:t>35</a:t>
            </a:fld>
            <a:endParaRPr lang="en-US" sz="1400" dirty="0">
              <a:solidFill>
                <a:schemeClr val="tx1"/>
              </a:solidFill>
              <a:latin typeface="Arial" pitchFamily="34" charset="0"/>
              <a:cs typeface="Arial" pitchFamily="34" charset="0"/>
            </a:endParaRPr>
          </a:p>
        </p:txBody>
      </p:sp>
      <p:sp>
        <p:nvSpPr>
          <p:cNvPr id="47109" name="Rectangle 2"/>
          <p:cNvSpPr>
            <a:spLocks noGrp="1" noChangeArrowheads="1"/>
          </p:cNvSpPr>
          <p:nvPr>
            <p:ph type="title" idx="4294967295"/>
          </p:nvPr>
        </p:nvSpPr>
        <p:spPr/>
        <p:txBody>
          <a:bodyPr/>
          <a:lstStyle/>
          <a:p>
            <a:r>
              <a:rPr lang="en-US"/>
              <a:t>Disclaimer</a:t>
            </a:r>
          </a:p>
        </p:txBody>
      </p:sp>
      <p:sp>
        <p:nvSpPr>
          <p:cNvPr id="47110" name="Rectangle 3"/>
          <p:cNvSpPr>
            <a:spLocks noGrp="1" noChangeArrowheads="1"/>
          </p:cNvSpPr>
          <p:nvPr>
            <p:ph type="body" idx="4294967295"/>
          </p:nvPr>
        </p:nvSpPr>
        <p:spPr/>
        <p:txBody>
          <a:bodyPr/>
          <a:lstStyle/>
          <a:p>
            <a:r>
              <a:rPr lang="en-US" dirty="0"/>
              <a:t>This Fibonacci implementation is</a:t>
            </a:r>
          </a:p>
          <a:p>
            <a:pPr lvl="1"/>
            <a:r>
              <a:rPr lang="en-US" dirty="0"/>
              <a:t>Egregiously inefficient</a:t>
            </a:r>
          </a:p>
          <a:p>
            <a:pPr lvl="2"/>
            <a:r>
              <a:rPr lang="en-US" dirty="0"/>
              <a:t>So don’t try this at home or job!</a:t>
            </a:r>
          </a:p>
          <a:p>
            <a:pPr lvl="1"/>
            <a:r>
              <a:rPr lang="en-US" dirty="0"/>
              <a:t>But illustrates our point</a:t>
            </a:r>
          </a:p>
          <a:p>
            <a:pPr lvl="2"/>
            <a:r>
              <a:rPr lang="en-US" dirty="0"/>
              <a:t>How to deal with dependencies</a:t>
            </a:r>
          </a:p>
          <a:p>
            <a:r>
              <a:rPr lang="en-US" dirty="0"/>
              <a:t>Exercise:</a:t>
            </a:r>
          </a:p>
          <a:p>
            <a:pPr lvl="1"/>
            <a:r>
              <a:rPr lang="en-US" dirty="0"/>
              <a:t>Make this implementation efficient!</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1"/>
          <p:cNvSpPr>
            <a:spLocks noGrp="1"/>
          </p:cNvSpPr>
          <p:nvPr>
            <p:ph type="ftr" sz="quarter" idx="10"/>
          </p:nvPr>
        </p:nvSpPr>
        <p:spPr>
          <a:noFill/>
        </p:spPr>
        <p:txBody>
          <a:bodyPr/>
          <a:lstStyle/>
          <a:p>
            <a:r>
              <a:rPr lang="en-US"/>
              <a:t>Art of Multiprocessor Programming</a:t>
            </a:r>
          </a:p>
        </p:txBody>
      </p:sp>
      <p:sp>
        <p:nvSpPr>
          <p:cNvPr id="48131" name="Slide Number Placeholder 2"/>
          <p:cNvSpPr>
            <a:spLocks noGrp="1"/>
          </p:cNvSpPr>
          <p:nvPr>
            <p:ph type="sldNum" sz="quarter" idx="11"/>
          </p:nvPr>
        </p:nvSpPr>
        <p:spPr>
          <a:noFill/>
        </p:spPr>
        <p:txBody>
          <a:bodyPr/>
          <a:lstStyle/>
          <a:p>
            <a:fld id="{DBE13A3E-B117-4D78-8424-105109479B6B}" type="slidenum">
              <a:rPr lang="x-none" smtClean="0"/>
              <a:pPr/>
              <a:t>36</a:t>
            </a:fld>
            <a:endParaRPr lang="en-US"/>
          </a:p>
        </p:txBody>
      </p:sp>
      <p:sp>
        <p:nvSpPr>
          <p:cNvPr id="48132" name="Rectangle 3"/>
          <p:cNvSpPr>
            <a:spLocks noChangeArrowheads="1"/>
          </p:cNvSpPr>
          <p:nvPr/>
        </p:nvSpPr>
        <p:spPr bwMode="auto">
          <a:xfrm>
            <a:off x="1011238" y="1663700"/>
            <a:ext cx="7620000" cy="4664075"/>
          </a:xfrm>
          <a:prstGeom prst="rect">
            <a:avLst/>
          </a:prstGeom>
          <a:solidFill>
            <a:srgbClr val="FFFFCC"/>
          </a:solidFill>
          <a:ln w="9525">
            <a:noFill/>
            <a:miter lim="800000"/>
            <a:headEnd/>
            <a:tailEnd/>
          </a:ln>
        </p:spPr>
        <p:txBody>
          <a:bodyPr>
            <a:spAutoFit/>
          </a:bodyPr>
          <a:lstStyle/>
          <a:p>
            <a:pPr algn="l"/>
            <a:r>
              <a:rPr lang="en-US" sz="2000" b="1">
                <a:solidFill>
                  <a:schemeClr val="tx1"/>
                </a:solidFill>
                <a:latin typeface="Arial" pitchFamily="34" charset="0"/>
              </a:rPr>
              <a:t>class</a:t>
            </a:r>
            <a:r>
              <a:rPr lang="en-US" sz="2000" b="1">
                <a:latin typeface="Arial" pitchFamily="34" charset="0"/>
              </a:rPr>
              <a:t> FibTask </a:t>
            </a:r>
            <a:r>
              <a:rPr lang="en-US" sz="2000" b="1">
                <a:solidFill>
                  <a:schemeClr val="tx1"/>
                </a:solidFill>
                <a:latin typeface="Arial" pitchFamily="34" charset="0"/>
              </a:rPr>
              <a:t>implements</a:t>
            </a:r>
            <a:r>
              <a:rPr lang="en-US" sz="2000" b="1">
                <a:latin typeface="Arial" pitchFamily="34" charset="0"/>
              </a:rPr>
              <a:t> </a:t>
            </a:r>
            <a:r>
              <a:rPr lang="en-US" sz="2000" b="1">
                <a:solidFill>
                  <a:schemeClr val="tx1"/>
                </a:solidFill>
                <a:latin typeface="Arial" pitchFamily="34" charset="0"/>
              </a:rPr>
              <a:t>Callable</a:t>
            </a:r>
            <a:r>
              <a:rPr lang="en-US" sz="2000" b="1">
                <a:latin typeface="Arial" pitchFamily="34" charset="0"/>
              </a:rPr>
              <a:t>&lt;</a:t>
            </a:r>
            <a:r>
              <a:rPr lang="en-US" sz="2000" b="1">
                <a:solidFill>
                  <a:schemeClr val="tx1"/>
                </a:solidFill>
                <a:latin typeface="Arial" pitchFamily="34" charset="0"/>
              </a:rPr>
              <a:t>Integer</a:t>
            </a:r>
            <a:r>
              <a:rPr lang="en-US" sz="2000" b="1">
                <a:latin typeface="Arial" pitchFamily="34" charset="0"/>
              </a:rPr>
              <a:t>&gt; {</a:t>
            </a:r>
          </a:p>
          <a:p>
            <a:pPr algn="l"/>
            <a:r>
              <a:rPr lang="en-US" sz="2000" b="1">
                <a:latin typeface="Arial" pitchFamily="34" charset="0"/>
              </a:rPr>
              <a:t>  </a:t>
            </a:r>
            <a:r>
              <a:rPr lang="en-US" sz="2000" b="1">
                <a:solidFill>
                  <a:schemeClr val="tx1"/>
                </a:solidFill>
                <a:latin typeface="Arial" pitchFamily="34" charset="0"/>
              </a:rPr>
              <a:t>static</a:t>
            </a:r>
            <a:r>
              <a:rPr lang="en-US" sz="2000" b="1">
                <a:latin typeface="Arial" pitchFamily="34" charset="0"/>
              </a:rPr>
              <a:t> ExecutorService exec = Executors.newCachedThreadPool();</a:t>
            </a:r>
          </a:p>
          <a:p>
            <a:pPr algn="l"/>
            <a:r>
              <a:rPr lang="en-US" sz="2000" b="1">
                <a:latin typeface="Arial" pitchFamily="34" charset="0"/>
              </a:rPr>
              <a:t>  </a:t>
            </a:r>
            <a:r>
              <a:rPr lang="en-US" sz="2000" b="1">
                <a:solidFill>
                  <a:schemeClr val="tx1"/>
                </a:solidFill>
                <a:latin typeface="Arial" pitchFamily="34" charset="0"/>
              </a:rPr>
              <a:t>int</a:t>
            </a:r>
            <a:r>
              <a:rPr lang="en-US" sz="2000" b="1">
                <a:latin typeface="Arial" pitchFamily="34" charset="0"/>
              </a:rPr>
              <a:t> arg;</a:t>
            </a:r>
          </a:p>
          <a:p>
            <a:pPr algn="l"/>
            <a:r>
              <a:rPr lang="en-US" sz="2000" b="1">
                <a:latin typeface="Arial" pitchFamily="34" charset="0"/>
              </a:rPr>
              <a:t>  </a:t>
            </a:r>
            <a:r>
              <a:rPr lang="en-US" sz="2000" b="1">
                <a:solidFill>
                  <a:schemeClr val="tx1"/>
                </a:solidFill>
                <a:latin typeface="Arial" pitchFamily="34" charset="0"/>
              </a:rPr>
              <a:t>public</a:t>
            </a:r>
            <a:r>
              <a:rPr lang="en-US" sz="2000" b="1">
                <a:latin typeface="Arial" pitchFamily="34" charset="0"/>
              </a:rPr>
              <a:t> FibTask(</a:t>
            </a:r>
            <a:r>
              <a:rPr lang="en-US" sz="2000" b="1">
                <a:solidFill>
                  <a:schemeClr val="tx1"/>
                </a:solidFill>
                <a:latin typeface="Arial" pitchFamily="34" charset="0"/>
              </a:rPr>
              <a:t>int</a:t>
            </a:r>
            <a:r>
              <a:rPr lang="en-US" sz="2000" b="1">
                <a:latin typeface="Arial" pitchFamily="34" charset="0"/>
              </a:rPr>
              <a:t> n) {</a:t>
            </a:r>
          </a:p>
          <a:p>
            <a:pPr algn="l"/>
            <a:r>
              <a:rPr lang="en-US" sz="2000" b="1">
                <a:latin typeface="Arial" pitchFamily="34" charset="0"/>
              </a:rPr>
              <a:t>    arg = n;</a:t>
            </a:r>
          </a:p>
          <a:p>
            <a:pPr algn="l"/>
            <a:r>
              <a:rPr lang="en-US" sz="2000" b="1">
                <a:latin typeface="Arial" pitchFamily="34" charset="0"/>
              </a:rPr>
              <a:t>  }</a:t>
            </a:r>
          </a:p>
          <a:p>
            <a:pPr algn="l"/>
            <a:r>
              <a:rPr lang="en-US" sz="2000" b="1">
                <a:latin typeface="Arial" pitchFamily="34" charset="0"/>
              </a:rPr>
              <a:t>  </a:t>
            </a:r>
            <a:r>
              <a:rPr lang="en-US" sz="2000" b="1">
                <a:solidFill>
                  <a:schemeClr val="tx1"/>
                </a:solidFill>
                <a:latin typeface="Arial" pitchFamily="34" charset="0"/>
              </a:rPr>
              <a:t>public</a:t>
            </a:r>
            <a:r>
              <a:rPr lang="en-US" sz="2000" b="1">
                <a:latin typeface="Arial" pitchFamily="34" charset="0"/>
              </a:rPr>
              <a:t> </a:t>
            </a:r>
            <a:r>
              <a:rPr lang="en-US" sz="2000" b="1">
                <a:solidFill>
                  <a:schemeClr val="tx1"/>
                </a:solidFill>
                <a:latin typeface="Arial" pitchFamily="34" charset="0"/>
              </a:rPr>
              <a:t>Integer</a:t>
            </a:r>
            <a:r>
              <a:rPr lang="en-US" sz="2000" b="1">
                <a:latin typeface="Arial" pitchFamily="34" charset="0"/>
              </a:rPr>
              <a:t> call() {</a:t>
            </a:r>
          </a:p>
          <a:p>
            <a:pPr algn="l"/>
            <a:r>
              <a:rPr lang="en-US" sz="2000" b="1">
                <a:latin typeface="Arial" pitchFamily="34" charset="0"/>
              </a:rPr>
              <a:t>    </a:t>
            </a:r>
            <a:r>
              <a:rPr lang="en-US" sz="2000" b="1">
                <a:solidFill>
                  <a:schemeClr val="tx1"/>
                </a:solidFill>
                <a:latin typeface="Arial" pitchFamily="34" charset="0"/>
              </a:rPr>
              <a:t>if</a:t>
            </a:r>
            <a:r>
              <a:rPr lang="en-US" sz="2000" b="1">
                <a:latin typeface="Arial" pitchFamily="34" charset="0"/>
              </a:rPr>
              <a:t> (arg &gt; 2) {</a:t>
            </a:r>
          </a:p>
          <a:p>
            <a:pPr algn="l"/>
            <a:r>
              <a:rPr lang="en-US" sz="2000" b="1">
                <a:latin typeface="Arial" pitchFamily="34" charset="0"/>
              </a:rPr>
              <a:t>      Future&lt;</a:t>
            </a:r>
            <a:r>
              <a:rPr lang="en-US" sz="2000" b="1">
                <a:solidFill>
                  <a:schemeClr val="tx1"/>
                </a:solidFill>
                <a:latin typeface="Arial" pitchFamily="34" charset="0"/>
              </a:rPr>
              <a:t>Integer</a:t>
            </a:r>
            <a:r>
              <a:rPr lang="en-US" sz="2000" b="1">
                <a:latin typeface="Arial" pitchFamily="34" charset="0"/>
              </a:rPr>
              <a:t>&gt; left  = exec.submit(</a:t>
            </a:r>
            <a:r>
              <a:rPr lang="en-US" sz="2000" b="1">
                <a:solidFill>
                  <a:schemeClr val="tx1"/>
                </a:solidFill>
                <a:latin typeface="Arial" pitchFamily="34" charset="0"/>
              </a:rPr>
              <a:t>new</a:t>
            </a:r>
            <a:r>
              <a:rPr lang="en-US" sz="2000" b="1">
                <a:latin typeface="Arial" pitchFamily="34" charset="0"/>
              </a:rPr>
              <a:t> FibTask(arg-1));</a:t>
            </a:r>
          </a:p>
          <a:p>
            <a:pPr algn="l"/>
            <a:r>
              <a:rPr lang="en-US" sz="2000" b="1">
                <a:latin typeface="Arial" pitchFamily="34" charset="0"/>
              </a:rPr>
              <a:t>      Future&lt;</a:t>
            </a:r>
            <a:r>
              <a:rPr lang="en-US" sz="2000" b="1">
                <a:solidFill>
                  <a:schemeClr val="tx1"/>
                </a:solidFill>
                <a:latin typeface="Arial" pitchFamily="34" charset="0"/>
              </a:rPr>
              <a:t>Integer</a:t>
            </a:r>
            <a:r>
              <a:rPr lang="en-US" sz="2000" b="1">
                <a:latin typeface="Arial" pitchFamily="34" charset="0"/>
              </a:rPr>
              <a:t>&gt; right = exec.submit(</a:t>
            </a:r>
            <a:r>
              <a:rPr lang="en-US" sz="2000" b="1">
                <a:solidFill>
                  <a:schemeClr val="tx1"/>
                </a:solidFill>
                <a:latin typeface="Arial" pitchFamily="34" charset="0"/>
              </a:rPr>
              <a:t>new</a:t>
            </a:r>
            <a:r>
              <a:rPr lang="en-US" sz="2000" b="1">
                <a:latin typeface="Arial" pitchFamily="34" charset="0"/>
              </a:rPr>
              <a:t> FibTask(arg-2));</a:t>
            </a:r>
          </a:p>
          <a:p>
            <a:pPr algn="l"/>
            <a:r>
              <a:rPr lang="en-US" sz="2000" b="1">
                <a:latin typeface="Arial" pitchFamily="34" charset="0"/>
              </a:rPr>
              <a:t>      </a:t>
            </a:r>
            <a:r>
              <a:rPr lang="en-US" sz="2000" b="1">
                <a:solidFill>
                  <a:schemeClr val="tx1"/>
                </a:solidFill>
                <a:latin typeface="Arial" pitchFamily="34" charset="0"/>
              </a:rPr>
              <a:t>return</a:t>
            </a:r>
            <a:r>
              <a:rPr lang="en-US" sz="2000" b="1">
                <a:latin typeface="Arial" pitchFamily="34" charset="0"/>
              </a:rPr>
              <a:t> left.get() + right.get();</a:t>
            </a:r>
          </a:p>
          <a:p>
            <a:pPr algn="l"/>
            <a:r>
              <a:rPr lang="en-US" sz="2000" b="1">
                <a:latin typeface="Arial" pitchFamily="34" charset="0"/>
              </a:rPr>
              <a:t>    } </a:t>
            </a:r>
            <a:r>
              <a:rPr lang="en-US" sz="2000" b="1">
                <a:solidFill>
                  <a:schemeClr val="tx1"/>
                </a:solidFill>
                <a:latin typeface="Arial" pitchFamily="34" charset="0"/>
              </a:rPr>
              <a:t>else</a:t>
            </a:r>
            <a:r>
              <a:rPr lang="en-US" sz="2000" b="1">
                <a:latin typeface="Arial" pitchFamily="34" charset="0"/>
              </a:rPr>
              <a:t> {</a:t>
            </a:r>
          </a:p>
          <a:p>
            <a:pPr algn="l"/>
            <a:r>
              <a:rPr lang="en-US" sz="2000" b="1">
                <a:latin typeface="Arial" pitchFamily="34" charset="0"/>
              </a:rPr>
              <a:t>      </a:t>
            </a:r>
            <a:r>
              <a:rPr lang="en-US" sz="2000" b="1">
                <a:solidFill>
                  <a:schemeClr val="tx1"/>
                </a:solidFill>
                <a:latin typeface="Arial" pitchFamily="34" charset="0"/>
              </a:rPr>
              <a:t>return</a:t>
            </a:r>
            <a:r>
              <a:rPr lang="en-US" sz="2000" b="1">
                <a:latin typeface="Arial" pitchFamily="34" charset="0"/>
              </a:rPr>
              <a:t> 1;</a:t>
            </a:r>
          </a:p>
          <a:p>
            <a:pPr algn="l"/>
            <a:r>
              <a:rPr lang="en-US" sz="2000" b="1">
                <a:latin typeface="Arial" pitchFamily="34" charset="0"/>
              </a:rPr>
              <a:t>    }}}</a:t>
            </a:r>
          </a:p>
        </p:txBody>
      </p:sp>
      <p:sp>
        <p:nvSpPr>
          <p:cNvPr id="48133" name="Rectangle 2"/>
          <p:cNvSpPr>
            <a:spLocks noGrp="1" noChangeArrowheads="1"/>
          </p:cNvSpPr>
          <p:nvPr>
            <p:ph type="title" idx="4294967295"/>
          </p:nvPr>
        </p:nvSpPr>
        <p:spPr/>
        <p:txBody>
          <a:bodyPr/>
          <a:lstStyle/>
          <a:p>
            <a:r>
              <a:rPr lang="en-US"/>
              <a:t>Multithreaded Fibonacci</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1"/>
          <p:cNvSpPr>
            <a:spLocks noGrp="1"/>
          </p:cNvSpPr>
          <p:nvPr>
            <p:ph type="ftr" sz="quarter" idx="10"/>
          </p:nvPr>
        </p:nvSpPr>
        <p:spPr>
          <a:noFill/>
        </p:spPr>
        <p:txBody>
          <a:bodyPr/>
          <a:lstStyle/>
          <a:p>
            <a:r>
              <a:rPr lang="en-US"/>
              <a:t>Art of Multiprocessor Programming</a:t>
            </a:r>
          </a:p>
        </p:txBody>
      </p:sp>
      <p:sp>
        <p:nvSpPr>
          <p:cNvPr id="49155" name="Slide Number Placeholder 2"/>
          <p:cNvSpPr>
            <a:spLocks noGrp="1"/>
          </p:cNvSpPr>
          <p:nvPr>
            <p:ph type="sldNum" sz="quarter" idx="11"/>
          </p:nvPr>
        </p:nvSpPr>
        <p:spPr>
          <a:noFill/>
        </p:spPr>
        <p:txBody>
          <a:bodyPr/>
          <a:lstStyle/>
          <a:p>
            <a:fld id="{32AB4469-9171-4C0D-B66B-DA463102A919}" type="slidenum">
              <a:rPr lang="x-none" smtClean="0"/>
              <a:pPr/>
              <a:t>37</a:t>
            </a:fld>
            <a:endParaRPr lang="en-US"/>
          </a:p>
        </p:txBody>
      </p:sp>
      <p:sp>
        <p:nvSpPr>
          <p:cNvPr id="49156" name="Rectangle 3"/>
          <p:cNvSpPr>
            <a:spLocks noChangeArrowheads="1"/>
          </p:cNvSpPr>
          <p:nvPr/>
        </p:nvSpPr>
        <p:spPr bwMode="auto">
          <a:xfrm>
            <a:off x="1011238" y="1663700"/>
            <a:ext cx="7620000" cy="4664075"/>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class FibTask implements Callable&lt;Integer&gt; {</a:t>
            </a:r>
          </a:p>
          <a:p>
            <a:pPr algn="l"/>
            <a:r>
              <a:rPr lang="en-US" sz="2000" b="1">
                <a:solidFill>
                  <a:schemeClr val="folHlink"/>
                </a:solidFill>
                <a:latin typeface="Arial" pitchFamily="34" charset="0"/>
              </a:rPr>
              <a:t>  static ExecutorService exec = Executors.newCachedThreadPool();</a:t>
            </a:r>
          </a:p>
          <a:p>
            <a:pPr algn="l"/>
            <a:r>
              <a:rPr lang="en-US" sz="2000" b="1">
                <a:solidFill>
                  <a:schemeClr val="folHlink"/>
                </a:solidFill>
                <a:latin typeface="Arial" pitchFamily="34" charset="0"/>
              </a:rPr>
              <a:t>  int arg;</a:t>
            </a:r>
          </a:p>
          <a:p>
            <a:pPr algn="l"/>
            <a:r>
              <a:rPr lang="en-US" sz="2000" b="1">
                <a:solidFill>
                  <a:schemeClr val="folHlink"/>
                </a:solidFill>
                <a:latin typeface="Arial" pitchFamily="34" charset="0"/>
              </a:rPr>
              <a:t>  public FibTask(int n) {</a:t>
            </a:r>
          </a:p>
          <a:p>
            <a:pPr algn="l"/>
            <a:r>
              <a:rPr lang="en-US" sz="2000" b="1">
                <a:solidFill>
                  <a:schemeClr val="folHlink"/>
                </a:solidFill>
                <a:latin typeface="Arial" pitchFamily="34" charset="0"/>
              </a:rPr>
              <a:t>    arg = n;</a:t>
            </a:r>
          </a:p>
          <a:p>
            <a:pPr algn="l"/>
            <a:r>
              <a:rPr lang="en-US" sz="2000" b="1">
                <a:solidFill>
                  <a:schemeClr val="folHlink"/>
                </a:solidFill>
                <a:latin typeface="Arial" pitchFamily="34" charset="0"/>
              </a:rPr>
              <a:t>  }</a:t>
            </a:r>
          </a:p>
          <a:p>
            <a:pPr algn="l"/>
            <a:r>
              <a:rPr lang="en-US" sz="2000" b="1">
                <a:solidFill>
                  <a:schemeClr val="folHlink"/>
                </a:solidFill>
                <a:latin typeface="Arial" pitchFamily="34" charset="0"/>
              </a:rPr>
              <a:t>  public Integer call() {</a:t>
            </a:r>
          </a:p>
          <a:p>
            <a:pPr algn="l"/>
            <a:r>
              <a:rPr lang="en-US" sz="2000" b="1">
                <a:solidFill>
                  <a:schemeClr val="folHlink"/>
                </a:solidFill>
                <a:latin typeface="Arial" pitchFamily="34" charset="0"/>
              </a:rPr>
              <a:t>    if (arg &gt; 2) {</a:t>
            </a:r>
          </a:p>
          <a:p>
            <a:pPr algn="l"/>
            <a:r>
              <a:rPr lang="en-US" sz="2000" b="1">
                <a:latin typeface="Arial" pitchFamily="34" charset="0"/>
              </a:rPr>
              <a:t>      Future&lt;</a:t>
            </a:r>
            <a:r>
              <a:rPr lang="en-US" sz="2000" b="1">
                <a:solidFill>
                  <a:schemeClr val="tx1"/>
                </a:solidFill>
                <a:latin typeface="Arial" pitchFamily="34" charset="0"/>
              </a:rPr>
              <a:t>Integer</a:t>
            </a:r>
            <a:r>
              <a:rPr lang="en-US" sz="2000" b="1">
                <a:latin typeface="Arial" pitchFamily="34" charset="0"/>
              </a:rPr>
              <a:t>&gt; left  = exec.submit(</a:t>
            </a:r>
            <a:r>
              <a:rPr lang="en-US" sz="2000" b="1">
                <a:solidFill>
                  <a:schemeClr val="tx1"/>
                </a:solidFill>
                <a:latin typeface="Arial" pitchFamily="34" charset="0"/>
              </a:rPr>
              <a:t>new</a:t>
            </a:r>
            <a:r>
              <a:rPr lang="en-US" sz="2000" b="1">
                <a:latin typeface="Arial" pitchFamily="34" charset="0"/>
              </a:rPr>
              <a:t> FibTask(arg-1));</a:t>
            </a:r>
          </a:p>
          <a:p>
            <a:pPr algn="l"/>
            <a:r>
              <a:rPr lang="en-US" sz="2000" b="1">
                <a:latin typeface="Arial" pitchFamily="34" charset="0"/>
              </a:rPr>
              <a:t>      Future&lt;</a:t>
            </a:r>
            <a:r>
              <a:rPr lang="en-US" sz="2000" b="1">
                <a:solidFill>
                  <a:schemeClr val="tx1"/>
                </a:solidFill>
                <a:latin typeface="Arial" pitchFamily="34" charset="0"/>
              </a:rPr>
              <a:t>Integer</a:t>
            </a:r>
            <a:r>
              <a:rPr lang="en-US" sz="2000" b="1">
                <a:latin typeface="Arial" pitchFamily="34" charset="0"/>
              </a:rPr>
              <a:t>&gt; right = exec.submit(</a:t>
            </a:r>
            <a:r>
              <a:rPr lang="en-US" sz="2000" b="1">
                <a:solidFill>
                  <a:schemeClr val="tx1"/>
                </a:solidFill>
                <a:latin typeface="Arial" pitchFamily="34" charset="0"/>
              </a:rPr>
              <a:t>new</a:t>
            </a:r>
            <a:r>
              <a:rPr lang="en-US" sz="2000" b="1">
                <a:latin typeface="Arial" pitchFamily="34" charset="0"/>
              </a:rPr>
              <a:t> FibTask(arg-2));</a:t>
            </a:r>
          </a:p>
          <a:p>
            <a:pPr algn="l"/>
            <a:r>
              <a:rPr lang="en-US" sz="2000" b="1">
                <a:latin typeface="Arial" pitchFamily="34" charset="0"/>
              </a:rPr>
              <a:t>      </a:t>
            </a:r>
            <a:r>
              <a:rPr lang="en-US" sz="2000" b="1">
                <a:solidFill>
                  <a:schemeClr val="folHlink"/>
                </a:solidFill>
                <a:latin typeface="Arial" pitchFamily="34" charset="0"/>
              </a:rPr>
              <a:t>return left.get() + right.get();</a:t>
            </a:r>
          </a:p>
          <a:p>
            <a:pPr algn="l"/>
            <a:r>
              <a:rPr lang="en-US" sz="2000" b="1">
                <a:solidFill>
                  <a:schemeClr val="folHlink"/>
                </a:solidFill>
                <a:latin typeface="Arial" pitchFamily="34" charset="0"/>
              </a:rPr>
              <a:t>    } else {</a:t>
            </a:r>
          </a:p>
          <a:p>
            <a:pPr algn="l"/>
            <a:r>
              <a:rPr lang="en-US" sz="2000" b="1">
                <a:solidFill>
                  <a:schemeClr val="folHlink"/>
                </a:solidFill>
                <a:latin typeface="Arial" pitchFamily="34" charset="0"/>
              </a:rPr>
              <a:t>      return 1;</a:t>
            </a:r>
          </a:p>
          <a:p>
            <a:pPr algn="l"/>
            <a:r>
              <a:rPr lang="en-US" sz="2000" b="1">
                <a:solidFill>
                  <a:schemeClr val="folHlink"/>
                </a:solidFill>
                <a:latin typeface="Arial" pitchFamily="34" charset="0"/>
              </a:rPr>
              <a:t>    }}}</a:t>
            </a:r>
          </a:p>
        </p:txBody>
      </p:sp>
      <p:sp>
        <p:nvSpPr>
          <p:cNvPr id="49157" name="Rectangle 2"/>
          <p:cNvSpPr>
            <a:spLocks noGrp="1" noChangeArrowheads="1"/>
          </p:cNvSpPr>
          <p:nvPr>
            <p:ph type="title" idx="4294967295"/>
          </p:nvPr>
        </p:nvSpPr>
        <p:spPr/>
        <p:txBody>
          <a:bodyPr/>
          <a:lstStyle/>
          <a:p>
            <a:r>
              <a:rPr lang="en-US"/>
              <a:t>Multithreaded Fibonacci</a:t>
            </a:r>
          </a:p>
        </p:txBody>
      </p:sp>
      <p:sp>
        <p:nvSpPr>
          <p:cNvPr id="49158" name="AutoShape 4"/>
          <p:cNvSpPr>
            <a:spLocks noChangeArrowheads="1"/>
          </p:cNvSpPr>
          <p:nvPr/>
        </p:nvSpPr>
        <p:spPr bwMode="auto">
          <a:xfrm>
            <a:off x="1366838" y="4419600"/>
            <a:ext cx="7061200" cy="711200"/>
          </a:xfrm>
          <a:prstGeom prst="wedgeRoundRectCallout">
            <a:avLst>
              <a:gd name="adj1" fmla="val 18569"/>
              <a:gd name="adj2" fmla="val -151338"/>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49159" name="Text Box 5"/>
          <p:cNvSpPr txBox="1">
            <a:spLocks noChangeArrowheads="1"/>
          </p:cNvSpPr>
          <p:nvPr/>
        </p:nvSpPr>
        <p:spPr bwMode="auto">
          <a:xfrm>
            <a:off x="4934279" y="3203575"/>
            <a:ext cx="2361544"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Parallel calls</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1"/>
          <p:cNvSpPr>
            <a:spLocks noGrp="1"/>
          </p:cNvSpPr>
          <p:nvPr>
            <p:ph type="ftr" sz="quarter" idx="10"/>
          </p:nvPr>
        </p:nvSpPr>
        <p:spPr>
          <a:noFill/>
        </p:spPr>
        <p:txBody>
          <a:bodyPr/>
          <a:lstStyle/>
          <a:p>
            <a:r>
              <a:rPr lang="en-US"/>
              <a:t>Art of Multiprocessor Programming</a:t>
            </a:r>
          </a:p>
        </p:txBody>
      </p:sp>
      <p:sp>
        <p:nvSpPr>
          <p:cNvPr id="50179" name="Slide Number Placeholder 2"/>
          <p:cNvSpPr>
            <a:spLocks noGrp="1"/>
          </p:cNvSpPr>
          <p:nvPr>
            <p:ph type="sldNum" sz="quarter" idx="11"/>
          </p:nvPr>
        </p:nvSpPr>
        <p:spPr>
          <a:noFill/>
        </p:spPr>
        <p:txBody>
          <a:bodyPr/>
          <a:lstStyle/>
          <a:p>
            <a:fld id="{C8920120-F5FA-43AB-BC46-E18888662068}" type="slidenum">
              <a:rPr lang="x-none" smtClean="0"/>
              <a:pPr/>
              <a:t>38</a:t>
            </a:fld>
            <a:endParaRPr lang="en-US"/>
          </a:p>
        </p:txBody>
      </p:sp>
      <p:sp>
        <p:nvSpPr>
          <p:cNvPr id="50180" name="Rectangle 3"/>
          <p:cNvSpPr>
            <a:spLocks noChangeArrowheads="1"/>
          </p:cNvSpPr>
          <p:nvPr/>
        </p:nvSpPr>
        <p:spPr bwMode="auto">
          <a:xfrm>
            <a:off x="1011238" y="1663700"/>
            <a:ext cx="7620000" cy="4664075"/>
          </a:xfrm>
          <a:prstGeom prst="rect">
            <a:avLst/>
          </a:prstGeom>
          <a:solidFill>
            <a:srgbClr val="FFFFCC"/>
          </a:solidFill>
          <a:ln w="9525">
            <a:noFill/>
            <a:miter lim="800000"/>
            <a:headEnd/>
            <a:tailEnd/>
          </a:ln>
        </p:spPr>
        <p:txBody>
          <a:bodyPr>
            <a:spAutoFit/>
          </a:bodyPr>
          <a:lstStyle/>
          <a:p>
            <a:pPr algn="l"/>
            <a:r>
              <a:rPr lang="en-US" sz="2000" b="1">
                <a:solidFill>
                  <a:schemeClr val="folHlink"/>
                </a:solidFill>
                <a:latin typeface="Arial" pitchFamily="34" charset="0"/>
              </a:rPr>
              <a:t>class FibTask implements Callable&lt;Integer&gt; {</a:t>
            </a:r>
          </a:p>
          <a:p>
            <a:pPr algn="l"/>
            <a:r>
              <a:rPr lang="en-US" sz="2000" b="1">
                <a:solidFill>
                  <a:schemeClr val="folHlink"/>
                </a:solidFill>
                <a:latin typeface="Arial" pitchFamily="34" charset="0"/>
              </a:rPr>
              <a:t>  static ExecutorService exec = Executors.newCachedThreadPool();</a:t>
            </a:r>
          </a:p>
          <a:p>
            <a:pPr algn="l"/>
            <a:r>
              <a:rPr lang="en-US" sz="2000" b="1">
                <a:solidFill>
                  <a:schemeClr val="folHlink"/>
                </a:solidFill>
                <a:latin typeface="Arial" pitchFamily="34" charset="0"/>
              </a:rPr>
              <a:t>  int arg;</a:t>
            </a:r>
          </a:p>
          <a:p>
            <a:pPr algn="l"/>
            <a:r>
              <a:rPr lang="en-US" sz="2000" b="1">
                <a:solidFill>
                  <a:schemeClr val="folHlink"/>
                </a:solidFill>
                <a:latin typeface="Arial" pitchFamily="34" charset="0"/>
              </a:rPr>
              <a:t>  public FibTask(int n) {</a:t>
            </a:r>
          </a:p>
          <a:p>
            <a:pPr algn="l"/>
            <a:r>
              <a:rPr lang="en-US" sz="2000" b="1">
                <a:solidFill>
                  <a:schemeClr val="folHlink"/>
                </a:solidFill>
                <a:latin typeface="Arial" pitchFamily="34" charset="0"/>
              </a:rPr>
              <a:t>    arg = n;</a:t>
            </a:r>
          </a:p>
          <a:p>
            <a:pPr algn="l"/>
            <a:r>
              <a:rPr lang="en-US" sz="2000" b="1">
                <a:solidFill>
                  <a:schemeClr val="folHlink"/>
                </a:solidFill>
                <a:latin typeface="Arial" pitchFamily="34" charset="0"/>
              </a:rPr>
              <a:t>  }</a:t>
            </a:r>
          </a:p>
          <a:p>
            <a:pPr algn="l"/>
            <a:r>
              <a:rPr lang="en-US" sz="2000" b="1">
                <a:solidFill>
                  <a:schemeClr val="folHlink"/>
                </a:solidFill>
                <a:latin typeface="Arial" pitchFamily="34" charset="0"/>
              </a:rPr>
              <a:t>  public Integer call() {</a:t>
            </a:r>
          </a:p>
          <a:p>
            <a:pPr algn="l"/>
            <a:r>
              <a:rPr lang="en-US" sz="2000" b="1">
                <a:solidFill>
                  <a:schemeClr val="folHlink"/>
                </a:solidFill>
                <a:latin typeface="Arial" pitchFamily="34" charset="0"/>
              </a:rPr>
              <a:t>    if (arg &gt; 2) {</a:t>
            </a:r>
          </a:p>
          <a:p>
            <a:pPr algn="l"/>
            <a:r>
              <a:rPr lang="en-US" sz="2000" b="1">
                <a:solidFill>
                  <a:schemeClr val="folHlink"/>
                </a:solidFill>
                <a:latin typeface="Arial" pitchFamily="34" charset="0"/>
              </a:rPr>
              <a:t>      Future&lt;Integer&gt; left  = exec.submit(new FibTask(arg-1));</a:t>
            </a:r>
          </a:p>
          <a:p>
            <a:pPr algn="l"/>
            <a:r>
              <a:rPr lang="en-US" sz="2000" b="1">
                <a:solidFill>
                  <a:schemeClr val="folHlink"/>
                </a:solidFill>
                <a:latin typeface="Arial" pitchFamily="34" charset="0"/>
              </a:rPr>
              <a:t>      Future&lt;Integer&gt; right = exec.submit(new FibTask(arg-2));</a:t>
            </a:r>
          </a:p>
          <a:p>
            <a:pPr algn="l"/>
            <a:r>
              <a:rPr lang="en-US" sz="2000" b="1">
                <a:latin typeface="Arial" pitchFamily="34" charset="0"/>
              </a:rPr>
              <a:t>      </a:t>
            </a:r>
            <a:r>
              <a:rPr lang="en-US" sz="2000" b="1">
                <a:solidFill>
                  <a:schemeClr val="tx1"/>
                </a:solidFill>
                <a:latin typeface="Arial" pitchFamily="34" charset="0"/>
              </a:rPr>
              <a:t>return</a:t>
            </a:r>
            <a:r>
              <a:rPr lang="en-US" sz="2000" b="1">
                <a:latin typeface="Arial" pitchFamily="34" charset="0"/>
              </a:rPr>
              <a:t> left.get() + right.get();</a:t>
            </a:r>
          </a:p>
          <a:p>
            <a:pPr algn="l"/>
            <a:r>
              <a:rPr lang="en-US" sz="2000" b="1">
                <a:latin typeface="Arial" pitchFamily="34" charset="0"/>
              </a:rPr>
              <a:t>    </a:t>
            </a:r>
            <a:r>
              <a:rPr lang="en-US" sz="2000" b="1">
                <a:solidFill>
                  <a:schemeClr val="folHlink"/>
                </a:solidFill>
                <a:latin typeface="Arial" pitchFamily="34" charset="0"/>
              </a:rPr>
              <a:t>} else {</a:t>
            </a:r>
          </a:p>
          <a:p>
            <a:pPr algn="l"/>
            <a:r>
              <a:rPr lang="en-US" sz="2000" b="1">
                <a:solidFill>
                  <a:schemeClr val="folHlink"/>
                </a:solidFill>
                <a:latin typeface="Arial" pitchFamily="34" charset="0"/>
              </a:rPr>
              <a:t>      return 1;</a:t>
            </a:r>
          </a:p>
          <a:p>
            <a:pPr algn="l"/>
            <a:r>
              <a:rPr lang="en-US" sz="2000" b="1">
                <a:solidFill>
                  <a:schemeClr val="folHlink"/>
                </a:solidFill>
                <a:latin typeface="Arial" pitchFamily="34" charset="0"/>
              </a:rPr>
              <a:t>    }}}</a:t>
            </a:r>
          </a:p>
        </p:txBody>
      </p:sp>
      <p:sp>
        <p:nvSpPr>
          <p:cNvPr id="50181" name="Rectangle 2"/>
          <p:cNvSpPr>
            <a:spLocks noGrp="1" noChangeArrowheads="1"/>
          </p:cNvSpPr>
          <p:nvPr>
            <p:ph type="title" idx="4294967295"/>
          </p:nvPr>
        </p:nvSpPr>
        <p:spPr/>
        <p:txBody>
          <a:bodyPr/>
          <a:lstStyle/>
          <a:p>
            <a:r>
              <a:rPr lang="en-US"/>
              <a:t>Multithreaded Fibonacci</a:t>
            </a:r>
          </a:p>
        </p:txBody>
      </p:sp>
      <p:sp>
        <p:nvSpPr>
          <p:cNvPr id="50182" name="AutoShape 4"/>
          <p:cNvSpPr>
            <a:spLocks noChangeArrowheads="1"/>
          </p:cNvSpPr>
          <p:nvPr/>
        </p:nvSpPr>
        <p:spPr bwMode="auto">
          <a:xfrm>
            <a:off x="1446213" y="4970463"/>
            <a:ext cx="3543300" cy="508000"/>
          </a:xfrm>
          <a:prstGeom prst="wedgeRoundRectCallout">
            <a:avLst>
              <a:gd name="adj1" fmla="val 50088"/>
              <a:gd name="adj2" fmla="val -321875"/>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50183" name="Text Box 5"/>
          <p:cNvSpPr txBox="1">
            <a:spLocks noChangeArrowheads="1"/>
          </p:cNvSpPr>
          <p:nvPr/>
        </p:nvSpPr>
        <p:spPr bwMode="auto">
          <a:xfrm>
            <a:off x="3179208" y="3074988"/>
            <a:ext cx="4677884"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Pick up &amp; combine results</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1"/>
          <p:cNvSpPr>
            <a:spLocks noGrp="1"/>
          </p:cNvSpPr>
          <p:nvPr>
            <p:ph type="ftr" sz="quarter" idx="10"/>
          </p:nvPr>
        </p:nvSpPr>
        <p:spPr>
          <a:noFill/>
        </p:spPr>
        <p:txBody>
          <a:bodyPr/>
          <a:lstStyle/>
          <a:p>
            <a:r>
              <a:rPr lang="en-US"/>
              <a:t>Art of Multiprocessor Programming</a:t>
            </a:r>
          </a:p>
        </p:txBody>
      </p:sp>
      <p:sp>
        <p:nvSpPr>
          <p:cNvPr id="51203" name="Slide Number Placeholder 2"/>
          <p:cNvSpPr>
            <a:spLocks noGrp="1"/>
          </p:cNvSpPr>
          <p:nvPr>
            <p:ph type="sldNum" sz="quarter" idx="11"/>
          </p:nvPr>
        </p:nvSpPr>
        <p:spPr>
          <a:noFill/>
        </p:spPr>
        <p:txBody>
          <a:bodyPr/>
          <a:lstStyle/>
          <a:p>
            <a:fld id="{2398B0E2-94DE-499D-BCA8-273D6DC52CDF}" type="slidenum">
              <a:rPr lang="x-none" smtClean="0"/>
              <a:pPr/>
              <a:t>39</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549E842-9D3B-42D1-BC2B-394FEE7521C7}" type="slidenum">
              <a:rPr lang="x-none" sz="1400">
                <a:solidFill>
                  <a:schemeClr val="tx1"/>
                </a:solidFill>
                <a:latin typeface="Arial" pitchFamily="34" charset="0"/>
                <a:cs typeface="Arial" pitchFamily="34" charset="0"/>
              </a:rPr>
              <a:pPr>
                <a:defRPr/>
              </a:pPr>
              <a:t>39</a:t>
            </a:fld>
            <a:endParaRPr lang="en-US" sz="1400" dirty="0">
              <a:solidFill>
                <a:schemeClr val="tx1"/>
              </a:solidFill>
              <a:latin typeface="Arial" pitchFamily="34" charset="0"/>
              <a:cs typeface="Arial" pitchFamily="34" charset="0"/>
            </a:endParaRPr>
          </a:p>
        </p:txBody>
      </p:sp>
      <p:sp>
        <p:nvSpPr>
          <p:cNvPr id="51205" name="Rectangle 2"/>
          <p:cNvSpPr>
            <a:spLocks noGrp="1" noChangeArrowheads="1"/>
          </p:cNvSpPr>
          <p:nvPr>
            <p:ph type="title" idx="4294967295"/>
          </p:nvPr>
        </p:nvSpPr>
        <p:spPr/>
        <p:txBody>
          <a:bodyPr/>
          <a:lstStyle/>
          <a:p>
            <a:r>
              <a:rPr lang="en-US" dirty="0"/>
              <a:t>The </a:t>
            </a:r>
            <a:r>
              <a:rPr lang="en-US" dirty="0" err="1"/>
              <a:t>Blumofe-Leiserson</a:t>
            </a:r>
            <a:r>
              <a:rPr lang="en-US" dirty="0"/>
              <a:t> DAG Model</a:t>
            </a:r>
          </a:p>
        </p:txBody>
      </p:sp>
      <p:sp>
        <p:nvSpPr>
          <p:cNvPr id="51206" name="Rectangle 3"/>
          <p:cNvSpPr>
            <a:spLocks noGrp="1" noChangeArrowheads="1"/>
          </p:cNvSpPr>
          <p:nvPr>
            <p:ph type="body" idx="4294967295"/>
          </p:nvPr>
        </p:nvSpPr>
        <p:spPr>
          <a:xfrm>
            <a:off x="685800" y="2385319"/>
            <a:ext cx="7772400" cy="3272350"/>
          </a:xfrm>
        </p:spPr>
        <p:txBody>
          <a:bodyPr/>
          <a:lstStyle/>
          <a:p>
            <a:r>
              <a:rPr lang="en-US" dirty="0"/>
              <a:t>Multithreaded program is</a:t>
            </a:r>
          </a:p>
          <a:p>
            <a:pPr lvl="1"/>
            <a:r>
              <a:rPr lang="en-US" dirty="0"/>
              <a:t>A </a:t>
            </a:r>
            <a:r>
              <a:rPr lang="en-US" dirty="0">
                <a:solidFill>
                  <a:schemeClr val="tx1"/>
                </a:solidFill>
              </a:rPr>
              <a:t>directed acyclic graph</a:t>
            </a:r>
            <a:r>
              <a:rPr lang="en-US" dirty="0"/>
              <a:t> (DAG)</a:t>
            </a:r>
          </a:p>
          <a:p>
            <a:pPr lvl="1"/>
            <a:r>
              <a:rPr lang="en-US" dirty="0"/>
              <a:t>That unfolds dynamically</a:t>
            </a:r>
          </a:p>
          <a:p>
            <a:r>
              <a:rPr lang="en-US" dirty="0"/>
              <a:t>Each node is</a:t>
            </a:r>
          </a:p>
          <a:p>
            <a:pPr lvl="1"/>
            <a:r>
              <a:rPr lang="en-US" dirty="0"/>
              <a:t>A single unit of work</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4FDC8CD3-8DA4-4EFD-95C8-1632065734E5}" type="slidenum">
              <a:rPr lang="x-none" smtClean="0"/>
              <a:pPr/>
              <a:t>40</a:t>
            </a:fld>
            <a:endParaRPr lang="en-US"/>
          </a:p>
        </p:txBody>
      </p:sp>
      <p:sp>
        <p:nvSpPr>
          <p:cNvPr id="7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D9113EC-E8B4-477F-BDC7-B1FFDAA3B571}" type="slidenum">
              <a:rPr lang="x-none" sz="1400">
                <a:solidFill>
                  <a:schemeClr val="tx1"/>
                </a:solidFill>
                <a:latin typeface="Arial" pitchFamily="34" charset="0"/>
                <a:cs typeface="Arial" pitchFamily="34" charset="0"/>
              </a:rPr>
              <a:pPr>
                <a:defRPr/>
              </a:pPr>
              <a:t>40</a:t>
            </a:fld>
            <a:endParaRPr lang="en-US" sz="1400" dirty="0">
              <a:solidFill>
                <a:schemeClr val="tx1"/>
              </a:solidFill>
              <a:latin typeface="Arial" pitchFamily="34" charset="0"/>
              <a:cs typeface="Arial" pitchFamily="34" charset="0"/>
            </a:endParaRPr>
          </a:p>
        </p:txBody>
      </p:sp>
      <p:sp>
        <p:nvSpPr>
          <p:cNvPr id="52229" name="Rectangle 2"/>
          <p:cNvSpPr>
            <a:spLocks noGrp="1" noChangeArrowheads="1"/>
          </p:cNvSpPr>
          <p:nvPr>
            <p:ph type="title" idx="4294967295"/>
          </p:nvPr>
        </p:nvSpPr>
        <p:spPr>
          <a:xfrm>
            <a:off x="685800" y="244475"/>
            <a:ext cx="7772400" cy="1143000"/>
          </a:xfrm>
        </p:spPr>
        <p:txBody>
          <a:bodyPr/>
          <a:lstStyle/>
          <a:p>
            <a:r>
              <a:rPr lang="en-US" dirty="0"/>
              <a:t>Fibonacci DAG</a:t>
            </a:r>
          </a:p>
        </p:txBody>
      </p:sp>
      <p:sp>
        <p:nvSpPr>
          <p:cNvPr id="52236" name="AutoShape 9"/>
          <p:cNvSpPr>
            <a:spLocks noChangeArrowheads="1"/>
          </p:cNvSpPr>
          <p:nvPr/>
        </p:nvSpPr>
        <p:spPr bwMode="auto">
          <a:xfrm>
            <a:off x="3352800" y="13493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7" name="Text Box 10"/>
          <p:cNvSpPr txBox="1">
            <a:spLocks noChangeArrowheads="1"/>
          </p:cNvSpPr>
          <p:nvPr/>
        </p:nvSpPr>
        <p:spPr bwMode="auto">
          <a:xfrm>
            <a:off x="3556000" y="13541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fib(4)</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4FDC8CD3-8DA4-4EFD-95C8-1632065734E5}" type="slidenum">
              <a:rPr lang="x-none" smtClean="0"/>
              <a:pPr/>
              <a:t>41</a:t>
            </a:fld>
            <a:endParaRPr lang="en-US"/>
          </a:p>
        </p:txBody>
      </p:sp>
      <p:sp>
        <p:nvSpPr>
          <p:cNvPr id="7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D9113EC-E8B4-477F-BDC7-B1FFDAA3B571}" type="slidenum">
              <a:rPr lang="x-none" sz="1400">
                <a:solidFill>
                  <a:schemeClr val="tx1"/>
                </a:solidFill>
                <a:latin typeface="Arial" pitchFamily="34" charset="0"/>
                <a:cs typeface="Arial" pitchFamily="34" charset="0"/>
              </a:rPr>
              <a:pPr>
                <a:defRPr/>
              </a:pPr>
              <a:t>41</a:t>
            </a:fld>
            <a:endParaRPr lang="en-US" sz="1400" dirty="0">
              <a:solidFill>
                <a:schemeClr val="tx1"/>
              </a:solidFill>
              <a:latin typeface="Arial" pitchFamily="34" charset="0"/>
              <a:cs typeface="Arial" pitchFamily="34" charset="0"/>
            </a:endParaRPr>
          </a:p>
        </p:txBody>
      </p:sp>
      <p:sp>
        <p:nvSpPr>
          <p:cNvPr id="52229" name="Rectangle 2"/>
          <p:cNvSpPr>
            <a:spLocks noGrp="1" noChangeArrowheads="1"/>
          </p:cNvSpPr>
          <p:nvPr>
            <p:ph type="title" idx="4294967295"/>
          </p:nvPr>
        </p:nvSpPr>
        <p:spPr>
          <a:xfrm>
            <a:off x="685800" y="244475"/>
            <a:ext cx="7772400" cy="1143000"/>
          </a:xfrm>
        </p:spPr>
        <p:txBody>
          <a:bodyPr/>
          <a:lstStyle/>
          <a:p>
            <a:r>
              <a:rPr lang="en-US" dirty="0"/>
              <a:t>Fibonacci DAG</a:t>
            </a:r>
          </a:p>
        </p:txBody>
      </p:sp>
      <p:sp>
        <p:nvSpPr>
          <p:cNvPr id="52236" name="AutoShape 9"/>
          <p:cNvSpPr>
            <a:spLocks noChangeArrowheads="1"/>
          </p:cNvSpPr>
          <p:nvPr/>
        </p:nvSpPr>
        <p:spPr bwMode="auto">
          <a:xfrm>
            <a:off x="3352800" y="13493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7" name="Text Box 10"/>
          <p:cNvSpPr txBox="1">
            <a:spLocks noChangeArrowheads="1"/>
          </p:cNvSpPr>
          <p:nvPr/>
        </p:nvSpPr>
        <p:spPr bwMode="auto">
          <a:xfrm>
            <a:off x="3556000" y="13541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fib(4)</a:t>
            </a:r>
          </a:p>
        </p:txBody>
      </p:sp>
      <p:sp>
        <p:nvSpPr>
          <p:cNvPr id="52238" name="AutoShape 18"/>
          <p:cNvSpPr>
            <a:spLocks noChangeArrowheads="1"/>
          </p:cNvSpPr>
          <p:nvPr/>
        </p:nvSpPr>
        <p:spPr bwMode="auto">
          <a:xfrm>
            <a:off x="13462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9" name="Text Box 19"/>
          <p:cNvSpPr txBox="1">
            <a:spLocks noChangeArrowheads="1"/>
          </p:cNvSpPr>
          <p:nvPr/>
        </p:nvSpPr>
        <p:spPr bwMode="auto">
          <a:xfrm>
            <a:off x="15494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fib(3)</a:t>
            </a:r>
          </a:p>
        </p:txBody>
      </p:sp>
      <p:sp>
        <p:nvSpPr>
          <p:cNvPr id="52242" name="Line 58"/>
          <p:cNvSpPr>
            <a:spLocks noChangeShapeType="1"/>
          </p:cNvSpPr>
          <p:nvPr/>
        </p:nvSpPr>
        <p:spPr bwMode="auto">
          <a:xfrm flipH="1">
            <a:off x="1778000" y="1971675"/>
            <a:ext cx="1752600" cy="9906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63" name="Oval 120"/>
          <p:cNvSpPr>
            <a:spLocks noChangeArrowheads="1"/>
          </p:cNvSpPr>
          <p:nvPr/>
        </p:nvSpPr>
        <p:spPr bwMode="auto">
          <a:xfrm>
            <a:off x="1473200" y="29432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77" name="Oval 4"/>
          <p:cNvSpPr>
            <a:spLocks noChangeArrowheads="1"/>
          </p:cNvSpPr>
          <p:nvPr/>
        </p:nvSpPr>
        <p:spPr bwMode="auto">
          <a:xfrm>
            <a:off x="3542144" y="1701360"/>
            <a:ext cx="381000" cy="381000"/>
          </a:xfrm>
          <a:prstGeom prst="ellipse">
            <a:avLst/>
          </a:prstGeom>
          <a:solidFill>
            <a:srgbClr val="FF0000"/>
          </a:solidFill>
          <a:ln>
            <a:solidFill>
              <a:srgbClr val="FF0000"/>
            </a:solidFill>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4FDC8CD3-8DA4-4EFD-95C8-1632065734E5}" type="slidenum">
              <a:rPr lang="x-none" smtClean="0"/>
              <a:pPr/>
              <a:t>42</a:t>
            </a:fld>
            <a:endParaRPr lang="en-US"/>
          </a:p>
        </p:txBody>
      </p:sp>
      <p:sp>
        <p:nvSpPr>
          <p:cNvPr id="7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D9113EC-E8B4-477F-BDC7-B1FFDAA3B571}" type="slidenum">
              <a:rPr lang="x-none" sz="1400">
                <a:solidFill>
                  <a:schemeClr val="tx1"/>
                </a:solidFill>
                <a:latin typeface="Arial" pitchFamily="34" charset="0"/>
                <a:cs typeface="Arial" pitchFamily="34" charset="0"/>
              </a:rPr>
              <a:pPr>
                <a:defRPr/>
              </a:pPr>
              <a:t>42</a:t>
            </a:fld>
            <a:endParaRPr lang="en-US" sz="1400" dirty="0">
              <a:solidFill>
                <a:schemeClr val="tx1"/>
              </a:solidFill>
              <a:latin typeface="Arial" pitchFamily="34" charset="0"/>
              <a:cs typeface="Arial" pitchFamily="34" charset="0"/>
            </a:endParaRPr>
          </a:p>
        </p:txBody>
      </p:sp>
      <p:sp>
        <p:nvSpPr>
          <p:cNvPr id="52229" name="Rectangle 2"/>
          <p:cNvSpPr>
            <a:spLocks noGrp="1" noChangeArrowheads="1"/>
          </p:cNvSpPr>
          <p:nvPr>
            <p:ph type="title" idx="4294967295"/>
          </p:nvPr>
        </p:nvSpPr>
        <p:spPr>
          <a:xfrm>
            <a:off x="685800" y="244475"/>
            <a:ext cx="7772400" cy="1143000"/>
          </a:xfrm>
        </p:spPr>
        <p:txBody>
          <a:bodyPr/>
          <a:lstStyle/>
          <a:p>
            <a:r>
              <a:rPr lang="en-US" dirty="0"/>
              <a:t>Fibonacci DAG</a:t>
            </a:r>
          </a:p>
        </p:txBody>
      </p:sp>
      <p:sp>
        <p:nvSpPr>
          <p:cNvPr id="52232" name="Oval 5"/>
          <p:cNvSpPr>
            <a:spLocks noChangeArrowheads="1"/>
          </p:cNvSpPr>
          <p:nvPr/>
        </p:nvSpPr>
        <p:spPr bwMode="auto">
          <a:xfrm>
            <a:off x="4355522" y="167957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34" name="Line 7"/>
          <p:cNvSpPr>
            <a:spLocks noChangeShapeType="1"/>
          </p:cNvSpPr>
          <p:nvPr/>
        </p:nvSpPr>
        <p:spPr bwMode="auto">
          <a:xfrm>
            <a:off x="3974233" y="18700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36" name="AutoShape 9"/>
          <p:cNvSpPr>
            <a:spLocks noChangeArrowheads="1"/>
          </p:cNvSpPr>
          <p:nvPr/>
        </p:nvSpPr>
        <p:spPr bwMode="auto">
          <a:xfrm>
            <a:off x="3352800" y="13493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7" name="Text Box 10"/>
          <p:cNvSpPr txBox="1">
            <a:spLocks noChangeArrowheads="1"/>
          </p:cNvSpPr>
          <p:nvPr/>
        </p:nvSpPr>
        <p:spPr bwMode="auto">
          <a:xfrm>
            <a:off x="3556000" y="13541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fib(4)</a:t>
            </a:r>
          </a:p>
        </p:txBody>
      </p:sp>
      <p:sp>
        <p:nvSpPr>
          <p:cNvPr id="52238" name="AutoShape 18"/>
          <p:cNvSpPr>
            <a:spLocks noChangeArrowheads="1"/>
          </p:cNvSpPr>
          <p:nvPr/>
        </p:nvSpPr>
        <p:spPr bwMode="auto">
          <a:xfrm>
            <a:off x="13462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9" name="Text Box 19"/>
          <p:cNvSpPr txBox="1">
            <a:spLocks noChangeArrowheads="1"/>
          </p:cNvSpPr>
          <p:nvPr/>
        </p:nvSpPr>
        <p:spPr bwMode="auto">
          <a:xfrm>
            <a:off x="15494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fib(3)</a:t>
            </a:r>
          </a:p>
        </p:txBody>
      </p:sp>
      <p:sp>
        <p:nvSpPr>
          <p:cNvPr id="52240" name="AutoShape 26"/>
          <p:cNvSpPr>
            <a:spLocks noChangeArrowheads="1"/>
          </p:cNvSpPr>
          <p:nvPr/>
        </p:nvSpPr>
        <p:spPr bwMode="auto">
          <a:xfrm>
            <a:off x="58039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41" name="Text Box 27"/>
          <p:cNvSpPr txBox="1">
            <a:spLocks noChangeArrowheads="1"/>
          </p:cNvSpPr>
          <p:nvPr/>
        </p:nvSpPr>
        <p:spPr bwMode="auto">
          <a:xfrm>
            <a:off x="60071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42" name="Line 58"/>
          <p:cNvSpPr>
            <a:spLocks noChangeShapeType="1"/>
          </p:cNvSpPr>
          <p:nvPr/>
        </p:nvSpPr>
        <p:spPr bwMode="auto">
          <a:xfrm flipH="1">
            <a:off x="1778000" y="1971675"/>
            <a:ext cx="1752600" cy="9906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43" name="Line 62"/>
          <p:cNvSpPr>
            <a:spLocks noChangeShapeType="1"/>
          </p:cNvSpPr>
          <p:nvPr/>
        </p:nvSpPr>
        <p:spPr bwMode="auto">
          <a:xfrm>
            <a:off x="4572000" y="2035175"/>
            <a:ext cx="1346200" cy="10033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94" name="Oval 80"/>
          <p:cNvSpPr>
            <a:spLocks noChangeArrowheads="1"/>
          </p:cNvSpPr>
          <p:nvPr/>
        </p:nvSpPr>
        <p:spPr bwMode="auto">
          <a:xfrm>
            <a:off x="1054100" y="425767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9" name="AutoShape 85"/>
          <p:cNvSpPr>
            <a:spLocks noChangeArrowheads="1"/>
          </p:cNvSpPr>
          <p:nvPr/>
        </p:nvSpPr>
        <p:spPr bwMode="auto">
          <a:xfrm>
            <a:off x="927100" y="39274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300" name="Text Box 86"/>
          <p:cNvSpPr txBox="1">
            <a:spLocks noChangeArrowheads="1"/>
          </p:cNvSpPr>
          <p:nvPr/>
        </p:nvSpPr>
        <p:spPr bwMode="auto">
          <a:xfrm>
            <a:off x="11303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51" name="Line 108"/>
          <p:cNvSpPr>
            <a:spLocks noChangeShapeType="1"/>
          </p:cNvSpPr>
          <p:nvPr/>
        </p:nvSpPr>
        <p:spPr bwMode="auto">
          <a:xfrm flipH="1">
            <a:off x="1270000" y="3381375"/>
            <a:ext cx="368300" cy="8382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63" name="Oval 120"/>
          <p:cNvSpPr>
            <a:spLocks noChangeArrowheads="1"/>
          </p:cNvSpPr>
          <p:nvPr/>
        </p:nvSpPr>
        <p:spPr bwMode="auto">
          <a:xfrm>
            <a:off x="1473200" y="29432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8" name="Oval 125"/>
          <p:cNvSpPr>
            <a:spLocks noChangeArrowheads="1"/>
          </p:cNvSpPr>
          <p:nvPr/>
        </p:nvSpPr>
        <p:spPr bwMode="auto">
          <a:xfrm>
            <a:off x="5930900" y="29432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77" name="Oval 4"/>
          <p:cNvSpPr>
            <a:spLocks noChangeArrowheads="1"/>
          </p:cNvSpPr>
          <p:nvPr/>
        </p:nvSpPr>
        <p:spPr bwMode="auto">
          <a:xfrm>
            <a:off x="3542144" y="1701360"/>
            <a:ext cx="381000" cy="381000"/>
          </a:xfrm>
          <a:prstGeom prst="ellipse">
            <a:avLst/>
          </a:prstGeom>
          <a:solidFill>
            <a:srgbClr val="FF0000"/>
          </a:solidFill>
          <a:ln>
            <a:solidFill>
              <a:srgbClr val="FF0000"/>
            </a:solidFill>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4FDC8CD3-8DA4-4EFD-95C8-1632065734E5}" type="slidenum">
              <a:rPr lang="x-none" smtClean="0"/>
              <a:pPr/>
              <a:t>43</a:t>
            </a:fld>
            <a:endParaRPr lang="en-US"/>
          </a:p>
        </p:txBody>
      </p:sp>
      <p:sp>
        <p:nvSpPr>
          <p:cNvPr id="7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D9113EC-E8B4-477F-BDC7-B1FFDAA3B571}" type="slidenum">
              <a:rPr lang="x-none" sz="1400">
                <a:solidFill>
                  <a:schemeClr val="tx1"/>
                </a:solidFill>
                <a:latin typeface="Arial" pitchFamily="34" charset="0"/>
                <a:cs typeface="Arial" pitchFamily="34" charset="0"/>
              </a:rPr>
              <a:pPr>
                <a:defRPr/>
              </a:pPr>
              <a:t>43</a:t>
            </a:fld>
            <a:endParaRPr lang="en-US" sz="1400" dirty="0">
              <a:solidFill>
                <a:schemeClr val="tx1"/>
              </a:solidFill>
              <a:latin typeface="Arial" pitchFamily="34" charset="0"/>
              <a:cs typeface="Arial" pitchFamily="34" charset="0"/>
            </a:endParaRPr>
          </a:p>
        </p:txBody>
      </p:sp>
      <p:sp>
        <p:nvSpPr>
          <p:cNvPr id="52229" name="Rectangle 2"/>
          <p:cNvSpPr>
            <a:spLocks noGrp="1" noChangeArrowheads="1"/>
          </p:cNvSpPr>
          <p:nvPr>
            <p:ph type="title" idx="4294967295"/>
          </p:nvPr>
        </p:nvSpPr>
        <p:spPr>
          <a:xfrm>
            <a:off x="685800" y="244475"/>
            <a:ext cx="7772400" cy="1143000"/>
          </a:xfrm>
        </p:spPr>
        <p:txBody>
          <a:bodyPr/>
          <a:lstStyle/>
          <a:p>
            <a:r>
              <a:rPr lang="en-US" dirty="0"/>
              <a:t>Fibonacci DAG</a:t>
            </a:r>
          </a:p>
        </p:txBody>
      </p:sp>
      <p:sp>
        <p:nvSpPr>
          <p:cNvPr id="52232" name="Oval 5"/>
          <p:cNvSpPr>
            <a:spLocks noChangeArrowheads="1"/>
          </p:cNvSpPr>
          <p:nvPr/>
        </p:nvSpPr>
        <p:spPr bwMode="auto">
          <a:xfrm>
            <a:off x="4355522" y="167957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34" name="Line 7"/>
          <p:cNvSpPr>
            <a:spLocks noChangeShapeType="1"/>
          </p:cNvSpPr>
          <p:nvPr/>
        </p:nvSpPr>
        <p:spPr bwMode="auto">
          <a:xfrm>
            <a:off x="3974233" y="18700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36" name="AutoShape 9"/>
          <p:cNvSpPr>
            <a:spLocks noChangeArrowheads="1"/>
          </p:cNvSpPr>
          <p:nvPr/>
        </p:nvSpPr>
        <p:spPr bwMode="auto">
          <a:xfrm>
            <a:off x="3352800" y="13493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7" name="Text Box 10"/>
          <p:cNvSpPr txBox="1">
            <a:spLocks noChangeArrowheads="1"/>
          </p:cNvSpPr>
          <p:nvPr/>
        </p:nvSpPr>
        <p:spPr bwMode="auto">
          <a:xfrm>
            <a:off x="3556000" y="13541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fib(4)</a:t>
            </a:r>
          </a:p>
        </p:txBody>
      </p:sp>
      <p:sp>
        <p:nvSpPr>
          <p:cNvPr id="52238" name="AutoShape 18"/>
          <p:cNvSpPr>
            <a:spLocks noChangeArrowheads="1"/>
          </p:cNvSpPr>
          <p:nvPr/>
        </p:nvSpPr>
        <p:spPr bwMode="auto">
          <a:xfrm>
            <a:off x="13462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9" name="Text Box 19"/>
          <p:cNvSpPr txBox="1">
            <a:spLocks noChangeArrowheads="1"/>
          </p:cNvSpPr>
          <p:nvPr/>
        </p:nvSpPr>
        <p:spPr bwMode="auto">
          <a:xfrm>
            <a:off x="15494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fib(3)</a:t>
            </a:r>
          </a:p>
        </p:txBody>
      </p:sp>
      <p:sp>
        <p:nvSpPr>
          <p:cNvPr id="52240" name="AutoShape 26"/>
          <p:cNvSpPr>
            <a:spLocks noChangeArrowheads="1"/>
          </p:cNvSpPr>
          <p:nvPr/>
        </p:nvSpPr>
        <p:spPr bwMode="auto">
          <a:xfrm>
            <a:off x="58039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41" name="Text Box 27"/>
          <p:cNvSpPr txBox="1">
            <a:spLocks noChangeArrowheads="1"/>
          </p:cNvSpPr>
          <p:nvPr/>
        </p:nvSpPr>
        <p:spPr bwMode="auto">
          <a:xfrm>
            <a:off x="60071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42" name="Line 58"/>
          <p:cNvSpPr>
            <a:spLocks noChangeShapeType="1"/>
          </p:cNvSpPr>
          <p:nvPr/>
        </p:nvSpPr>
        <p:spPr bwMode="auto">
          <a:xfrm flipH="1">
            <a:off x="1778000" y="1971675"/>
            <a:ext cx="1752600" cy="9906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43" name="Line 62"/>
          <p:cNvSpPr>
            <a:spLocks noChangeShapeType="1"/>
          </p:cNvSpPr>
          <p:nvPr/>
        </p:nvSpPr>
        <p:spPr bwMode="auto">
          <a:xfrm>
            <a:off x="4572000" y="2035175"/>
            <a:ext cx="1346200" cy="10033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94" name="Oval 80"/>
          <p:cNvSpPr>
            <a:spLocks noChangeArrowheads="1"/>
          </p:cNvSpPr>
          <p:nvPr/>
        </p:nvSpPr>
        <p:spPr bwMode="auto">
          <a:xfrm>
            <a:off x="1064039" y="425767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5" name="Oval 81"/>
          <p:cNvSpPr>
            <a:spLocks noChangeArrowheads="1"/>
          </p:cNvSpPr>
          <p:nvPr/>
        </p:nvSpPr>
        <p:spPr bwMode="auto">
          <a:xfrm>
            <a:off x="1898650" y="425767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7" name="Line 83"/>
          <p:cNvSpPr>
            <a:spLocks noChangeShapeType="1"/>
          </p:cNvSpPr>
          <p:nvPr/>
        </p:nvSpPr>
        <p:spPr bwMode="auto">
          <a:xfrm>
            <a:off x="1501775" y="44481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99" name="AutoShape 85"/>
          <p:cNvSpPr>
            <a:spLocks noChangeArrowheads="1"/>
          </p:cNvSpPr>
          <p:nvPr/>
        </p:nvSpPr>
        <p:spPr bwMode="auto">
          <a:xfrm>
            <a:off x="927100" y="39274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300" name="Text Box 86"/>
          <p:cNvSpPr txBox="1">
            <a:spLocks noChangeArrowheads="1"/>
          </p:cNvSpPr>
          <p:nvPr/>
        </p:nvSpPr>
        <p:spPr bwMode="auto">
          <a:xfrm>
            <a:off x="11303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91" name="Oval 88"/>
          <p:cNvSpPr>
            <a:spLocks noChangeArrowheads="1"/>
          </p:cNvSpPr>
          <p:nvPr/>
        </p:nvSpPr>
        <p:spPr bwMode="auto">
          <a:xfrm>
            <a:off x="5902739" y="425767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2" name="AutoShape 89"/>
          <p:cNvSpPr>
            <a:spLocks noChangeArrowheads="1"/>
          </p:cNvSpPr>
          <p:nvPr/>
        </p:nvSpPr>
        <p:spPr bwMode="auto">
          <a:xfrm>
            <a:off x="57658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93" name="Text Box 90"/>
          <p:cNvSpPr txBox="1">
            <a:spLocks noChangeArrowheads="1"/>
          </p:cNvSpPr>
          <p:nvPr/>
        </p:nvSpPr>
        <p:spPr bwMode="auto">
          <a:xfrm>
            <a:off x="59690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88" name="Oval 92"/>
          <p:cNvSpPr>
            <a:spLocks noChangeArrowheads="1"/>
          </p:cNvSpPr>
          <p:nvPr/>
        </p:nvSpPr>
        <p:spPr bwMode="auto">
          <a:xfrm>
            <a:off x="7213600" y="425767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89" name="AutoShape 93"/>
          <p:cNvSpPr>
            <a:spLocks noChangeArrowheads="1"/>
          </p:cNvSpPr>
          <p:nvPr/>
        </p:nvSpPr>
        <p:spPr bwMode="auto">
          <a:xfrm>
            <a:off x="70866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90" name="Text Box 94"/>
          <p:cNvSpPr txBox="1">
            <a:spLocks noChangeArrowheads="1"/>
          </p:cNvSpPr>
          <p:nvPr/>
        </p:nvSpPr>
        <p:spPr bwMode="auto">
          <a:xfrm>
            <a:off x="72898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85" name="Oval 96"/>
          <p:cNvSpPr>
            <a:spLocks noChangeArrowheads="1"/>
          </p:cNvSpPr>
          <p:nvPr/>
        </p:nvSpPr>
        <p:spPr bwMode="auto">
          <a:xfrm>
            <a:off x="3769139" y="425767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86" name="AutoShape 97"/>
          <p:cNvSpPr>
            <a:spLocks noChangeArrowheads="1"/>
          </p:cNvSpPr>
          <p:nvPr/>
        </p:nvSpPr>
        <p:spPr bwMode="auto">
          <a:xfrm>
            <a:off x="36322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87" name="Text Box 98"/>
          <p:cNvSpPr txBox="1">
            <a:spLocks noChangeArrowheads="1"/>
          </p:cNvSpPr>
          <p:nvPr/>
        </p:nvSpPr>
        <p:spPr bwMode="auto">
          <a:xfrm>
            <a:off x="38354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78" name="Oval 101"/>
          <p:cNvSpPr>
            <a:spLocks noChangeArrowheads="1"/>
          </p:cNvSpPr>
          <p:nvPr/>
        </p:nvSpPr>
        <p:spPr bwMode="auto">
          <a:xfrm>
            <a:off x="927100" y="55213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9" name="AutoShape 102"/>
          <p:cNvSpPr>
            <a:spLocks noChangeArrowheads="1"/>
          </p:cNvSpPr>
          <p:nvPr/>
        </p:nvSpPr>
        <p:spPr bwMode="auto">
          <a:xfrm>
            <a:off x="800100" y="519112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80" name="Text Box 103"/>
          <p:cNvSpPr txBox="1">
            <a:spLocks noChangeArrowheads="1"/>
          </p:cNvSpPr>
          <p:nvPr/>
        </p:nvSpPr>
        <p:spPr bwMode="auto">
          <a:xfrm>
            <a:off x="1003300" y="51958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75" name="Oval 105"/>
          <p:cNvSpPr>
            <a:spLocks noChangeArrowheads="1"/>
          </p:cNvSpPr>
          <p:nvPr/>
        </p:nvSpPr>
        <p:spPr bwMode="auto">
          <a:xfrm>
            <a:off x="2349500" y="55213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6" name="AutoShape 106"/>
          <p:cNvSpPr>
            <a:spLocks noChangeArrowheads="1"/>
          </p:cNvSpPr>
          <p:nvPr/>
        </p:nvSpPr>
        <p:spPr bwMode="auto">
          <a:xfrm>
            <a:off x="2222500" y="519112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77" name="Text Box 107"/>
          <p:cNvSpPr txBox="1">
            <a:spLocks noChangeArrowheads="1"/>
          </p:cNvSpPr>
          <p:nvPr/>
        </p:nvSpPr>
        <p:spPr bwMode="auto">
          <a:xfrm>
            <a:off x="2425700" y="51958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51" name="Line 108"/>
          <p:cNvSpPr>
            <a:spLocks noChangeShapeType="1"/>
          </p:cNvSpPr>
          <p:nvPr/>
        </p:nvSpPr>
        <p:spPr bwMode="auto">
          <a:xfrm flipH="1">
            <a:off x="1270000" y="3381375"/>
            <a:ext cx="368300" cy="8382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2" name="Line 109"/>
          <p:cNvSpPr>
            <a:spLocks noChangeShapeType="1"/>
          </p:cNvSpPr>
          <p:nvPr/>
        </p:nvSpPr>
        <p:spPr bwMode="auto">
          <a:xfrm flipH="1">
            <a:off x="1092200" y="4638675"/>
            <a:ext cx="88900" cy="8509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3" name="Line 110"/>
          <p:cNvSpPr>
            <a:spLocks noChangeShapeType="1"/>
          </p:cNvSpPr>
          <p:nvPr/>
        </p:nvSpPr>
        <p:spPr bwMode="auto">
          <a:xfrm>
            <a:off x="2578100" y="3355975"/>
            <a:ext cx="1270000" cy="9271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4" name="Line 111"/>
          <p:cNvSpPr>
            <a:spLocks noChangeShapeType="1"/>
          </p:cNvSpPr>
          <p:nvPr/>
        </p:nvSpPr>
        <p:spPr bwMode="auto">
          <a:xfrm>
            <a:off x="2120900" y="4664075"/>
            <a:ext cx="292100" cy="8001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5" name="Line 112"/>
          <p:cNvSpPr>
            <a:spLocks noChangeShapeType="1"/>
          </p:cNvSpPr>
          <p:nvPr/>
        </p:nvSpPr>
        <p:spPr bwMode="auto">
          <a:xfrm flipH="1">
            <a:off x="6096000" y="3432175"/>
            <a:ext cx="50800" cy="8255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6" name="Line 113"/>
          <p:cNvSpPr>
            <a:spLocks noChangeShapeType="1"/>
          </p:cNvSpPr>
          <p:nvPr/>
        </p:nvSpPr>
        <p:spPr bwMode="auto">
          <a:xfrm>
            <a:off x="7061200" y="3419475"/>
            <a:ext cx="292100" cy="7874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63" name="Oval 120"/>
          <p:cNvSpPr>
            <a:spLocks noChangeArrowheads="1"/>
          </p:cNvSpPr>
          <p:nvPr/>
        </p:nvSpPr>
        <p:spPr bwMode="auto">
          <a:xfrm>
            <a:off x="1483139" y="29432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4" name="Oval 121"/>
          <p:cNvSpPr>
            <a:spLocks noChangeArrowheads="1"/>
          </p:cNvSpPr>
          <p:nvPr/>
        </p:nvSpPr>
        <p:spPr bwMode="auto">
          <a:xfrm>
            <a:off x="2317750" y="294322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6" name="Line 123"/>
          <p:cNvSpPr>
            <a:spLocks noChangeShapeType="1"/>
          </p:cNvSpPr>
          <p:nvPr/>
        </p:nvSpPr>
        <p:spPr bwMode="auto">
          <a:xfrm>
            <a:off x="192087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68" name="Oval 125"/>
          <p:cNvSpPr>
            <a:spLocks noChangeArrowheads="1"/>
          </p:cNvSpPr>
          <p:nvPr/>
        </p:nvSpPr>
        <p:spPr bwMode="auto">
          <a:xfrm>
            <a:off x="5940839" y="2943225"/>
            <a:ext cx="381000" cy="381000"/>
          </a:xfrm>
          <a:prstGeom prst="ellipse">
            <a:avLst/>
          </a:prstGeom>
          <a:solidFill>
            <a:srgbClr val="FF0000"/>
          </a:solidFill>
          <a:ln>
            <a:solidFill>
              <a:srgbClr val="FF0000"/>
            </a:solidFill>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9" name="Oval 126"/>
          <p:cNvSpPr>
            <a:spLocks noChangeArrowheads="1"/>
          </p:cNvSpPr>
          <p:nvPr/>
        </p:nvSpPr>
        <p:spPr bwMode="auto">
          <a:xfrm>
            <a:off x="6775450" y="294322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1" name="Line 128"/>
          <p:cNvSpPr>
            <a:spLocks noChangeShapeType="1"/>
          </p:cNvSpPr>
          <p:nvPr/>
        </p:nvSpPr>
        <p:spPr bwMode="auto">
          <a:xfrm>
            <a:off x="637857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77" name="Oval 4"/>
          <p:cNvSpPr>
            <a:spLocks noChangeArrowheads="1"/>
          </p:cNvSpPr>
          <p:nvPr/>
        </p:nvSpPr>
        <p:spPr bwMode="auto">
          <a:xfrm>
            <a:off x="3552083" y="1701360"/>
            <a:ext cx="381000" cy="381000"/>
          </a:xfrm>
          <a:prstGeom prst="ellipse">
            <a:avLst/>
          </a:prstGeom>
          <a:solidFill>
            <a:srgbClr val="FF0000"/>
          </a:solidFill>
          <a:ln>
            <a:solidFill>
              <a:srgbClr val="FF0000"/>
            </a:solidFill>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1"/>
          <p:cNvSpPr>
            <a:spLocks noGrp="1"/>
          </p:cNvSpPr>
          <p:nvPr>
            <p:ph type="ftr" sz="quarter" idx="10"/>
          </p:nvPr>
        </p:nvSpPr>
        <p:spPr>
          <a:noFill/>
        </p:spPr>
        <p:txBody>
          <a:bodyPr/>
          <a:lstStyle/>
          <a:p>
            <a:r>
              <a:rPr lang="en-US"/>
              <a:t>Art of Multiprocessor Programming</a:t>
            </a:r>
          </a:p>
        </p:txBody>
      </p:sp>
      <p:sp>
        <p:nvSpPr>
          <p:cNvPr id="52227" name="Slide Number Placeholder 2"/>
          <p:cNvSpPr>
            <a:spLocks noGrp="1"/>
          </p:cNvSpPr>
          <p:nvPr>
            <p:ph type="sldNum" sz="quarter" idx="11"/>
          </p:nvPr>
        </p:nvSpPr>
        <p:spPr>
          <a:noFill/>
        </p:spPr>
        <p:txBody>
          <a:bodyPr/>
          <a:lstStyle/>
          <a:p>
            <a:fld id="{4FDC8CD3-8DA4-4EFD-95C8-1632065734E5}" type="slidenum">
              <a:rPr lang="x-none" smtClean="0"/>
              <a:pPr/>
              <a:t>44</a:t>
            </a:fld>
            <a:endParaRPr lang="en-US"/>
          </a:p>
        </p:txBody>
      </p:sp>
      <p:sp>
        <p:nvSpPr>
          <p:cNvPr id="7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D9113EC-E8B4-477F-BDC7-B1FFDAA3B571}" type="slidenum">
              <a:rPr lang="x-none" sz="1400">
                <a:solidFill>
                  <a:schemeClr val="tx1"/>
                </a:solidFill>
                <a:latin typeface="Arial" pitchFamily="34" charset="0"/>
                <a:cs typeface="Arial" pitchFamily="34" charset="0"/>
              </a:rPr>
              <a:pPr>
                <a:defRPr/>
              </a:pPr>
              <a:t>44</a:t>
            </a:fld>
            <a:endParaRPr lang="en-US" sz="1400" dirty="0">
              <a:solidFill>
                <a:schemeClr val="tx1"/>
              </a:solidFill>
              <a:latin typeface="Arial" pitchFamily="34" charset="0"/>
              <a:cs typeface="Arial" pitchFamily="34" charset="0"/>
            </a:endParaRPr>
          </a:p>
        </p:txBody>
      </p:sp>
      <p:sp>
        <p:nvSpPr>
          <p:cNvPr id="52229" name="Rectangle 2"/>
          <p:cNvSpPr>
            <a:spLocks noGrp="1" noChangeArrowheads="1"/>
          </p:cNvSpPr>
          <p:nvPr>
            <p:ph type="title" idx="4294967295"/>
          </p:nvPr>
        </p:nvSpPr>
        <p:spPr>
          <a:xfrm>
            <a:off x="685800" y="244475"/>
            <a:ext cx="7772400" cy="1143000"/>
          </a:xfrm>
        </p:spPr>
        <p:txBody>
          <a:bodyPr/>
          <a:lstStyle/>
          <a:p>
            <a:r>
              <a:rPr lang="en-US" dirty="0"/>
              <a:t>Fibonacci DAG</a:t>
            </a:r>
          </a:p>
        </p:txBody>
      </p:sp>
      <p:sp>
        <p:nvSpPr>
          <p:cNvPr id="52232" name="Oval 5"/>
          <p:cNvSpPr>
            <a:spLocks noChangeArrowheads="1"/>
          </p:cNvSpPr>
          <p:nvPr/>
        </p:nvSpPr>
        <p:spPr bwMode="auto">
          <a:xfrm>
            <a:off x="4355522" y="167957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33" name="Oval 6"/>
          <p:cNvSpPr>
            <a:spLocks noChangeArrowheads="1"/>
          </p:cNvSpPr>
          <p:nvPr/>
        </p:nvSpPr>
        <p:spPr bwMode="auto">
          <a:xfrm>
            <a:off x="5168900" y="1679575"/>
            <a:ext cx="381000" cy="381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spAutoFit/>
          </a:bodyPr>
          <a:lstStyle/>
          <a:p>
            <a:pPr algn="l"/>
            <a:endParaRPr lang="en-US" b="1">
              <a:latin typeface="Arial" pitchFamily="34" charset="0"/>
            </a:endParaRPr>
          </a:p>
        </p:txBody>
      </p:sp>
      <p:sp>
        <p:nvSpPr>
          <p:cNvPr id="52234" name="Line 7"/>
          <p:cNvSpPr>
            <a:spLocks noChangeShapeType="1"/>
          </p:cNvSpPr>
          <p:nvPr/>
        </p:nvSpPr>
        <p:spPr bwMode="auto">
          <a:xfrm>
            <a:off x="3974233" y="18700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35" name="Line 8"/>
          <p:cNvSpPr>
            <a:spLocks noChangeShapeType="1"/>
          </p:cNvSpPr>
          <p:nvPr/>
        </p:nvSpPr>
        <p:spPr bwMode="auto">
          <a:xfrm>
            <a:off x="4787611" y="18700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36" name="AutoShape 9"/>
          <p:cNvSpPr>
            <a:spLocks noChangeArrowheads="1"/>
          </p:cNvSpPr>
          <p:nvPr/>
        </p:nvSpPr>
        <p:spPr bwMode="auto">
          <a:xfrm>
            <a:off x="3352800" y="13493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7" name="Text Box 10"/>
          <p:cNvSpPr txBox="1">
            <a:spLocks noChangeArrowheads="1"/>
          </p:cNvSpPr>
          <p:nvPr/>
        </p:nvSpPr>
        <p:spPr bwMode="auto">
          <a:xfrm>
            <a:off x="3556000" y="13541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fib(4)</a:t>
            </a:r>
          </a:p>
        </p:txBody>
      </p:sp>
      <p:sp>
        <p:nvSpPr>
          <p:cNvPr id="52238" name="AutoShape 18"/>
          <p:cNvSpPr>
            <a:spLocks noChangeArrowheads="1"/>
          </p:cNvSpPr>
          <p:nvPr/>
        </p:nvSpPr>
        <p:spPr bwMode="auto">
          <a:xfrm>
            <a:off x="13462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39" name="Text Box 19"/>
          <p:cNvSpPr txBox="1">
            <a:spLocks noChangeArrowheads="1"/>
          </p:cNvSpPr>
          <p:nvPr/>
        </p:nvSpPr>
        <p:spPr bwMode="auto">
          <a:xfrm>
            <a:off x="15494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fib(3)</a:t>
            </a:r>
          </a:p>
        </p:txBody>
      </p:sp>
      <p:sp>
        <p:nvSpPr>
          <p:cNvPr id="52240" name="AutoShape 26"/>
          <p:cNvSpPr>
            <a:spLocks noChangeArrowheads="1"/>
          </p:cNvSpPr>
          <p:nvPr/>
        </p:nvSpPr>
        <p:spPr bwMode="auto">
          <a:xfrm>
            <a:off x="5803900" y="261302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41" name="Text Box 27"/>
          <p:cNvSpPr txBox="1">
            <a:spLocks noChangeArrowheads="1"/>
          </p:cNvSpPr>
          <p:nvPr/>
        </p:nvSpPr>
        <p:spPr bwMode="auto">
          <a:xfrm>
            <a:off x="6007100" y="26177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42" name="Line 58"/>
          <p:cNvSpPr>
            <a:spLocks noChangeShapeType="1"/>
          </p:cNvSpPr>
          <p:nvPr/>
        </p:nvSpPr>
        <p:spPr bwMode="auto">
          <a:xfrm flipH="1">
            <a:off x="1778000" y="1971675"/>
            <a:ext cx="1752600" cy="9906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43" name="Line 62"/>
          <p:cNvSpPr>
            <a:spLocks noChangeShapeType="1"/>
          </p:cNvSpPr>
          <p:nvPr/>
        </p:nvSpPr>
        <p:spPr bwMode="auto">
          <a:xfrm>
            <a:off x="4572000" y="2035175"/>
            <a:ext cx="1346200" cy="10033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44" name="Line 72"/>
          <p:cNvSpPr>
            <a:spLocks noChangeShapeType="1"/>
          </p:cNvSpPr>
          <p:nvPr/>
        </p:nvSpPr>
        <p:spPr bwMode="auto">
          <a:xfrm flipV="1">
            <a:off x="3467100" y="2035175"/>
            <a:ext cx="1663700" cy="8763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45" name="Line 73"/>
          <p:cNvSpPr>
            <a:spLocks noChangeShapeType="1"/>
          </p:cNvSpPr>
          <p:nvPr/>
        </p:nvSpPr>
        <p:spPr bwMode="auto">
          <a:xfrm flipH="1" flipV="1">
            <a:off x="5537200" y="2085975"/>
            <a:ext cx="2070100" cy="7874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46" name="Text Box 74"/>
          <p:cNvSpPr txBox="1">
            <a:spLocks noChangeArrowheads="1"/>
          </p:cNvSpPr>
          <p:nvPr/>
        </p:nvSpPr>
        <p:spPr bwMode="auto">
          <a:xfrm>
            <a:off x="1547324" y="1803400"/>
            <a:ext cx="724878" cy="523220"/>
          </a:xfrm>
          <a:prstGeom prst="rect">
            <a:avLst/>
          </a:prstGeom>
          <a:noFill/>
          <a:ln w="38100" algn="ctr">
            <a:noFill/>
            <a:miter lim="800000"/>
            <a:headEnd/>
            <a:tailEnd/>
          </a:ln>
        </p:spPr>
        <p:txBody>
          <a:bodyPr wrap="none">
            <a:spAutoFit/>
          </a:bodyPr>
          <a:lstStyle/>
          <a:p>
            <a:pPr algn="ctr"/>
            <a:r>
              <a:rPr lang="en-US" sz="2800" dirty="0">
                <a:solidFill>
                  <a:srgbClr val="FF0000"/>
                </a:solidFill>
                <a:latin typeface="Arial" pitchFamily="34" charset="0"/>
              </a:rPr>
              <a:t>call</a:t>
            </a:r>
          </a:p>
        </p:txBody>
      </p:sp>
      <p:sp>
        <p:nvSpPr>
          <p:cNvPr id="52247" name="Text Box 76"/>
          <p:cNvSpPr txBox="1">
            <a:spLocks noChangeArrowheads="1"/>
          </p:cNvSpPr>
          <p:nvPr/>
        </p:nvSpPr>
        <p:spPr bwMode="auto">
          <a:xfrm>
            <a:off x="6075363" y="1587500"/>
            <a:ext cx="684213" cy="523875"/>
          </a:xfrm>
          <a:prstGeom prst="rect">
            <a:avLst/>
          </a:prstGeom>
          <a:noFill/>
          <a:ln w="38100" algn="ctr">
            <a:noFill/>
            <a:miter lim="800000"/>
            <a:headEnd/>
            <a:tailEnd/>
          </a:ln>
        </p:spPr>
        <p:txBody>
          <a:bodyPr wrap="none">
            <a:spAutoFit/>
          </a:bodyPr>
          <a:lstStyle/>
          <a:p>
            <a:pPr algn="ctr"/>
            <a:r>
              <a:rPr lang="en-US" sz="2800" dirty="0">
                <a:solidFill>
                  <a:schemeClr val="accent1"/>
                </a:solidFill>
                <a:latin typeface="Arial" pitchFamily="34" charset="0"/>
              </a:rPr>
              <a:t>get</a:t>
            </a:r>
          </a:p>
        </p:txBody>
      </p:sp>
      <p:sp>
        <p:nvSpPr>
          <p:cNvPr id="52294" name="Oval 80"/>
          <p:cNvSpPr>
            <a:spLocks noChangeArrowheads="1"/>
          </p:cNvSpPr>
          <p:nvPr/>
        </p:nvSpPr>
        <p:spPr bwMode="auto">
          <a:xfrm>
            <a:off x="1054100" y="425767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5" name="Oval 81"/>
          <p:cNvSpPr>
            <a:spLocks noChangeArrowheads="1"/>
          </p:cNvSpPr>
          <p:nvPr/>
        </p:nvSpPr>
        <p:spPr bwMode="auto">
          <a:xfrm>
            <a:off x="1898650" y="425767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6" name="Oval 82"/>
          <p:cNvSpPr>
            <a:spLocks noChangeArrowheads="1"/>
          </p:cNvSpPr>
          <p:nvPr/>
        </p:nvSpPr>
        <p:spPr bwMode="auto">
          <a:xfrm>
            <a:off x="2743200" y="4257675"/>
            <a:ext cx="381000" cy="381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spAutoFit/>
          </a:bodyPr>
          <a:lstStyle/>
          <a:p>
            <a:pPr algn="l"/>
            <a:endParaRPr lang="en-US" b="1">
              <a:latin typeface="Arial" pitchFamily="34" charset="0"/>
            </a:endParaRPr>
          </a:p>
        </p:txBody>
      </p:sp>
      <p:sp>
        <p:nvSpPr>
          <p:cNvPr id="52297" name="Line 83"/>
          <p:cNvSpPr>
            <a:spLocks noChangeShapeType="1"/>
          </p:cNvSpPr>
          <p:nvPr/>
        </p:nvSpPr>
        <p:spPr bwMode="auto">
          <a:xfrm>
            <a:off x="1501775" y="44481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98" name="Line 84"/>
          <p:cNvSpPr>
            <a:spLocks noChangeShapeType="1"/>
          </p:cNvSpPr>
          <p:nvPr/>
        </p:nvSpPr>
        <p:spPr bwMode="auto">
          <a:xfrm>
            <a:off x="2346325" y="444817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99" name="AutoShape 85"/>
          <p:cNvSpPr>
            <a:spLocks noChangeArrowheads="1"/>
          </p:cNvSpPr>
          <p:nvPr/>
        </p:nvSpPr>
        <p:spPr bwMode="auto">
          <a:xfrm>
            <a:off x="927100" y="3927475"/>
            <a:ext cx="23241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300" name="Text Box 86"/>
          <p:cNvSpPr txBox="1">
            <a:spLocks noChangeArrowheads="1"/>
          </p:cNvSpPr>
          <p:nvPr/>
        </p:nvSpPr>
        <p:spPr bwMode="auto">
          <a:xfrm>
            <a:off x="11303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fib(2)</a:t>
            </a:r>
          </a:p>
        </p:txBody>
      </p:sp>
      <p:sp>
        <p:nvSpPr>
          <p:cNvPr id="52291" name="Oval 88"/>
          <p:cNvSpPr>
            <a:spLocks noChangeArrowheads="1"/>
          </p:cNvSpPr>
          <p:nvPr/>
        </p:nvSpPr>
        <p:spPr bwMode="auto">
          <a:xfrm>
            <a:off x="5892800" y="425767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92" name="AutoShape 89"/>
          <p:cNvSpPr>
            <a:spLocks noChangeArrowheads="1"/>
          </p:cNvSpPr>
          <p:nvPr/>
        </p:nvSpPr>
        <p:spPr bwMode="auto">
          <a:xfrm>
            <a:off x="57658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93" name="Text Box 90"/>
          <p:cNvSpPr txBox="1">
            <a:spLocks noChangeArrowheads="1"/>
          </p:cNvSpPr>
          <p:nvPr/>
        </p:nvSpPr>
        <p:spPr bwMode="auto">
          <a:xfrm>
            <a:off x="59690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88" name="Oval 92"/>
          <p:cNvSpPr>
            <a:spLocks noChangeArrowheads="1"/>
          </p:cNvSpPr>
          <p:nvPr/>
        </p:nvSpPr>
        <p:spPr bwMode="auto">
          <a:xfrm>
            <a:off x="7213600" y="425767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89" name="AutoShape 93"/>
          <p:cNvSpPr>
            <a:spLocks noChangeArrowheads="1"/>
          </p:cNvSpPr>
          <p:nvPr/>
        </p:nvSpPr>
        <p:spPr bwMode="auto">
          <a:xfrm>
            <a:off x="70866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90" name="Text Box 94"/>
          <p:cNvSpPr txBox="1">
            <a:spLocks noChangeArrowheads="1"/>
          </p:cNvSpPr>
          <p:nvPr/>
        </p:nvSpPr>
        <p:spPr bwMode="auto">
          <a:xfrm>
            <a:off x="72898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85" name="Oval 96"/>
          <p:cNvSpPr>
            <a:spLocks noChangeArrowheads="1"/>
          </p:cNvSpPr>
          <p:nvPr/>
        </p:nvSpPr>
        <p:spPr bwMode="auto">
          <a:xfrm>
            <a:off x="3759200" y="425767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86" name="AutoShape 97"/>
          <p:cNvSpPr>
            <a:spLocks noChangeArrowheads="1"/>
          </p:cNvSpPr>
          <p:nvPr/>
        </p:nvSpPr>
        <p:spPr bwMode="auto">
          <a:xfrm>
            <a:off x="3632200" y="392747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87" name="Text Box 98"/>
          <p:cNvSpPr txBox="1">
            <a:spLocks noChangeArrowheads="1"/>
          </p:cNvSpPr>
          <p:nvPr/>
        </p:nvSpPr>
        <p:spPr bwMode="auto">
          <a:xfrm>
            <a:off x="3835400" y="393223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78" name="Oval 101"/>
          <p:cNvSpPr>
            <a:spLocks noChangeArrowheads="1"/>
          </p:cNvSpPr>
          <p:nvPr/>
        </p:nvSpPr>
        <p:spPr bwMode="auto">
          <a:xfrm>
            <a:off x="927100" y="552132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9" name="AutoShape 102"/>
          <p:cNvSpPr>
            <a:spLocks noChangeArrowheads="1"/>
          </p:cNvSpPr>
          <p:nvPr/>
        </p:nvSpPr>
        <p:spPr bwMode="auto">
          <a:xfrm>
            <a:off x="800100" y="519112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80" name="Text Box 103"/>
          <p:cNvSpPr txBox="1">
            <a:spLocks noChangeArrowheads="1"/>
          </p:cNvSpPr>
          <p:nvPr/>
        </p:nvSpPr>
        <p:spPr bwMode="auto">
          <a:xfrm>
            <a:off x="1003300" y="51958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75" name="Oval 105"/>
          <p:cNvSpPr>
            <a:spLocks noChangeArrowheads="1"/>
          </p:cNvSpPr>
          <p:nvPr/>
        </p:nvSpPr>
        <p:spPr bwMode="auto">
          <a:xfrm>
            <a:off x="2349500" y="552132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6" name="AutoShape 106"/>
          <p:cNvSpPr>
            <a:spLocks noChangeArrowheads="1"/>
          </p:cNvSpPr>
          <p:nvPr/>
        </p:nvSpPr>
        <p:spPr bwMode="auto">
          <a:xfrm>
            <a:off x="2222500" y="5191125"/>
            <a:ext cx="1130300" cy="863600"/>
          </a:xfrm>
          <a:prstGeom prst="roundRect">
            <a:avLst>
              <a:gd name="adj" fmla="val 16667"/>
            </a:avLst>
          </a:prstGeom>
          <a:no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52277" name="Text Box 107"/>
          <p:cNvSpPr txBox="1">
            <a:spLocks noChangeArrowheads="1"/>
          </p:cNvSpPr>
          <p:nvPr/>
        </p:nvSpPr>
        <p:spPr bwMode="auto">
          <a:xfrm>
            <a:off x="2425700" y="5195888"/>
            <a:ext cx="768350" cy="400050"/>
          </a:xfrm>
          <a:prstGeom prst="rect">
            <a:avLst/>
          </a:prstGeom>
          <a:noFill/>
          <a:ln w="38100" algn="ctr">
            <a:noFill/>
            <a:miter lim="800000"/>
            <a:headEnd/>
            <a:tailEnd/>
          </a:ln>
        </p:spPr>
        <p:txBody>
          <a:bodyPr wrap="none">
            <a:spAutoFit/>
          </a:bodyPr>
          <a:lstStyle/>
          <a:p>
            <a:pPr algn="ctr"/>
            <a:r>
              <a:rPr lang="en-US" sz="2000" dirty="0">
                <a:solidFill>
                  <a:schemeClr val="tx1"/>
                </a:solidFill>
                <a:latin typeface="Arial" pitchFamily="34" charset="0"/>
              </a:rPr>
              <a:t>fib(1)</a:t>
            </a:r>
          </a:p>
        </p:txBody>
      </p:sp>
      <p:sp>
        <p:nvSpPr>
          <p:cNvPr id="52251" name="Line 108"/>
          <p:cNvSpPr>
            <a:spLocks noChangeShapeType="1"/>
          </p:cNvSpPr>
          <p:nvPr/>
        </p:nvSpPr>
        <p:spPr bwMode="auto">
          <a:xfrm flipH="1">
            <a:off x="1270000" y="3381375"/>
            <a:ext cx="368300" cy="8382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2" name="Line 109"/>
          <p:cNvSpPr>
            <a:spLocks noChangeShapeType="1"/>
          </p:cNvSpPr>
          <p:nvPr/>
        </p:nvSpPr>
        <p:spPr bwMode="auto">
          <a:xfrm flipH="1">
            <a:off x="1092200" y="4638675"/>
            <a:ext cx="88900" cy="8509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3" name="Line 110"/>
          <p:cNvSpPr>
            <a:spLocks noChangeShapeType="1"/>
          </p:cNvSpPr>
          <p:nvPr/>
        </p:nvSpPr>
        <p:spPr bwMode="auto">
          <a:xfrm>
            <a:off x="2578100" y="3355975"/>
            <a:ext cx="1270000" cy="9271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4" name="Line 111"/>
          <p:cNvSpPr>
            <a:spLocks noChangeShapeType="1"/>
          </p:cNvSpPr>
          <p:nvPr/>
        </p:nvSpPr>
        <p:spPr bwMode="auto">
          <a:xfrm>
            <a:off x="2120900" y="4664075"/>
            <a:ext cx="292100" cy="8001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5" name="Line 112"/>
          <p:cNvSpPr>
            <a:spLocks noChangeShapeType="1"/>
          </p:cNvSpPr>
          <p:nvPr/>
        </p:nvSpPr>
        <p:spPr bwMode="auto">
          <a:xfrm flipH="1">
            <a:off x="6096000" y="3432175"/>
            <a:ext cx="50800" cy="8255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6" name="Line 113"/>
          <p:cNvSpPr>
            <a:spLocks noChangeShapeType="1"/>
          </p:cNvSpPr>
          <p:nvPr/>
        </p:nvSpPr>
        <p:spPr bwMode="auto">
          <a:xfrm>
            <a:off x="7061200" y="3419475"/>
            <a:ext cx="292100" cy="787400"/>
          </a:xfrm>
          <a:prstGeom prst="line">
            <a:avLst/>
          </a:prstGeom>
          <a:noFill/>
          <a:ln w="57150">
            <a:solidFill>
              <a:srgbClr val="FF0000"/>
            </a:solidFill>
            <a:round/>
            <a:headEnd/>
            <a:tailEnd type="triangle" w="med" len="med"/>
          </a:ln>
        </p:spPr>
        <p:txBody>
          <a:bodyPr wrap="none" anchor="ctr">
            <a:spAutoFit/>
          </a:bodyPr>
          <a:lstStyle/>
          <a:p>
            <a:endParaRPr lang="en-US" dirty="0">
              <a:latin typeface="Arial" pitchFamily="34" charset="0"/>
            </a:endParaRPr>
          </a:p>
        </p:txBody>
      </p:sp>
      <p:sp>
        <p:nvSpPr>
          <p:cNvPr id="52257" name="Line 114"/>
          <p:cNvSpPr>
            <a:spLocks noChangeShapeType="1"/>
          </p:cNvSpPr>
          <p:nvPr/>
        </p:nvSpPr>
        <p:spPr bwMode="auto">
          <a:xfrm flipV="1">
            <a:off x="1295400" y="4613275"/>
            <a:ext cx="1447800" cy="9271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58" name="Line 115"/>
          <p:cNvSpPr>
            <a:spLocks noChangeShapeType="1"/>
          </p:cNvSpPr>
          <p:nvPr/>
        </p:nvSpPr>
        <p:spPr bwMode="auto">
          <a:xfrm flipV="1">
            <a:off x="2641600" y="4702175"/>
            <a:ext cx="228600" cy="8128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59" name="Line 116"/>
          <p:cNvSpPr>
            <a:spLocks noChangeShapeType="1"/>
          </p:cNvSpPr>
          <p:nvPr/>
        </p:nvSpPr>
        <p:spPr bwMode="auto">
          <a:xfrm flipV="1">
            <a:off x="3009900" y="3470275"/>
            <a:ext cx="317500" cy="7493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60" name="Line 117"/>
          <p:cNvSpPr>
            <a:spLocks noChangeShapeType="1"/>
          </p:cNvSpPr>
          <p:nvPr/>
        </p:nvSpPr>
        <p:spPr bwMode="auto">
          <a:xfrm flipH="1" flipV="1">
            <a:off x="3467100" y="3470275"/>
            <a:ext cx="342900" cy="5842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61" name="Line 118"/>
          <p:cNvSpPr>
            <a:spLocks noChangeShapeType="1"/>
          </p:cNvSpPr>
          <p:nvPr/>
        </p:nvSpPr>
        <p:spPr bwMode="auto">
          <a:xfrm flipV="1">
            <a:off x="6324600" y="3368675"/>
            <a:ext cx="1308100" cy="9271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62" name="Line 119"/>
          <p:cNvSpPr>
            <a:spLocks noChangeShapeType="1"/>
          </p:cNvSpPr>
          <p:nvPr/>
        </p:nvSpPr>
        <p:spPr bwMode="auto">
          <a:xfrm flipV="1">
            <a:off x="7518400" y="3419475"/>
            <a:ext cx="292100" cy="812800"/>
          </a:xfrm>
          <a:prstGeom prst="line">
            <a:avLst/>
          </a:prstGeom>
          <a:noFill/>
          <a:ln w="57150">
            <a:solidFill>
              <a:schemeClr val="accent1"/>
            </a:solidFill>
            <a:round/>
            <a:headEnd/>
            <a:tailEnd type="triangle" w="med" len="med"/>
          </a:ln>
        </p:spPr>
        <p:txBody>
          <a:bodyPr wrap="none" anchor="ctr">
            <a:spAutoFit/>
          </a:bodyPr>
          <a:lstStyle/>
          <a:p>
            <a:endParaRPr lang="en-US" dirty="0">
              <a:latin typeface="Arial" pitchFamily="34" charset="0"/>
            </a:endParaRPr>
          </a:p>
        </p:txBody>
      </p:sp>
      <p:sp>
        <p:nvSpPr>
          <p:cNvPr id="52263" name="Oval 120"/>
          <p:cNvSpPr>
            <a:spLocks noChangeArrowheads="1"/>
          </p:cNvSpPr>
          <p:nvPr/>
        </p:nvSpPr>
        <p:spPr bwMode="auto">
          <a:xfrm>
            <a:off x="1473200" y="294322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4" name="Oval 121"/>
          <p:cNvSpPr>
            <a:spLocks noChangeArrowheads="1"/>
          </p:cNvSpPr>
          <p:nvPr/>
        </p:nvSpPr>
        <p:spPr bwMode="auto">
          <a:xfrm>
            <a:off x="2317750" y="294322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5" name="Oval 122"/>
          <p:cNvSpPr>
            <a:spLocks noChangeArrowheads="1"/>
          </p:cNvSpPr>
          <p:nvPr/>
        </p:nvSpPr>
        <p:spPr bwMode="auto">
          <a:xfrm>
            <a:off x="3162300" y="2943225"/>
            <a:ext cx="381000" cy="381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spAutoFit/>
          </a:bodyPr>
          <a:lstStyle/>
          <a:p>
            <a:pPr algn="l"/>
            <a:endParaRPr lang="en-US" b="1">
              <a:latin typeface="Arial" pitchFamily="34" charset="0"/>
            </a:endParaRPr>
          </a:p>
        </p:txBody>
      </p:sp>
      <p:sp>
        <p:nvSpPr>
          <p:cNvPr id="52266" name="Line 123"/>
          <p:cNvSpPr>
            <a:spLocks noChangeShapeType="1"/>
          </p:cNvSpPr>
          <p:nvPr/>
        </p:nvSpPr>
        <p:spPr bwMode="auto">
          <a:xfrm>
            <a:off x="192087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67" name="Line 124"/>
          <p:cNvSpPr>
            <a:spLocks noChangeShapeType="1"/>
          </p:cNvSpPr>
          <p:nvPr/>
        </p:nvSpPr>
        <p:spPr bwMode="auto">
          <a:xfrm>
            <a:off x="276542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68" name="Oval 125"/>
          <p:cNvSpPr>
            <a:spLocks noChangeArrowheads="1"/>
          </p:cNvSpPr>
          <p:nvPr/>
        </p:nvSpPr>
        <p:spPr bwMode="auto">
          <a:xfrm>
            <a:off x="5930900" y="2943225"/>
            <a:ext cx="381000" cy="381000"/>
          </a:xfrm>
          <a:prstGeom prst="ellipse">
            <a:avLst/>
          </a:prstGeom>
          <a:solidFill>
            <a:srgbClr val="FF0000"/>
          </a:solidFill>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69" name="Oval 126"/>
          <p:cNvSpPr>
            <a:spLocks noChangeArrowheads="1"/>
          </p:cNvSpPr>
          <p:nvPr/>
        </p:nvSpPr>
        <p:spPr bwMode="auto">
          <a:xfrm>
            <a:off x="6775450" y="2943225"/>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52270" name="Oval 127"/>
          <p:cNvSpPr>
            <a:spLocks noChangeArrowheads="1"/>
          </p:cNvSpPr>
          <p:nvPr/>
        </p:nvSpPr>
        <p:spPr bwMode="auto">
          <a:xfrm>
            <a:off x="7620000" y="2943225"/>
            <a:ext cx="381000" cy="381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spAutoFit/>
          </a:bodyPr>
          <a:lstStyle/>
          <a:p>
            <a:pPr algn="l"/>
            <a:endParaRPr lang="en-US" b="1">
              <a:latin typeface="Arial" pitchFamily="34" charset="0"/>
            </a:endParaRPr>
          </a:p>
        </p:txBody>
      </p:sp>
      <p:sp>
        <p:nvSpPr>
          <p:cNvPr id="52271" name="Line 128"/>
          <p:cNvSpPr>
            <a:spLocks noChangeShapeType="1"/>
          </p:cNvSpPr>
          <p:nvPr/>
        </p:nvSpPr>
        <p:spPr bwMode="auto">
          <a:xfrm>
            <a:off x="637857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52272" name="Line 129"/>
          <p:cNvSpPr>
            <a:spLocks noChangeShapeType="1"/>
          </p:cNvSpPr>
          <p:nvPr/>
        </p:nvSpPr>
        <p:spPr bwMode="auto">
          <a:xfrm>
            <a:off x="7223125" y="3133725"/>
            <a:ext cx="330200" cy="0"/>
          </a:xfrm>
          <a:prstGeom prst="line">
            <a:avLst/>
          </a:prstGeom>
          <a:noFill/>
          <a:ln w="57150">
            <a:solidFill>
              <a:schemeClr val="tx1"/>
            </a:solidFill>
            <a:round/>
            <a:headEnd/>
            <a:tailEnd type="triangle" w="med" len="med"/>
          </a:ln>
        </p:spPr>
        <p:txBody>
          <a:bodyPr>
            <a:spAutoFit/>
          </a:bodyPr>
          <a:lstStyle/>
          <a:p>
            <a:endParaRPr lang="en-US" dirty="0">
              <a:latin typeface="Arial" pitchFamily="34" charset="0"/>
            </a:endParaRPr>
          </a:p>
        </p:txBody>
      </p:sp>
      <p:sp>
        <p:nvSpPr>
          <p:cNvPr id="77" name="Oval 4"/>
          <p:cNvSpPr>
            <a:spLocks noChangeArrowheads="1"/>
          </p:cNvSpPr>
          <p:nvPr/>
        </p:nvSpPr>
        <p:spPr bwMode="auto">
          <a:xfrm>
            <a:off x="3542144" y="1701360"/>
            <a:ext cx="381000" cy="381000"/>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1"/>
          <p:cNvSpPr>
            <a:spLocks noGrp="1"/>
          </p:cNvSpPr>
          <p:nvPr>
            <p:ph type="ftr" sz="quarter" idx="10"/>
          </p:nvPr>
        </p:nvSpPr>
        <p:spPr>
          <a:noFill/>
        </p:spPr>
        <p:txBody>
          <a:bodyPr/>
          <a:lstStyle/>
          <a:p>
            <a:r>
              <a:rPr lang="en-US"/>
              <a:t>Art of Multiprocessor Programming</a:t>
            </a:r>
          </a:p>
        </p:txBody>
      </p:sp>
      <p:sp>
        <p:nvSpPr>
          <p:cNvPr id="54275" name="Slide Number Placeholder 2"/>
          <p:cNvSpPr>
            <a:spLocks noGrp="1"/>
          </p:cNvSpPr>
          <p:nvPr>
            <p:ph type="sldNum" sz="quarter" idx="11"/>
          </p:nvPr>
        </p:nvSpPr>
        <p:spPr>
          <a:noFill/>
        </p:spPr>
        <p:txBody>
          <a:bodyPr/>
          <a:lstStyle/>
          <a:p>
            <a:fld id="{8F6DD5BC-888A-4EF3-8A28-2A0DF6CC78A5}" type="slidenum">
              <a:rPr lang="x-none" smtClean="0"/>
              <a:pPr/>
              <a:t>45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D4F20E4-8EF3-46EC-9D6F-20B55C41CEBE}" type="slidenum">
              <a:rPr lang="x-none" sz="1400">
                <a:solidFill>
                  <a:schemeClr val="tx1"/>
                </a:solidFill>
                <a:latin typeface="Arial" pitchFamily="34" charset="0"/>
                <a:cs typeface="Arial" pitchFamily="34" charset="0"/>
              </a:rPr>
              <a:pPr>
                <a:defRPr/>
              </a:pPr>
              <a:t>45</a:t>
            </a:fld>
            <a:endParaRPr lang="en-US" sz="1400" dirty="0">
              <a:solidFill>
                <a:schemeClr val="tx1"/>
              </a:solidFill>
              <a:latin typeface="Arial" pitchFamily="34" charset="0"/>
              <a:cs typeface="Arial" pitchFamily="34" charset="0"/>
            </a:endParaRPr>
          </a:p>
        </p:txBody>
      </p:sp>
      <p:sp>
        <p:nvSpPr>
          <p:cNvPr id="54277" name="Rectangle 2"/>
          <p:cNvSpPr>
            <a:spLocks noGrp="1" noChangeArrowheads="1"/>
          </p:cNvSpPr>
          <p:nvPr>
            <p:ph type="title" idx="4294967295"/>
          </p:nvPr>
        </p:nvSpPr>
        <p:spPr/>
        <p:txBody>
          <a:bodyPr/>
          <a:lstStyle/>
          <a:p>
            <a:r>
              <a:rPr lang="en-US"/>
              <a:t>How Parallel is That?</a:t>
            </a:r>
          </a:p>
        </p:txBody>
      </p:sp>
      <p:sp>
        <p:nvSpPr>
          <p:cNvPr id="54278" name="Rectangle 3"/>
          <p:cNvSpPr>
            <a:spLocks noGrp="1" noChangeArrowheads="1"/>
          </p:cNvSpPr>
          <p:nvPr>
            <p:ph type="body" idx="4294967295"/>
          </p:nvPr>
        </p:nvSpPr>
        <p:spPr/>
        <p:txBody>
          <a:bodyPr/>
          <a:lstStyle/>
          <a:p>
            <a:r>
              <a:rPr lang="en-US" dirty="0"/>
              <a:t>Define </a:t>
            </a:r>
            <a:r>
              <a:rPr lang="en-US" dirty="0">
                <a:solidFill>
                  <a:schemeClr val="tx1"/>
                </a:solidFill>
              </a:rPr>
              <a:t>work</a:t>
            </a:r>
            <a:r>
              <a:rPr lang="en-US" dirty="0"/>
              <a:t>:</a:t>
            </a:r>
          </a:p>
          <a:p>
            <a:pPr lvl="1"/>
            <a:r>
              <a:rPr lang="en-US" dirty="0"/>
              <a:t>Total time on one processor</a:t>
            </a:r>
          </a:p>
          <a:p>
            <a:r>
              <a:rPr lang="en-US" dirty="0"/>
              <a:t>Define </a:t>
            </a:r>
            <a:r>
              <a:rPr lang="en-US" dirty="0">
                <a:solidFill>
                  <a:schemeClr val="tx1"/>
                </a:solidFill>
              </a:rPr>
              <a:t>critical-path length</a:t>
            </a:r>
            <a:r>
              <a:rPr lang="en-US" dirty="0"/>
              <a:t>:</a:t>
            </a:r>
          </a:p>
          <a:p>
            <a:pPr lvl="1"/>
            <a:r>
              <a:rPr lang="en-US" dirty="0"/>
              <a:t>Longest dependency path</a:t>
            </a:r>
          </a:p>
          <a:p>
            <a:pPr lvl="1"/>
            <a:r>
              <a:rPr lang="en-US" dirty="0"/>
              <a:t>Can’t beat that!</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Unfolded DAG</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46</a:t>
            </a:fld>
            <a:endParaRPr lang="en-US"/>
          </a:p>
        </p:txBody>
      </p:sp>
      <p:sp>
        <p:nvSpPr>
          <p:cNvPr id="7" name="Oval 4"/>
          <p:cNvSpPr>
            <a:spLocks noChangeArrowheads="1"/>
          </p:cNvSpPr>
          <p:nvPr/>
        </p:nvSpPr>
        <p:spPr bwMode="auto">
          <a:xfrm>
            <a:off x="1865131" y="150816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8" name="Oval 4"/>
          <p:cNvSpPr>
            <a:spLocks noChangeArrowheads="1"/>
          </p:cNvSpPr>
          <p:nvPr/>
        </p:nvSpPr>
        <p:spPr bwMode="auto">
          <a:xfrm>
            <a:off x="1865131" y="2043550"/>
            <a:ext cx="308582" cy="299053"/>
          </a:xfrm>
          <a:prstGeom prst="ellipse">
            <a:avLst/>
          </a:prstGeom>
          <a:solidFill>
            <a:schemeClr val="bg1">
              <a:lumMod val="65000"/>
            </a:schemeClr>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1" name="Oval 4"/>
          <p:cNvSpPr>
            <a:spLocks noChangeArrowheads="1"/>
          </p:cNvSpPr>
          <p:nvPr/>
        </p:nvSpPr>
        <p:spPr bwMode="auto">
          <a:xfrm>
            <a:off x="990680" y="2578934"/>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4" name="Group 27"/>
          <p:cNvGrpSpPr/>
          <p:nvPr/>
        </p:nvGrpSpPr>
        <p:grpSpPr>
          <a:xfrm>
            <a:off x="426416" y="3114317"/>
            <a:ext cx="3488183" cy="299053"/>
            <a:chOff x="2015176" y="2509867"/>
            <a:chExt cx="4306784" cy="381000"/>
          </a:xfrm>
          <a:solidFill>
            <a:schemeClr val="bg1">
              <a:lumMod val="65000"/>
            </a:schemeClr>
          </a:solidFill>
        </p:grpSpPr>
        <p:sp>
          <p:nvSpPr>
            <p:cNvPr id="9" name="Oval 4"/>
            <p:cNvSpPr>
              <a:spLocks noChangeArrowheads="1"/>
            </p:cNvSpPr>
            <p:nvPr/>
          </p:nvSpPr>
          <p:spPr bwMode="auto">
            <a:xfrm>
              <a:off x="5940960"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0" name="Oval 4"/>
            <p:cNvSpPr>
              <a:spLocks noChangeArrowheads="1"/>
            </p:cNvSpPr>
            <p:nvPr/>
          </p:nvSpPr>
          <p:spPr bwMode="auto">
            <a:xfrm>
              <a:off x="3412505"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2" name="Oval 4"/>
            <p:cNvSpPr>
              <a:spLocks noChangeArrowheads="1"/>
            </p:cNvSpPr>
            <p:nvPr/>
          </p:nvSpPr>
          <p:spPr bwMode="auto">
            <a:xfrm>
              <a:off x="2015176"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13" name="Oval 4"/>
          <p:cNvSpPr>
            <a:spLocks noChangeArrowheads="1"/>
          </p:cNvSpPr>
          <p:nvPr/>
        </p:nvSpPr>
        <p:spPr bwMode="auto">
          <a:xfrm>
            <a:off x="1165411"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4" name="Oval 4"/>
          <p:cNvSpPr>
            <a:spLocks noChangeArrowheads="1"/>
          </p:cNvSpPr>
          <p:nvPr/>
        </p:nvSpPr>
        <p:spPr bwMode="auto">
          <a:xfrm>
            <a:off x="2118545"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9" name="Oval 4"/>
          <p:cNvSpPr>
            <a:spLocks noChangeArrowheads="1"/>
          </p:cNvSpPr>
          <p:nvPr/>
        </p:nvSpPr>
        <p:spPr bwMode="auto">
          <a:xfrm>
            <a:off x="2118545"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5" name="Group 24"/>
          <p:cNvGrpSpPr/>
          <p:nvPr/>
        </p:nvGrpSpPr>
        <p:grpSpPr>
          <a:xfrm>
            <a:off x="1165411" y="4720469"/>
            <a:ext cx="2298736" cy="299053"/>
            <a:chOff x="2927597" y="5001711"/>
            <a:chExt cx="2838200" cy="381000"/>
          </a:xfrm>
          <a:solidFill>
            <a:schemeClr val="bg1">
              <a:lumMod val="65000"/>
            </a:schemeClr>
          </a:solidFill>
        </p:grpSpPr>
        <p:sp>
          <p:nvSpPr>
            <p:cNvPr id="21" name="Oval 4"/>
            <p:cNvSpPr>
              <a:spLocks noChangeArrowheads="1"/>
            </p:cNvSpPr>
            <p:nvPr/>
          </p:nvSpPr>
          <p:spPr bwMode="auto">
            <a:xfrm>
              <a:off x="29275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2" name="Oval 4"/>
            <p:cNvSpPr>
              <a:spLocks noChangeArrowheads="1"/>
            </p:cNvSpPr>
            <p:nvPr/>
          </p:nvSpPr>
          <p:spPr bwMode="auto">
            <a:xfrm>
              <a:off x="53847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23" name="Oval 4"/>
          <p:cNvSpPr>
            <a:spLocks noChangeArrowheads="1"/>
          </p:cNvSpPr>
          <p:nvPr/>
        </p:nvSpPr>
        <p:spPr bwMode="auto">
          <a:xfrm>
            <a:off x="1165411" y="5255853"/>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4" name="Oval 4"/>
          <p:cNvSpPr>
            <a:spLocks noChangeArrowheads="1"/>
          </p:cNvSpPr>
          <p:nvPr/>
        </p:nvSpPr>
        <p:spPr bwMode="auto">
          <a:xfrm>
            <a:off x="3117092" y="579123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Parallelism?</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47</a:t>
            </a:fld>
            <a:endParaRPr lang="en-US"/>
          </a:p>
        </p:txBody>
      </p:sp>
      <p:sp>
        <p:nvSpPr>
          <p:cNvPr id="7" name="Oval 4"/>
          <p:cNvSpPr>
            <a:spLocks noChangeArrowheads="1"/>
          </p:cNvSpPr>
          <p:nvPr/>
        </p:nvSpPr>
        <p:spPr bwMode="auto">
          <a:xfrm>
            <a:off x="1865131" y="1508166"/>
            <a:ext cx="308582" cy="299053"/>
          </a:xfrm>
          <a:prstGeom prst="ellipse">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8" name="Oval 4"/>
          <p:cNvSpPr>
            <a:spLocks noChangeArrowheads="1"/>
          </p:cNvSpPr>
          <p:nvPr/>
        </p:nvSpPr>
        <p:spPr bwMode="auto">
          <a:xfrm>
            <a:off x="1865131" y="2043550"/>
            <a:ext cx="308582" cy="299053"/>
          </a:xfrm>
          <a:prstGeom prst="ellipse">
            <a:avLst/>
          </a:prstGeom>
          <a:solidFill>
            <a:srgbClr val="FFC000"/>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1" name="Oval 4"/>
          <p:cNvSpPr>
            <a:spLocks noChangeArrowheads="1"/>
          </p:cNvSpPr>
          <p:nvPr/>
        </p:nvSpPr>
        <p:spPr bwMode="auto">
          <a:xfrm>
            <a:off x="990680" y="2578934"/>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4" name="Group 27"/>
          <p:cNvGrpSpPr/>
          <p:nvPr/>
        </p:nvGrpSpPr>
        <p:grpSpPr>
          <a:xfrm>
            <a:off x="426416" y="3114317"/>
            <a:ext cx="3488183" cy="299053"/>
            <a:chOff x="2015176" y="2509867"/>
            <a:chExt cx="4306784" cy="381000"/>
          </a:xfrm>
          <a:solidFill>
            <a:schemeClr val="bg1">
              <a:lumMod val="65000"/>
            </a:schemeClr>
          </a:solidFill>
        </p:grpSpPr>
        <p:sp>
          <p:nvSpPr>
            <p:cNvPr id="9" name="Oval 4"/>
            <p:cNvSpPr>
              <a:spLocks noChangeArrowheads="1"/>
            </p:cNvSpPr>
            <p:nvPr/>
          </p:nvSpPr>
          <p:spPr bwMode="auto">
            <a:xfrm>
              <a:off x="5940960"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0" name="Oval 4"/>
            <p:cNvSpPr>
              <a:spLocks noChangeArrowheads="1"/>
            </p:cNvSpPr>
            <p:nvPr/>
          </p:nvSpPr>
          <p:spPr bwMode="auto">
            <a:xfrm>
              <a:off x="3412505"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2" name="Oval 4"/>
            <p:cNvSpPr>
              <a:spLocks noChangeArrowheads="1"/>
            </p:cNvSpPr>
            <p:nvPr/>
          </p:nvSpPr>
          <p:spPr bwMode="auto">
            <a:xfrm>
              <a:off x="2015176"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13" name="Oval 4"/>
          <p:cNvSpPr>
            <a:spLocks noChangeArrowheads="1"/>
          </p:cNvSpPr>
          <p:nvPr/>
        </p:nvSpPr>
        <p:spPr bwMode="auto">
          <a:xfrm>
            <a:off x="1165411"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4" name="Oval 4"/>
          <p:cNvSpPr>
            <a:spLocks noChangeArrowheads="1"/>
          </p:cNvSpPr>
          <p:nvPr/>
        </p:nvSpPr>
        <p:spPr bwMode="auto">
          <a:xfrm>
            <a:off x="2118545"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9" name="Oval 4"/>
          <p:cNvSpPr>
            <a:spLocks noChangeArrowheads="1"/>
          </p:cNvSpPr>
          <p:nvPr/>
        </p:nvSpPr>
        <p:spPr bwMode="auto">
          <a:xfrm>
            <a:off x="2118545"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5" name="Group 24"/>
          <p:cNvGrpSpPr/>
          <p:nvPr/>
        </p:nvGrpSpPr>
        <p:grpSpPr>
          <a:xfrm>
            <a:off x="1165411" y="4720469"/>
            <a:ext cx="2298736" cy="299053"/>
            <a:chOff x="2927597" y="5001711"/>
            <a:chExt cx="2838200" cy="381000"/>
          </a:xfrm>
          <a:solidFill>
            <a:schemeClr val="bg1">
              <a:lumMod val="65000"/>
            </a:schemeClr>
          </a:solidFill>
        </p:grpSpPr>
        <p:sp>
          <p:nvSpPr>
            <p:cNvPr id="21" name="Oval 4"/>
            <p:cNvSpPr>
              <a:spLocks noChangeArrowheads="1"/>
            </p:cNvSpPr>
            <p:nvPr/>
          </p:nvSpPr>
          <p:spPr bwMode="auto">
            <a:xfrm>
              <a:off x="29275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2" name="Oval 4"/>
            <p:cNvSpPr>
              <a:spLocks noChangeArrowheads="1"/>
            </p:cNvSpPr>
            <p:nvPr/>
          </p:nvSpPr>
          <p:spPr bwMode="auto">
            <a:xfrm>
              <a:off x="53847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23" name="Oval 4"/>
          <p:cNvSpPr>
            <a:spLocks noChangeArrowheads="1"/>
          </p:cNvSpPr>
          <p:nvPr/>
        </p:nvSpPr>
        <p:spPr bwMode="auto">
          <a:xfrm>
            <a:off x="1165411" y="5255853"/>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4" name="Oval 4"/>
          <p:cNvSpPr>
            <a:spLocks noChangeArrowheads="1"/>
          </p:cNvSpPr>
          <p:nvPr/>
        </p:nvSpPr>
        <p:spPr bwMode="auto">
          <a:xfrm>
            <a:off x="3117092" y="5791236"/>
            <a:ext cx="308582" cy="299053"/>
          </a:xfrm>
          <a:prstGeom prst="ellipse">
            <a:avLst/>
          </a:prstGeom>
          <a:solidFill>
            <a:srgbClr val="FFC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
        <p:nvSpPr>
          <p:cNvPr id="48" name="TextBox 47"/>
          <p:cNvSpPr txBox="1"/>
          <p:nvPr/>
        </p:nvSpPr>
        <p:spPr>
          <a:xfrm>
            <a:off x="4184739" y="2113808"/>
            <a:ext cx="4187365" cy="461665"/>
          </a:xfrm>
          <a:prstGeom prst="rect">
            <a:avLst/>
          </a:prstGeom>
          <a:noFill/>
        </p:spPr>
        <p:txBody>
          <a:bodyPr wrap="none" rtlCol="0">
            <a:spAutoFit/>
          </a:bodyPr>
          <a:lstStyle/>
          <a:p>
            <a:r>
              <a:rPr lang="en-US" dirty="0">
                <a:latin typeface="Arial" pitchFamily="34" charset="0"/>
                <a:cs typeface="Arial" pitchFamily="34" charset="0"/>
              </a:rPr>
              <a:t>Serial fraction = </a:t>
            </a:r>
            <a:r>
              <a:rPr lang="en-US" dirty="0">
                <a:solidFill>
                  <a:schemeClr val="tx1"/>
                </a:solidFill>
                <a:latin typeface="Arial" pitchFamily="34" charset="0"/>
                <a:cs typeface="Arial" pitchFamily="34" charset="0"/>
              </a:rPr>
              <a:t>3/18</a:t>
            </a:r>
            <a:r>
              <a:rPr lang="en-US" dirty="0">
                <a:latin typeface="Arial" pitchFamily="34" charset="0"/>
                <a:cs typeface="Arial" pitchFamily="34" charset="0"/>
              </a:rPr>
              <a:t> = </a:t>
            </a:r>
            <a:r>
              <a:rPr lang="en-US" dirty="0">
                <a:solidFill>
                  <a:schemeClr val="tx1"/>
                </a:solidFill>
                <a:latin typeface="Arial" pitchFamily="34" charset="0"/>
                <a:cs typeface="Arial" pitchFamily="34" charset="0"/>
              </a:rPr>
              <a:t>1/6</a:t>
            </a:r>
            <a:r>
              <a:rPr lang="en-US" dirty="0">
                <a:latin typeface="Arial" pitchFamily="34" charset="0"/>
                <a:cs typeface="Arial" pitchFamily="34" charset="0"/>
              </a:rPr>
              <a:t> …</a:t>
            </a:r>
          </a:p>
        </p:txBody>
      </p:sp>
      <p:sp>
        <p:nvSpPr>
          <p:cNvPr id="50" name="TextBox 49"/>
          <p:cNvSpPr txBox="1"/>
          <p:nvPr/>
        </p:nvSpPr>
        <p:spPr>
          <a:xfrm>
            <a:off x="4996471" y="4106884"/>
            <a:ext cx="3779396" cy="830997"/>
          </a:xfrm>
          <a:prstGeom prst="rect">
            <a:avLst/>
          </a:prstGeom>
          <a:noFill/>
        </p:spPr>
        <p:txBody>
          <a:bodyPr wrap="square" rtlCol="0">
            <a:spAutoFit/>
          </a:bodyPr>
          <a:lstStyle/>
          <a:p>
            <a:pPr algn="ctr"/>
            <a:r>
              <a:rPr lang="en-US" dirty="0">
                <a:latin typeface="Arial" pitchFamily="34" charset="0"/>
                <a:cs typeface="Arial" pitchFamily="34" charset="0"/>
              </a:rPr>
              <a:t>Amdahl’s Law says speedup cannot exceed </a:t>
            </a:r>
            <a:r>
              <a:rPr lang="en-US" dirty="0">
                <a:solidFill>
                  <a:schemeClr val="tx1"/>
                </a:solidFill>
                <a:latin typeface="Arial" pitchFamily="34" charset="0"/>
                <a:cs typeface="Arial" pitchFamily="34" charset="0"/>
              </a:rPr>
              <a:t>6</a:t>
            </a:r>
            <a:r>
              <a:rPr lang="en-US" dirty="0">
                <a:latin typeface="Arial" pitchFamily="34" charset="0"/>
                <a:cs typeface="Arial" pitchFamily="34"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7"/>
                                        </p:tgtEl>
                                        <p:attrNameLst>
                                          <p:attrName>fillcolor</p:attrName>
                                        </p:attrNameLst>
                                      </p:cBhvr>
                                      <p:to>
                                        <a:srgbClr val="FFFF00"/>
                                      </p:to>
                                    </p:animClr>
                                    <p:set>
                                      <p:cBhvr>
                                        <p:cTn id="7" dur="2000" fill="hold"/>
                                        <p:tgtEl>
                                          <p:spTgt spid="7"/>
                                        </p:tgtEl>
                                        <p:attrNameLst>
                                          <p:attrName>fill.type</p:attrName>
                                        </p:attrNameLst>
                                      </p:cBhvr>
                                      <p:to>
                                        <p:strVal val="solid"/>
                                      </p:to>
                                    </p:set>
                                    <p:set>
                                      <p:cBhvr>
                                        <p:cTn id="8" dur="2000" fill="hold"/>
                                        <p:tgtEl>
                                          <p:spTgt spid="7"/>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8"/>
                                        </p:tgtEl>
                                        <p:attrNameLst>
                                          <p:attrName>fillcolor</p:attrName>
                                        </p:attrNameLst>
                                      </p:cBhvr>
                                      <p:to>
                                        <a:srgbClr val="FFFF00"/>
                                      </p:to>
                                    </p:animClr>
                                    <p:set>
                                      <p:cBhvr>
                                        <p:cTn id="11" dur="2000" fill="hold"/>
                                        <p:tgtEl>
                                          <p:spTgt spid="8"/>
                                        </p:tgtEl>
                                        <p:attrNameLst>
                                          <p:attrName>fill.type</p:attrName>
                                        </p:attrNameLst>
                                      </p:cBhvr>
                                      <p:to>
                                        <p:strVal val="solid"/>
                                      </p:to>
                                    </p:set>
                                    <p:set>
                                      <p:cBhvr>
                                        <p:cTn id="12" dur="2000" fill="hold"/>
                                        <p:tgtEl>
                                          <p:spTgt spid="8"/>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2000" fill="hold"/>
                                        <p:tgtEl>
                                          <p:spTgt spid="24"/>
                                        </p:tgtEl>
                                        <p:attrNameLst>
                                          <p:attrName>fillcolor</p:attrName>
                                        </p:attrNameLst>
                                      </p:cBhvr>
                                      <p:to>
                                        <a:srgbClr val="FFFF00"/>
                                      </p:to>
                                    </p:animClr>
                                    <p:set>
                                      <p:cBhvr>
                                        <p:cTn id="15" dur="2000" fill="hold"/>
                                        <p:tgtEl>
                                          <p:spTgt spid="24"/>
                                        </p:tgtEl>
                                        <p:attrNameLst>
                                          <p:attrName>fill.type</p:attrName>
                                        </p:attrNameLst>
                                      </p:cBhvr>
                                      <p:to>
                                        <p:strVal val="solid"/>
                                      </p:to>
                                    </p:set>
                                    <p:set>
                                      <p:cBhvr>
                                        <p:cTn id="16" dur="2000" fill="hold"/>
                                        <p:tgtEl>
                                          <p:spTgt spid="24"/>
                                        </p:tgtEl>
                                        <p:attrNameLst>
                                          <p:attrName>fill.on</p:attrName>
                                        </p:attrNameLst>
                                      </p:cBhvr>
                                      <p:to>
                                        <p:strVal val="true"/>
                                      </p:to>
                                    </p:set>
                                  </p:childTnLst>
                                </p:cTn>
                              </p:par>
                              <p:par>
                                <p:cTn id="17" presetID="3" presetClass="entr" presetSubtype="1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blinds(horizontal)">
                                      <p:cBhvr>
                                        <p:cTn id="19" dur="500"/>
                                        <p:tgtEl>
                                          <p:spTgt spid="4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blinds(horizontal)">
                                      <p:cBhvr>
                                        <p:cTn id="2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Work?</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48</a:t>
            </a:fld>
            <a:endParaRPr lang="en-US"/>
          </a:p>
        </p:txBody>
      </p:sp>
      <p:sp>
        <p:nvSpPr>
          <p:cNvPr id="7" name="Oval 4"/>
          <p:cNvSpPr>
            <a:spLocks noChangeArrowheads="1"/>
          </p:cNvSpPr>
          <p:nvPr/>
        </p:nvSpPr>
        <p:spPr bwMode="auto">
          <a:xfrm>
            <a:off x="1865131" y="1508166"/>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a:t>
            </a:r>
          </a:p>
        </p:txBody>
      </p:sp>
      <p:sp>
        <p:nvSpPr>
          <p:cNvPr id="8" name="Oval 4"/>
          <p:cNvSpPr>
            <a:spLocks noChangeArrowheads="1"/>
          </p:cNvSpPr>
          <p:nvPr/>
        </p:nvSpPr>
        <p:spPr bwMode="auto">
          <a:xfrm>
            <a:off x="1865131" y="2043550"/>
            <a:ext cx="308582" cy="299053"/>
          </a:xfrm>
          <a:prstGeom prst="ellipse">
            <a:avLst/>
          </a:prstGeom>
          <a:solidFill>
            <a:srgbClr val="FF0000"/>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2</a:t>
            </a:r>
          </a:p>
        </p:txBody>
      </p:sp>
      <p:sp>
        <p:nvSpPr>
          <p:cNvPr id="11" name="Oval 4"/>
          <p:cNvSpPr>
            <a:spLocks noChangeArrowheads="1"/>
          </p:cNvSpPr>
          <p:nvPr/>
        </p:nvSpPr>
        <p:spPr bwMode="auto">
          <a:xfrm>
            <a:off x="990680" y="2578934"/>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3</a:t>
            </a:r>
          </a:p>
        </p:txBody>
      </p:sp>
      <p:sp>
        <p:nvSpPr>
          <p:cNvPr id="9" name="Oval 4"/>
          <p:cNvSpPr>
            <a:spLocks noChangeArrowheads="1"/>
          </p:cNvSpPr>
          <p:nvPr/>
        </p:nvSpPr>
        <p:spPr bwMode="auto">
          <a:xfrm>
            <a:off x="3606017" y="3114317"/>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7</a:t>
            </a:r>
          </a:p>
        </p:txBody>
      </p:sp>
      <p:sp>
        <p:nvSpPr>
          <p:cNvPr id="10" name="Oval 4"/>
          <p:cNvSpPr>
            <a:spLocks noChangeArrowheads="1"/>
          </p:cNvSpPr>
          <p:nvPr/>
        </p:nvSpPr>
        <p:spPr bwMode="auto">
          <a:xfrm>
            <a:off x="1558151" y="3114317"/>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5</a:t>
            </a:r>
          </a:p>
        </p:txBody>
      </p:sp>
      <p:sp>
        <p:nvSpPr>
          <p:cNvPr id="12" name="Oval 4"/>
          <p:cNvSpPr>
            <a:spLocks noChangeArrowheads="1"/>
          </p:cNvSpPr>
          <p:nvPr/>
        </p:nvSpPr>
        <p:spPr bwMode="auto">
          <a:xfrm>
            <a:off x="426416" y="3114317"/>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4</a:t>
            </a:r>
          </a:p>
        </p:txBody>
      </p:sp>
      <p:sp>
        <p:nvSpPr>
          <p:cNvPr id="13" name="Oval 4"/>
          <p:cNvSpPr>
            <a:spLocks noChangeArrowheads="1"/>
          </p:cNvSpPr>
          <p:nvPr/>
        </p:nvSpPr>
        <p:spPr bwMode="auto">
          <a:xfrm>
            <a:off x="1165411" y="3649701"/>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7</a:t>
            </a:r>
          </a:p>
        </p:txBody>
      </p:sp>
      <p:sp>
        <p:nvSpPr>
          <p:cNvPr id="14" name="Oval 4"/>
          <p:cNvSpPr>
            <a:spLocks noChangeArrowheads="1"/>
          </p:cNvSpPr>
          <p:nvPr/>
        </p:nvSpPr>
        <p:spPr bwMode="auto">
          <a:xfrm>
            <a:off x="2118545" y="3649701"/>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8</a:t>
            </a:r>
          </a:p>
        </p:txBody>
      </p:sp>
      <p:sp>
        <p:nvSpPr>
          <p:cNvPr id="15" name="Oval 4"/>
          <p:cNvSpPr>
            <a:spLocks noChangeArrowheads="1"/>
          </p:cNvSpPr>
          <p:nvPr/>
        </p:nvSpPr>
        <p:spPr bwMode="auto">
          <a:xfrm>
            <a:off x="3176139" y="3649701"/>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9</a:t>
            </a:r>
          </a:p>
        </p:txBody>
      </p:sp>
      <p:sp>
        <p:nvSpPr>
          <p:cNvPr id="16" name="Oval 4"/>
          <p:cNvSpPr>
            <a:spLocks noChangeArrowheads="1"/>
          </p:cNvSpPr>
          <p:nvPr/>
        </p:nvSpPr>
        <p:spPr bwMode="auto">
          <a:xfrm>
            <a:off x="4181502" y="3649701"/>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10</a:t>
            </a:r>
          </a:p>
        </p:txBody>
      </p:sp>
      <p:sp>
        <p:nvSpPr>
          <p:cNvPr id="17" name="Oval 4"/>
          <p:cNvSpPr>
            <a:spLocks noChangeArrowheads="1"/>
          </p:cNvSpPr>
          <p:nvPr/>
        </p:nvSpPr>
        <p:spPr bwMode="auto">
          <a:xfrm>
            <a:off x="426416" y="4185085"/>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11</a:t>
            </a:r>
          </a:p>
        </p:txBody>
      </p:sp>
      <p:sp>
        <p:nvSpPr>
          <p:cNvPr id="18" name="Oval 4"/>
          <p:cNvSpPr>
            <a:spLocks noChangeArrowheads="1"/>
          </p:cNvSpPr>
          <p:nvPr/>
        </p:nvSpPr>
        <p:spPr bwMode="auto">
          <a:xfrm>
            <a:off x="1165411" y="4185085"/>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12</a:t>
            </a:r>
          </a:p>
        </p:txBody>
      </p:sp>
      <p:sp>
        <p:nvSpPr>
          <p:cNvPr id="19" name="Oval 4"/>
          <p:cNvSpPr>
            <a:spLocks noChangeArrowheads="1"/>
          </p:cNvSpPr>
          <p:nvPr/>
        </p:nvSpPr>
        <p:spPr bwMode="auto">
          <a:xfrm>
            <a:off x="2118545" y="4185085"/>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13</a:t>
            </a:r>
          </a:p>
        </p:txBody>
      </p:sp>
      <p:sp>
        <p:nvSpPr>
          <p:cNvPr id="20" name="Oval 4"/>
          <p:cNvSpPr>
            <a:spLocks noChangeArrowheads="1"/>
          </p:cNvSpPr>
          <p:nvPr/>
        </p:nvSpPr>
        <p:spPr bwMode="auto">
          <a:xfrm>
            <a:off x="4181502" y="4185085"/>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14</a:t>
            </a:r>
          </a:p>
        </p:txBody>
      </p:sp>
      <p:sp>
        <p:nvSpPr>
          <p:cNvPr id="21" name="Oval 4"/>
          <p:cNvSpPr>
            <a:spLocks noChangeArrowheads="1"/>
          </p:cNvSpPr>
          <p:nvPr/>
        </p:nvSpPr>
        <p:spPr bwMode="auto">
          <a:xfrm>
            <a:off x="1165411" y="4720469"/>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15</a:t>
            </a:r>
          </a:p>
        </p:txBody>
      </p:sp>
      <p:sp>
        <p:nvSpPr>
          <p:cNvPr id="22" name="Oval 4"/>
          <p:cNvSpPr>
            <a:spLocks noChangeArrowheads="1"/>
          </p:cNvSpPr>
          <p:nvPr/>
        </p:nvSpPr>
        <p:spPr bwMode="auto">
          <a:xfrm>
            <a:off x="3155565" y="4720469"/>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16</a:t>
            </a:r>
          </a:p>
        </p:txBody>
      </p:sp>
      <p:sp>
        <p:nvSpPr>
          <p:cNvPr id="23" name="Oval 4"/>
          <p:cNvSpPr>
            <a:spLocks noChangeArrowheads="1"/>
          </p:cNvSpPr>
          <p:nvPr/>
        </p:nvSpPr>
        <p:spPr bwMode="auto">
          <a:xfrm>
            <a:off x="1165411" y="5255853"/>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17</a:t>
            </a:r>
          </a:p>
        </p:txBody>
      </p:sp>
      <p:sp>
        <p:nvSpPr>
          <p:cNvPr id="24" name="Oval 4"/>
          <p:cNvSpPr>
            <a:spLocks noChangeArrowheads="1"/>
          </p:cNvSpPr>
          <p:nvPr/>
        </p:nvSpPr>
        <p:spPr bwMode="auto">
          <a:xfrm>
            <a:off x="3117092" y="5791236"/>
            <a:ext cx="308582" cy="299053"/>
          </a:xfrm>
          <a:prstGeom prst="ellipse">
            <a:avLst/>
          </a:prstGeom>
          <a:solidFill>
            <a:srgbClr val="FF000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FF0000"/>
                </a:solidFill>
                <a:latin typeface="Arial" pitchFamily="34" charset="0"/>
              </a:rPr>
              <a:t>18</a:t>
            </a: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
        <p:nvSpPr>
          <p:cNvPr id="51" name="TextBox 50"/>
          <p:cNvSpPr txBox="1"/>
          <p:nvPr/>
        </p:nvSpPr>
        <p:spPr>
          <a:xfrm>
            <a:off x="3497051" y="2113808"/>
            <a:ext cx="4875053" cy="461665"/>
          </a:xfrm>
          <a:prstGeom prst="rect">
            <a:avLst/>
          </a:prstGeom>
          <a:noFill/>
        </p:spPr>
        <p:txBody>
          <a:bodyPr wrap="none" rtlCol="0">
            <a:spAutoFit/>
          </a:bodyPr>
          <a:lstStyle/>
          <a:p>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latin typeface="Arial" pitchFamily="34" charset="0"/>
                <a:cs typeface="Arial" pitchFamily="34" charset="0"/>
              </a:rPr>
              <a:t>: time needed on one processor</a:t>
            </a:r>
          </a:p>
        </p:txBody>
      </p:sp>
      <p:sp>
        <p:nvSpPr>
          <p:cNvPr id="52" name="TextBox 51"/>
          <p:cNvSpPr txBox="1"/>
          <p:nvPr/>
        </p:nvSpPr>
        <p:spPr>
          <a:xfrm>
            <a:off x="5128499" y="3394364"/>
            <a:ext cx="3502882" cy="461665"/>
          </a:xfrm>
          <a:prstGeom prst="rect">
            <a:avLst/>
          </a:prstGeom>
          <a:noFill/>
        </p:spPr>
        <p:txBody>
          <a:bodyPr wrap="none" rtlCol="0">
            <a:spAutoFit/>
          </a:bodyPr>
          <a:lstStyle/>
          <a:p>
            <a:r>
              <a:rPr lang="en-US" dirty="0">
                <a:latin typeface="Arial" pitchFamily="34" charset="0"/>
                <a:cs typeface="Arial" pitchFamily="34" charset="0"/>
              </a:rPr>
              <a:t>Just count the nodes ….</a:t>
            </a:r>
          </a:p>
        </p:txBody>
      </p:sp>
      <p:sp>
        <p:nvSpPr>
          <p:cNvPr id="54" name="TextBox 53"/>
          <p:cNvSpPr txBox="1"/>
          <p:nvPr/>
        </p:nvSpPr>
        <p:spPr>
          <a:xfrm>
            <a:off x="3793274" y="5636821"/>
            <a:ext cx="1178528" cy="461665"/>
          </a:xfrm>
          <a:prstGeom prst="rect">
            <a:avLst/>
          </a:prstGeom>
          <a:noFill/>
        </p:spPr>
        <p:txBody>
          <a:bodyPr wrap="none" rtlCol="0">
            <a:spAutoFit/>
          </a:bodyPr>
          <a:lstStyle/>
          <a:p>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latin typeface="Arial" pitchFamily="34" charset="0"/>
                <a:cs typeface="Arial" pitchFamily="34" charset="0"/>
              </a:rPr>
              <a:t> = 18</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childTnLst>
                          </p:cTn>
                        </p:par>
                        <p:par>
                          <p:cTn id="8" fill="hold">
                            <p:stCondLst>
                              <p:cond delay="500"/>
                            </p:stCondLst>
                            <p:childTnLst>
                              <p:par>
                                <p:cTn id="9" presetID="3" presetClass="emph" presetSubtype="2" fill="hold" grpId="0" nodeType="afterEffect">
                                  <p:stCondLst>
                                    <p:cond delay="0"/>
                                  </p:stCondLst>
                                  <p:childTnLst>
                                    <p:animClr clrSpc="rgb" dir="cw">
                                      <p:cBhvr override="childStyle">
                                        <p:cTn id="10" dur="500" fill="hold"/>
                                        <p:tgtEl>
                                          <p:spTgt spid="7"/>
                                        </p:tgtEl>
                                        <p:attrNameLst>
                                          <p:attrName>style.color</p:attrName>
                                        </p:attrNameLst>
                                      </p:cBhvr>
                                      <p:to>
                                        <a:schemeClr val="bg1"/>
                                      </p:to>
                                    </p:animClr>
                                  </p:childTnLst>
                                </p:cTn>
                              </p:par>
                              <p:par>
                                <p:cTn id="11" presetID="3" presetClass="emph" presetSubtype="2" fill="hold" grpId="0" nodeType="withEffect">
                                  <p:stCondLst>
                                    <p:cond delay="0"/>
                                  </p:stCondLst>
                                  <p:childTnLst>
                                    <p:animClr clrSpc="rgb" dir="cw">
                                      <p:cBhvr override="childStyle">
                                        <p:cTn id="12" dur="500" fill="hold"/>
                                        <p:tgtEl>
                                          <p:spTgt spid="8"/>
                                        </p:tgtEl>
                                        <p:attrNameLst>
                                          <p:attrName>style.color</p:attrName>
                                        </p:attrNameLst>
                                      </p:cBhvr>
                                      <p:to>
                                        <a:schemeClr val="bg1"/>
                                      </p:to>
                                    </p:animClr>
                                  </p:childTnLst>
                                </p:cTn>
                              </p:par>
                              <p:par>
                                <p:cTn id="13" presetID="3" presetClass="emph" presetSubtype="2" fill="hold" grpId="0" nodeType="withEffect">
                                  <p:stCondLst>
                                    <p:cond delay="0"/>
                                  </p:stCondLst>
                                  <p:childTnLst>
                                    <p:animClr clrSpc="rgb" dir="cw">
                                      <p:cBhvr override="childStyle">
                                        <p:cTn id="14" dur="500" fill="hold"/>
                                        <p:tgtEl>
                                          <p:spTgt spid="10"/>
                                        </p:tgtEl>
                                        <p:attrNameLst>
                                          <p:attrName>style.color</p:attrName>
                                        </p:attrNameLst>
                                      </p:cBhvr>
                                      <p:to>
                                        <a:schemeClr val="bg1"/>
                                      </p:to>
                                    </p:animClr>
                                  </p:childTnLst>
                                </p:cTn>
                              </p:par>
                              <p:par>
                                <p:cTn id="15" presetID="3" presetClass="emph" presetSubtype="2" fill="hold" grpId="0" nodeType="withEffect">
                                  <p:stCondLst>
                                    <p:cond delay="0"/>
                                  </p:stCondLst>
                                  <p:childTnLst>
                                    <p:animClr clrSpc="rgb" dir="cw">
                                      <p:cBhvr override="childStyle">
                                        <p:cTn id="16" dur="500" fill="hold"/>
                                        <p:tgtEl>
                                          <p:spTgt spid="9"/>
                                        </p:tgtEl>
                                        <p:attrNameLst>
                                          <p:attrName>style.color</p:attrName>
                                        </p:attrNameLst>
                                      </p:cBhvr>
                                      <p:to>
                                        <a:schemeClr val="bg1"/>
                                      </p:to>
                                    </p:animClr>
                                  </p:childTnLst>
                                </p:cTn>
                              </p:par>
                              <p:par>
                                <p:cTn id="17" presetID="3" presetClass="emph" presetSubtype="2" fill="hold" grpId="0" nodeType="withEffect">
                                  <p:stCondLst>
                                    <p:cond delay="0"/>
                                  </p:stCondLst>
                                  <p:childTnLst>
                                    <p:animClr clrSpc="rgb" dir="cw">
                                      <p:cBhvr override="childStyle">
                                        <p:cTn id="18" dur="500" fill="hold"/>
                                        <p:tgtEl>
                                          <p:spTgt spid="16"/>
                                        </p:tgtEl>
                                        <p:attrNameLst>
                                          <p:attrName>style.color</p:attrName>
                                        </p:attrNameLst>
                                      </p:cBhvr>
                                      <p:to>
                                        <a:schemeClr val="bg1"/>
                                      </p:to>
                                    </p:animClr>
                                  </p:childTnLst>
                                </p:cTn>
                              </p:par>
                              <p:par>
                                <p:cTn id="19" presetID="3" presetClass="emph" presetSubtype="2" fill="hold" grpId="0" nodeType="withEffect">
                                  <p:stCondLst>
                                    <p:cond delay="0"/>
                                  </p:stCondLst>
                                  <p:childTnLst>
                                    <p:animClr clrSpc="rgb" dir="cw">
                                      <p:cBhvr override="childStyle">
                                        <p:cTn id="20" dur="500" fill="hold"/>
                                        <p:tgtEl>
                                          <p:spTgt spid="15"/>
                                        </p:tgtEl>
                                        <p:attrNameLst>
                                          <p:attrName>style.color</p:attrName>
                                        </p:attrNameLst>
                                      </p:cBhvr>
                                      <p:to>
                                        <a:schemeClr val="bg1"/>
                                      </p:to>
                                    </p:animClr>
                                  </p:childTnLst>
                                </p:cTn>
                              </p:par>
                              <p:par>
                                <p:cTn id="21" presetID="3" presetClass="emph" presetSubtype="2" fill="hold" grpId="0" nodeType="withEffect">
                                  <p:stCondLst>
                                    <p:cond delay="0"/>
                                  </p:stCondLst>
                                  <p:childTnLst>
                                    <p:animClr clrSpc="rgb" dir="cw">
                                      <p:cBhvr override="childStyle">
                                        <p:cTn id="22" dur="500" fill="hold"/>
                                        <p:tgtEl>
                                          <p:spTgt spid="14"/>
                                        </p:tgtEl>
                                        <p:attrNameLst>
                                          <p:attrName>style.color</p:attrName>
                                        </p:attrNameLst>
                                      </p:cBhvr>
                                      <p:to>
                                        <a:schemeClr val="bg1"/>
                                      </p:to>
                                    </p:animClr>
                                  </p:childTnLst>
                                </p:cTn>
                              </p:par>
                              <p:par>
                                <p:cTn id="23" presetID="3" presetClass="emph" presetSubtype="2" fill="hold" grpId="0" nodeType="withEffect">
                                  <p:stCondLst>
                                    <p:cond delay="0"/>
                                  </p:stCondLst>
                                  <p:childTnLst>
                                    <p:animClr clrSpc="rgb" dir="cw">
                                      <p:cBhvr override="childStyle">
                                        <p:cTn id="24" dur="500" fill="hold"/>
                                        <p:tgtEl>
                                          <p:spTgt spid="13"/>
                                        </p:tgtEl>
                                        <p:attrNameLst>
                                          <p:attrName>style.color</p:attrName>
                                        </p:attrNameLst>
                                      </p:cBhvr>
                                      <p:to>
                                        <a:schemeClr val="bg1"/>
                                      </p:to>
                                    </p:animClr>
                                  </p:childTnLst>
                                </p:cTn>
                              </p:par>
                              <p:par>
                                <p:cTn id="25" presetID="3" presetClass="emph" presetSubtype="2" fill="hold" grpId="0" nodeType="withEffect">
                                  <p:stCondLst>
                                    <p:cond delay="0"/>
                                  </p:stCondLst>
                                  <p:childTnLst>
                                    <p:animClr clrSpc="rgb" dir="cw">
                                      <p:cBhvr override="childStyle">
                                        <p:cTn id="26" dur="500" fill="hold"/>
                                        <p:tgtEl>
                                          <p:spTgt spid="17"/>
                                        </p:tgtEl>
                                        <p:attrNameLst>
                                          <p:attrName>style.color</p:attrName>
                                        </p:attrNameLst>
                                      </p:cBhvr>
                                      <p:to>
                                        <a:schemeClr val="bg1"/>
                                      </p:to>
                                    </p:animClr>
                                  </p:childTnLst>
                                </p:cTn>
                              </p:par>
                              <p:par>
                                <p:cTn id="27" presetID="3" presetClass="emph" presetSubtype="2" fill="hold" grpId="0" nodeType="withEffect">
                                  <p:stCondLst>
                                    <p:cond delay="0"/>
                                  </p:stCondLst>
                                  <p:childTnLst>
                                    <p:animClr clrSpc="rgb" dir="cw">
                                      <p:cBhvr override="childStyle">
                                        <p:cTn id="28" dur="500" fill="hold"/>
                                        <p:tgtEl>
                                          <p:spTgt spid="18"/>
                                        </p:tgtEl>
                                        <p:attrNameLst>
                                          <p:attrName>style.color</p:attrName>
                                        </p:attrNameLst>
                                      </p:cBhvr>
                                      <p:to>
                                        <a:schemeClr val="bg1"/>
                                      </p:to>
                                    </p:animClr>
                                  </p:childTnLst>
                                </p:cTn>
                              </p:par>
                              <p:par>
                                <p:cTn id="29" presetID="3" presetClass="emph" presetSubtype="2" fill="hold" grpId="0" nodeType="withEffect">
                                  <p:stCondLst>
                                    <p:cond delay="0"/>
                                  </p:stCondLst>
                                  <p:childTnLst>
                                    <p:animClr clrSpc="rgb" dir="cw">
                                      <p:cBhvr override="childStyle">
                                        <p:cTn id="30" dur="500" fill="hold"/>
                                        <p:tgtEl>
                                          <p:spTgt spid="19"/>
                                        </p:tgtEl>
                                        <p:attrNameLst>
                                          <p:attrName>style.color</p:attrName>
                                        </p:attrNameLst>
                                      </p:cBhvr>
                                      <p:to>
                                        <a:schemeClr val="bg1"/>
                                      </p:to>
                                    </p:animClr>
                                  </p:childTnLst>
                                </p:cTn>
                              </p:par>
                              <p:par>
                                <p:cTn id="31" presetID="3" presetClass="emph" presetSubtype="2" fill="hold" grpId="0" nodeType="withEffect">
                                  <p:stCondLst>
                                    <p:cond delay="0"/>
                                  </p:stCondLst>
                                  <p:childTnLst>
                                    <p:animClr clrSpc="rgb" dir="cw">
                                      <p:cBhvr override="childStyle">
                                        <p:cTn id="32" dur="500" fill="hold"/>
                                        <p:tgtEl>
                                          <p:spTgt spid="20"/>
                                        </p:tgtEl>
                                        <p:attrNameLst>
                                          <p:attrName>style.color</p:attrName>
                                        </p:attrNameLst>
                                      </p:cBhvr>
                                      <p:to>
                                        <a:schemeClr val="bg1"/>
                                      </p:to>
                                    </p:animClr>
                                  </p:childTnLst>
                                </p:cTn>
                              </p:par>
                              <p:par>
                                <p:cTn id="33" presetID="3" presetClass="emph" presetSubtype="2" fill="hold" grpId="0" nodeType="withEffect">
                                  <p:stCondLst>
                                    <p:cond delay="0"/>
                                  </p:stCondLst>
                                  <p:childTnLst>
                                    <p:animClr clrSpc="rgb" dir="cw">
                                      <p:cBhvr override="childStyle">
                                        <p:cTn id="34" dur="500" fill="hold"/>
                                        <p:tgtEl>
                                          <p:spTgt spid="22"/>
                                        </p:tgtEl>
                                        <p:attrNameLst>
                                          <p:attrName>style.color</p:attrName>
                                        </p:attrNameLst>
                                      </p:cBhvr>
                                      <p:to>
                                        <a:schemeClr val="bg1"/>
                                      </p:to>
                                    </p:animClr>
                                  </p:childTnLst>
                                </p:cTn>
                              </p:par>
                              <p:par>
                                <p:cTn id="35" presetID="3" presetClass="emph" presetSubtype="2" fill="hold" grpId="0" nodeType="withEffect">
                                  <p:stCondLst>
                                    <p:cond delay="0"/>
                                  </p:stCondLst>
                                  <p:childTnLst>
                                    <p:animClr clrSpc="rgb" dir="cw">
                                      <p:cBhvr override="childStyle">
                                        <p:cTn id="36" dur="500" fill="hold"/>
                                        <p:tgtEl>
                                          <p:spTgt spid="21"/>
                                        </p:tgtEl>
                                        <p:attrNameLst>
                                          <p:attrName>style.color</p:attrName>
                                        </p:attrNameLst>
                                      </p:cBhvr>
                                      <p:to>
                                        <a:schemeClr val="bg1"/>
                                      </p:to>
                                    </p:animClr>
                                  </p:childTnLst>
                                </p:cTn>
                              </p:par>
                              <p:par>
                                <p:cTn id="37" presetID="3" presetClass="emph" presetSubtype="2" fill="hold" grpId="0" nodeType="withEffect">
                                  <p:stCondLst>
                                    <p:cond delay="0"/>
                                  </p:stCondLst>
                                  <p:childTnLst>
                                    <p:animClr clrSpc="rgb" dir="cw">
                                      <p:cBhvr override="childStyle">
                                        <p:cTn id="38" dur="500" fill="hold"/>
                                        <p:tgtEl>
                                          <p:spTgt spid="23"/>
                                        </p:tgtEl>
                                        <p:attrNameLst>
                                          <p:attrName>style.color</p:attrName>
                                        </p:attrNameLst>
                                      </p:cBhvr>
                                      <p:to>
                                        <a:schemeClr val="bg1"/>
                                      </p:to>
                                    </p:animClr>
                                  </p:childTnLst>
                                </p:cTn>
                              </p:par>
                              <p:par>
                                <p:cTn id="39" presetID="3" presetClass="emph" presetSubtype="2" fill="hold" grpId="0" nodeType="withEffect">
                                  <p:stCondLst>
                                    <p:cond delay="0"/>
                                  </p:stCondLst>
                                  <p:childTnLst>
                                    <p:animClr clrSpc="rgb" dir="cw">
                                      <p:cBhvr override="childStyle">
                                        <p:cTn id="40" dur="500" fill="hold"/>
                                        <p:tgtEl>
                                          <p:spTgt spid="24"/>
                                        </p:tgtEl>
                                        <p:attrNameLst>
                                          <p:attrName>style.color</p:attrName>
                                        </p:attrNameLst>
                                      </p:cBhvr>
                                      <p:to>
                                        <a:schemeClr val="bg1"/>
                                      </p:to>
                                    </p:animClr>
                                  </p:childTnLst>
                                </p:cTn>
                              </p:par>
                              <p:par>
                                <p:cTn id="41" presetID="3" presetClass="emph" presetSubtype="2" fill="hold" grpId="0" nodeType="withEffect">
                                  <p:stCondLst>
                                    <p:cond delay="0"/>
                                  </p:stCondLst>
                                  <p:childTnLst>
                                    <p:animClr clrSpc="rgb" dir="cw">
                                      <p:cBhvr override="childStyle">
                                        <p:cTn id="42" dur="500" fill="hold"/>
                                        <p:tgtEl>
                                          <p:spTgt spid="11"/>
                                        </p:tgtEl>
                                        <p:attrNameLst>
                                          <p:attrName>style.color</p:attrName>
                                        </p:attrNameLst>
                                      </p:cBhvr>
                                      <p:to>
                                        <a:schemeClr val="bg1"/>
                                      </p:to>
                                    </p:animClr>
                                  </p:childTnLst>
                                </p:cTn>
                              </p:par>
                              <p:par>
                                <p:cTn id="43" presetID="3" presetClass="emph" presetSubtype="2" fill="hold" grpId="0" nodeType="withEffect">
                                  <p:stCondLst>
                                    <p:cond delay="0"/>
                                  </p:stCondLst>
                                  <p:childTnLst>
                                    <p:animClr clrSpc="rgb" dir="cw">
                                      <p:cBhvr override="childStyle">
                                        <p:cTn id="44" dur="500" fill="hold"/>
                                        <p:tgtEl>
                                          <p:spTgt spid="12"/>
                                        </p:tgtEl>
                                        <p:attrNameLst>
                                          <p:attrName>style.color</p:attrName>
                                        </p:attrNameLst>
                                      </p:cBhvr>
                                      <p:to>
                                        <a:schemeClr val="bg1"/>
                                      </p:to>
                                    </p:animClr>
                                  </p:childTnLst>
                                </p:cTn>
                              </p:par>
                            </p:childTnLst>
                          </p:cTn>
                        </p:par>
                        <p:par>
                          <p:cTn id="45" fill="hold">
                            <p:stCondLst>
                              <p:cond delay="1000"/>
                            </p:stCondLst>
                            <p:childTnLst>
                              <p:par>
                                <p:cTn id="46" presetID="3" presetClass="entr" presetSubtype="10" fill="hold" grpId="0" nodeType="after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blinds(horizontal)">
                                      <p:cBhvr>
                                        <p:cTn id="4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9"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52" grpId="0"/>
      <p:bldP spid="5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Critical Path?</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49</a:t>
            </a:fld>
            <a:endParaRPr lang="en-US"/>
          </a:p>
        </p:txBody>
      </p:sp>
      <p:sp>
        <p:nvSpPr>
          <p:cNvPr id="7" name="Oval 4"/>
          <p:cNvSpPr>
            <a:spLocks noChangeArrowheads="1"/>
          </p:cNvSpPr>
          <p:nvPr/>
        </p:nvSpPr>
        <p:spPr bwMode="auto">
          <a:xfrm>
            <a:off x="1865131" y="150816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8" name="Oval 4"/>
          <p:cNvSpPr>
            <a:spLocks noChangeArrowheads="1"/>
          </p:cNvSpPr>
          <p:nvPr/>
        </p:nvSpPr>
        <p:spPr bwMode="auto">
          <a:xfrm>
            <a:off x="1865131" y="2043550"/>
            <a:ext cx="308582" cy="299053"/>
          </a:xfrm>
          <a:prstGeom prst="ellipse">
            <a:avLst/>
          </a:prstGeom>
          <a:solidFill>
            <a:schemeClr val="bg1">
              <a:lumMod val="65000"/>
            </a:schemeClr>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1" name="Oval 4"/>
          <p:cNvSpPr>
            <a:spLocks noChangeArrowheads="1"/>
          </p:cNvSpPr>
          <p:nvPr/>
        </p:nvSpPr>
        <p:spPr bwMode="auto">
          <a:xfrm>
            <a:off x="990680" y="2578934"/>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4" name="Group 27"/>
          <p:cNvGrpSpPr/>
          <p:nvPr/>
        </p:nvGrpSpPr>
        <p:grpSpPr>
          <a:xfrm>
            <a:off x="426416" y="3114317"/>
            <a:ext cx="3488183" cy="299053"/>
            <a:chOff x="2015176" y="2509867"/>
            <a:chExt cx="4306784" cy="381000"/>
          </a:xfrm>
          <a:solidFill>
            <a:schemeClr val="bg1">
              <a:lumMod val="65000"/>
            </a:schemeClr>
          </a:solidFill>
        </p:grpSpPr>
        <p:sp>
          <p:nvSpPr>
            <p:cNvPr id="9" name="Oval 4"/>
            <p:cNvSpPr>
              <a:spLocks noChangeArrowheads="1"/>
            </p:cNvSpPr>
            <p:nvPr/>
          </p:nvSpPr>
          <p:spPr bwMode="auto">
            <a:xfrm>
              <a:off x="5940960"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0" name="Oval 4"/>
            <p:cNvSpPr>
              <a:spLocks noChangeArrowheads="1"/>
            </p:cNvSpPr>
            <p:nvPr/>
          </p:nvSpPr>
          <p:spPr bwMode="auto">
            <a:xfrm>
              <a:off x="3412505"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2" name="Oval 4"/>
            <p:cNvSpPr>
              <a:spLocks noChangeArrowheads="1"/>
            </p:cNvSpPr>
            <p:nvPr/>
          </p:nvSpPr>
          <p:spPr bwMode="auto">
            <a:xfrm>
              <a:off x="2015176" y="2509867"/>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13" name="Oval 4"/>
          <p:cNvSpPr>
            <a:spLocks noChangeArrowheads="1"/>
          </p:cNvSpPr>
          <p:nvPr/>
        </p:nvSpPr>
        <p:spPr bwMode="auto">
          <a:xfrm>
            <a:off x="1165411"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4" name="Oval 4"/>
          <p:cNvSpPr>
            <a:spLocks noChangeArrowheads="1"/>
          </p:cNvSpPr>
          <p:nvPr/>
        </p:nvSpPr>
        <p:spPr bwMode="auto">
          <a:xfrm>
            <a:off x="2118545"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9" name="Oval 4"/>
          <p:cNvSpPr>
            <a:spLocks noChangeArrowheads="1"/>
          </p:cNvSpPr>
          <p:nvPr/>
        </p:nvSpPr>
        <p:spPr bwMode="auto">
          <a:xfrm>
            <a:off x="2118545"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5" name="Group 24"/>
          <p:cNvGrpSpPr/>
          <p:nvPr/>
        </p:nvGrpSpPr>
        <p:grpSpPr>
          <a:xfrm>
            <a:off x="1165411" y="4720469"/>
            <a:ext cx="2298736" cy="299053"/>
            <a:chOff x="2927597" y="5001711"/>
            <a:chExt cx="2838200" cy="381000"/>
          </a:xfrm>
          <a:solidFill>
            <a:schemeClr val="bg1">
              <a:lumMod val="65000"/>
            </a:schemeClr>
          </a:solidFill>
        </p:grpSpPr>
        <p:sp>
          <p:nvSpPr>
            <p:cNvPr id="21" name="Oval 4"/>
            <p:cNvSpPr>
              <a:spLocks noChangeArrowheads="1"/>
            </p:cNvSpPr>
            <p:nvPr/>
          </p:nvSpPr>
          <p:spPr bwMode="auto">
            <a:xfrm>
              <a:off x="29275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2" name="Oval 4"/>
            <p:cNvSpPr>
              <a:spLocks noChangeArrowheads="1"/>
            </p:cNvSpPr>
            <p:nvPr/>
          </p:nvSpPr>
          <p:spPr bwMode="auto">
            <a:xfrm>
              <a:off x="53847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23" name="Oval 4"/>
          <p:cNvSpPr>
            <a:spLocks noChangeArrowheads="1"/>
          </p:cNvSpPr>
          <p:nvPr/>
        </p:nvSpPr>
        <p:spPr bwMode="auto">
          <a:xfrm>
            <a:off x="1165411" y="5255853"/>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4" name="Oval 4"/>
          <p:cNvSpPr>
            <a:spLocks noChangeArrowheads="1"/>
          </p:cNvSpPr>
          <p:nvPr/>
        </p:nvSpPr>
        <p:spPr bwMode="auto">
          <a:xfrm>
            <a:off x="3117092" y="579123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
        <p:nvSpPr>
          <p:cNvPr id="48" name="TextBox 47"/>
          <p:cNvSpPr txBox="1"/>
          <p:nvPr/>
        </p:nvSpPr>
        <p:spPr>
          <a:xfrm>
            <a:off x="3613616" y="2054431"/>
            <a:ext cx="4710986" cy="1015663"/>
          </a:xfrm>
          <a:prstGeom prst="rect">
            <a:avLst/>
          </a:prstGeom>
          <a:noFill/>
        </p:spPr>
        <p:txBody>
          <a:bodyPr wrap="square" rtlCol="0">
            <a:spAutoFit/>
          </a:bodyPr>
          <a:lstStyle/>
          <a:p>
            <a:r>
              <a:rPr lang="en-US" dirty="0">
                <a:solidFill>
                  <a:schemeClr val="tx1"/>
                </a:solidFill>
                <a:latin typeface="Arial"/>
                <a:cs typeface="Arial" pitchFamily="34" charset="0"/>
              </a:rPr>
              <a:t>T</a:t>
            </a:r>
            <a:r>
              <a:rPr lang="en-US" sz="5400" baseline="-25000" dirty="0">
                <a:solidFill>
                  <a:schemeClr val="tx1"/>
                </a:solidFill>
                <a:latin typeface="cmsy10"/>
                <a:cs typeface="Arial" pitchFamily="34" charset="0"/>
              </a:rPr>
              <a:t>∞</a:t>
            </a:r>
            <a:r>
              <a:rPr lang="en-US" dirty="0">
                <a:latin typeface="Arial" pitchFamily="34" charset="0"/>
                <a:cs typeface="Arial" pitchFamily="34" charset="0"/>
              </a:rPr>
              <a:t>: time needed on as many processors as you like</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Critical Path?</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50</a:t>
            </a:fld>
            <a:endParaRPr lang="en-US"/>
          </a:p>
        </p:txBody>
      </p:sp>
      <p:sp>
        <p:nvSpPr>
          <p:cNvPr id="7" name="Oval 4"/>
          <p:cNvSpPr>
            <a:spLocks noChangeArrowheads="1"/>
          </p:cNvSpPr>
          <p:nvPr/>
        </p:nvSpPr>
        <p:spPr bwMode="auto">
          <a:xfrm>
            <a:off x="1865131" y="1508166"/>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1</a:t>
            </a:r>
          </a:p>
        </p:txBody>
      </p:sp>
      <p:sp>
        <p:nvSpPr>
          <p:cNvPr id="8" name="Oval 4"/>
          <p:cNvSpPr>
            <a:spLocks noChangeArrowheads="1"/>
          </p:cNvSpPr>
          <p:nvPr/>
        </p:nvSpPr>
        <p:spPr bwMode="auto">
          <a:xfrm>
            <a:off x="1865131" y="2043550"/>
            <a:ext cx="308582" cy="299053"/>
          </a:xfrm>
          <a:prstGeom prst="ellipse">
            <a:avLst/>
          </a:prstGeom>
          <a:solidFill>
            <a:srgbClr val="00B050"/>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2</a:t>
            </a:r>
          </a:p>
        </p:txBody>
      </p:sp>
      <p:sp>
        <p:nvSpPr>
          <p:cNvPr id="11" name="Oval 4"/>
          <p:cNvSpPr>
            <a:spLocks noChangeArrowheads="1"/>
          </p:cNvSpPr>
          <p:nvPr/>
        </p:nvSpPr>
        <p:spPr bwMode="auto">
          <a:xfrm>
            <a:off x="990680" y="2578934"/>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3</a:t>
            </a:r>
          </a:p>
        </p:txBody>
      </p:sp>
      <p:sp>
        <p:nvSpPr>
          <p:cNvPr id="9" name="Oval 4"/>
          <p:cNvSpPr>
            <a:spLocks noChangeArrowheads="1"/>
          </p:cNvSpPr>
          <p:nvPr/>
        </p:nvSpPr>
        <p:spPr bwMode="auto">
          <a:xfrm>
            <a:off x="3606017" y="3114317"/>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10" name="Oval 4"/>
          <p:cNvSpPr>
            <a:spLocks noChangeArrowheads="1"/>
          </p:cNvSpPr>
          <p:nvPr/>
        </p:nvSpPr>
        <p:spPr bwMode="auto">
          <a:xfrm>
            <a:off x="1558151" y="3114317"/>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4</a:t>
            </a:r>
          </a:p>
        </p:txBody>
      </p:sp>
      <p:sp>
        <p:nvSpPr>
          <p:cNvPr id="12" name="Oval 4"/>
          <p:cNvSpPr>
            <a:spLocks noChangeArrowheads="1"/>
          </p:cNvSpPr>
          <p:nvPr/>
        </p:nvSpPr>
        <p:spPr bwMode="auto">
          <a:xfrm>
            <a:off x="426416" y="3114317"/>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13" name="Oval 4"/>
          <p:cNvSpPr>
            <a:spLocks noChangeArrowheads="1"/>
          </p:cNvSpPr>
          <p:nvPr/>
        </p:nvSpPr>
        <p:spPr bwMode="auto">
          <a:xfrm>
            <a:off x="1165411" y="3649701"/>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5</a:t>
            </a:r>
          </a:p>
        </p:txBody>
      </p:sp>
      <p:sp>
        <p:nvSpPr>
          <p:cNvPr id="14" name="Oval 4"/>
          <p:cNvSpPr>
            <a:spLocks noChangeArrowheads="1"/>
          </p:cNvSpPr>
          <p:nvPr/>
        </p:nvSpPr>
        <p:spPr bwMode="auto">
          <a:xfrm>
            <a:off x="2118545"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solidFill>
                <a:srgbClr val="00B050"/>
              </a:solidFill>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6</a:t>
            </a:r>
          </a:p>
        </p:txBody>
      </p:sp>
      <p:sp>
        <p:nvSpPr>
          <p:cNvPr id="19" name="Oval 4"/>
          <p:cNvSpPr>
            <a:spLocks noChangeArrowheads="1"/>
          </p:cNvSpPr>
          <p:nvPr/>
        </p:nvSpPr>
        <p:spPr bwMode="auto">
          <a:xfrm>
            <a:off x="2118545"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solidFill>
                <a:srgbClr val="00B050"/>
              </a:solidFill>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21" name="Oval 4"/>
          <p:cNvSpPr>
            <a:spLocks noChangeArrowheads="1"/>
          </p:cNvSpPr>
          <p:nvPr/>
        </p:nvSpPr>
        <p:spPr bwMode="auto">
          <a:xfrm>
            <a:off x="1165411" y="4720469"/>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7</a:t>
            </a:r>
          </a:p>
        </p:txBody>
      </p:sp>
      <p:sp>
        <p:nvSpPr>
          <p:cNvPr id="22" name="Oval 4"/>
          <p:cNvSpPr>
            <a:spLocks noChangeArrowheads="1"/>
          </p:cNvSpPr>
          <p:nvPr/>
        </p:nvSpPr>
        <p:spPr bwMode="auto">
          <a:xfrm>
            <a:off x="3155565" y="4720469"/>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endParaRPr lang="en-US" sz="1600" b="1">
              <a:latin typeface="Arial" pitchFamily="34" charset="0"/>
            </a:endParaRPr>
          </a:p>
        </p:txBody>
      </p:sp>
      <p:sp>
        <p:nvSpPr>
          <p:cNvPr id="23" name="Oval 4"/>
          <p:cNvSpPr>
            <a:spLocks noChangeArrowheads="1"/>
          </p:cNvSpPr>
          <p:nvPr/>
        </p:nvSpPr>
        <p:spPr bwMode="auto">
          <a:xfrm>
            <a:off x="1165411" y="5255853"/>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8</a:t>
            </a:r>
          </a:p>
        </p:txBody>
      </p:sp>
      <p:sp>
        <p:nvSpPr>
          <p:cNvPr id="24" name="Oval 4"/>
          <p:cNvSpPr>
            <a:spLocks noChangeArrowheads="1"/>
          </p:cNvSpPr>
          <p:nvPr/>
        </p:nvSpPr>
        <p:spPr bwMode="auto">
          <a:xfrm>
            <a:off x="3117092" y="5791236"/>
            <a:ext cx="308582" cy="299053"/>
          </a:xfrm>
          <a:prstGeom prst="ellipse">
            <a:avLst/>
          </a:prstGeom>
          <a:solidFill>
            <a:srgbClr val="00B050"/>
          </a:solidFill>
          <a:ln>
            <a:headEnd/>
            <a:tailEnd/>
          </a:ln>
        </p:spPr>
        <p:style>
          <a:lnRef idx="0">
            <a:schemeClr val="accent1"/>
          </a:lnRef>
          <a:fillRef idx="3">
            <a:schemeClr val="accent1"/>
          </a:fillRef>
          <a:effectRef idx="3">
            <a:schemeClr val="accent1"/>
          </a:effectRef>
          <a:fontRef idx="minor">
            <a:schemeClr val="lt1"/>
          </a:fontRef>
        </p:style>
        <p:txBody>
          <a:bodyPr wrap="none" anchor="ctr">
            <a:noAutofit/>
          </a:bodyPr>
          <a:lstStyle/>
          <a:p>
            <a:pPr algn="ctr"/>
            <a:r>
              <a:rPr lang="en-US" sz="1600" b="1" dirty="0">
                <a:solidFill>
                  <a:srgbClr val="00B050"/>
                </a:solidFill>
                <a:latin typeface="Arial" pitchFamily="34" charset="0"/>
              </a:rPr>
              <a:t>9</a:t>
            </a: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
        <p:nvSpPr>
          <p:cNvPr id="52" name="TextBox 51"/>
          <p:cNvSpPr txBox="1"/>
          <p:nvPr/>
        </p:nvSpPr>
        <p:spPr>
          <a:xfrm>
            <a:off x="6188083" y="3394364"/>
            <a:ext cx="2443298" cy="461665"/>
          </a:xfrm>
          <a:prstGeom prst="rect">
            <a:avLst/>
          </a:prstGeom>
          <a:noFill/>
        </p:spPr>
        <p:txBody>
          <a:bodyPr wrap="none" rtlCol="0">
            <a:spAutoFit/>
          </a:bodyPr>
          <a:lstStyle/>
          <a:p>
            <a:r>
              <a:rPr lang="en-US" dirty="0">
                <a:latin typeface="Arial" pitchFamily="34" charset="0"/>
                <a:cs typeface="Arial" pitchFamily="34" charset="0"/>
              </a:rPr>
              <a:t>Longest path ….</a:t>
            </a:r>
          </a:p>
        </p:txBody>
      </p:sp>
      <p:sp>
        <p:nvSpPr>
          <p:cNvPr id="46" name="TextBox 45"/>
          <p:cNvSpPr txBox="1"/>
          <p:nvPr/>
        </p:nvSpPr>
        <p:spPr>
          <a:xfrm>
            <a:off x="4559984" y="5332211"/>
            <a:ext cx="1187144" cy="584776"/>
          </a:xfrm>
          <a:prstGeom prst="rect">
            <a:avLst/>
          </a:prstGeom>
          <a:noFill/>
        </p:spPr>
        <p:txBody>
          <a:bodyPr wrap="none" rtlCol="0">
            <a:spAutoFit/>
          </a:bodyPr>
          <a:lstStyle/>
          <a:p>
            <a:r>
              <a:rPr lang="en-US" dirty="0">
                <a:solidFill>
                  <a:schemeClr val="tx1"/>
                </a:solidFill>
                <a:latin typeface="Arial"/>
                <a:cs typeface="Arial" pitchFamily="34" charset="0"/>
              </a:rPr>
              <a:t>T</a:t>
            </a:r>
            <a:r>
              <a:rPr lang="en-US" sz="4800" baseline="-25000" dirty="0">
                <a:solidFill>
                  <a:schemeClr val="tx1"/>
                </a:solidFill>
                <a:latin typeface="cmsy10"/>
                <a:cs typeface="Arial" pitchFamily="34" charset="0"/>
              </a:rPr>
              <a:t>∞</a:t>
            </a:r>
            <a:r>
              <a:rPr lang="en-US" dirty="0">
                <a:latin typeface="Arial" pitchFamily="34" charset="0"/>
                <a:cs typeface="Arial" pitchFamily="34" charset="0"/>
              </a:rPr>
              <a:t> = 9</a:t>
            </a:r>
          </a:p>
        </p:txBody>
      </p:sp>
      <p:sp>
        <p:nvSpPr>
          <p:cNvPr id="48" name="TextBox 47"/>
          <p:cNvSpPr txBox="1"/>
          <p:nvPr/>
        </p:nvSpPr>
        <p:spPr>
          <a:xfrm>
            <a:off x="3613616" y="2054431"/>
            <a:ext cx="4710986" cy="1015663"/>
          </a:xfrm>
          <a:prstGeom prst="rect">
            <a:avLst/>
          </a:prstGeom>
          <a:noFill/>
        </p:spPr>
        <p:txBody>
          <a:bodyPr wrap="square" rtlCol="0">
            <a:spAutoFit/>
          </a:bodyPr>
          <a:lstStyle/>
          <a:p>
            <a:r>
              <a:rPr lang="en-US" dirty="0">
                <a:solidFill>
                  <a:schemeClr val="tx1"/>
                </a:solidFill>
                <a:latin typeface="Arial"/>
                <a:cs typeface="Arial" pitchFamily="34" charset="0"/>
              </a:rPr>
              <a:t>T</a:t>
            </a:r>
            <a:r>
              <a:rPr lang="en-US" sz="5400" baseline="-25000" dirty="0">
                <a:solidFill>
                  <a:schemeClr val="tx1"/>
                </a:solidFill>
                <a:latin typeface="cmsy10"/>
                <a:cs typeface="Arial" pitchFamily="34" charset="0"/>
              </a:rPr>
              <a:t>∞</a:t>
            </a:r>
            <a:r>
              <a:rPr lang="en-US" dirty="0">
                <a:latin typeface="Arial" pitchFamily="34" charset="0"/>
                <a:cs typeface="Arial" pitchFamily="34" charset="0"/>
              </a:rPr>
              <a:t>: time needed on as many processors as you like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childTnLst>
                          </p:cTn>
                        </p:par>
                        <p:par>
                          <p:cTn id="8" fill="hold">
                            <p:stCondLst>
                              <p:cond delay="500"/>
                            </p:stCondLst>
                            <p:childTnLst>
                              <p:par>
                                <p:cTn id="9" presetID="3" presetClass="emph" presetSubtype="2" fill="hold" grpId="0" nodeType="afterEffect">
                                  <p:stCondLst>
                                    <p:cond delay="0"/>
                                  </p:stCondLst>
                                  <p:childTnLst>
                                    <p:animClr clrSpc="rgb" dir="cw">
                                      <p:cBhvr override="childStyle">
                                        <p:cTn id="10" dur="500" fill="hold"/>
                                        <p:tgtEl>
                                          <p:spTgt spid="7"/>
                                        </p:tgtEl>
                                        <p:attrNameLst>
                                          <p:attrName>style.color</p:attrName>
                                        </p:attrNameLst>
                                      </p:cBhvr>
                                      <p:to>
                                        <a:schemeClr val="bg1"/>
                                      </p:to>
                                    </p:animClr>
                                  </p:childTnLst>
                                </p:cTn>
                              </p:par>
                            </p:childTnLst>
                          </p:cTn>
                        </p:par>
                        <p:par>
                          <p:cTn id="11" fill="hold">
                            <p:stCondLst>
                              <p:cond delay="1000"/>
                            </p:stCondLst>
                            <p:childTnLst>
                              <p:par>
                                <p:cTn id="12" presetID="3" presetClass="emph" presetSubtype="2" fill="hold" grpId="0" nodeType="afterEffect">
                                  <p:stCondLst>
                                    <p:cond delay="0"/>
                                  </p:stCondLst>
                                  <p:childTnLst>
                                    <p:animClr clrSpc="rgb" dir="cw">
                                      <p:cBhvr override="childStyle">
                                        <p:cTn id="13" dur="500" fill="hold"/>
                                        <p:tgtEl>
                                          <p:spTgt spid="8"/>
                                        </p:tgtEl>
                                        <p:attrNameLst>
                                          <p:attrName>style.color</p:attrName>
                                        </p:attrNameLst>
                                      </p:cBhvr>
                                      <p:to>
                                        <a:schemeClr val="bg1"/>
                                      </p:to>
                                    </p:animClr>
                                  </p:childTnLst>
                                </p:cTn>
                              </p:par>
                            </p:childTnLst>
                          </p:cTn>
                        </p:par>
                        <p:par>
                          <p:cTn id="14" fill="hold">
                            <p:stCondLst>
                              <p:cond delay="1500"/>
                            </p:stCondLst>
                            <p:childTnLst>
                              <p:par>
                                <p:cTn id="15" presetID="3" presetClass="emph" presetSubtype="2" fill="hold" grpId="0" nodeType="afterEffect">
                                  <p:stCondLst>
                                    <p:cond delay="0"/>
                                  </p:stCondLst>
                                  <p:childTnLst>
                                    <p:animClr clrSpc="rgb" dir="cw">
                                      <p:cBhvr override="childStyle">
                                        <p:cTn id="16" dur="500" fill="hold"/>
                                        <p:tgtEl>
                                          <p:spTgt spid="11"/>
                                        </p:tgtEl>
                                        <p:attrNameLst>
                                          <p:attrName>style.color</p:attrName>
                                        </p:attrNameLst>
                                      </p:cBhvr>
                                      <p:to>
                                        <a:schemeClr val="bg1"/>
                                      </p:to>
                                    </p:animClr>
                                  </p:childTnLst>
                                </p:cTn>
                              </p:par>
                            </p:childTnLst>
                          </p:cTn>
                        </p:par>
                        <p:par>
                          <p:cTn id="17" fill="hold">
                            <p:stCondLst>
                              <p:cond delay="2000"/>
                            </p:stCondLst>
                            <p:childTnLst>
                              <p:par>
                                <p:cTn id="18" presetID="3" presetClass="emph" presetSubtype="2" fill="hold" grpId="0" nodeType="afterEffect">
                                  <p:stCondLst>
                                    <p:cond delay="0"/>
                                  </p:stCondLst>
                                  <p:childTnLst>
                                    <p:animClr clrSpc="rgb" dir="cw">
                                      <p:cBhvr override="childStyle">
                                        <p:cTn id="19" dur="500" fill="hold"/>
                                        <p:tgtEl>
                                          <p:spTgt spid="10"/>
                                        </p:tgtEl>
                                        <p:attrNameLst>
                                          <p:attrName>style.color</p:attrName>
                                        </p:attrNameLst>
                                      </p:cBhvr>
                                      <p:to>
                                        <a:schemeClr val="bg1"/>
                                      </p:to>
                                    </p:animClr>
                                  </p:childTnLst>
                                </p:cTn>
                              </p:par>
                            </p:childTnLst>
                          </p:cTn>
                        </p:par>
                        <p:par>
                          <p:cTn id="20" fill="hold">
                            <p:stCondLst>
                              <p:cond delay="2500"/>
                            </p:stCondLst>
                            <p:childTnLst>
                              <p:par>
                                <p:cTn id="21" presetID="3" presetClass="emph" presetSubtype="2" fill="hold" grpId="0" nodeType="afterEffect">
                                  <p:stCondLst>
                                    <p:cond delay="0"/>
                                  </p:stCondLst>
                                  <p:childTnLst>
                                    <p:animClr clrSpc="rgb" dir="cw">
                                      <p:cBhvr override="childStyle">
                                        <p:cTn id="22" dur="500" fill="hold"/>
                                        <p:tgtEl>
                                          <p:spTgt spid="13"/>
                                        </p:tgtEl>
                                        <p:attrNameLst>
                                          <p:attrName>style.color</p:attrName>
                                        </p:attrNameLst>
                                      </p:cBhvr>
                                      <p:to>
                                        <a:schemeClr val="bg1"/>
                                      </p:to>
                                    </p:animClr>
                                  </p:childTnLst>
                                </p:cTn>
                              </p:par>
                            </p:childTnLst>
                          </p:cTn>
                        </p:par>
                        <p:par>
                          <p:cTn id="23" fill="hold">
                            <p:stCondLst>
                              <p:cond delay="3000"/>
                            </p:stCondLst>
                            <p:childTnLst>
                              <p:par>
                                <p:cTn id="24" presetID="3" presetClass="emph" presetSubtype="2" fill="hold" grpId="0" nodeType="afterEffect">
                                  <p:stCondLst>
                                    <p:cond delay="0"/>
                                  </p:stCondLst>
                                  <p:childTnLst>
                                    <p:animClr clrSpc="rgb" dir="cw">
                                      <p:cBhvr override="childStyle">
                                        <p:cTn id="25" dur="500" fill="hold"/>
                                        <p:tgtEl>
                                          <p:spTgt spid="18"/>
                                        </p:tgtEl>
                                        <p:attrNameLst>
                                          <p:attrName>style.color</p:attrName>
                                        </p:attrNameLst>
                                      </p:cBhvr>
                                      <p:to>
                                        <a:schemeClr val="bg1"/>
                                      </p:to>
                                    </p:animClr>
                                  </p:childTnLst>
                                </p:cTn>
                              </p:par>
                            </p:childTnLst>
                          </p:cTn>
                        </p:par>
                        <p:par>
                          <p:cTn id="26" fill="hold">
                            <p:stCondLst>
                              <p:cond delay="3500"/>
                            </p:stCondLst>
                            <p:childTnLst>
                              <p:par>
                                <p:cTn id="27" presetID="3" presetClass="emph" presetSubtype="2" fill="hold" grpId="0" nodeType="afterEffect">
                                  <p:stCondLst>
                                    <p:cond delay="0"/>
                                  </p:stCondLst>
                                  <p:childTnLst>
                                    <p:animClr clrSpc="rgb" dir="cw">
                                      <p:cBhvr override="childStyle">
                                        <p:cTn id="28" dur="500" fill="hold"/>
                                        <p:tgtEl>
                                          <p:spTgt spid="21"/>
                                        </p:tgtEl>
                                        <p:attrNameLst>
                                          <p:attrName>style.color</p:attrName>
                                        </p:attrNameLst>
                                      </p:cBhvr>
                                      <p:to>
                                        <a:schemeClr val="bg1"/>
                                      </p:to>
                                    </p:animClr>
                                  </p:childTnLst>
                                </p:cTn>
                              </p:par>
                            </p:childTnLst>
                          </p:cTn>
                        </p:par>
                        <p:par>
                          <p:cTn id="29" fill="hold">
                            <p:stCondLst>
                              <p:cond delay="4000"/>
                            </p:stCondLst>
                            <p:childTnLst>
                              <p:par>
                                <p:cTn id="30" presetID="3" presetClass="emph" presetSubtype="2" fill="hold" grpId="0" nodeType="afterEffect">
                                  <p:stCondLst>
                                    <p:cond delay="0"/>
                                  </p:stCondLst>
                                  <p:childTnLst>
                                    <p:animClr clrSpc="rgb" dir="cw">
                                      <p:cBhvr override="childStyle">
                                        <p:cTn id="31" dur="500" fill="hold"/>
                                        <p:tgtEl>
                                          <p:spTgt spid="23"/>
                                        </p:tgtEl>
                                        <p:attrNameLst>
                                          <p:attrName>style.color</p:attrName>
                                        </p:attrNameLst>
                                      </p:cBhvr>
                                      <p:to>
                                        <a:schemeClr val="bg1"/>
                                      </p:to>
                                    </p:animClr>
                                  </p:childTnLst>
                                </p:cTn>
                              </p:par>
                            </p:childTnLst>
                          </p:cTn>
                        </p:par>
                        <p:par>
                          <p:cTn id="32" fill="hold">
                            <p:stCondLst>
                              <p:cond delay="4500"/>
                            </p:stCondLst>
                            <p:childTnLst>
                              <p:par>
                                <p:cTn id="33" presetID="3" presetClass="emph" presetSubtype="2" fill="hold" grpId="0" nodeType="afterEffect">
                                  <p:stCondLst>
                                    <p:cond delay="0"/>
                                  </p:stCondLst>
                                  <p:childTnLst>
                                    <p:animClr clrSpc="rgb" dir="cw">
                                      <p:cBhvr override="childStyle">
                                        <p:cTn id="34" dur="500" fill="hold"/>
                                        <p:tgtEl>
                                          <p:spTgt spid="24"/>
                                        </p:tgtEl>
                                        <p:attrNameLst>
                                          <p:attrName>style.color</p:attrName>
                                        </p:attrNameLst>
                                      </p:cBhvr>
                                      <p:to>
                                        <a:schemeClr val="bg1"/>
                                      </p:to>
                                    </p:animClr>
                                  </p:childTnLst>
                                </p:cTn>
                              </p:par>
                            </p:childTnLst>
                          </p:cTn>
                        </p:par>
                        <p:par>
                          <p:cTn id="35" fill="hold">
                            <p:stCondLst>
                              <p:cond delay="5000"/>
                            </p:stCondLst>
                            <p:childTnLst>
                              <p:par>
                                <p:cTn id="36" presetID="3" presetClass="entr" presetSubtype="10" fill="hold" grpId="0" nodeType="after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blinds(horizontal)">
                                      <p:cBhvr>
                                        <p:cTn id="3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0" grpId="0" animBg="1"/>
      <p:bldP spid="13" grpId="0" animBg="1"/>
      <p:bldP spid="18" grpId="0" animBg="1"/>
      <p:bldP spid="21" grpId="0" animBg="1"/>
      <p:bldP spid="23" grpId="0" animBg="1"/>
      <p:bldP spid="24" grpId="0" animBg="1"/>
      <p:bldP spid="52" grpId="0"/>
      <p:bldP spid="4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1"/>
          <p:cNvSpPr>
            <a:spLocks noGrp="1"/>
          </p:cNvSpPr>
          <p:nvPr>
            <p:ph type="ftr" sz="quarter" idx="10"/>
          </p:nvPr>
        </p:nvSpPr>
        <p:spPr>
          <a:noFill/>
        </p:spPr>
        <p:txBody>
          <a:bodyPr/>
          <a:lstStyle/>
          <a:p>
            <a:r>
              <a:rPr lang="en-US"/>
              <a:t>Art of Multiprocessor Programming</a:t>
            </a:r>
          </a:p>
        </p:txBody>
      </p:sp>
      <p:sp>
        <p:nvSpPr>
          <p:cNvPr id="59395" name="Slide Number Placeholder 2"/>
          <p:cNvSpPr>
            <a:spLocks noGrp="1"/>
          </p:cNvSpPr>
          <p:nvPr>
            <p:ph type="sldNum" sz="quarter" idx="11"/>
          </p:nvPr>
        </p:nvSpPr>
        <p:spPr>
          <a:noFill/>
        </p:spPr>
        <p:txBody>
          <a:bodyPr/>
          <a:lstStyle/>
          <a:p>
            <a:fld id="{22B05731-81D6-42D4-918E-A006C9300BCE}" type="slidenum">
              <a:rPr lang="x-none" smtClean="0"/>
              <a:pPr/>
              <a:t>51</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403FC6D6-6B4D-44D2-B2B5-46D4BC3A0278}" type="slidenum">
              <a:rPr lang="x-none" sz="1400">
                <a:solidFill>
                  <a:schemeClr val="tx1"/>
                </a:solidFill>
                <a:latin typeface="Arial" pitchFamily="34" charset="0"/>
                <a:cs typeface="Arial" pitchFamily="34" charset="0"/>
              </a:rPr>
              <a:pPr>
                <a:defRPr/>
              </a:pPr>
              <a:t>51</a:t>
            </a:fld>
            <a:endParaRPr lang="en-US" sz="1400" dirty="0">
              <a:solidFill>
                <a:schemeClr val="tx1"/>
              </a:solidFill>
              <a:latin typeface="Arial" pitchFamily="34" charset="0"/>
              <a:cs typeface="Arial" pitchFamily="34" charset="0"/>
            </a:endParaRPr>
          </a:p>
        </p:txBody>
      </p:sp>
      <p:sp>
        <p:nvSpPr>
          <p:cNvPr id="59397" name="Rectangle 2"/>
          <p:cNvSpPr>
            <a:spLocks noGrp="1" noChangeArrowheads="1"/>
          </p:cNvSpPr>
          <p:nvPr>
            <p:ph type="title" idx="4294967295"/>
          </p:nvPr>
        </p:nvSpPr>
        <p:spPr/>
        <p:txBody>
          <a:bodyPr/>
          <a:lstStyle/>
          <a:p>
            <a:r>
              <a:rPr lang="en-US"/>
              <a:t>Notation Watch</a:t>
            </a:r>
          </a:p>
        </p:txBody>
      </p:sp>
      <p:sp>
        <p:nvSpPr>
          <p:cNvPr id="59398" name="Rectangle 3"/>
          <p:cNvSpPr>
            <a:spLocks noGrp="1" noChangeArrowheads="1"/>
          </p:cNvSpPr>
          <p:nvPr>
            <p:ph type="body" idx="4294967295"/>
          </p:nvPr>
        </p:nvSpPr>
        <p:spPr/>
        <p:txBody>
          <a:bodyPr/>
          <a:lstStyle/>
          <a:p>
            <a:r>
              <a:rPr lang="en-US">
                <a:solidFill>
                  <a:schemeClr val="tx1"/>
                </a:solidFill>
              </a:rPr>
              <a:t>T</a:t>
            </a:r>
            <a:r>
              <a:rPr lang="en-US" baseline="-25000">
                <a:solidFill>
                  <a:schemeClr val="tx1"/>
                </a:solidFill>
              </a:rPr>
              <a:t>P</a:t>
            </a:r>
            <a:r>
              <a:rPr lang="en-US"/>
              <a:t> = time on </a:t>
            </a:r>
            <a:r>
              <a:rPr lang="en-US">
                <a:solidFill>
                  <a:schemeClr val="tx1"/>
                </a:solidFill>
              </a:rPr>
              <a:t>P</a:t>
            </a:r>
            <a:r>
              <a:rPr lang="en-US"/>
              <a:t> processors</a:t>
            </a:r>
          </a:p>
          <a:p>
            <a:r>
              <a:rPr lang="en-US">
                <a:solidFill>
                  <a:schemeClr val="tx1"/>
                </a:solidFill>
              </a:rPr>
              <a:t>T</a:t>
            </a:r>
            <a:r>
              <a:rPr lang="en-US" baseline="-25000">
                <a:solidFill>
                  <a:schemeClr val="tx1"/>
                </a:solidFill>
              </a:rPr>
              <a:t>1</a:t>
            </a:r>
            <a:r>
              <a:rPr lang="en-US"/>
              <a:t> = work (time on </a:t>
            </a:r>
            <a:r>
              <a:rPr lang="en-US">
                <a:solidFill>
                  <a:schemeClr val="tx1"/>
                </a:solidFill>
              </a:rPr>
              <a:t>1</a:t>
            </a:r>
            <a:r>
              <a:rPr lang="en-US"/>
              <a:t> processor)</a:t>
            </a:r>
          </a:p>
          <a:p>
            <a:r>
              <a:rPr lang="en-US">
                <a:solidFill>
                  <a:schemeClr val="tx1"/>
                </a:solidFill>
              </a:rPr>
              <a:t>T</a:t>
            </a:r>
            <a:r>
              <a:rPr lang="en-US" baseline="-25000">
                <a:solidFill>
                  <a:schemeClr val="tx1"/>
                </a:solidFill>
              </a:rPr>
              <a:t>∞</a:t>
            </a:r>
            <a:r>
              <a:rPr lang="en-US"/>
              <a:t> = critical path length (time on </a:t>
            </a:r>
            <a:r>
              <a:rPr lang="en-US">
                <a:solidFill>
                  <a:schemeClr val="tx1"/>
                </a:solidFill>
              </a:rPr>
              <a:t>∞</a:t>
            </a:r>
            <a:r>
              <a:rPr lang="en-US"/>
              <a:t> processors)</a:t>
            </a:r>
          </a:p>
          <a:p>
            <a:endParaRPr lang="en-US"/>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1"/>
          <p:cNvSpPr>
            <a:spLocks noGrp="1"/>
          </p:cNvSpPr>
          <p:nvPr>
            <p:ph type="ftr" sz="quarter" idx="10"/>
          </p:nvPr>
        </p:nvSpPr>
        <p:spPr>
          <a:noFill/>
        </p:spPr>
        <p:txBody>
          <a:bodyPr/>
          <a:lstStyle/>
          <a:p>
            <a:r>
              <a:rPr lang="en-US"/>
              <a:t>Art of Multiprocessor Programming</a:t>
            </a:r>
          </a:p>
        </p:txBody>
      </p:sp>
      <p:sp>
        <p:nvSpPr>
          <p:cNvPr id="60419" name="Slide Number Placeholder 2"/>
          <p:cNvSpPr>
            <a:spLocks noGrp="1"/>
          </p:cNvSpPr>
          <p:nvPr>
            <p:ph type="sldNum" sz="quarter" idx="11"/>
          </p:nvPr>
        </p:nvSpPr>
        <p:spPr>
          <a:noFill/>
        </p:spPr>
        <p:txBody>
          <a:bodyPr/>
          <a:lstStyle/>
          <a:p>
            <a:fld id="{5E6312E1-DC74-44FE-875D-B127F92EE23E}" type="slidenum">
              <a:rPr lang="x-none" smtClean="0"/>
              <a:pPr/>
              <a:t>52</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D66868C-C7DF-471B-B746-F84DA4D8277B}" type="slidenum">
              <a:rPr lang="x-none" sz="1400">
                <a:solidFill>
                  <a:schemeClr val="tx1"/>
                </a:solidFill>
                <a:latin typeface="Arial" pitchFamily="34" charset="0"/>
                <a:cs typeface="Arial" pitchFamily="34" charset="0"/>
              </a:rPr>
              <a:pPr>
                <a:defRPr/>
              </a:pPr>
              <a:t>52</a:t>
            </a:fld>
            <a:endParaRPr lang="en-US" sz="1400" dirty="0">
              <a:solidFill>
                <a:schemeClr val="tx1"/>
              </a:solidFill>
              <a:latin typeface="Arial" pitchFamily="34" charset="0"/>
              <a:cs typeface="Arial" pitchFamily="34" charset="0"/>
            </a:endParaRPr>
          </a:p>
        </p:txBody>
      </p:sp>
      <p:sp>
        <p:nvSpPr>
          <p:cNvPr id="60421" name="Rectangle 2"/>
          <p:cNvSpPr>
            <a:spLocks noGrp="1" noChangeArrowheads="1"/>
          </p:cNvSpPr>
          <p:nvPr>
            <p:ph type="title" idx="4294967295"/>
          </p:nvPr>
        </p:nvSpPr>
        <p:spPr/>
        <p:txBody>
          <a:bodyPr/>
          <a:lstStyle/>
          <a:p>
            <a:r>
              <a:rPr lang="en-US" dirty="0"/>
              <a:t>Simple Laws</a:t>
            </a:r>
          </a:p>
        </p:txBody>
      </p:sp>
      <p:sp>
        <p:nvSpPr>
          <p:cNvPr id="60422" name="Rectangle 3"/>
          <p:cNvSpPr>
            <a:spLocks noGrp="1" noChangeArrowheads="1"/>
          </p:cNvSpPr>
          <p:nvPr>
            <p:ph type="body" idx="4294967295"/>
          </p:nvPr>
        </p:nvSpPr>
        <p:spPr/>
        <p:txBody>
          <a:bodyPr/>
          <a:lstStyle/>
          <a:p>
            <a:r>
              <a:rPr lang="en-US" dirty="0">
                <a:solidFill>
                  <a:srgbClr val="FF0000"/>
                </a:solidFill>
              </a:rPr>
              <a:t>Work Law</a:t>
            </a:r>
            <a:r>
              <a:rPr lang="en-US" dirty="0"/>
              <a:t>: </a:t>
            </a:r>
            <a:r>
              <a:rPr lang="en-US" dirty="0">
                <a:solidFill>
                  <a:schemeClr val="tx1"/>
                </a:solidFill>
              </a:rPr>
              <a:t>T</a:t>
            </a:r>
            <a:r>
              <a:rPr lang="en-US" baseline="-25000" dirty="0">
                <a:solidFill>
                  <a:schemeClr val="tx1"/>
                </a:solidFill>
              </a:rPr>
              <a:t>P</a:t>
            </a:r>
            <a:r>
              <a:rPr lang="en-US" dirty="0">
                <a:solidFill>
                  <a:schemeClr val="tx1"/>
                </a:solidFill>
              </a:rPr>
              <a:t> ≥ T</a:t>
            </a:r>
            <a:r>
              <a:rPr lang="en-US" baseline="-25000" dirty="0">
                <a:solidFill>
                  <a:schemeClr val="tx1"/>
                </a:solidFill>
              </a:rPr>
              <a:t>1</a:t>
            </a:r>
            <a:r>
              <a:rPr lang="en-US" dirty="0">
                <a:solidFill>
                  <a:schemeClr val="tx1"/>
                </a:solidFill>
              </a:rPr>
              <a:t>/P</a:t>
            </a:r>
          </a:p>
          <a:p>
            <a:pPr lvl="1"/>
            <a:r>
              <a:rPr lang="en-US" dirty="0"/>
              <a:t>In one step, can’t do more than </a:t>
            </a:r>
            <a:r>
              <a:rPr lang="en-US" dirty="0">
                <a:solidFill>
                  <a:schemeClr val="tx1"/>
                </a:solidFill>
              </a:rPr>
              <a:t>P</a:t>
            </a:r>
            <a:r>
              <a:rPr lang="en-US" dirty="0"/>
              <a:t> work</a:t>
            </a:r>
          </a:p>
          <a:p>
            <a:r>
              <a:rPr lang="en-US" dirty="0">
                <a:solidFill>
                  <a:srgbClr val="FF0000"/>
                </a:solidFill>
              </a:rPr>
              <a:t>Critical Path Law</a:t>
            </a:r>
            <a:r>
              <a:rPr lang="en-US" dirty="0"/>
              <a:t>: </a:t>
            </a:r>
            <a:r>
              <a:rPr lang="en-US" dirty="0">
                <a:solidFill>
                  <a:schemeClr val="tx1"/>
                </a:solidFill>
              </a:rPr>
              <a:t>T</a:t>
            </a:r>
            <a:r>
              <a:rPr lang="en-US" baseline="-25000" dirty="0">
                <a:solidFill>
                  <a:schemeClr val="tx1"/>
                </a:solidFill>
              </a:rPr>
              <a:t>P</a:t>
            </a:r>
            <a:r>
              <a:rPr lang="en-US" dirty="0">
                <a:solidFill>
                  <a:schemeClr val="tx1"/>
                </a:solidFill>
              </a:rPr>
              <a:t> ≥ T</a:t>
            </a:r>
            <a:r>
              <a:rPr lang="en-US" baseline="-25000" dirty="0">
                <a:solidFill>
                  <a:schemeClr val="tx1"/>
                </a:solidFill>
              </a:rPr>
              <a:t>∞</a:t>
            </a:r>
          </a:p>
          <a:p>
            <a:pPr lvl="1"/>
            <a:r>
              <a:rPr lang="en-US" dirty="0"/>
              <a:t>Can’t beat infinite resources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22">
                                            <p:txEl>
                                              <p:pRg st="2" end="2"/>
                                            </p:txEl>
                                          </p:spTgt>
                                        </p:tgtEl>
                                        <p:attrNameLst>
                                          <p:attrName>style.visibility</p:attrName>
                                        </p:attrNameLst>
                                      </p:cBhvr>
                                      <p:to>
                                        <p:strVal val="visible"/>
                                      </p:to>
                                    </p:set>
                                    <p:animEffect transition="in" filter="blinds(horizontal)">
                                      <p:cBhvr>
                                        <p:cTn id="7" dur="500"/>
                                        <p:tgtEl>
                                          <p:spTgt spid="6042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422">
                                            <p:txEl>
                                              <p:pRg st="3" end="3"/>
                                            </p:txEl>
                                          </p:spTgt>
                                        </p:tgtEl>
                                        <p:attrNameLst>
                                          <p:attrName>style.visibility</p:attrName>
                                        </p:attrNameLst>
                                      </p:cBhvr>
                                      <p:to>
                                        <p:strVal val="visible"/>
                                      </p:to>
                                    </p:set>
                                    <p:animEffect transition="in" filter="blinds(horizontal)">
                                      <p:cBhvr>
                                        <p:cTn id="10" dur="500"/>
                                        <p:tgtEl>
                                          <p:spTgt spid="604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p:cNvSpPr>
            <a:spLocks noGrp="1"/>
          </p:cNvSpPr>
          <p:nvPr>
            <p:ph type="ftr" sz="quarter" idx="10"/>
          </p:nvPr>
        </p:nvSpPr>
        <p:spPr>
          <a:noFill/>
        </p:spPr>
        <p:txBody>
          <a:bodyPr/>
          <a:lstStyle/>
          <a:p>
            <a:r>
              <a:rPr lang="en-US"/>
              <a:t>Art of Multiprocessor Programming</a:t>
            </a:r>
          </a:p>
        </p:txBody>
      </p:sp>
      <p:sp>
        <p:nvSpPr>
          <p:cNvPr id="61443" name="Slide Number Placeholder 2"/>
          <p:cNvSpPr>
            <a:spLocks noGrp="1"/>
          </p:cNvSpPr>
          <p:nvPr>
            <p:ph type="sldNum" sz="quarter" idx="11"/>
          </p:nvPr>
        </p:nvSpPr>
        <p:spPr>
          <a:noFill/>
        </p:spPr>
        <p:txBody>
          <a:bodyPr/>
          <a:lstStyle/>
          <a:p>
            <a:fld id="{3871369B-515F-469D-A435-3B599F238CBE}" type="slidenum">
              <a:rPr lang="x-none" smtClean="0"/>
              <a:pPr/>
              <a:t>53</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DE9CE9F-7217-409F-AFD6-07537E4A8AD4}" type="slidenum">
              <a:rPr lang="x-none" sz="1400">
                <a:solidFill>
                  <a:schemeClr val="tx1"/>
                </a:solidFill>
                <a:latin typeface="Arial" pitchFamily="34" charset="0"/>
                <a:cs typeface="Arial" pitchFamily="34" charset="0"/>
              </a:rPr>
              <a:pPr>
                <a:defRPr/>
              </a:pPr>
              <a:t>53</a:t>
            </a:fld>
            <a:endParaRPr lang="en-US" sz="1400" dirty="0">
              <a:solidFill>
                <a:schemeClr val="tx1"/>
              </a:solidFill>
              <a:latin typeface="Arial" pitchFamily="34" charset="0"/>
              <a:cs typeface="Arial" pitchFamily="34" charset="0"/>
            </a:endParaRPr>
          </a:p>
        </p:txBody>
      </p:sp>
      <p:sp>
        <p:nvSpPr>
          <p:cNvPr id="61445" name="Rectangle 2"/>
          <p:cNvSpPr>
            <a:spLocks noGrp="1" noChangeArrowheads="1"/>
          </p:cNvSpPr>
          <p:nvPr>
            <p:ph type="title" idx="4294967295"/>
          </p:nvPr>
        </p:nvSpPr>
        <p:spPr/>
        <p:txBody>
          <a:bodyPr/>
          <a:lstStyle/>
          <a:p>
            <a:r>
              <a:rPr lang="en-US" dirty="0"/>
              <a:t>Performance Measures</a:t>
            </a:r>
          </a:p>
        </p:txBody>
      </p:sp>
      <p:sp>
        <p:nvSpPr>
          <p:cNvPr id="61446" name="Rectangle 3"/>
          <p:cNvSpPr>
            <a:spLocks noGrp="1" noChangeArrowheads="1"/>
          </p:cNvSpPr>
          <p:nvPr>
            <p:ph type="body" idx="4294967295"/>
          </p:nvPr>
        </p:nvSpPr>
        <p:spPr/>
        <p:txBody>
          <a:bodyPr/>
          <a:lstStyle/>
          <a:p>
            <a:r>
              <a:rPr lang="en-US" i="1" dirty="0">
                <a:solidFill>
                  <a:schemeClr val="tx1"/>
                </a:solidFill>
              </a:rPr>
              <a:t>Speedup</a:t>
            </a:r>
            <a:r>
              <a:rPr lang="en-US" dirty="0"/>
              <a:t> on </a:t>
            </a:r>
            <a:r>
              <a:rPr lang="en-US" dirty="0">
                <a:solidFill>
                  <a:schemeClr val="tx1"/>
                </a:solidFill>
              </a:rPr>
              <a:t>P</a:t>
            </a:r>
            <a:r>
              <a:rPr lang="en-US" dirty="0"/>
              <a:t> processors</a:t>
            </a:r>
          </a:p>
          <a:p>
            <a:pPr lvl="1"/>
            <a:r>
              <a:rPr lang="en-US" dirty="0"/>
              <a:t>Ratio </a:t>
            </a:r>
            <a:r>
              <a:rPr lang="en-US" dirty="0">
                <a:solidFill>
                  <a:schemeClr val="tx1"/>
                </a:solidFill>
              </a:rPr>
              <a:t>T</a:t>
            </a:r>
            <a:r>
              <a:rPr lang="en-US" baseline="-25000" dirty="0">
                <a:solidFill>
                  <a:schemeClr val="tx1"/>
                </a:solidFill>
              </a:rPr>
              <a:t>1</a:t>
            </a:r>
            <a:r>
              <a:rPr lang="en-US" dirty="0">
                <a:solidFill>
                  <a:schemeClr val="tx1"/>
                </a:solidFill>
              </a:rPr>
              <a:t>/T</a:t>
            </a:r>
            <a:r>
              <a:rPr lang="en-US" baseline="-25000" dirty="0">
                <a:solidFill>
                  <a:schemeClr val="tx1"/>
                </a:solidFill>
              </a:rPr>
              <a:t>P</a:t>
            </a:r>
          </a:p>
          <a:p>
            <a:pPr lvl="1"/>
            <a:r>
              <a:rPr lang="en-US" dirty="0"/>
              <a:t>How much faster with </a:t>
            </a:r>
            <a:r>
              <a:rPr lang="en-US" dirty="0">
                <a:solidFill>
                  <a:schemeClr val="tx1"/>
                </a:solidFill>
              </a:rPr>
              <a:t>P</a:t>
            </a:r>
            <a:r>
              <a:rPr lang="en-US" dirty="0"/>
              <a:t> processors</a:t>
            </a:r>
          </a:p>
          <a:p>
            <a:r>
              <a:rPr lang="en-US" dirty="0"/>
              <a:t>Linear speedup</a:t>
            </a:r>
          </a:p>
          <a:p>
            <a:pPr lvl="1"/>
            <a:r>
              <a:rPr lang="en-US" dirty="0">
                <a:solidFill>
                  <a:schemeClr val="tx1"/>
                </a:solidFill>
              </a:rPr>
              <a:t>T</a:t>
            </a:r>
            <a:r>
              <a:rPr lang="en-US" baseline="-25000" dirty="0">
                <a:solidFill>
                  <a:schemeClr val="tx1"/>
                </a:solidFill>
              </a:rPr>
              <a:t>1</a:t>
            </a:r>
            <a:r>
              <a:rPr lang="en-US" dirty="0">
                <a:solidFill>
                  <a:schemeClr val="tx1"/>
                </a:solidFill>
              </a:rPr>
              <a:t>/T</a:t>
            </a:r>
            <a:r>
              <a:rPr lang="en-US" baseline="-25000" dirty="0">
                <a:solidFill>
                  <a:schemeClr val="tx1"/>
                </a:solidFill>
              </a:rPr>
              <a:t>P</a:t>
            </a:r>
            <a:r>
              <a:rPr lang="en-US" dirty="0"/>
              <a:t> = </a:t>
            </a:r>
            <a:r>
              <a:rPr lang="el-GR" dirty="0">
                <a:solidFill>
                  <a:schemeClr val="tx1"/>
                </a:solidFill>
              </a:rPr>
              <a:t>Θ</a:t>
            </a:r>
            <a:r>
              <a:rPr lang="en-US" dirty="0">
                <a:solidFill>
                  <a:schemeClr val="tx1"/>
                </a:solidFill>
              </a:rPr>
              <a:t>(P)</a:t>
            </a:r>
          </a:p>
          <a:p>
            <a:r>
              <a:rPr lang="en-US" dirty="0"/>
              <a:t>Max speedup (average parallelism)</a:t>
            </a:r>
          </a:p>
          <a:p>
            <a:pPr lvl="1"/>
            <a:r>
              <a:rPr lang="en-US" dirty="0">
                <a:solidFill>
                  <a:schemeClr val="tx1"/>
                </a:solidFill>
              </a:rPr>
              <a:t>T</a:t>
            </a:r>
            <a:r>
              <a:rPr lang="en-US" baseline="-25000" dirty="0">
                <a:solidFill>
                  <a:schemeClr val="tx1"/>
                </a:solidFill>
              </a:rPr>
              <a:t>1</a:t>
            </a:r>
            <a:r>
              <a:rPr lang="en-US" dirty="0">
                <a:solidFill>
                  <a:schemeClr val="tx1"/>
                </a:solidFill>
              </a:rPr>
              <a:t>/T</a:t>
            </a:r>
            <a:r>
              <a:rPr lang="en-US" baseline="-25000" dirty="0">
                <a:solidFill>
                  <a:schemeClr val="tx1"/>
                </a:solidFill>
              </a:rPr>
              <a:t>∞</a:t>
            </a:r>
            <a:endParaRPr lang="el-GR" baseline="-25000" dirty="0">
              <a:solidFill>
                <a:schemeClr val="tx1"/>
              </a:solidFill>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Sequential Composition</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54</a:t>
            </a:fld>
            <a:endParaRPr lang="en-US"/>
          </a:p>
        </p:txBody>
      </p:sp>
      <p:sp>
        <p:nvSpPr>
          <p:cNvPr id="5" name="Rounded Rectangle 4"/>
          <p:cNvSpPr/>
          <p:nvPr/>
        </p:nvSpPr>
        <p:spPr bwMode="auto">
          <a:xfrm>
            <a:off x="2180112" y="2984665"/>
            <a:ext cx="1626920" cy="1294410"/>
          </a:xfrm>
          <a:prstGeom prst="roundRect">
            <a:avLst/>
          </a:prstGeom>
          <a:solidFill>
            <a:srgbClr val="00B05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chemeClr val="bg1"/>
                </a:solidFill>
                <a:effectLst/>
                <a:latin typeface="Arial" pitchFamily="34" charset="0"/>
                <a:cs typeface="Arial" pitchFamily="34" charset="0"/>
              </a:rPr>
              <a:t>A</a:t>
            </a:r>
          </a:p>
        </p:txBody>
      </p:sp>
      <p:sp>
        <p:nvSpPr>
          <p:cNvPr id="7" name="Right Arrow 6"/>
          <p:cNvSpPr/>
          <p:nvPr/>
        </p:nvSpPr>
        <p:spPr bwMode="auto">
          <a:xfrm>
            <a:off x="863725" y="3358738"/>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8" name="Right Arrow 7"/>
          <p:cNvSpPr/>
          <p:nvPr/>
        </p:nvSpPr>
        <p:spPr bwMode="auto">
          <a:xfrm>
            <a:off x="4020582" y="3358738"/>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9" name="Right Arrow 8"/>
          <p:cNvSpPr/>
          <p:nvPr/>
        </p:nvSpPr>
        <p:spPr bwMode="auto">
          <a:xfrm>
            <a:off x="7177439" y="3358738"/>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1" name="Rounded Rectangle 10"/>
          <p:cNvSpPr/>
          <p:nvPr/>
        </p:nvSpPr>
        <p:spPr bwMode="auto">
          <a:xfrm>
            <a:off x="5336969" y="2984665"/>
            <a:ext cx="1626920" cy="1294410"/>
          </a:xfrm>
          <a:prstGeom prst="roundRect">
            <a:avLst/>
          </a:prstGeom>
          <a:solidFill>
            <a:srgbClr val="00B05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chemeClr val="bg1"/>
                </a:solidFill>
                <a:effectLst/>
                <a:latin typeface="Arial" pitchFamily="34" charset="0"/>
                <a:cs typeface="Arial" pitchFamily="34" charset="0"/>
              </a:rPr>
              <a:t>B</a:t>
            </a:r>
          </a:p>
        </p:txBody>
      </p:sp>
      <p:sp>
        <p:nvSpPr>
          <p:cNvPr id="12" name="TextBox 11"/>
          <p:cNvSpPr txBox="1"/>
          <p:nvPr/>
        </p:nvSpPr>
        <p:spPr>
          <a:xfrm>
            <a:off x="3205195" y="4704370"/>
            <a:ext cx="2886624" cy="461665"/>
          </a:xfrm>
          <a:prstGeom prst="rect">
            <a:avLst/>
          </a:prstGeom>
          <a:noFill/>
        </p:spPr>
        <p:txBody>
          <a:bodyPr wrap="none" rtlCol="0">
            <a:spAutoFit/>
          </a:bodyPr>
          <a:lstStyle/>
          <a:p>
            <a:r>
              <a:rPr lang="en-US" dirty="0">
                <a:latin typeface="Arial" pitchFamily="34" charset="0"/>
                <a:cs typeface="Arial" pitchFamily="34" charset="0"/>
              </a:rPr>
              <a:t>Work: </a:t>
            </a:r>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solidFill>
                  <a:schemeClr val="tx1"/>
                </a:solidFill>
                <a:latin typeface="Arial"/>
                <a:cs typeface="Arial" pitchFamily="34" charset="0"/>
              </a:rPr>
              <a:t>(A</a:t>
            </a:r>
            <a:r>
              <a:rPr lang="en-US" dirty="0">
                <a:solidFill>
                  <a:schemeClr val="tx1"/>
                </a:solidFill>
                <a:latin typeface="Arial" pitchFamily="34" charset="0"/>
                <a:cs typeface="Arial" pitchFamily="34" charset="0"/>
              </a:rPr>
              <a:t>) + </a:t>
            </a:r>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solidFill>
                  <a:schemeClr val="tx1"/>
                </a:solidFill>
                <a:latin typeface="Arial"/>
                <a:cs typeface="Arial" pitchFamily="34" charset="0"/>
              </a:rPr>
              <a:t>(B</a:t>
            </a:r>
            <a:r>
              <a:rPr lang="en-US" dirty="0">
                <a:solidFill>
                  <a:schemeClr val="tx1"/>
                </a:solidFill>
                <a:latin typeface="Arial" pitchFamily="34" charset="0"/>
                <a:cs typeface="Arial" pitchFamily="34" charset="0"/>
              </a:rPr>
              <a:t>)</a:t>
            </a:r>
          </a:p>
        </p:txBody>
      </p:sp>
      <p:sp>
        <p:nvSpPr>
          <p:cNvPr id="13" name="TextBox 12"/>
          <p:cNvSpPr txBox="1"/>
          <p:nvPr/>
        </p:nvSpPr>
        <p:spPr>
          <a:xfrm>
            <a:off x="2134285" y="5527330"/>
            <a:ext cx="3957534" cy="461665"/>
          </a:xfrm>
          <a:prstGeom prst="rect">
            <a:avLst/>
          </a:prstGeom>
          <a:noFill/>
        </p:spPr>
        <p:txBody>
          <a:bodyPr wrap="none" rtlCol="0">
            <a:spAutoFit/>
          </a:bodyPr>
          <a:lstStyle/>
          <a:p>
            <a:r>
              <a:rPr lang="en-US" dirty="0">
                <a:latin typeface="Arial" pitchFamily="34" charset="0"/>
                <a:cs typeface="Arial" pitchFamily="34" charset="0"/>
              </a:rPr>
              <a:t>Critical Path: </a:t>
            </a:r>
            <a:r>
              <a:rPr lang="en-US" dirty="0">
                <a:solidFill>
                  <a:schemeClr val="tx1"/>
                </a:solidFill>
                <a:latin typeface="Arial"/>
                <a:cs typeface="Arial" pitchFamily="34" charset="0"/>
              </a:rPr>
              <a:t>T</a:t>
            </a:r>
            <a:r>
              <a:rPr lang="en-US" baseline="-25000" dirty="0">
                <a:solidFill>
                  <a:schemeClr val="tx1"/>
                </a:solidFill>
                <a:latin typeface="cmsy10"/>
                <a:cs typeface="Arial" pitchFamily="34" charset="0"/>
              </a:rPr>
              <a:t>∞ </a:t>
            </a:r>
            <a:r>
              <a:rPr lang="en-US" dirty="0">
                <a:solidFill>
                  <a:schemeClr val="tx1"/>
                </a:solidFill>
                <a:latin typeface="Arial"/>
                <a:cs typeface="Arial" pitchFamily="34" charset="0"/>
              </a:rPr>
              <a:t>(A</a:t>
            </a:r>
            <a:r>
              <a:rPr lang="en-US" dirty="0">
                <a:solidFill>
                  <a:schemeClr val="tx1"/>
                </a:solidFill>
                <a:latin typeface="Arial" pitchFamily="34" charset="0"/>
                <a:cs typeface="Arial" pitchFamily="34" charset="0"/>
              </a:rPr>
              <a:t>) + </a:t>
            </a:r>
            <a:r>
              <a:rPr lang="en-US" dirty="0">
                <a:solidFill>
                  <a:schemeClr val="tx1"/>
                </a:solidFill>
                <a:latin typeface="Arial"/>
                <a:cs typeface="Arial" pitchFamily="34" charset="0"/>
              </a:rPr>
              <a:t>T</a:t>
            </a:r>
            <a:r>
              <a:rPr lang="en-US" baseline="-25000" dirty="0">
                <a:solidFill>
                  <a:schemeClr val="tx1"/>
                </a:solidFill>
                <a:latin typeface="cmsy10"/>
                <a:cs typeface="Arial" pitchFamily="34" charset="0"/>
              </a:rPr>
              <a:t>∞ </a:t>
            </a:r>
            <a:r>
              <a:rPr lang="en-US" dirty="0">
                <a:solidFill>
                  <a:schemeClr val="tx1"/>
                </a:solidFill>
                <a:latin typeface="Arial"/>
                <a:cs typeface="Arial" pitchFamily="34" charset="0"/>
              </a:rPr>
              <a:t>(B</a:t>
            </a:r>
            <a:r>
              <a:rPr lang="en-US" dirty="0">
                <a:solidFill>
                  <a:schemeClr val="tx1"/>
                </a:solidFill>
                <a:latin typeface="Arial" pitchFamily="34" charset="0"/>
                <a:cs typeface="Arial" pitchFamily="34" charset="0"/>
              </a:rPr>
              <a:t>)</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Parallel Composition</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55</a:t>
            </a:fld>
            <a:endParaRPr lang="en-US"/>
          </a:p>
        </p:txBody>
      </p:sp>
      <p:sp>
        <p:nvSpPr>
          <p:cNvPr id="12" name="TextBox 11"/>
          <p:cNvSpPr txBox="1"/>
          <p:nvPr/>
        </p:nvSpPr>
        <p:spPr>
          <a:xfrm>
            <a:off x="3205195" y="4704370"/>
            <a:ext cx="2886624" cy="461665"/>
          </a:xfrm>
          <a:prstGeom prst="rect">
            <a:avLst/>
          </a:prstGeom>
          <a:noFill/>
        </p:spPr>
        <p:txBody>
          <a:bodyPr wrap="none" rtlCol="0">
            <a:spAutoFit/>
          </a:bodyPr>
          <a:lstStyle/>
          <a:p>
            <a:r>
              <a:rPr lang="en-US" dirty="0">
                <a:latin typeface="Arial" pitchFamily="34" charset="0"/>
                <a:cs typeface="Arial" pitchFamily="34" charset="0"/>
              </a:rPr>
              <a:t>Work: </a:t>
            </a:r>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solidFill>
                  <a:schemeClr val="tx1"/>
                </a:solidFill>
                <a:latin typeface="Arial"/>
                <a:cs typeface="Arial" pitchFamily="34" charset="0"/>
              </a:rPr>
              <a:t>(A</a:t>
            </a:r>
            <a:r>
              <a:rPr lang="en-US" dirty="0">
                <a:solidFill>
                  <a:schemeClr val="tx1"/>
                </a:solidFill>
                <a:latin typeface="Arial" pitchFamily="34" charset="0"/>
                <a:cs typeface="Arial" pitchFamily="34" charset="0"/>
              </a:rPr>
              <a:t>) + </a:t>
            </a:r>
            <a:r>
              <a:rPr lang="en-US" dirty="0">
                <a:solidFill>
                  <a:schemeClr val="tx1"/>
                </a:solidFill>
                <a:latin typeface="Arial"/>
                <a:cs typeface="Arial" pitchFamily="34" charset="0"/>
              </a:rPr>
              <a:t>T</a:t>
            </a:r>
            <a:r>
              <a:rPr lang="en-US" baseline="-25000" dirty="0">
                <a:solidFill>
                  <a:schemeClr val="tx1"/>
                </a:solidFill>
                <a:latin typeface="Arial"/>
                <a:cs typeface="Arial" pitchFamily="34" charset="0"/>
              </a:rPr>
              <a:t>1</a:t>
            </a:r>
            <a:r>
              <a:rPr lang="en-US" dirty="0">
                <a:solidFill>
                  <a:schemeClr val="tx1"/>
                </a:solidFill>
                <a:latin typeface="Arial"/>
                <a:cs typeface="Arial" pitchFamily="34" charset="0"/>
              </a:rPr>
              <a:t>(B</a:t>
            </a:r>
            <a:r>
              <a:rPr lang="en-US" dirty="0">
                <a:solidFill>
                  <a:schemeClr val="tx1"/>
                </a:solidFill>
                <a:latin typeface="Arial" pitchFamily="34" charset="0"/>
                <a:cs typeface="Arial" pitchFamily="34" charset="0"/>
              </a:rPr>
              <a:t>)</a:t>
            </a:r>
          </a:p>
        </p:txBody>
      </p:sp>
      <p:sp>
        <p:nvSpPr>
          <p:cNvPr id="13" name="TextBox 12"/>
          <p:cNvSpPr txBox="1"/>
          <p:nvPr/>
        </p:nvSpPr>
        <p:spPr>
          <a:xfrm>
            <a:off x="1667611" y="5527330"/>
            <a:ext cx="4424208" cy="461665"/>
          </a:xfrm>
          <a:prstGeom prst="rect">
            <a:avLst/>
          </a:prstGeom>
          <a:noFill/>
        </p:spPr>
        <p:txBody>
          <a:bodyPr wrap="none" rtlCol="0">
            <a:spAutoFit/>
          </a:bodyPr>
          <a:lstStyle/>
          <a:p>
            <a:r>
              <a:rPr lang="en-US" dirty="0">
                <a:latin typeface="Arial" pitchFamily="34" charset="0"/>
                <a:cs typeface="Arial" pitchFamily="34" charset="0"/>
              </a:rPr>
              <a:t>Critical Path: </a:t>
            </a:r>
            <a:r>
              <a:rPr lang="en-US" dirty="0">
                <a:solidFill>
                  <a:schemeClr val="tx1"/>
                </a:solidFill>
                <a:latin typeface="Arial" pitchFamily="34" charset="0"/>
                <a:cs typeface="Arial" pitchFamily="34" charset="0"/>
              </a:rPr>
              <a:t>max{</a:t>
            </a:r>
            <a:r>
              <a:rPr lang="en-US" dirty="0">
                <a:solidFill>
                  <a:schemeClr val="tx1"/>
                </a:solidFill>
                <a:latin typeface="Arial"/>
                <a:cs typeface="Arial" pitchFamily="34" charset="0"/>
              </a:rPr>
              <a:t>T</a:t>
            </a:r>
            <a:r>
              <a:rPr lang="en-US" baseline="-25000" dirty="0">
                <a:solidFill>
                  <a:schemeClr val="tx1"/>
                </a:solidFill>
                <a:latin typeface="cmsy10"/>
                <a:cs typeface="Arial" pitchFamily="34" charset="0"/>
              </a:rPr>
              <a:t>∞</a:t>
            </a:r>
            <a:r>
              <a:rPr lang="en-US" dirty="0">
                <a:solidFill>
                  <a:schemeClr val="tx1"/>
                </a:solidFill>
                <a:latin typeface="Arial"/>
                <a:cs typeface="Arial" pitchFamily="34" charset="0"/>
              </a:rPr>
              <a:t>(A</a:t>
            </a:r>
            <a:r>
              <a:rPr lang="en-US" dirty="0">
                <a:solidFill>
                  <a:schemeClr val="tx1"/>
                </a:solidFill>
                <a:latin typeface="Arial" pitchFamily="34" charset="0"/>
                <a:cs typeface="Arial" pitchFamily="34" charset="0"/>
              </a:rPr>
              <a:t>), </a:t>
            </a:r>
            <a:r>
              <a:rPr lang="en-US" dirty="0">
                <a:solidFill>
                  <a:schemeClr val="tx1"/>
                </a:solidFill>
                <a:latin typeface="Arial"/>
                <a:cs typeface="Arial" pitchFamily="34" charset="0"/>
              </a:rPr>
              <a:t>T</a:t>
            </a:r>
            <a:r>
              <a:rPr lang="en-US" baseline="-25000" dirty="0">
                <a:solidFill>
                  <a:schemeClr val="tx1"/>
                </a:solidFill>
                <a:latin typeface="cmsy10"/>
                <a:cs typeface="Arial" pitchFamily="34" charset="0"/>
              </a:rPr>
              <a:t>∞</a:t>
            </a:r>
            <a:r>
              <a:rPr lang="en-US" dirty="0">
                <a:solidFill>
                  <a:schemeClr val="tx1"/>
                </a:solidFill>
                <a:latin typeface="Arial"/>
                <a:cs typeface="Arial" pitchFamily="34" charset="0"/>
              </a:rPr>
              <a:t>(B</a:t>
            </a:r>
            <a:r>
              <a:rPr lang="en-US" dirty="0">
                <a:solidFill>
                  <a:schemeClr val="tx1"/>
                </a:solidFill>
                <a:latin typeface="Arial" pitchFamily="34" charset="0"/>
                <a:cs typeface="Arial" pitchFamily="34" charset="0"/>
              </a:rPr>
              <a:t>)}</a:t>
            </a:r>
          </a:p>
        </p:txBody>
      </p:sp>
      <p:grpSp>
        <p:nvGrpSpPr>
          <p:cNvPr id="6" name="Group 16"/>
          <p:cNvGrpSpPr/>
          <p:nvPr/>
        </p:nvGrpSpPr>
        <p:grpSpPr>
          <a:xfrm>
            <a:off x="2166051" y="1593390"/>
            <a:ext cx="4214173" cy="1294410"/>
            <a:chOff x="2154176" y="1830897"/>
            <a:chExt cx="4214173" cy="1294410"/>
          </a:xfrm>
        </p:grpSpPr>
        <p:sp>
          <p:nvSpPr>
            <p:cNvPr id="5" name="Rounded Rectangle 4"/>
            <p:cNvSpPr/>
            <p:nvPr/>
          </p:nvSpPr>
          <p:spPr bwMode="auto">
            <a:xfrm>
              <a:off x="3447803" y="1830897"/>
              <a:ext cx="1626920" cy="1294410"/>
            </a:xfrm>
            <a:prstGeom prst="roundRect">
              <a:avLst/>
            </a:prstGeom>
            <a:solidFill>
              <a:srgbClr val="00B05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chemeClr val="bg1"/>
                  </a:solidFill>
                  <a:effectLst/>
                  <a:latin typeface="Arial" pitchFamily="34" charset="0"/>
                  <a:cs typeface="Arial" pitchFamily="34" charset="0"/>
                </a:rPr>
                <a:t>A</a:t>
              </a:r>
            </a:p>
          </p:txBody>
        </p:sp>
        <p:sp>
          <p:nvSpPr>
            <p:cNvPr id="14" name="Right Arrow 13"/>
            <p:cNvSpPr/>
            <p:nvPr/>
          </p:nvSpPr>
          <p:spPr bwMode="auto">
            <a:xfrm rot="1845263">
              <a:off x="5265512" y="2335480"/>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5" name="Right Arrow 14"/>
            <p:cNvSpPr/>
            <p:nvPr/>
          </p:nvSpPr>
          <p:spPr bwMode="auto">
            <a:xfrm rot="19754737" flipV="1">
              <a:off x="2154176" y="2335480"/>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grpSp>
      <p:grpSp>
        <p:nvGrpSpPr>
          <p:cNvPr id="7" name="Group 17"/>
          <p:cNvGrpSpPr/>
          <p:nvPr/>
        </p:nvGrpSpPr>
        <p:grpSpPr>
          <a:xfrm>
            <a:off x="2108654" y="3127040"/>
            <a:ext cx="4328966" cy="1294410"/>
            <a:chOff x="2061153" y="2984547"/>
            <a:chExt cx="4328966" cy="1294410"/>
          </a:xfrm>
        </p:grpSpPr>
        <p:sp>
          <p:nvSpPr>
            <p:cNvPr id="8" name="Right Arrow 7"/>
            <p:cNvSpPr/>
            <p:nvPr/>
          </p:nvSpPr>
          <p:spPr bwMode="auto">
            <a:xfrm rot="1845263">
              <a:off x="2061153" y="3228109"/>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1" name="Rounded Rectangle 10"/>
            <p:cNvSpPr/>
            <p:nvPr/>
          </p:nvSpPr>
          <p:spPr bwMode="auto">
            <a:xfrm>
              <a:off x="3412176" y="2984547"/>
              <a:ext cx="1626920" cy="1294410"/>
            </a:xfrm>
            <a:prstGeom prst="roundRect">
              <a:avLst/>
            </a:prstGeom>
            <a:solidFill>
              <a:srgbClr val="00B050"/>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chemeClr val="bg1"/>
                  </a:solidFill>
                  <a:effectLst/>
                  <a:latin typeface="Arial" pitchFamily="34" charset="0"/>
                  <a:cs typeface="Arial" pitchFamily="34" charset="0"/>
                </a:rPr>
                <a:t>B</a:t>
              </a:r>
            </a:p>
          </p:txBody>
        </p:sp>
        <p:sp>
          <p:nvSpPr>
            <p:cNvPr id="16" name="Right Arrow 15"/>
            <p:cNvSpPr/>
            <p:nvPr/>
          </p:nvSpPr>
          <p:spPr bwMode="auto">
            <a:xfrm rot="19754737" flipV="1">
              <a:off x="5287282" y="3228109"/>
              <a:ext cx="1102837" cy="546265"/>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gr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Footer Placeholder 1"/>
          <p:cNvSpPr>
            <a:spLocks noGrp="1"/>
          </p:cNvSpPr>
          <p:nvPr>
            <p:ph type="ftr" sz="quarter" idx="10"/>
          </p:nvPr>
        </p:nvSpPr>
        <p:spPr>
          <a:noFill/>
        </p:spPr>
        <p:txBody>
          <a:bodyPr/>
          <a:lstStyle/>
          <a:p>
            <a:r>
              <a:rPr lang="en-US"/>
              <a:t>Art of Multiprocessor Programming</a:t>
            </a:r>
          </a:p>
        </p:txBody>
      </p:sp>
      <p:sp>
        <p:nvSpPr>
          <p:cNvPr id="4100" name="Slide Number Placeholder 2"/>
          <p:cNvSpPr>
            <a:spLocks noGrp="1"/>
          </p:cNvSpPr>
          <p:nvPr>
            <p:ph type="sldNum" sz="quarter" idx="11"/>
          </p:nvPr>
        </p:nvSpPr>
        <p:spPr>
          <a:noFill/>
        </p:spPr>
        <p:txBody>
          <a:bodyPr/>
          <a:lstStyle/>
          <a:p>
            <a:fld id="{BB8B9B18-595C-4F0F-ACA3-43C60B9CD2B0}" type="slidenum">
              <a:rPr lang="x-none" smtClean="0"/>
              <a:pPr/>
              <a:t>56</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149EDA1-E2E7-4F2D-B308-3A408DFF43F1}" type="slidenum">
              <a:rPr lang="x-none" sz="1400">
                <a:solidFill>
                  <a:schemeClr val="tx1"/>
                </a:solidFill>
                <a:latin typeface="Arial" pitchFamily="34" charset="0"/>
                <a:cs typeface="Arial" pitchFamily="34" charset="0"/>
              </a:rPr>
              <a:pPr>
                <a:defRPr/>
              </a:pPr>
              <a:t>56</a:t>
            </a:fld>
            <a:endParaRPr lang="en-US" sz="1400" dirty="0">
              <a:solidFill>
                <a:schemeClr val="tx1"/>
              </a:solidFill>
              <a:latin typeface="Arial" pitchFamily="34" charset="0"/>
              <a:cs typeface="Arial" pitchFamily="34" charset="0"/>
            </a:endParaRPr>
          </a:p>
        </p:txBody>
      </p:sp>
      <p:sp>
        <p:nvSpPr>
          <p:cNvPr id="4102" name="Rectangle 2"/>
          <p:cNvSpPr>
            <a:spLocks noGrp="1" noChangeArrowheads="1"/>
          </p:cNvSpPr>
          <p:nvPr>
            <p:ph type="title" idx="4294967295"/>
          </p:nvPr>
        </p:nvSpPr>
        <p:spPr/>
        <p:txBody>
          <a:bodyPr/>
          <a:lstStyle/>
          <a:p>
            <a:r>
              <a:rPr lang="en-US"/>
              <a:t>Matrix Addition</a:t>
            </a:r>
          </a:p>
        </p:txBody>
      </p:sp>
      <p:graphicFrame>
        <p:nvGraphicFramePr>
          <p:cNvPr id="4098" name="Object 3"/>
          <p:cNvGraphicFramePr>
            <a:graphicFrameLocks noGrp="1" noChangeAspect="1"/>
          </p:cNvGraphicFramePr>
          <p:nvPr>
            <p:ph idx="4294967295"/>
          </p:nvPr>
        </p:nvGraphicFramePr>
        <p:xfrm>
          <a:off x="1119188" y="2279650"/>
          <a:ext cx="7443787" cy="1606550"/>
        </p:xfrm>
        <a:graphic>
          <a:graphicData uri="http://schemas.openxmlformats.org/presentationml/2006/ole">
            <mc:AlternateContent xmlns:mc="http://schemas.openxmlformats.org/markup-compatibility/2006">
              <mc:Choice xmlns:v="urn:schemas-microsoft-com:vml" Requires="v">
                <p:oleObj spid="_x0000_s166938" name="Equation" r:id="rId4" imgW="2235016" imgH="482278" progId="">
                  <p:embed/>
                </p:oleObj>
              </mc:Choice>
              <mc:Fallback>
                <p:oleObj name="Equation" r:id="rId4" imgW="2235016" imgH="482278" progId="">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9188" y="2279650"/>
                        <a:ext cx="7443787" cy="160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1"/>
          <p:cNvSpPr>
            <a:spLocks noGrp="1"/>
          </p:cNvSpPr>
          <p:nvPr>
            <p:ph type="ftr" sz="quarter" idx="10"/>
          </p:nvPr>
        </p:nvSpPr>
        <p:spPr>
          <a:noFill/>
        </p:spPr>
        <p:txBody>
          <a:bodyPr/>
          <a:lstStyle/>
          <a:p>
            <a:r>
              <a:rPr lang="en-US"/>
              <a:t>Art of Multiprocessor Programming</a:t>
            </a:r>
          </a:p>
        </p:txBody>
      </p:sp>
      <p:sp>
        <p:nvSpPr>
          <p:cNvPr id="5124" name="Slide Number Placeholder 2"/>
          <p:cNvSpPr>
            <a:spLocks noGrp="1"/>
          </p:cNvSpPr>
          <p:nvPr>
            <p:ph type="sldNum" sz="quarter" idx="11"/>
          </p:nvPr>
        </p:nvSpPr>
        <p:spPr>
          <a:noFill/>
        </p:spPr>
        <p:txBody>
          <a:bodyPr/>
          <a:lstStyle/>
          <a:p>
            <a:fld id="{42256483-8A91-475B-933C-C47DF91654E7}" type="slidenum">
              <a:rPr lang="x-none" smtClean="0"/>
              <a:pPr/>
              <a:t>57</a:t>
            </a:fld>
            <a:endParaRPr lang="en-US"/>
          </a:p>
        </p:txBody>
      </p:sp>
      <p:sp>
        <p:nvSpPr>
          <p:cNvPr id="10"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04A5319-A0A3-46ED-8504-9593031D5D6E}" type="slidenum">
              <a:rPr lang="x-none" sz="1400">
                <a:solidFill>
                  <a:schemeClr val="tx1"/>
                </a:solidFill>
                <a:latin typeface="Arial" pitchFamily="34" charset="0"/>
                <a:cs typeface="Arial" pitchFamily="34" charset="0"/>
              </a:rPr>
              <a:pPr>
                <a:defRPr/>
              </a:pPr>
              <a:t>57</a:t>
            </a:fld>
            <a:endParaRPr lang="en-US" sz="1400" dirty="0">
              <a:solidFill>
                <a:schemeClr val="tx1"/>
              </a:solidFill>
              <a:latin typeface="Arial" pitchFamily="34" charset="0"/>
              <a:cs typeface="Arial" pitchFamily="34" charset="0"/>
            </a:endParaRPr>
          </a:p>
        </p:txBody>
      </p:sp>
      <p:sp>
        <p:nvSpPr>
          <p:cNvPr id="5126" name="AutoShape 2"/>
          <p:cNvSpPr>
            <a:spLocks noChangeArrowheads="1"/>
          </p:cNvSpPr>
          <p:nvPr/>
        </p:nvSpPr>
        <p:spPr bwMode="auto">
          <a:xfrm>
            <a:off x="3937000" y="2370138"/>
            <a:ext cx="1903413" cy="663575"/>
          </a:xfrm>
          <a:prstGeom prst="wedgeRoundRectCallout">
            <a:avLst>
              <a:gd name="adj1" fmla="val -6463"/>
              <a:gd name="adj2" fmla="val 347370"/>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5127" name="AutoShape 3"/>
          <p:cNvSpPr>
            <a:spLocks noChangeArrowheads="1"/>
          </p:cNvSpPr>
          <p:nvPr/>
        </p:nvSpPr>
        <p:spPr bwMode="auto">
          <a:xfrm>
            <a:off x="6083300" y="2370138"/>
            <a:ext cx="1852613" cy="638175"/>
          </a:xfrm>
          <a:prstGeom prst="wedgeRoundRectCallout">
            <a:avLst>
              <a:gd name="adj1" fmla="val -94389"/>
              <a:gd name="adj2" fmla="val 38109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5128" name="AutoShape 4"/>
          <p:cNvSpPr>
            <a:spLocks noChangeArrowheads="1"/>
          </p:cNvSpPr>
          <p:nvPr/>
        </p:nvSpPr>
        <p:spPr bwMode="auto">
          <a:xfrm>
            <a:off x="3929063" y="3098800"/>
            <a:ext cx="1927225" cy="647700"/>
          </a:xfrm>
          <a:prstGeom prst="wedgeRoundRectCallout">
            <a:avLst>
              <a:gd name="adj1" fmla="val -25042"/>
              <a:gd name="adj2" fmla="val 266176"/>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5129" name="AutoShape 5"/>
          <p:cNvSpPr>
            <a:spLocks noChangeArrowheads="1"/>
          </p:cNvSpPr>
          <p:nvPr/>
        </p:nvSpPr>
        <p:spPr bwMode="auto">
          <a:xfrm>
            <a:off x="6240463" y="3149600"/>
            <a:ext cx="1582737" cy="622300"/>
          </a:xfrm>
          <a:prstGeom prst="wedgeRoundRectCallout">
            <a:avLst>
              <a:gd name="adj1" fmla="val -90222"/>
              <a:gd name="adj2" fmla="val 268880"/>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5130" name="Rectangle 6"/>
          <p:cNvSpPr>
            <a:spLocks noGrp="1" noChangeArrowheads="1"/>
          </p:cNvSpPr>
          <p:nvPr>
            <p:ph type="title" idx="4294967295"/>
          </p:nvPr>
        </p:nvSpPr>
        <p:spPr/>
        <p:txBody>
          <a:bodyPr/>
          <a:lstStyle/>
          <a:p>
            <a:r>
              <a:rPr lang="en-US"/>
              <a:t>Matrix Addition</a:t>
            </a:r>
          </a:p>
        </p:txBody>
      </p:sp>
      <p:graphicFrame>
        <p:nvGraphicFramePr>
          <p:cNvPr id="5122" name="Object 7"/>
          <p:cNvGraphicFramePr>
            <a:graphicFrameLocks noGrp="1" noChangeAspect="1"/>
          </p:cNvGraphicFramePr>
          <p:nvPr>
            <p:ph idx="4294967295"/>
          </p:nvPr>
        </p:nvGraphicFramePr>
        <p:xfrm>
          <a:off x="1079500" y="2292350"/>
          <a:ext cx="7124700" cy="1538288"/>
        </p:xfrm>
        <a:graphic>
          <a:graphicData uri="http://schemas.openxmlformats.org/presentationml/2006/ole">
            <mc:AlternateContent xmlns:mc="http://schemas.openxmlformats.org/markup-compatibility/2006">
              <mc:Choice xmlns:v="urn:schemas-microsoft-com:vml" Requires="v">
                <p:oleObj spid="_x0000_s167962" name="Equation" r:id="rId4" imgW="2235016" imgH="482278" progId="">
                  <p:embed/>
                </p:oleObj>
              </mc:Choice>
              <mc:Fallback>
                <p:oleObj name="Equation" r:id="rId4" imgW="2235016" imgH="482278" progId="">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2292350"/>
                        <a:ext cx="7124700" cy="1538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1" name="Text Box 8"/>
          <p:cNvSpPr txBox="1">
            <a:spLocks noChangeArrowheads="1"/>
          </p:cNvSpPr>
          <p:nvPr/>
        </p:nvSpPr>
        <p:spPr bwMode="auto">
          <a:xfrm>
            <a:off x="3201988" y="5216525"/>
            <a:ext cx="3905250" cy="519113"/>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4 parallel additions</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1"/>
          <p:cNvSpPr>
            <a:spLocks noGrp="1"/>
          </p:cNvSpPr>
          <p:nvPr>
            <p:ph type="ftr" sz="quarter" idx="10"/>
          </p:nvPr>
        </p:nvSpPr>
        <p:spPr>
          <a:noFill/>
        </p:spPr>
        <p:txBody>
          <a:bodyPr/>
          <a:lstStyle/>
          <a:p>
            <a:r>
              <a:rPr lang="en-US"/>
              <a:t>Art of Multiprocessor Programming</a:t>
            </a:r>
          </a:p>
        </p:txBody>
      </p:sp>
      <p:sp>
        <p:nvSpPr>
          <p:cNvPr id="62467" name="Slide Number Placeholder 2"/>
          <p:cNvSpPr>
            <a:spLocks noGrp="1"/>
          </p:cNvSpPr>
          <p:nvPr>
            <p:ph type="sldNum" sz="quarter" idx="11"/>
          </p:nvPr>
        </p:nvSpPr>
        <p:spPr>
          <a:noFill/>
        </p:spPr>
        <p:txBody>
          <a:bodyPr/>
          <a:lstStyle/>
          <a:p>
            <a:fld id="{B7A33685-F19F-4952-B531-1BEFCD0E877D}" type="slidenum">
              <a:rPr lang="x-none" smtClean="0"/>
              <a:pPr/>
              <a:t>58</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3525904-D228-40BD-A81B-79D5714C2AD5}" type="slidenum">
              <a:rPr lang="x-none" sz="1400">
                <a:solidFill>
                  <a:schemeClr val="tx1"/>
                </a:solidFill>
                <a:latin typeface="Arial" pitchFamily="34" charset="0"/>
                <a:cs typeface="Arial" pitchFamily="34" charset="0"/>
              </a:rPr>
              <a:pPr>
                <a:defRPr/>
              </a:pPr>
              <a:t>58</a:t>
            </a:fld>
            <a:endParaRPr lang="en-US" sz="1400" dirty="0">
              <a:solidFill>
                <a:schemeClr val="tx1"/>
              </a:solidFill>
              <a:latin typeface="Arial" pitchFamily="34" charset="0"/>
              <a:cs typeface="Arial" pitchFamily="34" charset="0"/>
            </a:endParaRPr>
          </a:p>
        </p:txBody>
      </p:sp>
      <p:sp>
        <p:nvSpPr>
          <p:cNvPr id="62469" name="Rectangle 2"/>
          <p:cNvSpPr>
            <a:spLocks noGrp="1" noChangeArrowheads="1"/>
          </p:cNvSpPr>
          <p:nvPr>
            <p:ph type="title" idx="4294967295"/>
          </p:nvPr>
        </p:nvSpPr>
        <p:spPr/>
        <p:txBody>
          <a:bodyPr/>
          <a:lstStyle/>
          <a:p>
            <a:r>
              <a:rPr lang="en-US"/>
              <a:t>Addition</a:t>
            </a:r>
          </a:p>
        </p:txBody>
      </p:sp>
      <p:sp>
        <p:nvSpPr>
          <p:cNvPr id="62470" name="Rectangle 3"/>
          <p:cNvSpPr>
            <a:spLocks noGrp="1" noChangeArrowheads="1"/>
          </p:cNvSpPr>
          <p:nvPr>
            <p:ph type="body" idx="4294967295"/>
          </p:nvPr>
        </p:nvSpPr>
        <p:spPr/>
        <p:txBody>
          <a:bodyPr/>
          <a:lstStyle/>
          <a:p>
            <a:r>
              <a:rPr lang="en-US"/>
              <a:t>Let </a:t>
            </a:r>
            <a:r>
              <a:rPr lang="en-US">
                <a:solidFill>
                  <a:schemeClr val="tx1"/>
                </a:solidFill>
              </a:rPr>
              <a:t>A</a:t>
            </a:r>
            <a:r>
              <a:rPr lang="en-US" baseline="-25000">
                <a:solidFill>
                  <a:schemeClr val="tx1"/>
                </a:solidFill>
              </a:rPr>
              <a:t>P</a:t>
            </a:r>
            <a:r>
              <a:rPr lang="en-US">
                <a:solidFill>
                  <a:schemeClr val="tx1"/>
                </a:solidFill>
              </a:rPr>
              <a:t>(n)</a:t>
            </a:r>
            <a:r>
              <a:rPr lang="en-US"/>
              <a:t> be running time </a:t>
            </a:r>
          </a:p>
          <a:p>
            <a:pPr lvl="1"/>
            <a:r>
              <a:rPr lang="en-US"/>
              <a:t>For </a:t>
            </a:r>
            <a:r>
              <a:rPr lang="en-US">
                <a:solidFill>
                  <a:schemeClr val="tx1"/>
                </a:solidFill>
              </a:rPr>
              <a:t>n x n</a:t>
            </a:r>
            <a:r>
              <a:rPr lang="en-US"/>
              <a:t> matrix</a:t>
            </a:r>
          </a:p>
          <a:p>
            <a:pPr lvl="1"/>
            <a:r>
              <a:rPr lang="en-US"/>
              <a:t>on </a:t>
            </a:r>
            <a:r>
              <a:rPr lang="en-US">
                <a:solidFill>
                  <a:schemeClr val="tx1"/>
                </a:solidFill>
              </a:rPr>
              <a:t>P</a:t>
            </a:r>
            <a:r>
              <a:rPr lang="en-US"/>
              <a:t> processors</a:t>
            </a:r>
          </a:p>
          <a:p>
            <a:r>
              <a:rPr lang="en-US"/>
              <a:t>For example</a:t>
            </a:r>
          </a:p>
          <a:p>
            <a:pPr lvl="1"/>
            <a:r>
              <a:rPr lang="en-US">
                <a:solidFill>
                  <a:schemeClr val="tx1"/>
                </a:solidFill>
              </a:rPr>
              <a:t>A</a:t>
            </a:r>
            <a:r>
              <a:rPr lang="en-US" baseline="-25000">
                <a:solidFill>
                  <a:schemeClr val="tx1"/>
                </a:solidFill>
              </a:rPr>
              <a:t>1</a:t>
            </a:r>
            <a:r>
              <a:rPr lang="en-US">
                <a:solidFill>
                  <a:schemeClr val="tx1"/>
                </a:solidFill>
              </a:rPr>
              <a:t>(n)</a:t>
            </a:r>
            <a:r>
              <a:rPr lang="en-US"/>
              <a:t> is work</a:t>
            </a:r>
          </a:p>
          <a:p>
            <a:pPr lvl="1"/>
            <a:r>
              <a:rPr lang="en-US">
                <a:solidFill>
                  <a:schemeClr val="tx1"/>
                </a:solidFill>
              </a:rPr>
              <a:t>A</a:t>
            </a:r>
            <a:r>
              <a:rPr lang="en-US" baseline="-25000">
                <a:solidFill>
                  <a:schemeClr val="tx1"/>
                </a:solidFill>
              </a:rPr>
              <a:t>∞</a:t>
            </a:r>
            <a:r>
              <a:rPr lang="en-US">
                <a:solidFill>
                  <a:schemeClr val="tx1"/>
                </a:solidFill>
              </a:rPr>
              <a:t>(n)</a:t>
            </a:r>
            <a:r>
              <a:rPr lang="en-US"/>
              <a:t> is critical path length</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1"/>
          <p:cNvSpPr>
            <a:spLocks noGrp="1"/>
          </p:cNvSpPr>
          <p:nvPr>
            <p:ph type="ftr" sz="quarter" idx="10"/>
          </p:nvPr>
        </p:nvSpPr>
        <p:spPr>
          <a:noFill/>
        </p:spPr>
        <p:txBody>
          <a:bodyPr/>
          <a:lstStyle/>
          <a:p>
            <a:r>
              <a:rPr lang="en-US"/>
              <a:t>Art of Multiprocessor Programming</a:t>
            </a:r>
          </a:p>
        </p:txBody>
      </p:sp>
      <p:sp>
        <p:nvSpPr>
          <p:cNvPr id="63491" name="Slide Number Placeholder 2"/>
          <p:cNvSpPr>
            <a:spLocks noGrp="1"/>
          </p:cNvSpPr>
          <p:nvPr>
            <p:ph type="sldNum" sz="quarter" idx="11"/>
          </p:nvPr>
        </p:nvSpPr>
        <p:spPr>
          <a:noFill/>
        </p:spPr>
        <p:txBody>
          <a:bodyPr/>
          <a:lstStyle/>
          <a:p>
            <a:fld id="{B9B035A9-48D9-42F8-99F1-7885D849578A}" type="slidenum">
              <a:rPr lang="x-none" smtClean="0"/>
              <a:pPr/>
              <a:t>59</a:t>
            </a:fld>
            <a:endParaRPr lang="en-US"/>
          </a:p>
        </p:txBody>
      </p:sp>
      <p:sp>
        <p:nvSpPr>
          <p:cNvPr id="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DC7C290-0A46-405A-BA21-74403514F12F}" type="slidenum">
              <a:rPr lang="x-none" sz="1400">
                <a:solidFill>
                  <a:schemeClr val="tx1"/>
                </a:solidFill>
                <a:latin typeface="Arial" pitchFamily="34" charset="0"/>
                <a:cs typeface="Arial" pitchFamily="34" charset="0"/>
              </a:rPr>
              <a:pPr>
                <a:defRPr/>
              </a:pPr>
              <a:t>59</a:t>
            </a:fld>
            <a:endParaRPr lang="en-US" sz="1400" dirty="0">
              <a:solidFill>
                <a:schemeClr val="tx1"/>
              </a:solidFill>
              <a:latin typeface="Arial" pitchFamily="34" charset="0"/>
              <a:cs typeface="Arial" pitchFamily="34" charset="0"/>
            </a:endParaRPr>
          </a:p>
        </p:txBody>
      </p:sp>
      <p:sp>
        <p:nvSpPr>
          <p:cNvPr id="63493" name="Rectangle 2"/>
          <p:cNvSpPr>
            <a:spLocks noGrp="1" noChangeArrowheads="1"/>
          </p:cNvSpPr>
          <p:nvPr>
            <p:ph type="title" idx="4294967295"/>
          </p:nvPr>
        </p:nvSpPr>
        <p:spPr/>
        <p:txBody>
          <a:bodyPr/>
          <a:lstStyle/>
          <a:p>
            <a:r>
              <a:rPr lang="en-US"/>
              <a:t>Addition</a:t>
            </a:r>
          </a:p>
        </p:txBody>
      </p:sp>
      <p:sp>
        <p:nvSpPr>
          <p:cNvPr id="63494" name="Rectangle 3"/>
          <p:cNvSpPr>
            <a:spLocks noGrp="1" noChangeArrowheads="1"/>
          </p:cNvSpPr>
          <p:nvPr>
            <p:ph type="body" idx="4294967295"/>
          </p:nvPr>
        </p:nvSpPr>
        <p:spPr/>
        <p:txBody>
          <a:bodyPr/>
          <a:lstStyle/>
          <a:p>
            <a:r>
              <a:rPr lang="en-US"/>
              <a:t>Work is</a:t>
            </a:r>
          </a:p>
          <a:p>
            <a:pPr lvl="1">
              <a:buFontTx/>
              <a:buNone/>
            </a:pPr>
            <a:endParaRPr lang="en-US"/>
          </a:p>
          <a:p>
            <a:pPr lvl="1">
              <a:buFontTx/>
              <a:buNone/>
            </a:pPr>
            <a:endParaRPr lang="en-US"/>
          </a:p>
          <a:p>
            <a:pPr lvl="1">
              <a:buFontTx/>
              <a:buNone/>
            </a:pPr>
            <a:r>
              <a:rPr lang="en-US"/>
              <a:t>		</a:t>
            </a:r>
            <a:r>
              <a:rPr lang="en-US">
                <a:solidFill>
                  <a:schemeClr val="tx1"/>
                </a:solidFill>
              </a:rPr>
              <a:t>A</a:t>
            </a:r>
            <a:r>
              <a:rPr lang="en-US" baseline="-25000">
                <a:solidFill>
                  <a:schemeClr val="tx1"/>
                </a:solidFill>
              </a:rPr>
              <a:t>1</a:t>
            </a:r>
            <a:r>
              <a:rPr lang="en-US">
                <a:solidFill>
                  <a:schemeClr val="tx1"/>
                </a:solidFill>
              </a:rPr>
              <a:t>(n) = 4 A</a:t>
            </a:r>
            <a:r>
              <a:rPr lang="en-US" baseline="-25000">
                <a:solidFill>
                  <a:schemeClr val="tx1"/>
                </a:solidFill>
              </a:rPr>
              <a:t>1</a:t>
            </a:r>
            <a:r>
              <a:rPr lang="en-US">
                <a:solidFill>
                  <a:schemeClr val="tx1"/>
                </a:solidFill>
              </a:rPr>
              <a:t>(n/2) + </a:t>
            </a:r>
            <a:r>
              <a:rPr lang="el-GR">
                <a:solidFill>
                  <a:schemeClr val="tx1"/>
                </a:solidFill>
              </a:rPr>
              <a:t>Θ</a:t>
            </a:r>
            <a:r>
              <a:rPr lang="en-US">
                <a:solidFill>
                  <a:schemeClr val="tx1"/>
                </a:solidFill>
              </a:rPr>
              <a:t>(1)</a:t>
            </a:r>
            <a:endParaRPr lang="el-GR">
              <a:solidFill>
                <a:schemeClr val="tx1"/>
              </a:solidFill>
            </a:endParaRPr>
          </a:p>
        </p:txBody>
      </p:sp>
      <p:sp>
        <p:nvSpPr>
          <p:cNvPr id="683012" name="AutoShape 4"/>
          <p:cNvSpPr>
            <a:spLocks noChangeArrowheads="1"/>
          </p:cNvSpPr>
          <p:nvPr/>
        </p:nvSpPr>
        <p:spPr bwMode="auto">
          <a:xfrm>
            <a:off x="2842591" y="3479800"/>
            <a:ext cx="1510748" cy="850900"/>
          </a:xfrm>
          <a:prstGeom prst="wedgeRoundRectCallout">
            <a:avLst>
              <a:gd name="adj1" fmla="val -51222"/>
              <a:gd name="adj2" fmla="val 86380"/>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83013" name="Text Box 5"/>
          <p:cNvSpPr txBox="1">
            <a:spLocks noChangeArrowheads="1"/>
          </p:cNvSpPr>
          <p:nvPr/>
        </p:nvSpPr>
        <p:spPr bwMode="auto">
          <a:xfrm>
            <a:off x="303213" y="4660900"/>
            <a:ext cx="3981450" cy="579438"/>
          </a:xfrm>
          <a:prstGeom prst="rect">
            <a:avLst/>
          </a:prstGeom>
          <a:noFill/>
          <a:ln w="38100" algn="ctr">
            <a:noFill/>
            <a:miter lim="800000"/>
            <a:headEnd/>
            <a:tailEnd/>
          </a:ln>
        </p:spPr>
        <p:txBody>
          <a:bodyPr wrap="none">
            <a:spAutoFit/>
          </a:bodyPr>
          <a:lstStyle/>
          <a:p>
            <a:pPr algn="ctr"/>
            <a:r>
              <a:rPr lang="en-US" sz="3200" dirty="0">
                <a:solidFill>
                  <a:srgbClr val="FF0000"/>
                </a:solidFill>
                <a:latin typeface="Arial" pitchFamily="34" charset="0"/>
              </a:rPr>
              <a:t>4 spawned additions</a:t>
            </a:r>
          </a:p>
        </p:txBody>
      </p:sp>
      <p:sp>
        <p:nvSpPr>
          <p:cNvPr id="683014" name="AutoShape 6"/>
          <p:cNvSpPr>
            <a:spLocks noChangeArrowheads="1"/>
          </p:cNvSpPr>
          <p:nvPr/>
        </p:nvSpPr>
        <p:spPr bwMode="auto">
          <a:xfrm>
            <a:off x="4633293" y="3479800"/>
            <a:ext cx="965200" cy="850900"/>
          </a:xfrm>
          <a:prstGeom prst="wedgeRoundRectCallout">
            <a:avLst>
              <a:gd name="adj1" fmla="val 84704"/>
              <a:gd name="adj2" fmla="val -130037"/>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83015" name="Text Box 7"/>
          <p:cNvSpPr txBox="1">
            <a:spLocks noChangeArrowheads="1"/>
          </p:cNvSpPr>
          <p:nvPr/>
        </p:nvSpPr>
        <p:spPr bwMode="auto">
          <a:xfrm>
            <a:off x="4181386" y="2209800"/>
            <a:ext cx="3760966" cy="584775"/>
          </a:xfrm>
          <a:prstGeom prst="rect">
            <a:avLst/>
          </a:prstGeom>
          <a:noFill/>
          <a:ln w="38100" algn="ctr">
            <a:noFill/>
            <a:miter lim="800000"/>
            <a:headEnd/>
            <a:tailEnd/>
          </a:ln>
        </p:spPr>
        <p:txBody>
          <a:bodyPr wrap="none">
            <a:spAutoFit/>
          </a:bodyPr>
          <a:lstStyle/>
          <a:p>
            <a:pPr algn="ctr"/>
            <a:r>
              <a:rPr lang="en-US" sz="3200" dirty="0">
                <a:solidFill>
                  <a:srgbClr val="FF0000"/>
                </a:solidFill>
                <a:latin typeface="Arial" pitchFamily="34" charset="0"/>
              </a:rPr>
              <a:t>Partition, synch, etc</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3012"/>
                                        </p:tgtEl>
                                        <p:attrNameLst>
                                          <p:attrName>style.visibility</p:attrName>
                                        </p:attrNameLst>
                                      </p:cBhvr>
                                      <p:to>
                                        <p:strVal val="visible"/>
                                      </p:to>
                                    </p:set>
                                    <p:animEffect transition="in" filter="blinds(horizontal)">
                                      <p:cBhvr>
                                        <p:cTn id="7" dur="500"/>
                                        <p:tgtEl>
                                          <p:spTgt spid="6830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3013"/>
                                        </p:tgtEl>
                                        <p:attrNameLst>
                                          <p:attrName>style.visibility</p:attrName>
                                        </p:attrNameLst>
                                      </p:cBhvr>
                                      <p:to>
                                        <p:strVal val="visible"/>
                                      </p:to>
                                    </p:set>
                                    <p:animEffect transition="in" filter="blinds(horizontal)">
                                      <p:cBhvr>
                                        <p:cTn id="10" dur="500"/>
                                        <p:tgtEl>
                                          <p:spTgt spid="6830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83014"/>
                                        </p:tgtEl>
                                        <p:attrNameLst>
                                          <p:attrName>style.visibility</p:attrName>
                                        </p:attrNameLst>
                                      </p:cBhvr>
                                      <p:to>
                                        <p:strVal val="visible"/>
                                      </p:to>
                                    </p:set>
                                    <p:animEffect transition="in" filter="blinds(horizontal)">
                                      <p:cBhvr>
                                        <p:cTn id="15" dur="500"/>
                                        <p:tgtEl>
                                          <p:spTgt spid="68301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83015"/>
                                        </p:tgtEl>
                                        <p:attrNameLst>
                                          <p:attrName>style.visibility</p:attrName>
                                        </p:attrNameLst>
                                      </p:cBhvr>
                                      <p:to>
                                        <p:strVal val="visible"/>
                                      </p:to>
                                    </p:set>
                                    <p:animEffect transition="in" filter="blinds(horizontal)">
                                      <p:cBhvr>
                                        <p:cTn id="18" dur="500"/>
                                        <p:tgtEl>
                                          <p:spTgt spid="68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3012" grpId="0" animBg="1"/>
      <p:bldP spid="683013" grpId="0"/>
      <p:bldP spid="683014" grpId="0" animBg="1"/>
      <p:bldP spid="6830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1"/>
          <p:cNvSpPr>
            <a:spLocks noGrp="1"/>
          </p:cNvSpPr>
          <p:nvPr>
            <p:ph type="ftr" sz="quarter" idx="10"/>
          </p:nvPr>
        </p:nvSpPr>
        <p:spPr>
          <a:noFill/>
        </p:spPr>
        <p:txBody>
          <a:bodyPr/>
          <a:lstStyle/>
          <a:p>
            <a:r>
              <a:rPr lang="en-US"/>
              <a:t>Art of Multiprocessor Programming</a:t>
            </a:r>
          </a:p>
        </p:txBody>
      </p:sp>
      <p:sp>
        <p:nvSpPr>
          <p:cNvPr id="64515" name="Slide Number Placeholder 2"/>
          <p:cNvSpPr>
            <a:spLocks noGrp="1"/>
          </p:cNvSpPr>
          <p:nvPr>
            <p:ph type="sldNum" sz="quarter" idx="11"/>
          </p:nvPr>
        </p:nvSpPr>
        <p:spPr>
          <a:noFill/>
        </p:spPr>
        <p:txBody>
          <a:bodyPr/>
          <a:lstStyle/>
          <a:p>
            <a:fld id="{C87065C7-6B7F-4B16-A2D9-561D88CDC185}" type="slidenum">
              <a:rPr lang="x-none" smtClean="0"/>
              <a:pPr/>
              <a:t>60</a:t>
            </a:fld>
            <a:endParaRPr lang="en-US"/>
          </a:p>
        </p:txBody>
      </p:sp>
      <p:sp>
        <p:nvSpPr>
          <p:cNvPr id="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F67C840-0BCB-4219-8AF2-25EB0731D3AB}" type="slidenum">
              <a:rPr lang="x-none" sz="1400">
                <a:solidFill>
                  <a:schemeClr val="tx1"/>
                </a:solidFill>
                <a:latin typeface="Arial" pitchFamily="34" charset="0"/>
                <a:cs typeface="Arial" pitchFamily="34" charset="0"/>
              </a:rPr>
              <a:pPr>
                <a:defRPr/>
              </a:pPr>
              <a:t>60</a:t>
            </a:fld>
            <a:endParaRPr lang="en-US" sz="1400" dirty="0">
              <a:solidFill>
                <a:schemeClr val="tx1"/>
              </a:solidFill>
              <a:latin typeface="Arial" pitchFamily="34" charset="0"/>
              <a:cs typeface="Arial" pitchFamily="34" charset="0"/>
            </a:endParaRPr>
          </a:p>
        </p:txBody>
      </p:sp>
      <p:sp>
        <p:nvSpPr>
          <p:cNvPr id="64517" name="Rectangle 2"/>
          <p:cNvSpPr>
            <a:spLocks noGrp="1" noChangeArrowheads="1"/>
          </p:cNvSpPr>
          <p:nvPr>
            <p:ph type="title" idx="4294967295"/>
          </p:nvPr>
        </p:nvSpPr>
        <p:spPr/>
        <p:txBody>
          <a:bodyPr/>
          <a:lstStyle/>
          <a:p>
            <a:r>
              <a:rPr lang="en-US"/>
              <a:t>Addition</a:t>
            </a:r>
          </a:p>
        </p:txBody>
      </p:sp>
      <p:sp>
        <p:nvSpPr>
          <p:cNvPr id="64518" name="Rectangle 3"/>
          <p:cNvSpPr>
            <a:spLocks noGrp="1" noChangeArrowheads="1"/>
          </p:cNvSpPr>
          <p:nvPr>
            <p:ph type="body" idx="4294967295"/>
          </p:nvPr>
        </p:nvSpPr>
        <p:spPr/>
        <p:txBody>
          <a:bodyPr/>
          <a:lstStyle/>
          <a:p>
            <a:r>
              <a:rPr lang="en-US"/>
              <a:t>Work is</a:t>
            </a:r>
          </a:p>
          <a:p>
            <a:pPr lvl="1">
              <a:buFontTx/>
              <a:buNone/>
            </a:pPr>
            <a:endParaRPr lang="en-US"/>
          </a:p>
          <a:p>
            <a:pPr lvl="1">
              <a:buFontTx/>
              <a:buNone/>
            </a:pPr>
            <a:r>
              <a:rPr lang="en-US"/>
              <a:t>		</a:t>
            </a:r>
            <a:r>
              <a:rPr lang="en-US">
                <a:solidFill>
                  <a:schemeClr val="tx1"/>
                </a:solidFill>
              </a:rPr>
              <a:t>A</a:t>
            </a:r>
            <a:r>
              <a:rPr lang="en-US" baseline="-25000">
                <a:solidFill>
                  <a:schemeClr val="tx1"/>
                </a:solidFill>
              </a:rPr>
              <a:t>1</a:t>
            </a:r>
            <a:r>
              <a:rPr lang="en-US">
                <a:solidFill>
                  <a:schemeClr val="tx1"/>
                </a:solidFill>
              </a:rPr>
              <a:t>(n) = 4 A</a:t>
            </a:r>
            <a:r>
              <a:rPr lang="en-US" baseline="-25000">
                <a:solidFill>
                  <a:schemeClr val="tx1"/>
                </a:solidFill>
              </a:rPr>
              <a:t>1</a:t>
            </a:r>
            <a:r>
              <a:rPr lang="en-US">
                <a:solidFill>
                  <a:schemeClr val="tx1"/>
                </a:solidFill>
              </a:rPr>
              <a:t>(n/2) + </a:t>
            </a:r>
            <a:r>
              <a:rPr lang="el-GR">
                <a:solidFill>
                  <a:schemeClr val="tx1"/>
                </a:solidFill>
              </a:rPr>
              <a:t>Θ</a:t>
            </a:r>
            <a:r>
              <a:rPr lang="en-US">
                <a:solidFill>
                  <a:schemeClr val="tx1"/>
                </a:solidFill>
              </a:rPr>
              <a:t>(1) </a:t>
            </a:r>
          </a:p>
          <a:p>
            <a:pPr lvl="1">
              <a:buFontTx/>
              <a:buNone/>
            </a:pPr>
            <a:r>
              <a:rPr lang="en-US">
                <a:solidFill>
                  <a:schemeClr val="tx1"/>
                </a:solidFill>
              </a:rPr>
              <a:t>		         = </a:t>
            </a:r>
            <a:r>
              <a:rPr lang="el-GR">
                <a:solidFill>
                  <a:schemeClr val="tx1"/>
                </a:solidFill>
              </a:rPr>
              <a:t>Θ</a:t>
            </a:r>
            <a:r>
              <a:rPr lang="en-US">
                <a:solidFill>
                  <a:schemeClr val="tx1"/>
                </a:solidFill>
              </a:rPr>
              <a:t>(n</a:t>
            </a:r>
            <a:r>
              <a:rPr lang="en-US" baseline="30000">
                <a:solidFill>
                  <a:schemeClr val="tx1"/>
                </a:solidFill>
              </a:rPr>
              <a:t>2</a:t>
            </a:r>
            <a:r>
              <a:rPr lang="en-US">
                <a:solidFill>
                  <a:schemeClr val="tx1"/>
                </a:solidFill>
              </a:rPr>
              <a:t>)</a:t>
            </a:r>
            <a:endParaRPr lang="el-GR">
              <a:solidFill>
                <a:schemeClr val="tx1"/>
              </a:solidFill>
            </a:endParaRPr>
          </a:p>
          <a:p>
            <a:pPr lvl="1">
              <a:buFontTx/>
              <a:buNone/>
            </a:pPr>
            <a:endParaRPr lang="el-GR">
              <a:solidFill>
                <a:schemeClr val="tx1"/>
              </a:solidFill>
            </a:endParaRPr>
          </a:p>
        </p:txBody>
      </p:sp>
      <p:sp>
        <p:nvSpPr>
          <p:cNvPr id="64519" name="Text Box 8"/>
          <p:cNvSpPr txBox="1">
            <a:spLocks noChangeArrowheads="1"/>
          </p:cNvSpPr>
          <p:nvPr/>
        </p:nvSpPr>
        <p:spPr bwMode="auto">
          <a:xfrm>
            <a:off x="646113" y="4635500"/>
            <a:ext cx="6134100" cy="579438"/>
          </a:xfrm>
          <a:prstGeom prst="rect">
            <a:avLst/>
          </a:prstGeom>
          <a:noFill/>
          <a:ln w="38100" algn="ctr">
            <a:noFill/>
            <a:miter lim="800000"/>
            <a:headEnd/>
            <a:tailEnd/>
          </a:ln>
        </p:spPr>
        <p:txBody>
          <a:bodyPr wrap="none">
            <a:spAutoFit/>
          </a:bodyPr>
          <a:lstStyle/>
          <a:p>
            <a:pPr algn="ctr"/>
            <a:r>
              <a:rPr lang="en-US" sz="3200" dirty="0">
                <a:latin typeface="Arial" pitchFamily="34" charset="0"/>
              </a:rPr>
              <a:t>Same as double-loop summation</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p:cNvSpPr>
            <a:spLocks noGrp="1"/>
          </p:cNvSpPr>
          <p:nvPr>
            <p:ph type="ftr" sz="quarter" idx="10"/>
          </p:nvPr>
        </p:nvSpPr>
        <p:spPr>
          <a:noFill/>
        </p:spPr>
        <p:txBody>
          <a:bodyPr/>
          <a:lstStyle/>
          <a:p>
            <a:r>
              <a:rPr lang="en-US"/>
              <a:t>Art of Multiprocessor Programming</a:t>
            </a:r>
          </a:p>
        </p:txBody>
      </p:sp>
      <p:sp>
        <p:nvSpPr>
          <p:cNvPr id="65539" name="Slide Number Placeholder 2"/>
          <p:cNvSpPr>
            <a:spLocks noGrp="1"/>
          </p:cNvSpPr>
          <p:nvPr>
            <p:ph type="sldNum" sz="quarter" idx="11"/>
          </p:nvPr>
        </p:nvSpPr>
        <p:spPr>
          <a:noFill/>
        </p:spPr>
        <p:txBody>
          <a:bodyPr/>
          <a:lstStyle/>
          <a:p>
            <a:fld id="{F00C80C6-73B8-4C42-AF68-C9547CA7347A}" type="slidenum">
              <a:rPr lang="x-none" smtClean="0"/>
              <a:pPr/>
              <a:t>61</a:t>
            </a:fld>
            <a:endParaRPr lang="en-US"/>
          </a:p>
        </p:txBody>
      </p:sp>
      <p:sp>
        <p:nvSpPr>
          <p:cNvPr id="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C12C7E5-B4D5-4C2B-AA49-11EC3AB7D29C}" type="slidenum">
              <a:rPr lang="x-none" sz="1400">
                <a:solidFill>
                  <a:schemeClr val="tx1"/>
                </a:solidFill>
                <a:latin typeface="Arial" pitchFamily="34" charset="0"/>
                <a:cs typeface="Arial" pitchFamily="34" charset="0"/>
              </a:rPr>
              <a:pPr>
                <a:defRPr/>
              </a:pPr>
              <a:t>61</a:t>
            </a:fld>
            <a:endParaRPr lang="en-US" sz="1400" dirty="0">
              <a:solidFill>
                <a:schemeClr val="tx1"/>
              </a:solidFill>
              <a:latin typeface="Arial" pitchFamily="34" charset="0"/>
              <a:cs typeface="Arial" pitchFamily="34" charset="0"/>
            </a:endParaRPr>
          </a:p>
        </p:txBody>
      </p:sp>
      <p:sp>
        <p:nvSpPr>
          <p:cNvPr id="65541" name="Rectangle 2"/>
          <p:cNvSpPr>
            <a:spLocks noGrp="1" noChangeArrowheads="1"/>
          </p:cNvSpPr>
          <p:nvPr>
            <p:ph type="title" idx="4294967295"/>
          </p:nvPr>
        </p:nvSpPr>
        <p:spPr/>
        <p:txBody>
          <a:bodyPr/>
          <a:lstStyle/>
          <a:p>
            <a:r>
              <a:rPr lang="en-US"/>
              <a:t>Addition</a:t>
            </a:r>
          </a:p>
        </p:txBody>
      </p:sp>
      <p:sp>
        <p:nvSpPr>
          <p:cNvPr id="65542" name="Rectangle 3"/>
          <p:cNvSpPr>
            <a:spLocks noGrp="1" noChangeArrowheads="1"/>
          </p:cNvSpPr>
          <p:nvPr>
            <p:ph type="body" idx="4294967295"/>
          </p:nvPr>
        </p:nvSpPr>
        <p:spPr/>
        <p:txBody>
          <a:bodyPr/>
          <a:lstStyle/>
          <a:p>
            <a:r>
              <a:rPr lang="en-US"/>
              <a:t>Critical Path length is</a:t>
            </a:r>
          </a:p>
          <a:p>
            <a:pPr lvl="1">
              <a:buFontTx/>
              <a:buNone/>
            </a:pPr>
            <a:endParaRPr lang="en-US"/>
          </a:p>
          <a:p>
            <a:pPr lvl="1">
              <a:buFontTx/>
              <a:buNone/>
            </a:pPr>
            <a:endParaRPr lang="en-US"/>
          </a:p>
          <a:p>
            <a:pPr lvl="1">
              <a:buFontTx/>
              <a:buNone/>
            </a:pPr>
            <a:r>
              <a:rPr lang="en-US"/>
              <a:t>		</a:t>
            </a:r>
            <a:r>
              <a:rPr lang="en-US">
                <a:solidFill>
                  <a:schemeClr val="tx1"/>
                </a:solidFill>
              </a:rPr>
              <a:t>A</a:t>
            </a:r>
            <a:r>
              <a:rPr lang="en-US" baseline="-25000">
                <a:solidFill>
                  <a:schemeClr val="tx1"/>
                </a:solidFill>
              </a:rPr>
              <a:t>∞</a:t>
            </a:r>
            <a:r>
              <a:rPr lang="en-US">
                <a:solidFill>
                  <a:schemeClr val="tx1"/>
                </a:solidFill>
              </a:rPr>
              <a:t>(n) = A</a:t>
            </a:r>
            <a:r>
              <a:rPr lang="en-US" baseline="-25000">
                <a:solidFill>
                  <a:schemeClr val="tx1"/>
                </a:solidFill>
              </a:rPr>
              <a:t>∞</a:t>
            </a:r>
            <a:r>
              <a:rPr lang="en-US">
                <a:solidFill>
                  <a:schemeClr val="tx1"/>
                </a:solidFill>
              </a:rPr>
              <a:t>(n/2) + </a:t>
            </a:r>
            <a:r>
              <a:rPr lang="el-GR">
                <a:solidFill>
                  <a:schemeClr val="tx1"/>
                </a:solidFill>
              </a:rPr>
              <a:t>Θ</a:t>
            </a:r>
            <a:r>
              <a:rPr lang="en-US">
                <a:solidFill>
                  <a:schemeClr val="tx1"/>
                </a:solidFill>
              </a:rPr>
              <a:t>(1)</a:t>
            </a:r>
            <a:endParaRPr lang="el-GR">
              <a:solidFill>
                <a:schemeClr val="tx1"/>
              </a:solidFill>
            </a:endParaRPr>
          </a:p>
        </p:txBody>
      </p:sp>
      <p:sp>
        <p:nvSpPr>
          <p:cNvPr id="690180" name="AutoShape 4"/>
          <p:cNvSpPr>
            <a:spLocks noChangeArrowheads="1"/>
          </p:cNvSpPr>
          <p:nvPr/>
        </p:nvSpPr>
        <p:spPr bwMode="auto">
          <a:xfrm>
            <a:off x="2882349" y="3479800"/>
            <a:ext cx="1212574" cy="850900"/>
          </a:xfrm>
          <a:prstGeom prst="wedgeRoundRectCallout">
            <a:avLst>
              <a:gd name="adj1" fmla="val -58370"/>
              <a:gd name="adj2" fmla="val 86380"/>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90181" name="Text Box 5"/>
          <p:cNvSpPr txBox="1">
            <a:spLocks noChangeArrowheads="1"/>
          </p:cNvSpPr>
          <p:nvPr/>
        </p:nvSpPr>
        <p:spPr bwMode="auto">
          <a:xfrm>
            <a:off x="847725" y="4724400"/>
            <a:ext cx="4157663" cy="1066800"/>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spawned additions in parallel</a:t>
            </a:r>
          </a:p>
        </p:txBody>
      </p:sp>
      <p:sp>
        <p:nvSpPr>
          <p:cNvPr id="690182" name="AutoShape 6"/>
          <p:cNvSpPr>
            <a:spLocks noChangeArrowheads="1"/>
          </p:cNvSpPr>
          <p:nvPr/>
        </p:nvSpPr>
        <p:spPr bwMode="auto">
          <a:xfrm>
            <a:off x="4354140" y="3479800"/>
            <a:ext cx="965200" cy="850900"/>
          </a:xfrm>
          <a:prstGeom prst="wedgeRoundRectCallout">
            <a:avLst>
              <a:gd name="adj1" fmla="val 141282"/>
              <a:gd name="adj2" fmla="val 161009"/>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90183" name="Text Box 7"/>
          <p:cNvSpPr txBox="1">
            <a:spLocks noChangeArrowheads="1"/>
          </p:cNvSpPr>
          <p:nvPr/>
        </p:nvSpPr>
        <p:spPr bwMode="auto">
          <a:xfrm>
            <a:off x="4968786" y="5486400"/>
            <a:ext cx="3760966" cy="584775"/>
          </a:xfrm>
          <a:prstGeom prst="rect">
            <a:avLst/>
          </a:prstGeom>
          <a:noFill/>
          <a:ln w="38100" algn="ctr">
            <a:noFill/>
            <a:miter lim="800000"/>
            <a:headEnd/>
            <a:tailEnd/>
          </a:ln>
        </p:spPr>
        <p:txBody>
          <a:bodyPr wrap="none">
            <a:spAutoFit/>
          </a:bodyPr>
          <a:lstStyle/>
          <a:p>
            <a:pPr algn="ctr"/>
            <a:r>
              <a:rPr lang="en-US" sz="3200" dirty="0">
                <a:solidFill>
                  <a:srgbClr val="FF0000"/>
                </a:solidFill>
                <a:latin typeface="Arial" pitchFamily="34" charset="0"/>
              </a:rPr>
              <a:t>Partition, synch, etc</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0180"/>
                                        </p:tgtEl>
                                        <p:attrNameLst>
                                          <p:attrName>style.visibility</p:attrName>
                                        </p:attrNameLst>
                                      </p:cBhvr>
                                      <p:to>
                                        <p:strVal val="visible"/>
                                      </p:to>
                                    </p:set>
                                    <p:animEffect transition="in" filter="blinds(horizontal)">
                                      <p:cBhvr>
                                        <p:cTn id="7" dur="500"/>
                                        <p:tgtEl>
                                          <p:spTgt spid="69018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90181"/>
                                        </p:tgtEl>
                                        <p:attrNameLst>
                                          <p:attrName>style.visibility</p:attrName>
                                        </p:attrNameLst>
                                      </p:cBhvr>
                                      <p:to>
                                        <p:strVal val="visible"/>
                                      </p:to>
                                    </p:set>
                                    <p:animEffect transition="in" filter="blinds(horizontal)">
                                      <p:cBhvr>
                                        <p:cTn id="10" dur="500"/>
                                        <p:tgtEl>
                                          <p:spTgt spid="69018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90182"/>
                                        </p:tgtEl>
                                        <p:attrNameLst>
                                          <p:attrName>style.visibility</p:attrName>
                                        </p:attrNameLst>
                                      </p:cBhvr>
                                      <p:to>
                                        <p:strVal val="visible"/>
                                      </p:to>
                                    </p:set>
                                    <p:animEffect transition="in" filter="blinds(horizontal)">
                                      <p:cBhvr>
                                        <p:cTn id="15" dur="500"/>
                                        <p:tgtEl>
                                          <p:spTgt spid="69018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90183"/>
                                        </p:tgtEl>
                                        <p:attrNameLst>
                                          <p:attrName>style.visibility</p:attrName>
                                        </p:attrNameLst>
                                      </p:cBhvr>
                                      <p:to>
                                        <p:strVal val="visible"/>
                                      </p:to>
                                    </p:set>
                                    <p:animEffect transition="in" filter="blinds(horizontal)">
                                      <p:cBhvr>
                                        <p:cTn id="18" dur="500"/>
                                        <p:tgtEl>
                                          <p:spTgt spid="69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0" grpId="0" animBg="1"/>
      <p:bldP spid="690181" grpId="0"/>
      <p:bldP spid="690182" grpId="0" animBg="1"/>
      <p:bldP spid="69018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1"/>
          <p:cNvSpPr>
            <a:spLocks noGrp="1"/>
          </p:cNvSpPr>
          <p:nvPr>
            <p:ph type="ftr" sz="quarter" idx="10"/>
          </p:nvPr>
        </p:nvSpPr>
        <p:spPr>
          <a:noFill/>
        </p:spPr>
        <p:txBody>
          <a:bodyPr/>
          <a:lstStyle/>
          <a:p>
            <a:r>
              <a:rPr lang="en-US"/>
              <a:t>Art of Multiprocessor Programming</a:t>
            </a:r>
          </a:p>
        </p:txBody>
      </p:sp>
      <p:sp>
        <p:nvSpPr>
          <p:cNvPr id="66563" name="Slide Number Placeholder 2"/>
          <p:cNvSpPr>
            <a:spLocks noGrp="1"/>
          </p:cNvSpPr>
          <p:nvPr>
            <p:ph type="sldNum" sz="quarter" idx="11"/>
          </p:nvPr>
        </p:nvSpPr>
        <p:spPr>
          <a:noFill/>
        </p:spPr>
        <p:txBody>
          <a:bodyPr/>
          <a:lstStyle/>
          <a:p>
            <a:fld id="{8784C2C7-109B-4D43-9EE6-D0560C0A523D}" type="slidenum">
              <a:rPr lang="x-none" smtClean="0"/>
              <a:pPr/>
              <a:t>62</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65D0E4A-3AD5-4D2F-82CE-AD023C8AB617}" type="slidenum">
              <a:rPr lang="x-none" sz="1400">
                <a:solidFill>
                  <a:schemeClr val="tx1"/>
                </a:solidFill>
                <a:latin typeface="Arial" pitchFamily="34" charset="0"/>
                <a:cs typeface="Arial" pitchFamily="34" charset="0"/>
              </a:rPr>
              <a:pPr>
                <a:defRPr/>
              </a:pPr>
              <a:t>62</a:t>
            </a:fld>
            <a:endParaRPr lang="en-US" sz="1400" dirty="0">
              <a:solidFill>
                <a:schemeClr val="tx1"/>
              </a:solidFill>
              <a:latin typeface="Arial" pitchFamily="34" charset="0"/>
              <a:cs typeface="Arial" pitchFamily="34" charset="0"/>
            </a:endParaRPr>
          </a:p>
        </p:txBody>
      </p:sp>
      <p:sp>
        <p:nvSpPr>
          <p:cNvPr id="66565" name="Rectangle 2"/>
          <p:cNvSpPr>
            <a:spLocks noGrp="1" noChangeArrowheads="1"/>
          </p:cNvSpPr>
          <p:nvPr>
            <p:ph type="title" idx="4294967295"/>
          </p:nvPr>
        </p:nvSpPr>
        <p:spPr/>
        <p:txBody>
          <a:bodyPr/>
          <a:lstStyle/>
          <a:p>
            <a:r>
              <a:rPr lang="en-US"/>
              <a:t>Addition</a:t>
            </a:r>
          </a:p>
        </p:txBody>
      </p:sp>
      <p:sp>
        <p:nvSpPr>
          <p:cNvPr id="66566" name="Rectangle 3"/>
          <p:cNvSpPr>
            <a:spLocks noGrp="1" noChangeArrowheads="1"/>
          </p:cNvSpPr>
          <p:nvPr>
            <p:ph type="body" idx="4294967295"/>
          </p:nvPr>
        </p:nvSpPr>
        <p:spPr/>
        <p:txBody>
          <a:bodyPr/>
          <a:lstStyle/>
          <a:p>
            <a:r>
              <a:rPr lang="en-US"/>
              <a:t>Critical Path length is</a:t>
            </a:r>
          </a:p>
          <a:p>
            <a:pPr lvl="1">
              <a:buFontTx/>
              <a:buNone/>
            </a:pPr>
            <a:endParaRPr lang="en-US"/>
          </a:p>
          <a:p>
            <a:pPr lvl="1">
              <a:buFontTx/>
              <a:buNone/>
            </a:pPr>
            <a:endParaRPr lang="en-US"/>
          </a:p>
          <a:p>
            <a:pPr lvl="1">
              <a:buFontTx/>
              <a:buNone/>
            </a:pPr>
            <a:r>
              <a:rPr lang="en-US"/>
              <a:t>		</a:t>
            </a:r>
            <a:r>
              <a:rPr lang="en-US">
                <a:solidFill>
                  <a:schemeClr val="tx1"/>
                </a:solidFill>
              </a:rPr>
              <a:t>A</a:t>
            </a:r>
            <a:r>
              <a:rPr lang="en-US" baseline="-25000">
                <a:solidFill>
                  <a:schemeClr val="tx1"/>
                </a:solidFill>
              </a:rPr>
              <a:t>∞</a:t>
            </a:r>
            <a:r>
              <a:rPr lang="en-US">
                <a:solidFill>
                  <a:schemeClr val="tx1"/>
                </a:solidFill>
              </a:rPr>
              <a:t>(n) = A</a:t>
            </a:r>
            <a:r>
              <a:rPr lang="en-US" baseline="-25000">
                <a:solidFill>
                  <a:schemeClr val="tx1"/>
                </a:solidFill>
              </a:rPr>
              <a:t>∞</a:t>
            </a:r>
            <a:r>
              <a:rPr lang="en-US">
                <a:solidFill>
                  <a:schemeClr val="tx1"/>
                </a:solidFill>
              </a:rPr>
              <a:t>(n/2) + </a:t>
            </a:r>
            <a:r>
              <a:rPr lang="el-GR">
                <a:solidFill>
                  <a:schemeClr val="tx1"/>
                </a:solidFill>
              </a:rPr>
              <a:t>Θ</a:t>
            </a:r>
            <a:r>
              <a:rPr lang="en-US">
                <a:solidFill>
                  <a:schemeClr val="tx1"/>
                </a:solidFill>
              </a:rPr>
              <a:t>(1) </a:t>
            </a:r>
          </a:p>
          <a:p>
            <a:pPr lvl="1">
              <a:buFontTx/>
              <a:buNone/>
            </a:pPr>
            <a:r>
              <a:rPr lang="en-US">
                <a:solidFill>
                  <a:schemeClr val="tx1"/>
                </a:solidFill>
              </a:rPr>
              <a:t>              = </a:t>
            </a:r>
            <a:r>
              <a:rPr lang="el-GR">
                <a:solidFill>
                  <a:schemeClr val="tx1"/>
                </a:solidFill>
              </a:rPr>
              <a:t>Θ</a:t>
            </a:r>
            <a:r>
              <a:rPr lang="en-US">
                <a:solidFill>
                  <a:schemeClr val="tx1"/>
                </a:solidFill>
              </a:rPr>
              <a:t>(log n)</a:t>
            </a:r>
            <a:endParaRPr lang="el-GR">
              <a:solidFill>
                <a:schemeClr val="tx1"/>
              </a:solidFill>
            </a:endParaRPr>
          </a:p>
          <a:p>
            <a:pPr lvl="1">
              <a:buFontTx/>
              <a:buNone/>
            </a:pPr>
            <a:endParaRPr lang="el-GR">
              <a:solidFill>
                <a:schemeClr val="tx1"/>
              </a:solidFill>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Footer Placeholder 1"/>
          <p:cNvSpPr>
            <a:spLocks noGrp="1"/>
          </p:cNvSpPr>
          <p:nvPr>
            <p:ph type="ftr" sz="quarter" idx="10"/>
          </p:nvPr>
        </p:nvSpPr>
        <p:spPr>
          <a:noFill/>
        </p:spPr>
        <p:txBody>
          <a:bodyPr/>
          <a:lstStyle/>
          <a:p>
            <a:r>
              <a:rPr lang="en-US"/>
              <a:t>Art of Multiprocessor Programming</a:t>
            </a:r>
          </a:p>
        </p:txBody>
      </p:sp>
      <p:sp>
        <p:nvSpPr>
          <p:cNvPr id="6148" name="Slide Number Placeholder 2"/>
          <p:cNvSpPr>
            <a:spLocks noGrp="1"/>
          </p:cNvSpPr>
          <p:nvPr>
            <p:ph type="sldNum" sz="quarter" idx="11"/>
          </p:nvPr>
        </p:nvSpPr>
        <p:spPr>
          <a:noFill/>
        </p:spPr>
        <p:txBody>
          <a:bodyPr/>
          <a:lstStyle/>
          <a:p>
            <a:fld id="{B1C00C4B-7D80-44E5-B5DC-0C4F48472D52}" type="slidenum">
              <a:rPr lang="x-none" smtClean="0"/>
              <a:pPr/>
              <a:t>63</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8242DB61-0EED-475E-B9EB-7910F4EC9AD8}" type="slidenum">
              <a:rPr lang="x-none" sz="1400">
                <a:solidFill>
                  <a:schemeClr val="tx1"/>
                </a:solidFill>
                <a:latin typeface="Arial" pitchFamily="34" charset="0"/>
                <a:cs typeface="Arial" pitchFamily="34" charset="0"/>
              </a:rPr>
              <a:pPr>
                <a:defRPr/>
              </a:pPr>
              <a:t>63</a:t>
            </a:fld>
            <a:endParaRPr lang="en-US" sz="1400" dirty="0">
              <a:solidFill>
                <a:schemeClr val="tx1"/>
              </a:solidFill>
              <a:latin typeface="Arial" pitchFamily="34" charset="0"/>
              <a:cs typeface="Arial" pitchFamily="34" charset="0"/>
            </a:endParaRPr>
          </a:p>
        </p:txBody>
      </p:sp>
      <p:sp>
        <p:nvSpPr>
          <p:cNvPr id="6150" name="Rectangle 2"/>
          <p:cNvSpPr>
            <a:spLocks noGrp="1" noChangeArrowheads="1"/>
          </p:cNvSpPr>
          <p:nvPr>
            <p:ph type="title" idx="4294967295"/>
          </p:nvPr>
        </p:nvSpPr>
        <p:spPr/>
        <p:txBody>
          <a:bodyPr/>
          <a:lstStyle/>
          <a:p>
            <a:r>
              <a:rPr lang="en-US"/>
              <a:t>Matrix Multiplication Redux</a:t>
            </a:r>
          </a:p>
        </p:txBody>
      </p:sp>
      <p:graphicFrame>
        <p:nvGraphicFramePr>
          <p:cNvPr id="6146" name="Object 3"/>
          <p:cNvGraphicFramePr>
            <a:graphicFrameLocks noGrp="1" noChangeAspect="1"/>
          </p:cNvGraphicFramePr>
          <p:nvPr>
            <p:ph idx="4294967295"/>
          </p:nvPr>
        </p:nvGraphicFramePr>
        <p:xfrm>
          <a:off x="1789113" y="3122613"/>
          <a:ext cx="4954587" cy="1169987"/>
        </p:xfrm>
        <a:graphic>
          <a:graphicData uri="http://schemas.openxmlformats.org/presentationml/2006/ole">
            <mc:AlternateContent xmlns:mc="http://schemas.openxmlformats.org/markup-compatibility/2006">
              <mc:Choice xmlns:v="urn:schemas-microsoft-com:vml" Requires="v">
                <p:oleObj spid="_x0000_s168986" name="Equation" r:id="rId4" imgW="913849" imgH="215931" progId="Equation.3">
                  <p:embed/>
                </p:oleObj>
              </mc:Choice>
              <mc:Fallback>
                <p:oleObj name="Equation" r:id="rId4" imgW="913849" imgH="215931" progId="Equation.3">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9113" y="3122613"/>
                        <a:ext cx="4954587" cy="1169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1"/>
          <p:cNvSpPr>
            <a:spLocks noGrp="1"/>
          </p:cNvSpPr>
          <p:nvPr>
            <p:ph type="ftr" sz="quarter" idx="10"/>
          </p:nvPr>
        </p:nvSpPr>
        <p:spPr>
          <a:noFill/>
        </p:spPr>
        <p:txBody>
          <a:bodyPr/>
          <a:lstStyle/>
          <a:p>
            <a:r>
              <a:rPr lang="en-US"/>
              <a:t>Art of Multiprocessor Programming</a:t>
            </a:r>
          </a:p>
        </p:txBody>
      </p:sp>
      <p:sp>
        <p:nvSpPr>
          <p:cNvPr id="7172" name="Slide Number Placeholder 2"/>
          <p:cNvSpPr>
            <a:spLocks noGrp="1"/>
          </p:cNvSpPr>
          <p:nvPr>
            <p:ph type="sldNum" sz="quarter" idx="11"/>
          </p:nvPr>
        </p:nvSpPr>
        <p:spPr>
          <a:noFill/>
        </p:spPr>
        <p:txBody>
          <a:bodyPr/>
          <a:lstStyle/>
          <a:p>
            <a:fld id="{CEC973FF-CFDB-4AD6-A0D5-815AFF5ACA8B}" type="slidenum">
              <a:rPr lang="x-none" smtClean="0"/>
              <a:pPr/>
              <a:t>64</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EE57227-3458-4E3A-8D4E-C1FA0165DAEF}" type="slidenum">
              <a:rPr lang="x-none" sz="1400">
                <a:solidFill>
                  <a:schemeClr val="tx1"/>
                </a:solidFill>
                <a:latin typeface="Arial" pitchFamily="34" charset="0"/>
                <a:cs typeface="Arial" pitchFamily="34" charset="0"/>
              </a:rPr>
              <a:pPr>
                <a:defRPr/>
              </a:pPr>
              <a:t>64</a:t>
            </a:fld>
            <a:endParaRPr lang="en-US" sz="1400" dirty="0">
              <a:solidFill>
                <a:schemeClr val="tx1"/>
              </a:solidFill>
              <a:latin typeface="Arial" pitchFamily="34" charset="0"/>
              <a:cs typeface="Arial" pitchFamily="34" charset="0"/>
            </a:endParaRPr>
          </a:p>
        </p:txBody>
      </p:sp>
      <p:sp>
        <p:nvSpPr>
          <p:cNvPr id="7174" name="Rectangle 2"/>
          <p:cNvSpPr>
            <a:spLocks noGrp="1" noChangeArrowheads="1"/>
          </p:cNvSpPr>
          <p:nvPr>
            <p:ph type="title" idx="4294967295"/>
          </p:nvPr>
        </p:nvSpPr>
        <p:spPr/>
        <p:txBody>
          <a:bodyPr/>
          <a:lstStyle/>
          <a:p>
            <a:r>
              <a:rPr lang="en-US"/>
              <a:t>Matrix Multiplication Redux</a:t>
            </a:r>
          </a:p>
        </p:txBody>
      </p:sp>
      <p:graphicFrame>
        <p:nvGraphicFramePr>
          <p:cNvPr id="7170" name="Object 3"/>
          <p:cNvGraphicFramePr>
            <a:graphicFrameLocks noGrp="1" noChangeAspect="1"/>
          </p:cNvGraphicFramePr>
          <p:nvPr>
            <p:ph idx="4294967295"/>
          </p:nvPr>
        </p:nvGraphicFramePr>
        <p:xfrm>
          <a:off x="1311275" y="3122613"/>
          <a:ext cx="5911850" cy="1169987"/>
        </p:xfrm>
        <a:graphic>
          <a:graphicData uri="http://schemas.openxmlformats.org/presentationml/2006/ole">
            <mc:AlternateContent xmlns:mc="http://schemas.openxmlformats.org/markup-compatibility/2006">
              <mc:Choice xmlns:v="urn:schemas-microsoft-com:vml" Requires="v">
                <p:oleObj spid="_x0000_s170010" name="Equation" r:id="rId4" imgW="2437849" imgH="482278" progId="Equation.3">
                  <p:embed/>
                </p:oleObj>
              </mc:Choice>
              <mc:Fallback>
                <p:oleObj name="Equation" r:id="rId4" imgW="2437849" imgH="482278" progId="Equation.3">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1275" y="3122613"/>
                        <a:ext cx="5911850" cy="1169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1"/>
          <p:cNvSpPr>
            <a:spLocks noGrp="1"/>
          </p:cNvSpPr>
          <p:nvPr>
            <p:ph type="ftr" sz="quarter" idx="10"/>
          </p:nvPr>
        </p:nvSpPr>
        <p:spPr>
          <a:noFill/>
        </p:spPr>
        <p:txBody>
          <a:bodyPr/>
          <a:lstStyle/>
          <a:p>
            <a:r>
              <a:rPr lang="en-US"/>
              <a:t>Art of Multiprocessor Programming</a:t>
            </a:r>
          </a:p>
        </p:txBody>
      </p:sp>
      <p:sp>
        <p:nvSpPr>
          <p:cNvPr id="8196" name="Slide Number Placeholder 2"/>
          <p:cNvSpPr>
            <a:spLocks noGrp="1"/>
          </p:cNvSpPr>
          <p:nvPr>
            <p:ph type="sldNum" sz="quarter" idx="11"/>
          </p:nvPr>
        </p:nvSpPr>
        <p:spPr>
          <a:noFill/>
        </p:spPr>
        <p:txBody>
          <a:bodyPr/>
          <a:lstStyle/>
          <a:p>
            <a:fld id="{7916D3BF-6901-4CF5-8687-E5F43BEED857}" type="slidenum">
              <a:rPr lang="x-none" smtClean="0"/>
              <a:pPr/>
              <a:t>65</a:t>
            </a:fld>
            <a:endParaRPr lang="en-US"/>
          </a:p>
        </p:txBody>
      </p:sp>
      <p:sp>
        <p:nvSpPr>
          <p:cNvPr id="14"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4363AAB-2F32-49EE-AF6F-BA32982DB40D}" type="slidenum">
              <a:rPr lang="x-none" sz="1400">
                <a:solidFill>
                  <a:schemeClr val="tx1"/>
                </a:solidFill>
                <a:latin typeface="Arial" pitchFamily="34" charset="0"/>
                <a:cs typeface="Arial" pitchFamily="34" charset="0"/>
              </a:rPr>
              <a:pPr>
                <a:defRPr/>
              </a:pPr>
              <a:t>65</a:t>
            </a:fld>
            <a:endParaRPr lang="en-US" sz="1400" dirty="0">
              <a:solidFill>
                <a:schemeClr val="tx1"/>
              </a:solidFill>
              <a:latin typeface="Arial" pitchFamily="34" charset="0"/>
              <a:cs typeface="Arial" pitchFamily="34" charset="0"/>
            </a:endParaRPr>
          </a:p>
        </p:txBody>
      </p:sp>
      <p:sp>
        <p:nvSpPr>
          <p:cNvPr id="8198" name="AutoShape 2"/>
          <p:cNvSpPr>
            <a:spLocks noChangeArrowheads="1"/>
          </p:cNvSpPr>
          <p:nvPr/>
        </p:nvSpPr>
        <p:spPr bwMode="auto">
          <a:xfrm>
            <a:off x="7154592" y="2743200"/>
            <a:ext cx="1066800" cy="444500"/>
          </a:xfrm>
          <a:prstGeom prst="wedgeRoundRectCallout">
            <a:avLst>
              <a:gd name="adj1" fmla="val -137796"/>
              <a:gd name="adj2" fmla="val 47071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199" name="AutoShape 3"/>
          <p:cNvSpPr>
            <a:spLocks noChangeArrowheads="1"/>
          </p:cNvSpPr>
          <p:nvPr/>
        </p:nvSpPr>
        <p:spPr bwMode="auto">
          <a:xfrm>
            <a:off x="7141892" y="3340100"/>
            <a:ext cx="1066800" cy="444500"/>
          </a:xfrm>
          <a:prstGeom prst="wedgeRoundRectCallout">
            <a:avLst>
              <a:gd name="adj1" fmla="val -133037"/>
              <a:gd name="adj2" fmla="val 330713"/>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0" name="AutoShape 4"/>
          <p:cNvSpPr>
            <a:spLocks noChangeArrowheads="1"/>
          </p:cNvSpPr>
          <p:nvPr/>
        </p:nvSpPr>
        <p:spPr bwMode="auto">
          <a:xfrm>
            <a:off x="5696828" y="2755900"/>
            <a:ext cx="1066800" cy="444500"/>
          </a:xfrm>
          <a:prstGeom prst="wedgeRoundRectCallout">
            <a:avLst>
              <a:gd name="adj1" fmla="val -63986"/>
              <a:gd name="adj2" fmla="val 47071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1" name="AutoShape 5"/>
          <p:cNvSpPr>
            <a:spLocks noChangeArrowheads="1"/>
          </p:cNvSpPr>
          <p:nvPr/>
        </p:nvSpPr>
        <p:spPr bwMode="auto">
          <a:xfrm>
            <a:off x="5709528" y="3327400"/>
            <a:ext cx="1066800" cy="444500"/>
          </a:xfrm>
          <a:prstGeom prst="wedgeRoundRectCallout">
            <a:avLst>
              <a:gd name="adj1" fmla="val -60417"/>
              <a:gd name="adj2" fmla="val 327856"/>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2" name="AutoShape 6"/>
          <p:cNvSpPr>
            <a:spLocks noChangeArrowheads="1"/>
          </p:cNvSpPr>
          <p:nvPr/>
        </p:nvSpPr>
        <p:spPr bwMode="auto">
          <a:xfrm>
            <a:off x="4363328" y="2768600"/>
            <a:ext cx="1066800" cy="444500"/>
          </a:xfrm>
          <a:prstGeom prst="wedgeRoundRectCallout">
            <a:avLst>
              <a:gd name="adj1" fmla="val -19940"/>
              <a:gd name="adj2" fmla="val 470713"/>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3" name="AutoShape 7"/>
          <p:cNvSpPr>
            <a:spLocks noChangeArrowheads="1"/>
          </p:cNvSpPr>
          <p:nvPr/>
        </p:nvSpPr>
        <p:spPr bwMode="auto">
          <a:xfrm>
            <a:off x="4414128" y="3327400"/>
            <a:ext cx="1066800" cy="444500"/>
          </a:xfrm>
          <a:prstGeom prst="wedgeRoundRectCallout">
            <a:avLst>
              <a:gd name="adj1" fmla="val -22319"/>
              <a:gd name="adj2" fmla="val 336431"/>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4" name="AutoShape 8"/>
          <p:cNvSpPr>
            <a:spLocks noChangeArrowheads="1"/>
          </p:cNvSpPr>
          <p:nvPr/>
        </p:nvSpPr>
        <p:spPr bwMode="auto">
          <a:xfrm>
            <a:off x="2988604" y="2809436"/>
            <a:ext cx="1066800" cy="444500"/>
          </a:xfrm>
          <a:prstGeom prst="wedgeRoundRectCallout">
            <a:avLst>
              <a:gd name="adj1" fmla="val 76486"/>
              <a:gd name="adj2" fmla="val 456431"/>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5" name="AutoShape 9"/>
          <p:cNvSpPr>
            <a:spLocks noChangeArrowheads="1"/>
          </p:cNvSpPr>
          <p:nvPr/>
        </p:nvSpPr>
        <p:spPr bwMode="auto">
          <a:xfrm>
            <a:off x="3039404" y="3304736"/>
            <a:ext cx="1066800" cy="444500"/>
          </a:xfrm>
          <a:prstGeom prst="wedgeRoundRectCallout">
            <a:avLst>
              <a:gd name="adj1" fmla="val 70537"/>
              <a:gd name="adj2" fmla="val 339287"/>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8206" name="Rectangle 10"/>
          <p:cNvSpPr>
            <a:spLocks noGrp="1" noChangeArrowheads="1"/>
          </p:cNvSpPr>
          <p:nvPr>
            <p:ph type="title" idx="4294967295"/>
          </p:nvPr>
        </p:nvSpPr>
        <p:spPr/>
        <p:txBody>
          <a:bodyPr/>
          <a:lstStyle/>
          <a:p>
            <a:r>
              <a:rPr lang="en-US"/>
              <a:t>First Phase …</a:t>
            </a:r>
          </a:p>
        </p:txBody>
      </p:sp>
      <p:graphicFrame>
        <p:nvGraphicFramePr>
          <p:cNvPr id="8194" name="Object 11"/>
          <p:cNvGraphicFramePr>
            <a:graphicFrameLocks noGrp="1" noChangeAspect="1"/>
          </p:cNvGraphicFramePr>
          <p:nvPr>
            <p:ph idx="4294967295"/>
          </p:nvPr>
        </p:nvGraphicFramePr>
        <p:xfrm>
          <a:off x="738188" y="2682875"/>
          <a:ext cx="7666037" cy="1193800"/>
        </p:xfrm>
        <a:graphic>
          <a:graphicData uri="http://schemas.openxmlformats.org/presentationml/2006/ole">
            <mc:AlternateContent xmlns:mc="http://schemas.openxmlformats.org/markup-compatibility/2006">
              <mc:Choice xmlns:v="urn:schemas-microsoft-com:vml" Requires="v">
                <p:oleObj spid="_x0000_s171034" name="Equation" r:id="rId4" imgW="3098157" imgH="482278" progId="Equation.3">
                  <p:embed/>
                </p:oleObj>
              </mc:Choice>
              <mc:Fallback>
                <p:oleObj name="Equation" r:id="rId4" imgW="3098157" imgH="482278" progId="Equation.3">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188" y="2682875"/>
                        <a:ext cx="7666037" cy="119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12"/>
          <p:cNvSpPr txBox="1">
            <a:spLocks noChangeArrowheads="1"/>
          </p:cNvSpPr>
          <p:nvPr/>
        </p:nvSpPr>
        <p:spPr bwMode="auto">
          <a:xfrm>
            <a:off x="1931988" y="5165725"/>
            <a:ext cx="6127750" cy="519113"/>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8 multiplications</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1"/>
          <p:cNvSpPr>
            <a:spLocks noGrp="1"/>
          </p:cNvSpPr>
          <p:nvPr>
            <p:ph type="ftr" sz="quarter" idx="10"/>
          </p:nvPr>
        </p:nvSpPr>
        <p:spPr>
          <a:noFill/>
        </p:spPr>
        <p:txBody>
          <a:bodyPr/>
          <a:lstStyle/>
          <a:p>
            <a:r>
              <a:rPr lang="en-US"/>
              <a:t>Art of Multiprocessor Programming</a:t>
            </a:r>
          </a:p>
        </p:txBody>
      </p:sp>
      <p:sp>
        <p:nvSpPr>
          <p:cNvPr id="9220" name="Slide Number Placeholder 2"/>
          <p:cNvSpPr>
            <a:spLocks noGrp="1"/>
          </p:cNvSpPr>
          <p:nvPr>
            <p:ph type="sldNum" sz="quarter" idx="11"/>
          </p:nvPr>
        </p:nvSpPr>
        <p:spPr>
          <a:noFill/>
        </p:spPr>
        <p:txBody>
          <a:bodyPr/>
          <a:lstStyle/>
          <a:p>
            <a:fld id="{9882F458-45A9-427F-B4B2-F63D7BE11D1B}" type="slidenum">
              <a:rPr lang="x-none" smtClean="0"/>
              <a:pPr/>
              <a:t>66</a:t>
            </a:fld>
            <a:endParaRPr lang="en-US"/>
          </a:p>
        </p:txBody>
      </p:sp>
      <p:sp>
        <p:nvSpPr>
          <p:cNvPr id="10"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35DA3DB-93EF-43BB-A73F-7513D5E898CF}" type="slidenum">
              <a:rPr lang="x-none" sz="1400">
                <a:solidFill>
                  <a:schemeClr val="tx1"/>
                </a:solidFill>
                <a:latin typeface="Arial" pitchFamily="34" charset="0"/>
                <a:cs typeface="Arial" pitchFamily="34" charset="0"/>
              </a:rPr>
              <a:pPr>
                <a:defRPr/>
              </a:pPr>
              <a:t>66</a:t>
            </a:fld>
            <a:endParaRPr lang="en-US" sz="1400" dirty="0">
              <a:solidFill>
                <a:schemeClr val="tx1"/>
              </a:solidFill>
              <a:latin typeface="Arial" pitchFamily="34" charset="0"/>
              <a:cs typeface="Arial" pitchFamily="34" charset="0"/>
            </a:endParaRPr>
          </a:p>
        </p:txBody>
      </p:sp>
      <p:sp>
        <p:nvSpPr>
          <p:cNvPr id="9222" name="AutoShape 2"/>
          <p:cNvSpPr>
            <a:spLocks noChangeArrowheads="1"/>
          </p:cNvSpPr>
          <p:nvPr/>
        </p:nvSpPr>
        <p:spPr bwMode="auto">
          <a:xfrm>
            <a:off x="3060700" y="2692400"/>
            <a:ext cx="2628900" cy="508000"/>
          </a:xfrm>
          <a:prstGeom prst="wedgeRoundRectCallout">
            <a:avLst>
              <a:gd name="adj1" fmla="val 14856"/>
              <a:gd name="adj2" fmla="val 405625"/>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9223" name="AutoShape 3"/>
          <p:cNvSpPr>
            <a:spLocks noChangeArrowheads="1"/>
          </p:cNvSpPr>
          <p:nvPr/>
        </p:nvSpPr>
        <p:spPr bwMode="auto">
          <a:xfrm>
            <a:off x="3048000" y="3327400"/>
            <a:ext cx="2641600" cy="444500"/>
          </a:xfrm>
          <a:prstGeom prst="wedgeRoundRectCallout">
            <a:avLst>
              <a:gd name="adj1" fmla="val 15023"/>
              <a:gd name="adj2" fmla="val 350713"/>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9224" name="AutoShape 4"/>
          <p:cNvSpPr>
            <a:spLocks noChangeArrowheads="1"/>
          </p:cNvSpPr>
          <p:nvPr/>
        </p:nvSpPr>
        <p:spPr bwMode="auto">
          <a:xfrm>
            <a:off x="5664200" y="2705100"/>
            <a:ext cx="2628900" cy="508000"/>
          </a:xfrm>
          <a:prstGeom prst="wedgeRoundRectCallout">
            <a:avLst>
              <a:gd name="adj1" fmla="val -66787"/>
              <a:gd name="adj2" fmla="val 423125"/>
              <a:gd name="adj3" fmla="val 16667"/>
            </a:avLst>
          </a:prstGeom>
          <a:no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9225" name="AutoShape 5"/>
          <p:cNvSpPr>
            <a:spLocks noChangeArrowheads="1"/>
          </p:cNvSpPr>
          <p:nvPr/>
        </p:nvSpPr>
        <p:spPr bwMode="auto">
          <a:xfrm>
            <a:off x="5651500" y="3340100"/>
            <a:ext cx="2641600" cy="444500"/>
          </a:xfrm>
          <a:prstGeom prst="wedgeRoundRectCallout">
            <a:avLst>
              <a:gd name="adj1" fmla="val -64782"/>
              <a:gd name="adj2" fmla="val 333569"/>
              <a:gd name="adj3" fmla="val 16667"/>
            </a:avLst>
          </a:prstGeom>
          <a:solidFill>
            <a:schemeClr val="bg1">
              <a:alpha val="74901"/>
            </a:schemeClr>
          </a:solidFill>
          <a:ln w="38100" algn="ctr">
            <a:solidFill>
              <a:srgbClr val="FF0000"/>
            </a:solidFill>
            <a:miter lim="800000"/>
            <a:headEnd/>
            <a:tailEnd/>
          </a:ln>
        </p:spPr>
        <p:txBody>
          <a:bodyPr anchor="ctr"/>
          <a:lstStyle/>
          <a:p>
            <a:pPr algn="ctr"/>
            <a:endParaRPr lang="en-US" sz="4000" dirty="0">
              <a:latin typeface="Arial" pitchFamily="34" charset="0"/>
            </a:endParaRPr>
          </a:p>
        </p:txBody>
      </p:sp>
      <p:sp>
        <p:nvSpPr>
          <p:cNvPr id="9226" name="Rectangle 6"/>
          <p:cNvSpPr>
            <a:spLocks noGrp="1" noChangeArrowheads="1"/>
          </p:cNvSpPr>
          <p:nvPr>
            <p:ph type="title" idx="4294967295"/>
          </p:nvPr>
        </p:nvSpPr>
        <p:spPr/>
        <p:txBody>
          <a:bodyPr/>
          <a:lstStyle/>
          <a:p>
            <a:r>
              <a:rPr lang="en-US"/>
              <a:t>Second Phase …</a:t>
            </a:r>
          </a:p>
        </p:txBody>
      </p:sp>
      <p:graphicFrame>
        <p:nvGraphicFramePr>
          <p:cNvPr id="9218" name="Object 7"/>
          <p:cNvGraphicFramePr>
            <a:graphicFrameLocks noGrp="1" noChangeAspect="1"/>
          </p:cNvGraphicFramePr>
          <p:nvPr>
            <p:ph idx="4294967295"/>
          </p:nvPr>
        </p:nvGraphicFramePr>
        <p:xfrm>
          <a:off x="738188" y="2682875"/>
          <a:ext cx="7666037" cy="1193800"/>
        </p:xfrm>
        <a:graphic>
          <a:graphicData uri="http://schemas.openxmlformats.org/presentationml/2006/ole">
            <mc:AlternateContent xmlns:mc="http://schemas.openxmlformats.org/markup-compatibility/2006">
              <mc:Choice xmlns:v="urn:schemas-microsoft-com:vml" Requires="v">
                <p:oleObj spid="_x0000_s172058" name="Equation" r:id="rId4" imgW="3098157" imgH="482278" progId="Equation.3">
                  <p:embed/>
                </p:oleObj>
              </mc:Choice>
              <mc:Fallback>
                <p:oleObj name="Equation" r:id="rId4" imgW="3098157" imgH="482278" progId="Equation.3">
                  <p:embed/>
                  <p:pic>
                    <p:nvPicPr>
                      <p:cNvPr id="0" name="Picture 2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188" y="2682875"/>
                        <a:ext cx="7666037" cy="119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7" name="Text Box 8"/>
          <p:cNvSpPr txBox="1">
            <a:spLocks noChangeArrowheads="1"/>
          </p:cNvSpPr>
          <p:nvPr/>
        </p:nvSpPr>
        <p:spPr bwMode="auto">
          <a:xfrm>
            <a:off x="1931988" y="5153025"/>
            <a:ext cx="6127750" cy="519113"/>
          </a:xfrm>
          <a:prstGeom prst="rect">
            <a:avLst/>
          </a:prstGeom>
          <a:noFill/>
          <a:ln w="38100" algn="ctr">
            <a:noFill/>
            <a:miter lim="800000"/>
            <a:headEnd/>
            <a:tailEnd/>
          </a:ln>
        </p:spPr>
        <p:txBody>
          <a:bodyPr>
            <a:spAutoFit/>
          </a:bodyPr>
          <a:lstStyle/>
          <a:p>
            <a:pPr algn="ctr"/>
            <a:r>
              <a:rPr lang="en-US" sz="2800" dirty="0">
                <a:solidFill>
                  <a:srgbClr val="FF0000"/>
                </a:solidFill>
                <a:latin typeface="Arial" pitchFamily="34" charset="0"/>
              </a:rPr>
              <a:t>4 additions</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1"/>
          <p:cNvSpPr>
            <a:spLocks noGrp="1"/>
          </p:cNvSpPr>
          <p:nvPr>
            <p:ph type="ftr" sz="quarter" idx="10"/>
          </p:nvPr>
        </p:nvSpPr>
        <p:spPr>
          <a:noFill/>
        </p:spPr>
        <p:txBody>
          <a:bodyPr/>
          <a:lstStyle/>
          <a:p>
            <a:r>
              <a:rPr lang="en-US"/>
              <a:t>Art of Multiprocessor Programming</a:t>
            </a:r>
          </a:p>
        </p:txBody>
      </p:sp>
      <p:sp>
        <p:nvSpPr>
          <p:cNvPr id="67587" name="Slide Number Placeholder 2"/>
          <p:cNvSpPr>
            <a:spLocks noGrp="1"/>
          </p:cNvSpPr>
          <p:nvPr>
            <p:ph type="sldNum" sz="quarter" idx="11"/>
          </p:nvPr>
        </p:nvSpPr>
        <p:spPr>
          <a:noFill/>
        </p:spPr>
        <p:txBody>
          <a:bodyPr/>
          <a:lstStyle/>
          <a:p>
            <a:fld id="{FE2025BE-BC1E-478B-99E3-2744565C6C40}" type="slidenum">
              <a:rPr lang="x-none" smtClean="0"/>
              <a:pPr/>
              <a:t>67</a:t>
            </a:fld>
            <a:endParaRPr lang="en-US"/>
          </a:p>
        </p:txBody>
      </p:sp>
      <p:sp>
        <p:nvSpPr>
          <p:cNvPr id="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52DCA98-6A28-4ABF-AB70-5420EFEC36AC}" type="slidenum">
              <a:rPr lang="x-none" sz="1400">
                <a:solidFill>
                  <a:schemeClr val="tx1"/>
                </a:solidFill>
                <a:latin typeface="Arial" pitchFamily="34" charset="0"/>
                <a:cs typeface="Arial" pitchFamily="34" charset="0"/>
              </a:rPr>
              <a:pPr>
                <a:defRPr/>
              </a:pPr>
              <a:t>67</a:t>
            </a:fld>
            <a:endParaRPr lang="en-US" sz="1400" dirty="0">
              <a:solidFill>
                <a:schemeClr val="tx1"/>
              </a:solidFill>
              <a:latin typeface="Arial" pitchFamily="34" charset="0"/>
              <a:cs typeface="Arial" pitchFamily="34" charset="0"/>
            </a:endParaRPr>
          </a:p>
        </p:txBody>
      </p:sp>
      <p:sp>
        <p:nvSpPr>
          <p:cNvPr id="67589" name="Rectangle 2"/>
          <p:cNvSpPr>
            <a:spLocks noGrp="1" noChangeArrowheads="1"/>
          </p:cNvSpPr>
          <p:nvPr>
            <p:ph type="title" idx="4294967295"/>
          </p:nvPr>
        </p:nvSpPr>
        <p:spPr/>
        <p:txBody>
          <a:bodyPr/>
          <a:lstStyle/>
          <a:p>
            <a:r>
              <a:rPr lang="en-US"/>
              <a:t>Multiplication</a:t>
            </a:r>
          </a:p>
        </p:txBody>
      </p:sp>
      <p:sp>
        <p:nvSpPr>
          <p:cNvPr id="67590" name="Rectangle 3"/>
          <p:cNvSpPr>
            <a:spLocks noGrp="1" noChangeArrowheads="1"/>
          </p:cNvSpPr>
          <p:nvPr>
            <p:ph type="body" idx="4294967295"/>
          </p:nvPr>
        </p:nvSpPr>
        <p:spPr/>
        <p:txBody>
          <a:bodyPr/>
          <a:lstStyle/>
          <a:p>
            <a:r>
              <a:rPr lang="en-US"/>
              <a:t>Work is</a:t>
            </a:r>
          </a:p>
          <a:p>
            <a:pPr lvl="1">
              <a:buFontTx/>
              <a:buNone/>
            </a:pPr>
            <a:endParaRPr lang="en-US"/>
          </a:p>
          <a:p>
            <a:pPr lvl="1">
              <a:buFontTx/>
              <a:buNone/>
            </a:pPr>
            <a:endParaRPr lang="en-US"/>
          </a:p>
          <a:p>
            <a:pPr lvl="1">
              <a:buFontTx/>
              <a:buNone/>
            </a:pPr>
            <a:r>
              <a:rPr lang="en-US"/>
              <a:t>		</a:t>
            </a:r>
            <a:r>
              <a:rPr lang="en-US">
                <a:solidFill>
                  <a:schemeClr val="tx1"/>
                </a:solidFill>
              </a:rPr>
              <a:t>M</a:t>
            </a:r>
            <a:r>
              <a:rPr lang="en-US" baseline="-25000">
                <a:solidFill>
                  <a:schemeClr val="tx1"/>
                </a:solidFill>
              </a:rPr>
              <a:t>1</a:t>
            </a:r>
            <a:r>
              <a:rPr lang="en-US">
                <a:solidFill>
                  <a:schemeClr val="tx1"/>
                </a:solidFill>
              </a:rPr>
              <a:t>(n) = 8 M</a:t>
            </a:r>
            <a:r>
              <a:rPr lang="en-US" baseline="-25000">
                <a:solidFill>
                  <a:schemeClr val="tx1"/>
                </a:solidFill>
              </a:rPr>
              <a:t>1</a:t>
            </a:r>
            <a:r>
              <a:rPr lang="en-US">
                <a:solidFill>
                  <a:schemeClr val="tx1"/>
                </a:solidFill>
              </a:rPr>
              <a:t>(n/2) + A</a:t>
            </a:r>
            <a:r>
              <a:rPr lang="en-US" baseline="-25000">
                <a:solidFill>
                  <a:schemeClr val="tx1"/>
                </a:solidFill>
              </a:rPr>
              <a:t>1</a:t>
            </a:r>
            <a:r>
              <a:rPr lang="en-US">
                <a:solidFill>
                  <a:schemeClr val="tx1"/>
                </a:solidFill>
              </a:rPr>
              <a:t>(n)</a:t>
            </a:r>
            <a:endParaRPr lang="el-GR">
              <a:solidFill>
                <a:schemeClr val="tx1"/>
              </a:solidFill>
            </a:endParaRPr>
          </a:p>
        </p:txBody>
      </p:sp>
      <p:sp>
        <p:nvSpPr>
          <p:cNvPr id="688132" name="AutoShape 4"/>
          <p:cNvSpPr>
            <a:spLocks noChangeArrowheads="1"/>
          </p:cNvSpPr>
          <p:nvPr/>
        </p:nvSpPr>
        <p:spPr bwMode="auto">
          <a:xfrm>
            <a:off x="2892286" y="3479800"/>
            <a:ext cx="1550505" cy="850900"/>
          </a:xfrm>
          <a:prstGeom prst="wedgeRoundRectCallout">
            <a:avLst>
              <a:gd name="adj1" fmla="val -51213"/>
              <a:gd name="adj2" fmla="val 86380"/>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88133" name="Text Box 5"/>
          <p:cNvSpPr txBox="1">
            <a:spLocks noChangeArrowheads="1"/>
          </p:cNvSpPr>
          <p:nvPr/>
        </p:nvSpPr>
        <p:spPr bwMode="auto">
          <a:xfrm>
            <a:off x="884238" y="4775200"/>
            <a:ext cx="3819525" cy="1066800"/>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8 parallel multiplications</a:t>
            </a:r>
          </a:p>
        </p:txBody>
      </p:sp>
      <p:sp>
        <p:nvSpPr>
          <p:cNvPr id="688134" name="AutoShape 6"/>
          <p:cNvSpPr>
            <a:spLocks noChangeArrowheads="1"/>
          </p:cNvSpPr>
          <p:nvPr/>
        </p:nvSpPr>
        <p:spPr bwMode="auto">
          <a:xfrm>
            <a:off x="4755660" y="3479800"/>
            <a:ext cx="965200" cy="850900"/>
          </a:xfrm>
          <a:prstGeom prst="wedgeRoundRectCallout">
            <a:avLst>
              <a:gd name="adj1" fmla="val 84704"/>
              <a:gd name="adj2" fmla="val -130037"/>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88135" name="Text Box 7"/>
          <p:cNvSpPr txBox="1">
            <a:spLocks noChangeArrowheads="1"/>
          </p:cNvSpPr>
          <p:nvPr/>
        </p:nvSpPr>
        <p:spPr bwMode="auto">
          <a:xfrm>
            <a:off x="4755223" y="2209800"/>
            <a:ext cx="2621230" cy="584775"/>
          </a:xfrm>
          <a:prstGeom prst="rect">
            <a:avLst/>
          </a:prstGeom>
          <a:noFill/>
          <a:ln w="38100" algn="ctr">
            <a:noFill/>
            <a:miter lim="800000"/>
            <a:headEnd/>
            <a:tailEnd/>
          </a:ln>
        </p:spPr>
        <p:txBody>
          <a:bodyPr wrap="none">
            <a:spAutoFit/>
          </a:bodyPr>
          <a:lstStyle/>
          <a:p>
            <a:pPr algn="ctr"/>
            <a:r>
              <a:rPr lang="en-US" sz="3200" dirty="0">
                <a:solidFill>
                  <a:srgbClr val="FF0000"/>
                </a:solidFill>
                <a:latin typeface="Arial" pitchFamily="34" charset="0"/>
              </a:rPr>
              <a:t>Final addition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8132"/>
                                        </p:tgtEl>
                                        <p:attrNameLst>
                                          <p:attrName>style.visibility</p:attrName>
                                        </p:attrNameLst>
                                      </p:cBhvr>
                                      <p:to>
                                        <p:strVal val="visible"/>
                                      </p:to>
                                    </p:set>
                                    <p:animEffect transition="in" filter="blinds(horizontal)">
                                      <p:cBhvr>
                                        <p:cTn id="7" dur="500"/>
                                        <p:tgtEl>
                                          <p:spTgt spid="68813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8133"/>
                                        </p:tgtEl>
                                        <p:attrNameLst>
                                          <p:attrName>style.visibility</p:attrName>
                                        </p:attrNameLst>
                                      </p:cBhvr>
                                      <p:to>
                                        <p:strVal val="visible"/>
                                      </p:to>
                                    </p:set>
                                    <p:animEffect transition="in" filter="blinds(horizontal)">
                                      <p:cBhvr>
                                        <p:cTn id="10" dur="500"/>
                                        <p:tgtEl>
                                          <p:spTgt spid="68813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88134"/>
                                        </p:tgtEl>
                                        <p:attrNameLst>
                                          <p:attrName>style.visibility</p:attrName>
                                        </p:attrNameLst>
                                      </p:cBhvr>
                                      <p:to>
                                        <p:strVal val="visible"/>
                                      </p:to>
                                    </p:set>
                                    <p:animEffect transition="in" filter="blinds(horizontal)">
                                      <p:cBhvr>
                                        <p:cTn id="15" dur="500"/>
                                        <p:tgtEl>
                                          <p:spTgt spid="68813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88135"/>
                                        </p:tgtEl>
                                        <p:attrNameLst>
                                          <p:attrName>style.visibility</p:attrName>
                                        </p:attrNameLst>
                                      </p:cBhvr>
                                      <p:to>
                                        <p:strVal val="visible"/>
                                      </p:to>
                                    </p:set>
                                    <p:animEffect transition="in" filter="blinds(horizontal)">
                                      <p:cBhvr>
                                        <p:cTn id="18" dur="500"/>
                                        <p:tgtEl>
                                          <p:spTgt spid="68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2" grpId="0" animBg="1"/>
      <p:bldP spid="688133" grpId="0"/>
      <p:bldP spid="688134" grpId="0" animBg="1"/>
      <p:bldP spid="6881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1"/>
          <p:cNvSpPr>
            <a:spLocks noGrp="1"/>
          </p:cNvSpPr>
          <p:nvPr>
            <p:ph type="ftr" sz="quarter" idx="10"/>
          </p:nvPr>
        </p:nvSpPr>
        <p:spPr>
          <a:noFill/>
        </p:spPr>
        <p:txBody>
          <a:bodyPr/>
          <a:lstStyle/>
          <a:p>
            <a:r>
              <a:rPr lang="en-US"/>
              <a:t>Art of Multiprocessor Programming</a:t>
            </a:r>
          </a:p>
        </p:txBody>
      </p:sp>
      <p:sp>
        <p:nvSpPr>
          <p:cNvPr id="68611" name="Slide Number Placeholder 2"/>
          <p:cNvSpPr>
            <a:spLocks noGrp="1"/>
          </p:cNvSpPr>
          <p:nvPr>
            <p:ph type="sldNum" sz="quarter" idx="11"/>
          </p:nvPr>
        </p:nvSpPr>
        <p:spPr>
          <a:noFill/>
        </p:spPr>
        <p:txBody>
          <a:bodyPr/>
          <a:lstStyle/>
          <a:p>
            <a:fld id="{DA439EE7-992F-4BB5-AE8A-BAA3DDBF46D8}" type="slidenum">
              <a:rPr lang="x-none" smtClean="0"/>
              <a:pPr/>
              <a:t>68</a:t>
            </a:fld>
            <a:endParaRPr lang="en-US"/>
          </a:p>
        </p:txBody>
      </p:sp>
      <p:sp>
        <p:nvSpPr>
          <p:cNvPr id="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32E5218-8B90-4CFB-B5C2-46DFCBF67314}" type="slidenum">
              <a:rPr lang="x-none" sz="1400">
                <a:solidFill>
                  <a:schemeClr val="tx1"/>
                </a:solidFill>
                <a:latin typeface="Arial" pitchFamily="34" charset="0"/>
                <a:cs typeface="Arial" pitchFamily="34" charset="0"/>
              </a:rPr>
              <a:pPr>
                <a:defRPr/>
              </a:pPr>
              <a:t>68</a:t>
            </a:fld>
            <a:endParaRPr lang="en-US" sz="1400" dirty="0">
              <a:solidFill>
                <a:schemeClr val="tx1"/>
              </a:solidFill>
              <a:latin typeface="Arial" pitchFamily="34" charset="0"/>
              <a:cs typeface="Arial" pitchFamily="34" charset="0"/>
            </a:endParaRPr>
          </a:p>
        </p:txBody>
      </p:sp>
      <p:sp>
        <p:nvSpPr>
          <p:cNvPr id="68613" name="Rectangle 2"/>
          <p:cNvSpPr>
            <a:spLocks noGrp="1" noChangeArrowheads="1"/>
          </p:cNvSpPr>
          <p:nvPr>
            <p:ph type="title" idx="4294967295"/>
          </p:nvPr>
        </p:nvSpPr>
        <p:spPr/>
        <p:txBody>
          <a:bodyPr/>
          <a:lstStyle/>
          <a:p>
            <a:r>
              <a:rPr lang="en-US"/>
              <a:t>Multiplication</a:t>
            </a:r>
          </a:p>
        </p:txBody>
      </p:sp>
      <p:sp>
        <p:nvSpPr>
          <p:cNvPr id="68614" name="Rectangle 3"/>
          <p:cNvSpPr>
            <a:spLocks noGrp="1" noChangeArrowheads="1"/>
          </p:cNvSpPr>
          <p:nvPr>
            <p:ph type="body" idx="4294967295"/>
          </p:nvPr>
        </p:nvSpPr>
        <p:spPr/>
        <p:txBody>
          <a:bodyPr/>
          <a:lstStyle/>
          <a:p>
            <a:r>
              <a:rPr lang="en-US"/>
              <a:t>Work is</a:t>
            </a:r>
          </a:p>
          <a:p>
            <a:pPr lvl="1">
              <a:buFontTx/>
              <a:buNone/>
            </a:pPr>
            <a:endParaRPr lang="en-US"/>
          </a:p>
          <a:p>
            <a:pPr lvl="1">
              <a:buFontTx/>
              <a:buNone/>
            </a:pPr>
            <a:endParaRPr lang="en-US"/>
          </a:p>
          <a:p>
            <a:pPr lvl="1">
              <a:buFontTx/>
              <a:buNone/>
            </a:pPr>
            <a:r>
              <a:rPr lang="en-US"/>
              <a:t>		</a:t>
            </a:r>
            <a:r>
              <a:rPr lang="en-US">
                <a:solidFill>
                  <a:schemeClr val="tx1"/>
                </a:solidFill>
              </a:rPr>
              <a:t>M</a:t>
            </a:r>
            <a:r>
              <a:rPr lang="en-US" baseline="-25000">
                <a:solidFill>
                  <a:schemeClr val="tx1"/>
                </a:solidFill>
              </a:rPr>
              <a:t>1</a:t>
            </a:r>
            <a:r>
              <a:rPr lang="en-US">
                <a:solidFill>
                  <a:schemeClr val="tx1"/>
                </a:solidFill>
              </a:rPr>
              <a:t>(n) = 8 M</a:t>
            </a:r>
            <a:r>
              <a:rPr lang="en-US" baseline="-25000">
                <a:solidFill>
                  <a:schemeClr val="tx1"/>
                </a:solidFill>
              </a:rPr>
              <a:t>1</a:t>
            </a:r>
            <a:r>
              <a:rPr lang="en-US">
                <a:solidFill>
                  <a:schemeClr val="tx1"/>
                </a:solidFill>
              </a:rPr>
              <a:t>(n/2) + </a:t>
            </a:r>
            <a:r>
              <a:rPr lang="el-GR">
                <a:solidFill>
                  <a:schemeClr val="tx1"/>
                </a:solidFill>
              </a:rPr>
              <a:t>Θ</a:t>
            </a:r>
            <a:r>
              <a:rPr lang="en-US">
                <a:solidFill>
                  <a:schemeClr val="tx1"/>
                </a:solidFill>
              </a:rPr>
              <a:t>(n</a:t>
            </a:r>
            <a:r>
              <a:rPr lang="en-US" baseline="30000">
                <a:solidFill>
                  <a:schemeClr val="tx1"/>
                </a:solidFill>
              </a:rPr>
              <a:t>2</a:t>
            </a:r>
            <a:r>
              <a:rPr lang="en-US">
                <a:solidFill>
                  <a:schemeClr val="tx1"/>
                </a:solidFill>
              </a:rPr>
              <a:t>)</a:t>
            </a:r>
          </a:p>
          <a:p>
            <a:pPr lvl="1">
              <a:buFontTx/>
              <a:buNone/>
            </a:pPr>
            <a:r>
              <a:rPr lang="en-US">
                <a:solidFill>
                  <a:schemeClr val="tx1"/>
                </a:solidFill>
              </a:rPr>
              <a:t> </a:t>
            </a:r>
            <a:r>
              <a:rPr lang="en-US"/>
              <a:t>		         </a:t>
            </a:r>
            <a:r>
              <a:rPr lang="en-US">
                <a:solidFill>
                  <a:schemeClr val="tx1"/>
                </a:solidFill>
              </a:rPr>
              <a:t>= </a:t>
            </a:r>
            <a:r>
              <a:rPr lang="el-GR">
                <a:solidFill>
                  <a:schemeClr val="tx1"/>
                </a:solidFill>
              </a:rPr>
              <a:t>Θ</a:t>
            </a:r>
            <a:r>
              <a:rPr lang="en-US">
                <a:solidFill>
                  <a:schemeClr val="tx1"/>
                </a:solidFill>
              </a:rPr>
              <a:t>(n</a:t>
            </a:r>
            <a:r>
              <a:rPr lang="en-US" baseline="30000">
                <a:solidFill>
                  <a:schemeClr val="tx1"/>
                </a:solidFill>
              </a:rPr>
              <a:t>3</a:t>
            </a:r>
            <a:r>
              <a:rPr lang="en-US">
                <a:solidFill>
                  <a:schemeClr val="tx1"/>
                </a:solidFill>
              </a:rPr>
              <a:t>)</a:t>
            </a:r>
            <a:endParaRPr lang="el-GR">
              <a:solidFill>
                <a:schemeClr val="tx1"/>
              </a:solidFill>
            </a:endParaRPr>
          </a:p>
          <a:p>
            <a:pPr lvl="1">
              <a:buFontTx/>
              <a:buNone/>
            </a:pPr>
            <a:endParaRPr lang="el-GR">
              <a:solidFill>
                <a:schemeClr val="tx1"/>
              </a:solidFill>
            </a:endParaRPr>
          </a:p>
        </p:txBody>
      </p:sp>
      <p:sp>
        <p:nvSpPr>
          <p:cNvPr id="68615" name="Text Box 8"/>
          <p:cNvSpPr txBox="1">
            <a:spLocks noChangeArrowheads="1"/>
          </p:cNvSpPr>
          <p:nvPr/>
        </p:nvSpPr>
        <p:spPr bwMode="auto">
          <a:xfrm>
            <a:off x="1428216" y="4927600"/>
            <a:ext cx="6151043" cy="584775"/>
          </a:xfrm>
          <a:prstGeom prst="rect">
            <a:avLst/>
          </a:prstGeom>
          <a:noFill/>
          <a:ln w="38100" algn="ctr">
            <a:noFill/>
            <a:miter lim="800000"/>
            <a:headEnd/>
            <a:tailEnd/>
          </a:ln>
        </p:spPr>
        <p:txBody>
          <a:bodyPr wrap="none">
            <a:spAutoFit/>
          </a:bodyPr>
          <a:lstStyle/>
          <a:p>
            <a:pPr algn="ctr"/>
            <a:r>
              <a:rPr lang="en-US" sz="3200" dirty="0">
                <a:latin typeface="Arial" pitchFamily="34" charset="0"/>
              </a:rPr>
              <a:t>Same as serial triple-nested loop</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1"/>
          <p:cNvSpPr>
            <a:spLocks noGrp="1"/>
          </p:cNvSpPr>
          <p:nvPr>
            <p:ph type="ftr" sz="quarter" idx="10"/>
          </p:nvPr>
        </p:nvSpPr>
        <p:spPr>
          <a:noFill/>
        </p:spPr>
        <p:txBody>
          <a:bodyPr/>
          <a:lstStyle/>
          <a:p>
            <a:r>
              <a:rPr lang="en-US"/>
              <a:t>Art of Multiprocessor Programming</a:t>
            </a:r>
          </a:p>
        </p:txBody>
      </p:sp>
      <p:sp>
        <p:nvSpPr>
          <p:cNvPr id="69635" name="Slide Number Placeholder 2"/>
          <p:cNvSpPr>
            <a:spLocks noGrp="1"/>
          </p:cNvSpPr>
          <p:nvPr>
            <p:ph type="sldNum" sz="quarter" idx="11"/>
          </p:nvPr>
        </p:nvSpPr>
        <p:spPr>
          <a:noFill/>
        </p:spPr>
        <p:txBody>
          <a:bodyPr/>
          <a:lstStyle/>
          <a:p>
            <a:fld id="{39B0A376-6435-4041-86E0-ED4B67DEC8C2}" type="slidenum">
              <a:rPr lang="x-none" smtClean="0"/>
              <a:pPr/>
              <a:t>69</a:t>
            </a:fld>
            <a:endParaRPr lang="en-US"/>
          </a:p>
        </p:txBody>
      </p:sp>
      <p:sp>
        <p:nvSpPr>
          <p:cNvPr id="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3564476-AE19-4A2C-9A8B-64E264645FE1}" type="slidenum">
              <a:rPr lang="x-none" sz="1400">
                <a:solidFill>
                  <a:schemeClr val="tx1"/>
                </a:solidFill>
                <a:latin typeface="Arial" pitchFamily="34" charset="0"/>
                <a:cs typeface="Arial" pitchFamily="34" charset="0"/>
              </a:rPr>
              <a:pPr>
                <a:defRPr/>
              </a:pPr>
              <a:t>69</a:t>
            </a:fld>
            <a:endParaRPr lang="en-US" sz="1400" dirty="0">
              <a:solidFill>
                <a:schemeClr val="tx1"/>
              </a:solidFill>
              <a:latin typeface="Arial" pitchFamily="34" charset="0"/>
              <a:cs typeface="Arial" pitchFamily="34" charset="0"/>
            </a:endParaRPr>
          </a:p>
        </p:txBody>
      </p:sp>
      <p:sp>
        <p:nvSpPr>
          <p:cNvPr id="69637" name="Rectangle 2"/>
          <p:cNvSpPr>
            <a:spLocks noGrp="1" noChangeArrowheads="1"/>
          </p:cNvSpPr>
          <p:nvPr>
            <p:ph type="title" idx="4294967295"/>
          </p:nvPr>
        </p:nvSpPr>
        <p:spPr/>
        <p:txBody>
          <a:bodyPr/>
          <a:lstStyle/>
          <a:p>
            <a:r>
              <a:rPr lang="en-US"/>
              <a:t>Multiplication</a:t>
            </a:r>
          </a:p>
        </p:txBody>
      </p:sp>
      <p:sp>
        <p:nvSpPr>
          <p:cNvPr id="69638" name="Rectangle 3"/>
          <p:cNvSpPr>
            <a:spLocks noGrp="1" noChangeArrowheads="1"/>
          </p:cNvSpPr>
          <p:nvPr>
            <p:ph type="body" idx="4294967295"/>
          </p:nvPr>
        </p:nvSpPr>
        <p:spPr/>
        <p:txBody>
          <a:bodyPr/>
          <a:lstStyle/>
          <a:p>
            <a:r>
              <a:rPr lang="en-US"/>
              <a:t>Critical path length is</a:t>
            </a:r>
          </a:p>
          <a:p>
            <a:pPr lvl="1">
              <a:buFontTx/>
              <a:buNone/>
            </a:pPr>
            <a:endParaRPr lang="en-US"/>
          </a:p>
          <a:p>
            <a:pPr lvl="1">
              <a:buFontTx/>
              <a:buNone/>
            </a:pPr>
            <a:endParaRPr lang="en-US"/>
          </a:p>
          <a:p>
            <a:pPr lvl="1">
              <a:buFontTx/>
              <a:buNone/>
            </a:pPr>
            <a:r>
              <a:rPr lang="en-US"/>
              <a:t>		</a:t>
            </a:r>
            <a:r>
              <a:rPr lang="en-US">
                <a:solidFill>
                  <a:schemeClr val="tx1"/>
                </a:solidFill>
              </a:rPr>
              <a:t>M</a:t>
            </a:r>
            <a:r>
              <a:rPr lang="en-US" baseline="-25000">
                <a:solidFill>
                  <a:schemeClr val="tx1"/>
                </a:solidFill>
              </a:rPr>
              <a:t>∞</a:t>
            </a:r>
            <a:r>
              <a:rPr lang="en-US">
                <a:solidFill>
                  <a:schemeClr val="tx1"/>
                </a:solidFill>
              </a:rPr>
              <a:t>(n) = M</a:t>
            </a:r>
            <a:r>
              <a:rPr lang="en-US" baseline="-25000">
                <a:solidFill>
                  <a:schemeClr val="tx1"/>
                </a:solidFill>
              </a:rPr>
              <a:t>∞</a:t>
            </a:r>
            <a:r>
              <a:rPr lang="en-US">
                <a:solidFill>
                  <a:schemeClr val="tx1"/>
                </a:solidFill>
              </a:rPr>
              <a:t>(n/2) + A</a:t>
            </a:r>
            <a:r>
              <a:rPr lang="en-US" baseline="-25000">
                <a:solidFill>
                  <a:schemeClr val="tx1"/>
                </a:solidFill>
              </a:rPr>
              <a:t>∞</a:t>
            </a:r>
            <a:r>
              <a:rPr lang="en-US">
                <a:solidFill>
                  <a:schemeClr val="tx1"/>
                </a:solidFill>
              </a:rPr>
              <a:t>(n)</a:t>
            </a:r>
          </a:p>
          <a:p>
            <a:pPr lvl="1">
              <a:buFontTx/>
              <a:buNone/>
            </a:pPr>
            <a:r>
              <a:rPr lang="en-US">
                <a:solidFill>
                  <a:schemeClr val="tx1"/>
                </a:solidFill>
              </a:rPr>
              <a:t> </a:t>
            </a:r>
            <a:r>
              <a:rPr lang="en-US"/>
              <a:t>		</a:t>
            </a:r>
            <a:endParaRPr lang="el-GR">
              <a:solidFill>
                <a:schemeClr val="tx1"/>
              </a:solidFill>
            </a:endParaRPr>
          </a:p>
        </p:txBody>
      </p:sp>
      <p:sp>
        <p:nvSpPr>
          <p:cNvPr id="695301" name="AutoShape 5"/>
          <p:cNvSpPr>
            <a:spLocks noChangeArrowheads="1"/>
          </p:cNvSpPr>
          <p:nvPr/>
        </p:nvSpPr>
        <p:spPr bwMode="auto">
          <a:xfrm>
            <a:off x="2902226" y="3467100"/>
            <a:ext cx="1321904" cy="787400"/>
          </a:xfrm>
          <a:prstGeom prst="wedgeRoundRectCallout">
            <a:avLst>
              <a:gd name="adj1" fmla="val -29782"/>
              <a:gd name="adj2" fmla="val 79639"/>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95302" name="Text Box 6"/>
          <p:cNvSpPr txBox="1">
            <a:spLocks noChangeArrowheads="1"/>
          </p:cNvSpPr>
          <p:nvPr/>
        </p:nvSpPr>
        <p:spPr bwMode="auto">
          <a:xfrm>
            <a:off x="685800" y="4457700"/>
            <a:ext cx="4673600" cy="1066800"/>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Half-size parallel multiplications</a:t>
            </a:r>
          </a:p>
        </p:txBody>
      </p:sp>
      <p:sp>
        <p:nvSpPr>
          <p:cNvPr id="695303" name="AutoShape 7"/>
          <p:cNvSpPr>
            <a:spLocks noChangeArrowheads="1"/>
          </p:cNvSpPr>
          <p:nvPr/>
        </p:nvSpPr>
        <p:spPr bwMode="auto">
          <a:xfrm>
            <a:off x="4556952" y="3467100"/>
            <a:ext cx="1054100" cy="787400"/>
          </a:xfrm>
          <a:prstGeom prst="wedgeRoundRectCallout">
            <a:avLst>
              <a:gd name="adj1" fmla="val 4519"/>
              <a:gd name="adj2" fmla="val -97782"/>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695304" name="Text Box 8"/>
          <p:cNvSpPr txBox="1">
            <a:spLocks noChangeArrowheads="1"/>
          </p:cNvSpPr>
          <p:nvPr/>
        </p:nvSpPr>
        <p:spPr bwMode="auto">
          <a:xfrm>
            <a:off x="3200400" y="2565400"/>
            <a:ext cx="4673600" cy="579438"/>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Final addition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5302"/>
                                        </p:tgtEl>
                                        <p:attrNameLst>
                                          <p:attrName>style.visibility</p:attrName>
                                        </p:attrNameLst>
                                      </p:cBhvr>
                                      <p:to>
                                        <p:strVal val="visible"/>
                                      </p:to>
                                    </p:set>
                                    <p:animEffect transition="in" filter="blinds(horizontal)">
                                      <p:cBhvr>
                                        <p:cTn id="7" dur="500"/>
                                        <p:tgtEl>
                                          <p:spTgt spid="69530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95301"/>
                                        </p:tgtEl>
                                        <p:attrNameLst>
                                          <p:attrName>style.visibility</p:attrName>
                                        </p:attrNameLst>
                                      </p:cBhvr>
                                      <p:to>
                                        <p:strVal val="visible"/>
                                      </p:to>
                                    </p:set>
                                    <p:animEffect transition="in" filter="blinds(horizontal)">
                                      <p:cBhvr>
                                        <p:cTn id="10" dur="500"/>
                                        <p:tgtEl>
                                          <p:spTgt spid="69530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95304"/>
                                        </p:tgtEl>
                                        <p:attrNameLst>
                                          <p:attrName>style.visibility</p:attrName>
                                        </p:attrNameLst>
                                      </p:cBhvr>
                                      <p:to>
                                        <p:strVal val="visible"/>
                                      </p:to>
                                    </p:set>
                                    <p:animEffect transition="in" filter="blinds(horizontal)">
                                      <p:cBhvr>
                                        <p:cTn id="15" dur="500"/>
                                        <p:tgtEl>
                                          <p:spTgt spid="69530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95303"/>
                                        </p:tgtEl>
                                        <p:attrNameLst>
                                          <p:attrName>style.visibility</p:attrName>
                                        </p:attrNameLst>
                                      </p:cBhvr>
                                      <p:to>
                                        <p:strVal val="visible"/>
                                      </p:to>
                                    </p:set>
                                    <p:animEffect transition="in" filter="blinds(horizontal)">
                                      <p:cBhvr>
                                        <p:cTn id="18" dur="500"/>
                                        <p:tgtEl>
                                          <p:spTgt spid="69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1" grpId="0" animBg="1"/>
      <p:bldP spid="695302" grpId="0"/>
      <p:bldP spid="695303" grpId="0" animBg="1"/>
      <p:bldP spid="69530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1"/>
          <p:cNvSpPr>
            <a:spLocks noGrp="1"/>
          </p:cNvSpPr>
          <p:nvPr>
            <p:ph type="ftr" sz="quarter" idx="10"/>
          </p:nvPr>
        </p:nvSpPr>
        <p:spPr>
          <a:noFill/>
        </p:spPr>
        <p:txBody>
          <a:bodyPr/>
          <a:lstStyle/>
          <a:p>
            <a:r>
              <a:rPr lang="en-US"/>
              <a:t>Art of Multiprocessor Programming</a:t>
            </a:r>
          </a:p>
        </p:txBody>
      </p:sp>
      <p:sp>
        <p:nvSpPr>
          <p:cNvPr id="70659" name="Slide Number Placeholder 2"/>
          <p:cNvSpPr>
            <a:spLocks noGrp="1"/>
          </p:cNvSpPr>
          <p:nvPr>
            <p:ph type="sldNum" sz="quarter" idx="11"/>
          </p:nvPr>
        </p:nvSpPr>
        <p:spPr>
          <a:noFill/>
        </p:spPr>
        <p:txBody>
          <a:bodyPr/>
          <a:lstStyle/>
          <a:p>
            <a:fld id="{6D158C2F-015B-45C6-A374-7CA286382298}" type="slidenum">
              <a:rPr lang="x-none" smtClean="0"/>
              <a:pPr/>
              <a:t>70</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45395445-DE58-402D-AF68-97B6559C17F8}" type="slidenum">
              <a:rPr lang="x-none" sz="1400">
                <a:solidFill>
                  <a:schemeClr val="tx1"/>
                </a:solidFill>
                <a:latin typeface="Arial" pitchFamily="34" charset="0"/>
                <a:cs typeface="Arial" pitchFamily="34" charset="0"/>
              </a:rPr>
              <a:pPr>
                <a:defRPr/>
              </a:pPr>
              <a:t>70</a:t>
            </a:fld>
            <a:endParaRPr lang="en-US" sz="1400" dirty="0">
              <a:solidFill>
                <a:schemeClr val="tx1"/>
              </a:solidFill>
              <a:latin typeface="Arial" pitchFamily="34" charset="0"/>
              <a:cs typeface="Arial" pitchFamily="34" charset="0"/>
            </a:endParaRPr>
          </a:p>
        </p:txBody>
      </p:sp>
      <p:sp>
        <p:nvSpPr>
          <p:cNvPr id="70661" name="Rectangle 2"/>
          <p:cNvSpPr>
            <a:spLocks noGrp="1" noChangeArrowheads="1"/>
          </p:cNvSpPr>
          <p:nvPr>
            <p:ph type="title" idx="4294967295"/>
          </p:nvPr>
        </p:nvSpPr>
        <p:spPr/>
        <p:txBody>
          <a:bodyPr/>
          <a:lstStyle/>
          <a:p>
            <a:r>
              <a:rPr lang="en-US"/>
              <a:t>Multiplication</a:t>
            </a:r>
          </a:p>
        </p:txBody>
      </p:sp>
      <p:sp>
        <p:nvSpPr>
          <p:cNvPr id="70662" name="Rectangle 3"/>
          <p:cNvSpPr>
            <a:spLocks noGrp="1" noChangeArrowheads="1"/>
          </p:cNvSpPr>
          <p:nvPr>
            <p:ph type="body" idx="4294967295"/>
          </p:nvPr>
        </p:nvSpPr>
        <p:spPr/>
        <p:txBody>
          <a:bodyPr/>
          <a:lstStyle/>
          <a:p>
            <a:r>
              <a:rPr lang="en-US"/>
              <a:t>Critical path length is</a:t>
            </a:r>
          </a:p>
          <a:p>
            <a:pPr lvl="1">
              <a:buFontTx/>
              <a:buNone/>
            </a:pPr>
            <a:endParaRPr lang="en-US"/>
          </a:p>
          <a:p>
            <a:pPr lvl="1">
              <a:buFontTx/>
              <a:buNone/>
            </a:pPr>
            <a:endParaRPr lang="en-US"/>
          </a:p>
          <a:p>
            <a:pPr lvl="1">
              <a:buFontTx/>
              <a:buNone/>
            </a:pPr>
            <a:r>
              <a:rPr lang="en-US"/>
              <a:t>		 </a:t>
            </a:r>
            <a:r>
              <a:rPr lang="en-US">
                <a:solidFill>
                  <a:schemeClr val="tx1"/>
                </a:solidFill>
              </a:rPr>
              <a:t>M</a:t>
            </a:r>
            <a:r>
              <a:rPr lang="en-US" baseline="-25000">
                <a:solidFill>
                  <a:schemeClr val="tx1"/>
                </a:solidFill>
              </a:rPr>
              <a:t>∞</a:t>
            </a:r>
            <a:r>
              <a:rPr lang="en-US">
                <a:solidFill>
                  <a:schemeClr val="tx1"/>
                </a:solidFill>
              </a:rPr>
              <a:t>(n) = M</a:t>
            </a:r>
            <a:r>
              <a:rPr lang="en-US" baseline="-25000">
                <a:solidFill>
                  <a:schemeClr val="tx1"/>
                </a:solidFill>
              </a:rPr>
              <a:t>∞</a:t>
            </a:r>
            <a:r>
              <a:rPr lang="en-US">
                <a:solidFill>
                  <a:schemeClr val="tx1"/>
                </a:solidFill>
              </a:rPr>
              <a:t>(n/2) + A</a:t>
            </a:r>
            <a:r>
              <a:rPr lang="en-US" baseline="-25000">
                <a:solidFill>
                  <a:schemeClr val="tx1"/>
                </a:solidFill>
              </a:rPr>
              <a:t>∞</a:t>
            </a:r>
            <a:r>
              <a:rPr lang="en-US">
                <a:solidFill>
                  <a:schemeClr val="tx1"/>
                </a:solidFill>
              </a:rPr>
              <a:t>(n)</a:t>
            </a:r>
            <a:r>
              <a:rPr lang="en-US"/>
              <a:t> </a:t>
            </a:r>
          </a:p>
          <a:p>
            <a:pPr lvl="1">
              <a:buFontTx/>
              <a:buNone/>
            </a:pPr>
            <a:r>
              <a:rPr lang="en-US"/>
              <a:t>     </a:t>
            </a:r>
            <a:r>
              <a:rPr lang="en-US">
                <a:solidFill>
                  <a:schemeClr val="tx1"/>
                </a:solidFill>
              </a:rPr>
              <a:t>          = M</a:t>
            </a:r>
            <a:r>
              <a:rPr lang="en-US" baseline="-25000">
                <a:solidFill>
                  <a:schemeClr val="tx1"/>
                </a:solidFill>
              </a:rPr>
              <a:t>∞</a:t>
            </a:r>
            <a:r>
              <a:rPr lang="en-US">
                <a:solidFill>
                  <a:schemeClr val="tx1"/>
                </a:solidFill>
              </a:rPr>
              <a:t>(n/2) + </a:t>
            </a:r>
            <a:r>
              <a:rPr lang="el-GR">
                <a:solidFill>
                  <a:schemeClr val="tx1"/>
                </a:solidFill>
              </a:rPr>
              <a:t>Θ</a:t>
            </a:r>
            <a:r>
              <a:rPr lang="en-US">
                <a:solidFill>
                  <a:schemeClr val="tx1"/>
                </a:solidFill>
              </a:rPr>
              <a:t>(log n)</a:t>
            </a:r>
          </a:p>
          <a:p>
            <a:pPr lvl="1">
              <a:buFontTx/>
              <a:buNone/>
            </a:pPr>
            <a:r>
              <a:rPr lang="en-US">
                <a:solidFill>
                  <a:schemeClr val="tx1"/>
                </a:solidFill>
              </a:rPr>
              <a:t> </a:t>
            </a:r>
            <a:r>
              <a:rPr lang="en-US"/>
              <a:t>		           </a:t>
            </a:r>
            <a:r>
              <a:rPr lang="en-US">
                <a:solidFill>
                  <a:schemeClr val="tx1"/>
                </a:solidFill>
              </a:rPr>
              <a:t>= </a:t>
            </a:r>
            <a:r>
              <a:rPr lang="el-GR">
                <a:solidFill>
                  <a:schemeClr val="tx1"/>
                </a:solidFill>
              </a:rPr>
              <a:t>Θ</a:t>
            </a:r>
            <a:r>
              <a:rPr lang="en-US">
                <a:solidFill>
                  <a:schemeClr val="tx1"/>
                </a:solidFill>
              </a:rPr>
              <a:t>(log</a:t>
            </a:r>
            <a:r>
              <a:rPr lang="en-US" baseline="30000">
                <a:solidFill>
                  <a:schemeClr val="tx1"/>
                </a:solidFill>
              </a:rPr>
              <a:t>2</a:t>
            </a:r>
            <a:r>
              <a:rPr lang="en-US">
                <a:solidFill>
                  <a:schemeClr val="tx1"/>
                </a:solidFill>
              </a:rPr>
              <a:t> n)</a:t>
            </a:r>
            <a:endParaRPr lang="el-GR">
              <a:solidFill>
                <a:schemeClr val="tx1"/>
              </a:solidFill>
            </a:endParaRPr>
          </a:p>
          <a:p>
            <a:pPr lvl="1">
              <a:buFontTx/>
              <a:buNone/>
            </a:pPr>
            <a:endParaRPr lang="el-GR">
              <a:solidFill>
                <a:schemeClr val="tx1"/>
              </a:solidFill>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1"/>
          <p:cNvSpPr>
            <a:spLocks noGrp="1"/>
          </p:cNvSpPr>
          <p:nvPr>
            <p:ph type="ftr" sz="quarter" idx="10"/>
          </p:nvPr>
        </p:nvSpPr>
        <p:spPr>
          <a:noFill/>
        </p:spPr>
        <p:txBody>
          <a:bodyPr/>
          <a:lstStyle/>
          <a:p>
            <a:r>
              <a:rPr lang="en-US"/>
              <a:t>Art of Multiprocessor Programming</a:t>
            </a:r>
          </a:p>
        </p:txBody>
      </p:sp>
      <p:sp>
        <p:nvSpPr>
          <p:cNvPr id="71683" name="Slide Number Placeholder 2"/>
          <p:cNvSpPr>
            <a:spLocks noGrp="1"/>
          </p:cNvSpPr>
          <p:nvPr>
            <p:ph type="sldNum" sz="quarter" idx="11"/>
          </p:nvPr>
        </p:nvSpPr>
        <p:spPr>
          <a:noFill/>
        </p:spPr>
        <p:txBody>
          <a:bodyPr/>
          <a:lstStyle/>
          <a:p>
            <a:fld id="{7005C0BD-656D-4A52-AB80-B24138B183AD}" type="slidenum">
              <a:rPr lang="x-none" smtClean="0"/>
              <a:pPr/>
              <a:t>71</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5995414-4F96-4D92-A87A-DEE640A7B5D8}" type="slidenum">
              <a:rPr lang="x-none" sz="1400">
                <a:solidFill>
                  <a:schemeClr val="tx1"/>
                </a:solidFill>
                <a:latin typeface="Arial" pitchFamily="34" charset="0"/>
                <a:cs typeface="Arial" pitchFamily="34" charset="0"/>
              </a:rPr>
              <a:pPr>
                <a:defRPr/>
              </a:pPr>
              <a:t>71</a:t>
            </a:fld>
            <a:endParaRPr lang="en-US" sz="1400" dirty="0">
              <a:solidFill>
                <a:schemeClr val="tx1"/>
              </a:solidFill>
              <a:latin typeface="Arial" pitchFamily="34" charset="0"/>
              <a:cs typeface="Arial" pitchFamily="34" charset="0"/>
            </a:endParaRPr>
          </a:p>
        </p:txBody>
      </p:sp>
      <p:sp>
        <p:nvSpPr>
          <p:cNvPr id="71685" name="Rectangle 2"/>
          <p:cNvSpPr>
            <a:spLocks noGrp="1" noChangeArrowheads="1"/>
          </p:cNvSpPr>
          <p:nvPr>
            <p:ph type="title" idx="4294967295"/>
          </p:nvPr>
        </p:nvSpPr>
        <p:spPr/>
        <p:txBody>
          <a:bodyPr/>
          <a:lstStyle/>
          <a:p>
            <a:r>
              <a:rPr lang="en-US"/>
              <a:t>Parallelism</a:t>
            </a:r>
          </a:p>
        </p:txBody>
      </p:sp>
      <p:sp>
        <p:nvSpPr>
          <p:cNvPr id="71686" name="Rectangle 3"/>
          <p:cNvSpPr>
            <a:spLocks noGrp="1" noChangeArrowheads="1"/>
          </p:cNvSpPr>
          <p:nvPr>
            <p:ph type="body" idx="4294967295"/>
          </p:nvPr>
        </p:nvSpPr>
        <p:spPr/>
        <p:txBody>
          <a:bodyPr/>
          <a:lstStyle/>
          <a:p>
            <a:r>
              <a:rPr lang="en-US">
                <a:solidFill>
                  <a:schemeClr val="tx1"/>
                </a:solidFill>
              </a:rPr>
              <a:t>M</a:t>
            </a:r>
            <a:r>
              <a:rPr lang="en-US" baseline="-25000">
                <a:solidFill>
                  <a:schemeClr val="tx1"/>
                </a:solidFill>
              </a:rPr>
              <a:t>1</a:t>
            </a:r>
            <a:r>
              <a:rPr lang="en-US">
                <a:solidFill>
                  <a:schemeClr val="tx1"/>
                </a:solidFill>
              </a:rPr>
              <a:t>(n)/ M</a:t>
            </a:r>
            <a:r>
              <a:rPr lang="en-US" baseline="-25000">
                <a:solidFill>
                  <a:schemeClr val="tx1"/>
                </a:solidFill>
              </a:rPr>
              <a:t>∞</a:t>
            </a:r>
            <a:r>
              <a:rPr lang="en-US">
                <a:solidFill>
                  <a:schemeClr val="tx1"/>
                </a:solidFill>
              </a:rPr>
              <a:t>(n) = </a:t>
            </a:r>
            <a:r>
              <a:rPr lang="el-GR">
                <a:solidFill>
                  <a:schemeClr val="tx1"/>
                </a:solidFill>
              </a:rPr>
              <a:t>Θ</a:t>
            </a:r>
            <a:r>
              <a:rPr lang="en-US">
                <a:solidFill>
                  <a:schemeClr val="tx1"/>
                </a:solidFill>
              </a:rPr>
              <a:t>(n</a:t>
            </a:r>
            <a:r>
              <a:rPr lang="en-US" baseline="30000">
                <a:solidFill>
                  <a:schemeClr val="tx1"/>
                </a:solidFill>
              </a:rPr>
              <a:t>3</a:t>
            </a:r>
            <a:r>
              <a:rPr lang="en-US">
                <a:solidFill>
                  <a:schemeClr val="tx1"/>
                </a:solidFill>
              </a:rPr>
              <a:t>/log</a:t>
            </a:r>
            <a:r>
              <a:rPr lang="en-US" baseline="30000">
                <a:solidFill>
                  <a:schemeClr val="tx1"/>
                </a:solidFill>
              </a:rPr>
              <a:t>2</a:t>
            </a:r>
            <a:r>
              <a:rPr lang="en-US">
                <a:solidFill>
                  <a:schemeClr val="tx1"/>
                </a:solidFill>
              </a:rPr>
              <a:t> n) </a:t>
            </a:r>
          </a:p>
          <a:p>
            <a:r>
              <a:rPr lang="en-US"/>
              <a:t>To multiply two 1000 x 1000 matrices</a:t>
            </a:r>
          </a:p>
          <a:p>
            <a:pPr lvl="1"/>
            <a:r>
              <a:rPr lang="en-US"/>
              <a:t>1000</a:t>
            </a:r>
            <a:r>
              <a:rPr lang="en-US" baseline="30000"/>
              <a:t>3</a:t>
            </a:r>
            <a:r>
              <a:rPr lang="en-US"/>
              <a:t>/10</a:t>
            </a:r>
            <a:r>
              <a:rPr lang="en-US" baseline="30000"/>
              <a:t>2</a:t>
            </a:r>
            <a:r>
              <a:rPr lang="en-US"/>
              <a:t>=10</a:t>
            </a:r>
            <a:r>
              <a:rPr lang="en-US" baseline="30000"/>
              <a:t>7</a:t>
            </a:r>
          </a:p>
          <a:p>
            <a:r>
              <a:rPr lang="en-US"/>
              <a:t>Much more than number of processors on any real machine</a:t>
            </a:r>
          </a:p>
          <a:p>
            <a:endParaRPr lang="en-US" baseline="30000"/>
          </a:p>
          <a:p>
            <a:endParaRPr lang="en-US"/>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1"/>
          <p:cNvSpPr>
            <a:spLocks noGrp="1"/>
          </p:cNvSpPr>
          <p:nvPr>
            <p:ph type="ftr" sz="quarter" idx="10"/>
          </p:nvPr>
        </p:nvSpPr>
        <p:spPr>
          <a:noFill/>
        </p:spPr>
        <p:txBody>
          <a:bodyPr/>
          <a:lstStyle/>
          <a:p>
            <a:r>
              <a:rPr lang="en-US"/>
              <a:t>Art of Multiprocessor Programming</a:t>
            </a:r>
          </a:p>
        </p:txBody>
      </p:sp>
      <p:sp>
        <p:nvSpPr>
          <p:cNvPr id="72707" name="Slide Number Placeholder 2"/>
          <p:cNvSpPr>
            <a:spLocks noGrp="1"/>
          </p:cNvSpPr>
          <p:nvPr>
            <p:ph type="sldNum" sz="quarter" idx="11"/>
          </p:nvPr>
        </p:nvSpPr>
        <p:spPr>
          <a:noFill/>
        </p:spPr>
        <p:txBody>
          <a:bodyPr/>
          <a:lstStyle/>
          <a:p>
            <a:fld id="{BA6F9C0C-48F7-4073-96E2-BDE69B752CDF}" type="slidenum">
              <a:rPr lang="x-none" smtClean="0"/>
              <a:pPr/>
              <a:t>72</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EAF7E92-DB33-4792-8757-3AEB70606FB8}" type="slidenum">
              <a:rPr lang="x-none" sz="1400">
                <a:solidFill>
                  <a:schemeClr val="tx1"/>
                </a:solidFill>
                <a:latin typeface="Arial" pitchFamily="34" charset="0"/>
                <a:cs typeface="Arial" pitchFamily="34" charset="0"/>
              </a:rPr>
              <a:pPr>
                <a:defRPr/>
              </a:pPr>
              <a:t>72</a:t>
            </a:fld>
            <a:endParaRPr lang="en-US" sz="1400" dirty="0">
              <a:solidFill>
                <a:schemeClr val="tx1"/>
              </a:solidFill>
              <a:latin typeface="Arial" pitchFamily="34" charset="0"/>
              <a:cs typeface="Arial" pitchFamily="34" charset="0"/>
            </a:endParaRPr>
          </a:p>
        </p:txBody>
      </p:sp>
      <p:sp>
        <p:nvSpPr>
          <p:cNvPr id="72709" name="Rectangle 2"/>
          <p:cNvSpPr>
            <a:spLocks noGrp="1" noChangeArrowheads="1"/>
          </p:cNvSpPr>
          <p:nvPr>
            <p:ph type="title" idx="4294967295"/>
          </p:nvPr>
        </p:nvSpPr>
        <p:spPr/>
        <p:txBody>
          <a:bodyPr/>
          <a:lstStyle/>
          <a:p>
            <a:r>
              <a:rPr lang="en-US" sz="4000"/>
              <a:t>Shared-Memory Multiprocessors</a:t>
            </a:r>
          </a:p>
        </p:txBody>
      </p:sp>
      <p:sp>
        <p:nvSpPr>
          <p:cNvPr id="72710" name="Rectangle 3"/>
          <p:cNvSpPr>
            <a:spLocks noGrp="1" noChangeArrowheads="1"/>
          </p:cNvSpPr>
          <p:nvPr>
            <p:ph type="body" idx="4294967295"/>
          </p:nvPr>
        </p:nvSpPr>
        <p:spPr/>
        <p:txBody>
          <a:bodyPr/>
          <a:lstStyle/>
          <a:p>
            <a:r>
              <a:rPr lang="en-US"/>
              <a:t>Parallel applications</a:t>
            </a:r>
          </a:p>
          <a:p>
            <a:pPr lvl="1"/>
            <a:r>
              <a:rPr lang="en-US"/>
              <a:t>Do not have direct access to HW processors</a:t>
            </a:r>
          </a:p>
          <a:p>
            <a:r>
              <a:rPr lang="en-US"/>
              <a:t>Mix of other jobs</a:t>
            </a:r>
          </a:p>
          <a:p>
            <a:pPr lvl="1"/>
            <a:r>
              <a:rPr lang="en-US"/>
              <a:t>All run together</a:t>
            </a:r>
          </a:p>
          <a:p>
            <a:pPr lvl="1"/>
            <a:r>
              <a:rPr lang="en-US"/>
              <a:t>Come &amp; go dynamically</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1"/>
          <p:cNvSpPr>
            <a:spLocks noGrp="1"/>
          </p:cNvSpPr>
          <p:nvPr>
            <p:ph type="ftr" sz="quarter" idx="10"/>
          </p:nvPr>
        </p:nvSpPr>
        <p:spPr>
          <a:noFill/>
        </p:spPr>
        <p:txBody>
          <a:bodyPr/>
          <a:lstStyle/>
          <a:p>
            <a:r>
              <a:rPr lang="en-US"/>
              <a:t>Art of Multiprocessor Programming</a:t>
            </a:r>
          </a:p>
        </p:txBody>
      </p:sp>
      <p:sp>
        <p:nvSpPr>
          <p:cNvPr id="73731" name="Slide Number Placeholder 2"/>
          <p:cNvSpPr>
            <a:spLocks noGrp="1"/>
          </p:cNvSpPr>
          <p:nvPr>
            <p:ph type="sldNum" sz="quarter" idx="11"/>
          </p:nvPr>
        </p:nvSpPr>
        <p:spPr>
          <a:noFill/>
        </p:spPr>
        <p:txBody>
          <a:bodyPr/>
          <a:lstStyle/>
          <a:p>
            <a:fld id="{96F7F048-FDED-41FC-8AE4-8CD177DA1BDD}" type="slidenum">
              <a:rPr lang="x-none" smtClean="0"/>
              <a:pPr/>
              <a:t>73</a:t>
            </a:fld>
            <a:endParaRPr lang="en-US"/>
          </a:p>
        </p:txBody>
      </p:sp>
      <p:sp>
        <p:nvSpPr>
          <p:cNvPr id="8"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92D6083-0685-42BC-A393-90A26B3F716B}" type="slidenum">
              <a:rPr lang="x-none" sz="1400">
                <a:solidFill>
                  <a:schemeClr val="tx1"/>
                </a:solidFill>
                <a:latin typeface="Arial" pitchFamily="34" charset="0"/>
                <a:cs typeface="Arial" pitchFamily="34" charset="0"/>
              </a:rPr>
              <a:pPr>
                <a:defRPr/>
              </a:pPr>
              <a:t>73</a:t>
            </a:fld>
            <a:endParaRPr lang="en-US" sz="1400" dirty="0">
              <a:solidFill>
                <a:schemeClr val="tx1"/>
              </a:solidFill>
              <a:latin typeface="Arial" pitchFamily="34" charset="0"/>
              <a:cs typeface="Arial" pitchFamily="34" charset="0"/>
            </a:endParaRPr>
          </a:p>
        </p:txBody>
      </p:sp>
      <p:sp>
        <p:nvSpPr>
          <p:cNvPr id="73733" name="Rectangle 2"/>
          <p:cNvSpPr>
            <a:spLocks noGrp="1" noChangeArrowheads="1"/>
          </p:cNvSpPr>
          <p:nvPr>
            <p:ph type="title" idx="4294967295"/>
          </p:nvPr>
        </p:nvSpPr>
        <p:spPr/>
        <p:txBody>
          <a:bodyPr/>
          <a:lstStyle/>
          <a:p>
            <a:r>
              <a:rPr lang="en-US"/>
              <a:t>Ideal Scheduling Hierarchy</a:t>
            </a:r>
          </a:p>
        </p:txBody>
      </p:sp>
      <p:sp>
        <p:nvSpPr>
          <p:cNvPr id="73734" name="Rectangle 4"/>
          <p:cNvSpPr>
            <a:spLocks noChangeArrowheads="1"/>
          </p:cNvSpPr>
          <p:nvPr/>
        </p:nvSpPr>
        <p:spPr bwMode="auto">
          <a:xfrm>
            <a:off x="1460500" y="2165350"/>
            <a:ext cx="6015038" cy="457200"/>
          </a:xfrm>
          <a:prstGeom prst="rect">
            <a:avLst/>
          </a:prstGeom>
          <a:solidFill>
            <a:schemeClr val="hlink"/>
          </a:solidFill>
          <a:ln w="9525" algn="ctr">
            <a:noFill/>
            <a:miter lim="800000"/>
            <a:headEnd/>
            <a:tailEnd/>
          </a:ln>
        </p:spPr>
        <p:txBody>
          <a:bodyPr anchor="ctr">
            <a:spAutoFit/>
          </a:bodyPr>
          <a:lstStyle/>
          <a:p>
            <a:pPr algn="ctr"/>
            <a:r>
              <a:rPr lang="en-US" b="1" dirty="0">
                <a:latin typeface="Arial" pitchFamily="34" charset="0"/>
              </a:rPr>
              <a:t>Tasks</a:t>
            </a:r>
          </a:p>
        </p:txBody>
      </p:sp>
      <p:sp>
        <p:nvSpPr>
          <p:cNvPr id="73735" name="Rectangle 6"/>
          <p:cNvSpPr>
            <a:spLocks noChangeArrowheads="1"/>
          </p:cNvSpPr>
          <p:nvPr/>
        </p:nvSpPr>
        <p:spPr bwMode="auto">
          <a:xfrm>
            <a:off x="1460500" y="3790950"/>
            <a:ext cx="6015038" cy="457200"/>
          </a:xfrm>
          <a:prstGeom prst="rect">
            <a:avLst/>
          </a:prstGeom>
          <a:solidFill>
            <a:schemeClr val="hlink"/>
          </a:solidFill>
          <a:ln w="9525" algn="ctr">
            <a:noFill/>
            <a:miter lim="800000"/>
            <a:headEnd/>
            <a:tailEnd/>
          </a:ln>
        </p:spPr>
        <p:txBody>
          <a:bodyPr anchor="ctr">
            <a:spAutoFit/>
          </a:bodyPr>
          <a:lstStyle/>
          <a:p>
            <a:pPr algn="ctr"/>
            <a:r>
              <a:rPr lang="en-US" b="1" dirty="0">
                <a:latin typeface="Arial" pitchFamily="34" charset="0"/>
              </a:rPr>
              <a:t>Processors</a:t>
            </a:r>
          </a:p>
        </p:txBody>
      </p:sp>
      <p:sp>
        <p:nvSpPr>
          <p:cNvPr id="73736" name="Oval 7"/>
          <p:cNvSpPr>
            <a:spLocks noChangeArrowheads="1"/>
          </p:cNvSpPr>
          <p:nvPr/>
        </p:nvSpPr>
        <p:spPr bwMode="auto">
          <a:xfrm>
            <a:off x="2283859" y="2825006"/>
            <a:ext cx="4211157" cy="649188"/>
          </a:xfrm>
          <a:prstGeom prst="ellipse">
            <a:avLst/>
          </a:prstGeom>
          <a:solidFill>
            <a:srgbClr val="9966FF"/>
          </a:solidFill>
          <a:ln w="9525" algn="ctr">
            <a:noFill/>
            <a:round/>
            <a:headEnd/>
            <a:tailEnd/>
          </a:ln>
        </p:spPr>
        <p:txBody>
          <a:bodyPr wrap="none" anchor="ctr">
            <a:spAutoFit/>
          </a:bodyPr>
          <a:lstStyle/>
          <a:p>
            <a:pPr algn="ctr"/>
            <a:r>
              <a:rPr lang="en-US" dirty="0">
                <a:solidFill>
                  <a:schemeClr val="tx2"/>
                </a:solidFill>
                <a:latin typeface="Arial" pitchFamily="34" charset="0"/>
              </a:rPr>
              <a:t>User-level scheduler</a:t>
            </a:r>
          </a:p>
        </p:txBody>
      </p:sp>
      <p:sp>
        <p:nvSpPr>
          <p:cNvPr id="73737" name="AutoShape 9"/>
          <p:cNvSpPr>
            <a:spLocks noChangeArrowheads="1"/>
          </p:cNvSpPr>
          <p:nvPr/>
        </p:nvSpPr>
        <p:spPr bwMode="auto">
          <a:xfrm>
            <a:off x="6769100" y="2844800"/>
            <a:ext cx="444500" cy="685800"/>
          </a:xfrm>
          <a:prstGeom prst="downArrow">
            <a:avLst>
              <a:gd name="adj1" fmla="val 50000"/>
              <a:gd name="adj2" fmla="val 38571"/>
            </a:avLst>
          </a:prstGeom>
          <a:solidFill>
            <a:srgbClr val="9966FF"/>
          </a:solidFill>
          <a:ln w="9525" algn="ctr">
            <a:noFill/>
            <a:miter lim="800000"/>
            <a:headEnd/>
            <a:tailEnd/>
          </a:ln>
        </p:spPr>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1"/>
          <p:cNvSpPr>
            <a:spLocks noGrp="1"/>
          </p:cNvSpPr>
          <p:nvPr>
            <p:ph type="ftr" sz="quarter" idx="10"/>
          </p:nvPr>
        </p:nvSpPr>
        <p:spPr>
          <a:noFill/>
        </p:spPr>
        <p:txBody>
          <a:bodyPr/>
          <a:lstStyle/>
          <a:p>
            <a:r>
              <a:rPr lang="en-US"/>
              <a:t>Art of Multiprocessor Programming</a:t>
            </a:r>
          </a:p>
        </p:txBody>
      </p:sp>
      <p:sp>
        <p:nvSpPr>
          <p:cNvPr id="74755" name="Slide Number Placeholder 2"/>
          <p:cNvSpPr>
            <a:spLocks noGrp="1"/>
          </p:cNvSpPr>
          <p:nvPr>
            <p:ph type="sldNum" sz="quarter" idx="11"/>
          </p:nvPr>
        </p:nvSpPr>
        <p:spPr>
          <a:noFill/>
        </p:spPr>
        <p:txBody>
          <a:bodyPr/>
          <a:lstStyle/>
          <a:p>
            <a:fld id="{8FE520C7-5ABE-44ED-B186-1FACD87FA9C5}" type="slidenum">
              <a:rPr lang="x-none" smtClean="0"/>
              <a:pPr/>
              <a:t>74</a:t>
            </a:fld>
            <a:endParaRPr lang="en-US"/>
          </a:p>
        </p:txBody>
      </p:sp>
      <p:sp>
        <p:nvSpPr>
          <p:cNvPr id="11"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AD133F4-978D-4577-8567-BB22708B3AC3}" type="slidenum">
              <a:rPr lang="x-none" sz="1400">
                <a:solidFill>
                  <a:schemeClr val="tx1"/>
                </a:solidFill>
                <a:latin typeface="Arial" pitchFamily="34" charset="0"/>
                <a:cs typeface="Arial" pitchFamily="34" charset="0"/>
              </a:rPr>
              <a:pPr>
                <a:defRPr/>
              </a:pPr>
              <a:t>74</a:t>
            </a:fld>
            <a:endParaRPr lang="en-US" sz="1400" dirty="0">
              <a:solidFill>
                <a:schemeClr val="tx1"/>
              </a:solidFill>
              <a:latin typeface="Arial" pitchFamily="34" charset="0"/>
              <a:cs typeface="Arial" pitchFamily="34" charset="0"/>
            </a:endParaRPr>
          </a:p>
        </p:txBody>
      </p:sp>
      <p:sp>
        <p:nvSpPr>
          <p:cNvPr id="74757" name="Rectangle 2"/>
          <p:cNvSpPr>
            <a:spLocks noGrp="1" noChangeArrowheads="1"/>
          </p:cNvSpPr>
          <p:nvPr>
            <p:ph type="title" idx="4294967295"/>
          </p:nvPr>
        </p:nvSpPr>
        <p:spPr/>
        <p:txBody>
          <a:bodyPr/>
          <a:lstStyle/>
          <a:p>
            <a:r>
              <a:rPr lang="en-US" sz="4000"/>
              <a:t>Realistic Scheduling Hierarchy</a:t>
            </a:r>
          </a:p>
        </p:txBody>
      </p:sp>
      <p:sp>
        <p:nvSpPr>
          <p:cNvPr id="74758" name="Rectangle 3"/>
          <p:cNvSpPr>
            <a:spLocks noChangeArrowheads="1"/>
          </p:cNvSpPr>
          <p:nvPr/>
        </p:nvSpPr>
        <p:spPr bwMode="auto">
          <a:xfrm>
            <a:off x="1460500" y="2165350"/>
            <a:ext cx="6015038" cy="457200"/>
          </a:xfrm>
          <a:prstGeom prst="rect">
            <a:avLst/>
          </a:prstGeom>
          <a:solidFill>
            <a:schemeClr val="hlink"/>
          </a:solidFill>
          <a:ln w="9525" algn="ctr">
            <a:noFill/>
            <a:miter lim="800000"/>
            <a:headEnd/>
            <a:tailEnd/>
          </a:ln>
        </p:spPr>
        <p:txBody>
          <a:bodyPr anchor="ctr">
            <a:spAutoFit/>
          </a:bodyPr>
          <a:lstStyle/>
          <a:p>
            <a:pPr algn="ctr"/>
            <a:r>
              <a:rPr lang="en-US" b="1" dirty="0">
                <a:latin typeface="Arial" pitchFamily="34" charset="0"/>
              </a:rPr>
              <a:t>Tasks</a:t>
            </a:r>
          </a:p>
        </p:txBody>
      </p:sp>
      <p:sp>
        <p:nvSpPr>
          <p:cNvPr id="74759" name="Rectangle 4"/>
          <p:cNvSpPr>
            <a:spLocks noChangeArrowheads="1"/>
          </p:cNvSpPr>
          <p:nvPr/>
        </p:nvSpPr>
        <p:spPr bwMode="auto">
          <a:xfrm>
            <a:off x="1485900" y="3702050"/>
            <a:ext cx="6015038" cy="457200"/>
          </a:xfrm>
          <a:prstGeom prst="rect">
            <a:avLst/>
          </a:prstGeom>
          <a:solidFill>
            <a:schemeClr val="hlink"/>
          </a:solidFill>
          <a:ln w="9525" algn="ctr">
            <a:noFill/>
            <a:miter lim="800000"/>
            <a:headEnd/>
            <a:tailEnd/>
          </a:ln>
        </p:spPr>
        <p:txBody>
          <a:bodyPr anchor="ctr">
            <a:spAutoFit/>
          </a:bodyPr>
          <a:lstStyle/>
          <a:p>
            <a:pPr algn="ctr"/>
            <a:r>
              <a:rPr lang="en-US" b="1" dirty="0">
                <a:latin typeface="Arial" pitchFamily="34" charset="0"/>
              </a:rPr>
              <a:t>Threads</a:t>
            </a:r>
          </a:p>
        </p:txBody>
      </p:sp>
      <p:sp>
        <p:nvSpPr>
          <p:cNvPr id="74760" name="Rectangle 5"/>
          <p:cNvSpPr>
            <a:spLocks noChangeArrowheads="1"/>
          </p:cNvSpPr>
          <p:nvPr/>
        </p:nvSpPr>
        <p:spPr bwMode="auto">
          <a:xfrm>
            <a:off x="1460500" y="5264150"/>
            <a:ext cx="6015038" cy="457200"/>
          </a:xfrm>
          <a:prstGeom prst="rect">
            <a:avLst/>
          </a:prstGeom>
          <a:solidFill>
            <a:schemeClr val="hlink"/>
          </a:solidFill>
          <a:ln w="9525" algn="ctr">
            <a:noFill/>
            <a:miter lim="800000"/>
            <a:headEnd/>
            <a:tailEnd/>
          </a:ln>
        </p:spPr>
        <p:txBody>
          <a:bodyPr anchor="ctr">
            <a:spAutoFit/>
          </a:bodyPr>
          <a:lstStyle/>
          <a:p>
            <a:pPr algn="ctr"/>
            <a:r>
              <a:rPr lang="en-US" b="1" dirty="0">
                <a:latin typeface="Arial" pitchFamily="34" charset="0"/>
              </a:rPr>
              <a:t>Processors</a:t>
            </a:r>
          </a:p>
        </p:txBody>
      </p:sp>
      <p:sp>
        <p:nvSpPr>
          <p:cNvPr id="74761" name="Oval 6"/>
          <p:cNvSpPr>
            <a:spLocks noChangeArrowheads="1"/>
          </p:cNvSpPr>
          <p:nvPr/>
        </p:nvSpPr>
        <p:spPr bwMode="auto">
          <a:xfrm>
            <a:off x="2283859" y="2825006"/>
            <a:ext cx="4211157" cy="649188"/>
          </a:xfrm>
          <a:prstGeom prst="ellipse">
            <a:avLst/>
          </a:prstGeom>
          <a:solidFill>
            <a:srgbClr val="9966FF"/>
          </a:solidFill>
          <a:ln w="9525" algn="ctr">
            <a:noFill/>
            <a:round/>
            <a:headEnd/>
            <a:tailEnd/>
          </a:ln>
        </p:spPr>
        <p:txBody>
          <a:bodyPr wrap="none" anchor="ctr">
            <a:spAutoFit/>
          </a:bodyPr>
          <a:lstStyle/>
          <a:p>
            <a:pPr algn="ctr"/>
            <a:r>
              <a:rPr lang="en-US" dirty="0">
                <a:solidFill>
                  <a:schemeClr val="tx2"/>
                </a:solidFill>
                <a:latin typeface="Arial" pitchFamily="34" charset="0"/>
              </a:rPr>
              <a:t>User-level scheduler</a:t>
            </a:r>
          </a:p>
        </p:txBody>
      </p:sp>
      <p:sp>
        <p:nvSpPr>
          <p:cNvPr id="74762" name="Oval 7"/>
          <p:cNvSpPr>
            <a:spLocks noChangeArrowheads="1"/>
          </p:cNvSpPr>
          <p:nvPr/>
        </p:nvSpPr>
        <p:spPr bwMode="auto">
          <a:xfrm>
            <a:off x="2078287" y="4349006"/>
            <a:ext cx="4549276" cy="649188"/>
          </a:xfrm>
          <a:prstGeom prst="ellipse">
            <a:avLst/>
          </a:prstGeom>
          <a:solidFill>
            <a:srgbClr val="9966FF"/>
          </a:solidFill>
          <a:ln w="9525" algn="ctr">
            <a:noFill/>
            <a:round/>
            <a:headEnd/>
            <a:tailEnd/>
          </a:ln>
        </p:spPr>
        <p:txBody>
          <a:bodyPr wrap="none" anchor="ctr">
            <a:spAutoFit/>
          </a:bodyPr>
          <a:lstStyle/>
          <a:p>
            <a:pPr algn="ctr"/>
            <a:r>
              <a:rPr lang="en-US" dirty="0">
                <a:solidFill>
                  <a:schemeClr val="tx2"/>
                </a:solidFill>
                <a:latin typeface="Arial" pitchFamily="34" charset="0"/>
              </a:rPr>
              <a:t>Kernel-level scheduler</a:t>
            </a:r>
          </a:p>
        </p:txBody>
      </p:sp>
      <p:sp>
        <p:nvSpPr>
          <p:cNvPr id="74763" name="AutoShape 8"/>
          <p:cNvSpPr>
            <a:spLocks noChangeArrowheads="1"/>
          </p:cNvSpPr>
          <p:nvPr/>
        </p:nvSpPr>
        <p:spPr bwMode="auto">
          <a:xfrm>
            <a:off x="6769100" y="2844800"/>
            <a:ext cx="444500" cy="685800"/>
          </a:xfrm>
          <a:prstGeom prst="downArrow">
            <a:avLst>
              <a:gd name="adj1" fmla="val 50000"/>
              <a:gd name="adj2" fmla="val 38571"/>
            </a:avLst>
          </a:prstGeom>
          <a:solidFill>
            <a:srgbClr val="9966FF"/>
          </a:solidFill>
          <a:ln w="9525" algn="ctr">
            <a:noFill/>
            <a:miter lim="800000"/>
            <a:headEnd/>
            <a:tailEnd/>
          </a:ln>
        </p:spPr>
        <p:txBody>
          <a:bodyPr wrap="none" anchor="ctr">
            <a:spAutoFit/>
          </a:bodyPr>
          <a:lstStyle/>
          <a:p>
            <a:pPr algn="l"/>
            <a:endParaRPr lang="en-US" b="1">
              <a:latin typeface="Arial" pitchFamily="34" charset="0"/>
            </a:endParaRPr>
          </a:p>
        </p:txBody>
      </p:sp>
      <p:sp>
        <p:nvSpPr>
          <p:cNvPr id="74764" name="AutoShape 9"/>
          <p:cNvSpPr>
            <a:spLocks noChangeArrowheads="1"/>
          </p:cNvSpPr>
          <p:nvPr/>
        </p:nvSpPr>
        <p:spPr bwMode="auto">
          <a:xfrm>
            <a:off x="6794500" y="4394200"/>
            <a:ext cx="444500" cy="685800"/>
          </a:xfrm>
          <a:prstGeom prst="downArrow">
            <a:avLst>
              <a:gd name="adj1" fmla="val 50000"/>
              <a:gd name="adj2" fmla="val 38571"/>
            </a:avLst>
          </a:prstGeom>
          <a:solidFill>
            <a:srgbClr val="9966FF"/>
          </a:solidFill>
          <a:ln w="9525" algn="ctr">
            <a:noFill/>
            <a:miter lim="800000"/>
            <a:headEnd/>
            <a:tailEnd/>
          </a:ln>
        </p:spPr>
        <p:txBody>
          <a:bodyPr wrap="none" anchor="ctr">
            <a:spAutoFit/>
          </a:bodyPr>
          <a:lstStyle/>
          <a:p>
            <a:pPr algn="l"/>
            <a:endParaRPr lang="en-US" b="1">
              <a:latin typeface="Arial" pitchFamily="34" charset="0"/>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1"/>
          <p:cNvSpPr>
            <a:spLocks noGrp="1"/>
          </p:cNvSpPr>
          <p:nvPr>
            <p:ph type="ftr" sz="quarter" idx="10"/>
          </p:nvPr>
        </p:nvSpPr>
        <p:spPr>
          <a:noFill/>
        </p:spPr>
        <p:txBody>
          <a:bodyPr/>
          <a:lstStyle/>
          <a:p>
            <a:r>
              <a:rPr lang="en-US"/>
              <a:t>Art of Multiprocessor Programming</a:t>
            </a:r>
          </a:p>
        </p:txBody>
      </p:sp>
      <p:sp>
        <p:nvSpPr>
          <p:cNvPr id="75779" name="Slide Number Placeholder 2"/>
          <p:cNvSpPr>
            <a:spLocks noGrp="1"/>
          </p:cNvSpPr>
          <p:nvPr>
            <p:ph type="sldNum" sz="quarter" idx="11"/>
          </p:nvPr>
        </p:nvSpPr>
        <p:spPr>
          <a:noFill/>
        </p:spPr>
        <p:txBody>
          <a:bodyPr/>
          <a:lstStyle/>
          <a:p>
            <a:fld id="{B0D17BCA-53D2-4DAE-B919-3F005793E2EE}" type="slidenum">
              <a:rPr lang="x-none" smtClean="0"/>
              <a:pPr/>
              <a:t>75</a:t>
            </a:fld>
            <a:endParaRPr lang="en-US"/>
          </a:p>
        </p:txBody>
      </p:sp>
      <p:sp>
        <p:nvSpPr>
          <p:cNvPr id="75780" name="Rectangle 2"/>
          <p:cNvSpPr>
            <a:spLocks noGrp="1" noChangeArrowheads="1"/>
          </p:cNvSpPr>
          <p:nvPr>
            <p:ph type="title" idx="4294967295"/>
          </p:nvPr>
        </p:nvSpPr>
        <p:spPr/>
        <p:txBody>
          <a:bodyPr/>
          <a:lstStyle/>
          <a:p>
            <a:r>
              <a:rPr lang="en-US"/>
              <a:t>For Example</a:t>
            </a:r>
          </a:p>
        </p:txBody>
      </p:sp>
      <p:sp>
        <p:nvSpPr>
          <p:cNvPr id="75781" name="Rectangle 3"/>
          <p:cNvSpPr>
            <a:spLocks noGrp="1" noChangeArrowheads="1"/>
          </p:cNvSpPr>
          <p:nvPr>
            <p:ph type="body" idx="4294967295"/>
          </p:nvPr>
        </p:nvSpPr>
        <p:spPr/>
        <p:txBody>
          <a:bodyPr/>
          <a:lstStyle/>
          <a:p>
            <a:r>
              <a:rPr lang="en-US"/>
              <a:t>Initially,</a:t>
            </a:r>
          </a:p>
          <a:p>
            <a:pPr lvl="1"/>
            <a:r>
              <a:rPr lang="en-US"/>
              <a:t>All </a:t>
            </a:r>
            <a:r>
              <a:rPr lang="en-US">
                <a:solidFill>
                  <a:schemeClr val="tx1"/>
                </a:solidFill>
              </a:rPr>
              <a:t>P</a:t>
            </a:r>
            <a:r>
              <a:rPr lang="en-US"/>
              <a:t> processors available for application</a:t>
            </a:r>
          </a:p>
          <a:p>
            <a:r>
              <a:rPr lang="en-US"/>
              <a:t>Serial computation</a:t>
            </a:r>
          </a:p>
          <a:p>
            <a:pPr lvl="1"/>
            <a:r>
              <a:rPr lang="en-US"/>
              <a:t>Takes over one processor</a:t>
            </a:r>
          </a:p>
          <a:p>
            <a:pPr lvl="1"/>
            <a:r>
              <a:rPr lang="en-US"/>
              <a:t>Leaving </a:t>
            </a:r>
            <a:r>
              <a:rPr lang="en-US">
                <a:solidFill>
                  <a:schemeClr val="tx1"/>
                </a:solidFill>
              </a:rPr>
              <a:t>P-1</a:t>
            </a:r>
            <a:r>
              <a:rPr lang="en-US"/>
              <a:t> for us</a:t>
            </a:r>
          </a:p>
          <a:p>
            <a:pPr lvl="1"/>
            <a:r>
              <a:rPr lang="en-US"/>
              <a:t>Waits for I/O</a:t>
            </a:r>
          </a:p>
          <a:p>
            <a:pPr lvl="1"/>
            <a:r>
              <a:rPr lang="en-US"/>
              <a:t>We get that processor back ….</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1"/>
          <p:cNvSpPr>
            <a:spLocks noGrp="1"/>
          </p:cNvSpPr>
          <p:nvPr>
            <p:ph type="ftr" sz="quarter" idx="10"/>
          </p:nvPr>
        </p:nvSpPr>
        <p:spPr>
          <a:noFill/>
        </p:spPr>
        <p:txBody>
          <a:bodyPr/>
          <a:lstStyle/>
          <a:p>
            <a:r>
              <a:rPr lang="en-US"/>
              <a:t>Art of Multiprocessor Programming</a:t>
            </a:r>
          </a:p>
        </p:txBody>
      </p:sp>
      <p:sp>
        <p:nvSpPr>
          <p:cNvPr id="76803" name="Slide Number Placeholder 2"/>
          <p:cNvSpPr>
            <a:spLocks noGrp="1"/>
          </p:cNvSpPr>
          <p:nvPr>
            <p:ph type="sldNum" sz="quarter" idx="11"/>
          </p:nvPr>
        </p:nvSpPr>
        <p:spPr>
          <a:noFill/>
        </p:spPr>
        <p:txBody>
          <a:bodyPr/>
          <a:lstStyle/>
          <a:p>
            <a:fld id="{DB5AF26F-53EE-49D9-A0F5-DB21B392A5ED}" type="slidenum">
              <a:rPr lang="x-none" smtClean="0"/>
              <a:pPr/>
              <a:t>76</a:t>
            </a:fld>
            <a:endParaRPr lang="en-US"/>
          </a:p>
        </p:txBody>
      </p:sp>
      <p:sp>
        <p:nvSpPr>
          <p:cNvPr id="76804" name="Rectangle 2"/>
          <p:cNvSpPr>
            <a:spLocks noGrp="1" noChangeArrowheads="1"/>
          </p:cNvSpPr>
          <p:nvPr>
            <p:ph type="title" idx="4294967295"/>
          </p:nvPr>
        </p:nvSpPr>
        <p:spPr/>
        <p:txBody>
          <a:bodyPr/>
          <a:lstStyle/>
          <a:p>
            <a:r>
              <a:rPr lang="en-US" dirty="0"/>
              <a:t>Speedup</a:t>
            </a:r>
          </a:p>
        </p:txBody>
      </p:sp>
      <p:sp>
        <p:nvSpPr>
          <p:cNvPr id="76805" name="Rectangle 3"/>
          <p:cNvSpPr>
            <a:spLocks noGrp="1" noChangeArrowheads="1"/>
          </p:cNvSpPr>
          <p:nvPr>
            <p:ph type="body" idx="4294967295"/>
          </p:nvPr>
        </p:nvSpPr>
        <p:spPr/>
        <p:txBody>
          <a:bodyPr/>
          <a:lstStyle/>
          <a:p>
            <a:r>
              <a:rPr lang="en-US" dirty="0"/>
              <a:t>Map threads onto </a:t>
            </a:r>
            <a:r>
              <a:rPr lang="en-US" dirty="0">
                <a:solidFill>
                  <a:schemeClr val="tx1"/>
                </a:solidFill>
              </a:rPr>
              <a:t>P</a:t>
            </a:r>
            <a:r>
              <a:rPr lang="en-US" dirty="0"/>
              <a:t> processes</a:t>
            </a:r>
          </a:p>
          <a:p>
            <a:r>
              <a:rPr lang="en-US" dirty="0"/>
              <a:t>Cannot get </a:t>
            </a:r>
            <a:r>
              <a:rPr lang="en-US" dirty="0">
                <a:solidFill>
                  <a:schemeClr val="tx1"/>
                </a:solidFill>
              </a:rPr>
              <a:t>P</a:t>
            </a:r>
            <a:r>
              <a:rPr lang="en-US" dirty="0"/>
              <a:t>-fold speedup</a:t>
            </a:r>
          </a:p>
          <a:p>
            <a:pPr lvl="1"/>
            <a:r>
              <a:rPr lang="en-US" dirty="0"/>
              <a:t>What if the kernel doesn’t cooperate?</a:t>
            </a:r>
          </a:p>
          <a:p>
            <a:r>
              <a:rPr lang="en-US" dirty="0"/>
              <a:t>Can try for speedup proportional to </a:t>
            </a:r>
            <a:r>
              <a:rPr lang="en-US" dirty="0">
                <a:solidFill>
                  <a:schemeClr val="tx1"/>
                </a:solidFill>
              </a:rPr>
              <a:t>P</a:t>
            </a:r>
            <a:r>
              <a:rPr lang="en-US" dirty="0"/>
              <a:t> </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Footer Placeholder 1"/>
          <p:cNvSpPr>
            <a:spLocks noGrp="1"/>
          </p:cNvSpPr>
          <p:nvPr>
            <p:ph type="ftr" sz="quarter" idx="10"/>
          </p:nvPr>
        </p:nvSpPr>
        <p:spPr>
          <a:noFill/>
        </p:spPr>
        <p:txBody>
          <a:bodyPr/>
          <a:lstStyle/>
          <a:p>
            <a:r>
              <a:rPr lang="en-US"/>
              <a:t>Art of Multiprocessor Programming</a:t>
            </a:r>
          </a:p>
        </p:txBody>
      </p:sp>
      <p:sp>
        <p:nvSpPr>
          <p:cNvPr id="10244" name="Slide Number Placeholder 2"/>
          <p:cNvSpPr>
            <a:spLocks noGrp="1"/>
          </p:cNvSpPr>
          <p:nvPr>
            <p:ph type="sldNum" sz="quarter" idx="11"/>
          </p:nvPr>
        </p:nvSpPr>
        <p:spPr>
          <a:noFill/>
        </p:spPr>
        <p:txBody>
          <a:bodyPr/>
          <a:lstStyle/>
          <a:p>
            <a:fld id="{46603450-EAE9-4CCE-8100-DD59ED7EC13F}" type="slidenum">
              <a:rPr lang="x-none" smtClean="0"/>
              <a:pPr/>
              <a:t>77</a:t>
            </a:fld>
            <a:endParaRPr lang="en-US"/>
          </a:p>
        </p:txBody>
      </p:sp>
      <p:sp>
        <p:nvSpPr>
          <p:cNvPr id="6" name="Slide Number Placeholder 5"/>
          <p:cNvSpPr txBox="1">
            <a:spLocks noGrp="1"/>
          </p:cNvSpPr>
          <p:nvPr/>
        </p:nvSpPr>
        <p:spPr bwMode="auto">
          <a:xfrm>
            <a:off x="6553200" y="6248400"/>
            <a:ext cx="1905000" cy="457200"/>
          </a:xfrm>
          <a:prstGeom prst="rect">
            <a:avLst/>
          </a:prstGeom>
          <a:noFill/>
          <a:ln>
            <a:miter lim="800000"/>
            <a:headEnd/>
            <a:tailEnd/>
          </a:ln>
        </p:spPr>
        <p:txBody>
          <a:bodyPr/>
          <a:lstStyle/>
          <a:p>
            <a:pPr>
              <a:defRPr/>
            </a:pPr>
            <a:fld id="{4F8267AC-3C45-4F51-B8A3-1032DFEAD95E}" type="slidenum">
              <a:rPr lang="x-none" sz="1400">
                <a:solidFill>
                  <a:schemeClr val="tx1"/>
                </a:solidFill>
                <a:latin typeface="Arial" pitchFamily="34" charset="0"/>
                <a:cs typeface="Arial" pitchFamily="34" charset="0"/>
              </a:rPr>
              <a:pPr>
                <a:defRPr/>
              </a:pPr>
              <a:t>77</a:t>
            </a:fld>
            <a:endParaRPr lang="en-US" sz="1400" dirty="0">
              <a:solidFill>
                <a:schemeClr val="tx1"/>
              </a:solidFill>
              <a:latin typeface="Arial" pitchFamily="34" charset="0"/>
              <a:cs typeface="Arial" pitchFamily="34" charset="0"/>
            </a:endParaRPr>
          </a:p>
        </p:txBody>
      </p:sp>
      <p:sp>
        <p:nvSpPr>
          <p:cNvPr id="10246" name="Rectangle 2"/>
          <p:cNvSpPr>
            <a:spLocks noGrp="1" noChangeArrowheads="1"/>
          </p:cNvSpPr>
          <p:nvPr>
            <p:ph type="title" idx="4294967295"/>
          </p:nvPr>
        </p:nvSpPr>
        <p:spPr/>
        <p:txBody>
          <a:bodyPr/>
          <a:lstStyle/>
          <a:p>
            <a:r>
              <a:rPr lang="en-US"/>
              <a:t>Scheduling Hierarchy</a:t>
            </a:r>
          </a:p>
        </p:txBody>
      </p:sp>
      <p:sp>
        <p:nvSpPr>
          <p:cNvPr id="10247" name="Rectangle 3"/>
          <p:cNvSpPr>
            <a:spLocks noGrp="1" noChangeArrowheads="1"/>
          </p:cNvSpPr>
          <p:nvPr>
            <p:ph type="body" sz="half" idx="4294967295"/>
          </p:nvPr>
        </p:nvSpPr>
        <p:spPr>
          <a:xfrm>
            <a:off x="685800" y="1981200"/>
            <a:ext cx="7404100" cy="4114800"/>
          </a:xfrm>
        </p:spPr>
        <p:txBody>
          <a:bodyPr/>
          <a:lstStyle/>
          <a:p>
            <a:r>
              <a:rPr lang="en-US" sz="2800" dirty="0"/>
              <a:t>User-level scheduler</a:t>
            </a:r>
          </a:p>
          <a:p>
            <a:pPr lvl="1"/>
            <a:r>
              <a:rPr lang="en-US" sz="2400" dirty="0"/>
              <a:t>Tells kernel which threads are ready</a:t>
            </a:r>
          </a:p>
          <a:p>
            <a:r>
              <a:rPr lang="en-US" sz="2800" dirty="0"/>
              <a:t>Kernel-level scheduler</a:t>
            </a:r>
          </a:p>
          <a:p>
            <a:pPr lvl="1"/>
            <a:r>
              <a:rPr lang="en-US" sz="2400" dirty="0"/>
              <a:t>Synchronous (for analysis, not correctness!)</a:t>
            </a:r>
          </a:p>
          <a:p>
            <a:pPr lvl="1"/>
            <a:r>
              <a:rPr lang="en-US" sz="2400" dirty="0"/>
              <a:t>Picks </a:t>
            </a:r>
            <a:r>
              <a:rPr lang="en-US" sz="2400" b="1" dirty="0">
                <a:solidFill>
                  <a:schemeClr val="tx1"/>
                </a:solidFill>
              </a:rPr>
              <a:t>p</a:t>
            </a:r>
            <a:r>
              <a:rPr lang="en-US" sz="2400" b="1" baseline="-25000" dirty="0">
                <a:solidFill>
                  <a:schemeClr val="tx1"/>
                </a:solidFill>
              </a:rPr>
              <a:t>i</a:t>
            </a:r>
            <a:r>
              <a:rPr lang="en-US" sz="2400" dirty="0"/>
              <a:t> threads to schedule at step </a:t>
            </a:r>
            <a:r>
              <a:rPr lang="en-US" sz="2400" b="1" dirty="0" err="1">
                <a:solidFill>
                  <a:schemeClr val="tx1"/>
                </a:solidFill>
              </a:rPr>
              <a:t>i</a:t>
            </a:r>
            <a:endParaRPr lang="en-US" sz="2400" dirty="0"/>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Greedy Scheduling</a:t>
            </a:r>
          </a:p>
        </p:txBody>
      </p:sp>
      <p:sp>
        <p:nvSpPr>
          <p:cNvPr id="51" name="Content Placeholder 50"/>
          <p:cNvSpPr>
            <a:spLocks noGrp="1"/>
          </p:cNvSpPr>
          <p:nvPr>
            <p:ph sz="quarter" idx="4"/>
          </p:nvPr>
        </p:nvSpPr>
        <p:spPr/>
        <p:txBody>
          <a:bodyPr/>
          <a:lstStyle/>
          <a:p>
            <a:r>
              <a:rPr lang="en-US" dirty="0"/>
              <a:t>A node is </a:t>
            </a:r>
            <a:r>
              <a:rPr lang="en-US" i="1" dirty="0">
                <a:solidFill>
                  <a:schemeClr val="tx1"/>
                </a:solidFill>
              </a:rPr>
              <a:t>ready</a:t>
            </a:r>
            <a:r>
              <a:rPr lang="en-US" dirty="0"/>
              <a:t> if predecessors are done</a:t>
            </a:r>
          </a:p>
          <a:p>
            <a:r>
              <a:rPr lang="en-US" i="1" dirty="0">
                <a:solidFill>
                  <a:schemeClr val="tx1"/>
                </a:solidFill>
              </a:rPr>
              <a:t>Greedy</a:t>
            </a:r>
            <a:r>
              <a:rPr lang="en-US" dirty="0"/>
              <a:t>: schedule as many ready nodes as possible</a:t>
            </a:r>
          </a:p>
          <a:p>
            <a:r>
              <a:rPr lang="en-US" i="1" dirty="0">
                <a:solidFill>
                  <a:schemeClr val="tx1"/>
                </a:solidFill>
              </a:rPr>
              <a:t>Optimal</a:t>
            </a:r>
            <a:r>
              <a:rPr lang="en-US" dirty="0"/>
              <a:t> scheduler is greedy (why?)</a:t>
            </a:r>
          </a:p>
          <a:p>
            <a:r>
              <a:rPr lang="en-US" dirty="0"/>
              <a:t>But not every greedy scheduler is optimal</a:t>
            </a:r>
          </a:p>
          <a:p>
            <a:endParaRPr lang="en-US" dirty="0"/>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78</a:t>
            </a:fld>
            <a:endParaRPr lang="en-US"/>
          </a:p>
        </p:txBody>
      </p:sp>
      <p:sp>
        <p:nvSpPr>
          <p:cNvPr id="7" name="Oval 4"/>
          <p:cNvSpPr>
            <a:spLocks noChangeArrowheads="1"/>
          </p:cNvSpPr>
          <p:nvPr/>
        </p:nvSpPr>
        <p:spPr bwMode="auto">
          <a:xfrm>
            <a:off x="1865131" y="1508166"/>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8" name="Oval 4"/>
          <p:cNvSpPr>
            <a:spLocks noChangeArrowheads="1"/>
          </p:cNvSpPr>
          <p:nvPr/>
        </p:nvSpPr>
        <p:spPr bwMode="auto">
          <a:xfrm>
            <a:off x="1865131" y="2043550"/>
            <a:ext cx="308582" cy="299053"/>
          </a:xfrm>
          <a:prstGeom prst="ellipse">
            <a:avLst/>
          </a:prstGeom>
          <a:solidFill>
            <a:srgbClr val="C00000"/>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1" name="Oval 4"/>
          <p:cNvSpPr>
            <a:spLocks noChangeArrowheads="1"/>
          </p:cNvSpPr>
          <p:nvPr/>
        </p:nvSpPr>
        <p:spPr bwMode="auto">
          <a:xfrm>
            <a:off x="990680" y="2578934"/>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9" name="Oval 4"/>
          <p:cNvSpPr>
            <a:spLocks noChangeArrowheads="1"/>
          </p:cNvSpPr>
          <p:nvPr/>
        </p:nvSpPr>
        <p:spPr bwMode="auto">
          <a:xfrm>
            <a:off x="3606017"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0" name="Oval 4"/>
          <p:cNvSpPr>
            <a:spLocks noChangeArrowheads="1"/>
          </p:cNvSpPr>
          <p:nvPr/>
        </p:nvSpPr>
        <p:spPr bwMode="auto">
          <a:xfrm>
            <a:off x="1558151"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2" name="Oval 4"/>
          <p:cNvSpPr>
            <a:spLocks noChangeArrowheads="1"/>
          </p:cNvSpPr>
          <p:nvPr/>
        </p:nvSpPr>
        <p:spPr bwMode="auto">
          <a:xfrm>
            <a:off x="426416"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3" name="Oval 4"/>
          <p:cNvSpPr>
            <a:spLocks noChangeArrowheads="1"/>
          </p:cNvSpPr>
          <p:nvPr/>
        </p:nvSpPr>
        <p:spPr bwMode="auto">
          <a:xfrm>
            <a:off x="1165411" y="3649701"/>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4" name="Oval 4"/>
          <p:cNvSpPr>
            <a:spLocks noChangeArrowheads="1"/>
          </p:cNvSpPr>
          <p:nvPr/>
        </p:nvSpPr>
        <p:spPr bwMode="auto">
          <a:xfrm>
            <a:off x="2118545" y="3649701"/>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9" name="Oval 4"/>
          <p:cNvSpPr>
            <a:spLocks noChangeArrowheads="1"/>
          </p:cNvSpPr>
          <p:nvPr/>
        </p:nvSpPr>
        <p:spPr bwMode="auto">
          <a:xfrm>
            <a:off x="2118545"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4" name="Group 24"/>
          <p:cNvGrpSpPr/>
          <p:nvPr/>
        </p:nvGrpSpPr>
        <p:grpSpPr>
          <a:xfrm>
            <a:off x="1165411" y="4720469"/>
            <a:ext cx="2298736" cy="299053"/>
            <a:chOff x="2927597" y="5001711"/>
            <a:chExt cx="2838200" cy="381000"/>
          </a:xfrm>
          <a:solidFill>
            <a:schemeClr val="bg1">
              <a:lumMod val="65000"/>
            </a:schemeClr>
          </a:solidFill>
        </p:grpSpPr>
        <p:sp>
          <p:nvSpPr>
            <p:cNvPr id="21" name="Oval 4"/>
            <p:cNvSpPr>
              <a:spLocks noChangeArrowheads="1"/>
            </p:cNvSpPr>
            <p:nvPr/>
          </p:nvSpPr>
          <p:spPr bwMode="auto">
            <a:xfrm>
              <a:off x="29275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2" name="Oval 4"/>
            <p:cNvSpPr>
              <a:spLocks noChangeArrowheads="1"/>
            </p:cNvSpPr>
            <p:nvPr/>
          </p:nvSpPr>
          <p:spPr bwMode="auto">
            <a:xfrm>
              <a:off x="53847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23" name="Oval 4"/>
          <p:cNvSpPr>
            <a:spLocks noChangeArrowheads="1"/>
          </p:cNvSpPr>
          <p:nvPr/>
        </p:nvSpPr>
        <p:spPr bwMode="auto">
          <a:xfrm>
            <a:off x="1165411" y="5255853"/>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4" name="Oval 4"/>
          <p:cNvSpPr>
            <a:spLocks noChangeArrowheads="1"/>
          </p:cNvSpPr>
          <p:nvPr/>
        </p:nvSpPr>
        <p:spPr bwMode="auto">
          <a:xfrm>
            <a:off x="3117092" y="579123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
                                            <p:txEl>
                                              <p:pRg st="1" end="1"/>
                                            </p:txEl>
                                          </p:spTgt>
                                        </p:tgtEl>
                                        <p:attrNameLst>
                                          <p:attrName>style.visibility</p:attrName>
                                        </p:attrNameLst>
                                      </p:cBhvr>
                                      <p:to>
                                        <p:strVal val="visible"/>
                                      </p:to>
                                    </p:set>
                                    <p:animEffect transition="in" filter="blinds(horizontal)">
                                      <p:cBhvr>
                                        <p:cTn id="7" dur="500"/>
                                        <p:tgtEl>
                                          <p:spTgt spid="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Effect transition="in" filter="blinds(horizontal)">
                                      <p:cBhvr>
                                        <p:cTn id="12" dur="500"/>
                                        <p:tgtEl>
                                          <p:spTgt spid="5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animEffect transition="in" filter="blinds(horizontal)">
                                      <p:cBhvr>
                                        <p:cTn id="15" dur="500"/>
                                        <p:tgtEl>
                                          <p:spTgt spid="5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1">
                                            <p:txEl>
                                              <p:pRg st="2" end="2"/>
                                            </p:txEl>
                                          </p:spTgt>
                                        </p:tgtEl>
                                        <p:attrNameLst>
                                          <p:attrName>style.visibility</p:attrName>
                                        </p:attrNameLst>
                                      </p:cBhvr>
                                      <p:to>
                                        <p:strVal val="visible"/>
                                      </p:to>
                                    </p:set>
                                    <p:animEffect transition="in" filter="blinds(horizontal)">
                                      <p:cBhvr>
                                        <p:cTn id="20" dur="500"/>
                                        <p:tgtEl>
                                          <p:spTgt spid="51">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1">
                                            <p:txEl>
                                              <p:pRg st="3" end="3"/>
                                            </p:txEl>
                                          </p:spTgt>
                                        </p:tgtEl>
                                        <p:attrNameLst>
                                          <p:attrName>style.visibility</p:attrName>
                                        </p:attrNameLst>
                                      </p:cBhvr>
                                      <p:to>
                                        <p:strVal val="visible"/>
                                      </p:to>
                                    </p:set>
                                    <p:animEffect transition="in" filter="blinds(horizontal)">
                                      <p:cBhvr>
                                        <p:cTn id="23" dur="500"/>
                                        <p:tgtEl>
                                          <p:spTgt spid="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95"/>
          <p:cNvSpPr>
            <a:spLocks noGrp="1"/>
          </p:cNvSpPr>
          <p:nvPr>
            <p:ph type="title"/>
          </p:nvPr>
        </p:nvSpPr>
        <p:spPr/>
        <p:txBody>
          <a:bodyPr/>
          <a:lstStyle/>
          <a:p>
            <a:r>
              <a:rPr lang="en-US" dirty="0"/>
              <a:t>Greedy Scheduling</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79</a:t>
            </a:fld>
            <a:endParaRPr lang="en-US"/>
          </a:p>
        </p:txBody>
      </p:sp>
      <p:sp>
        <p:nvSpPr>
          <p:cNvPr id="7" name="Oval 4"/>
          <p:cNvSpPr>
            <a:spLocks noChangeArrowheads="1"/>
          </p:cNvSpPr>
          <p:nvPr/>
        </p:nvSpPr>
        <p:spPr bwMode="auto">
          <a:xfrm>
            <a:off x="1865131" y="1508166"/>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8" name="Oval 4"/>
          <p:cNvSpPr>
            <a:spLocks noChangeArrowheads="1"/>
          </p:cNvSpPr>
          <p:nvPr/>
        </p:nvSpPr>
        <p:spPr bwMode="auto">
          <a:xfrm>
            <a:off x="1865131" y="2043550"/>
            <a:ext cx="308582" cy="299053"/>
          </a:xfrm>
          <a:prstGeom prst="ellipse">
            <a:avLst/>
          </a:prstGeom>
          <a:solidFill>
            <a:srgbClr val="C00000"/>
          </a:solidFill>
          <a:ln w="38100">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1" name="Oval 4"/>
          <p:cNvSpPr>
            <a:spLocks noChangeArrowheads="1"/>
          </p:cNvSpPr>
          <p:nvPr/>
        </p:nvSpPr>
        <p:spPr bwMode="auto">
          <a:xfrm>
            <a:off x="990680" y="2578934"/>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9" name="Oval 4"/>
          <p:cNvSpPr>
            <a:spLocks noChangeArrowheads="1"/>
          </p:cNvSpPr>
          <p:nvPr/>
        </p:nvSpPr>
        <p:spPr bwMode="auto">
          <a:xfrm>
            <a:off x="3606017"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0" name="Oval 4"/>
          <p:cNvSpPr>
            <a:spLocks noChangeArrowheads="1"/>
          </p:cNvSpPr>
          <p:nvPr/>
        </p:nvSpPr>
        <p:spPr bwMode="auto">
          <a:xfrm>
            <a:off x="1558151"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2" name="Oval 4"/>
          <p:cNvSpPr>
            <a:spLocks noChangeArrowheads="1"/>
          </p:cNvSpPr>
          <p:nvPr/>
        </p:nvSpPr>
        <p:spPr bwMode="auto">
          <a:xfrm>
            <a:off x="426416" y="3114317"/>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3" name="Oval 4"/>
          <p:cNvSpPr>
            <a:spLocks noChangeArrowheads="1"/>
          </p:cNvSpPr>
          <p:nvPr/>
        </p:nvSpPr>
        <p:spPr bwMode="auto">
          <a:xfrm>
            <a:off x="1165411" y="3649701"/>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4" name="Oval 4"/>
          <p:cNvSpPr>
            <a:spLocks noChangeArrowheads="1"/>
          </p:cNvSpPr>
          <p:nvPr/>
        </p:nvSpPr>
        <p:spPr bwMode="auto">
          <a:xfrm>
            <a:off x="2118545" y="3649701"/>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5" name="Oval 4"/>
          <p:cNvSpPr>
            <a:spLocks noChangeArrowheads="1"/>
          </p:cNvSpPr>
          <p:nvPr/>
        </p:nvSpPr>
        <p:spPr bwMode="auto">
          <a:xfrm>
            <a:off x="3176139" y="3649701"/>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6" name="Oval 4"/>
          <p:cNvSpPr>
            <a:spLocks noChangeArrowheads="1"/>
          </p:cNvSpPr>
          <p:nvPr/>
        </p:nvSpPr>
        <p:spPr bwMode="auto">
          <a:xfrm>
            <a:off x="4181502" y="3649701"/>
            <a:ext cx="308582" cy="299053"/>
          </a:xfrm>
          <a:prstGeom prst="ellipse">
            <a:avLst/>
          </a:prstGeom>
          <a:solidFill>
            <a:srgbClr val="C000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7" name="Oval 4"/>
          <p:cNvSpPr>
            <a:spLocks noChangeArrowheads="1"/>
          </p:cNvSpPr>
          <p:nvPr/>
        </p:nvSpPr>
        <p:spPr bwMode="auto">
          <a:xfrm>
            <a:off x="426416"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8" name="Oval 4"/>
          <p:cNvSpPr>
            <a:spLocks noChangeArrowheads="1"/>
          </p:cNvSpPr>
          <p:nvPr/>
        </p:nvSpPr>
        <p:spPr bwMode="auto">
          <a:xfrm>
            <a:off x="1165411" y="4185085"/>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19" name="Oval 4"/>
          <p:cNvSpPr>
            <a:spLocks noChangeArrowheads="1"/>
          </p:cNvSpPr>
          <p:nvPr/>
        </p:nvSpPr>
        <p:spPr bwMode="auto">
          <a:xfrm>
            <a:off x="2118545"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0" name="Oval 4"/>
          <p:cNvSpPr>
            <a:spLocks noChangeArrowheads="1"/>
          </p:cNvSpPr>
          <p:nvPr/>
        </p:nvSpPr>
        <p:spPr bwMode="auto">
          <a:xfrm>
            <a:off x="4181502" y="4185085"/>
            <a:ext cx="308582" cy="299053"/>
          </a:xfrm>
          <a:prstGeom prst="ellipse">
            <a:avLst/>
          </a:prstGeom>
          <a:solidFill>
            <a:srgbClr val="FFFF00"/>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nvGrpSpPr>
          <p:cNvPr id="4" name="Group 24"/>
          <p:cNvGrpSpPr/>
          <p:nvPr/>
        </p:nvGrpSpPr>
        <p:grpSpPr>
          <a:xfrm>
            <a:off x="1165411" y="4720469"/>
            <a:ext cx="2298736" cy="299053"/>
            <a:chOff x="2927597" y="5001711"/>
            <a:chExt cx="2838200" cy="381000"/>
          </a:xfrm>
          <a:solidFill>
            <a:schemeClr val="bg1">
              <a:lumMod val="65000"/>
            </a:schemeClr>
          </a:solidFill>
        </p:grpSpPr>
        <p:sp>
          <p:nvSpPr>
            <p:cNvPr id="21" name="Oval 4"/>
            <p:cNvSpPr>
              <a:spLocks noChangeArrowheads="1"/>
            </p:cNvSpPr>
            <p:nvPr/>
          </p:nvSpPr>
          <p:spPr bwMode="auto">
            <a:xfrm>
              <a:off x="29275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2" name="Oval 4"/>
            <p:cNvSpPr>
              <a:spLocks noChangeArrowheads="1"/>
            </p:cNvSpPr>
            <p:nvPr/>
          </p:nvSpPr>
          <p:spPr bwMode="auto">
            <a:xfrm>
              <a:off x="5384797" y="5001711"/>
              <a:ext cx="381000" cy="381000"/>
            </a:xfrm>
            <a:prstGeom prst="ellipse">
              <a:avLst/>
            </a:prstGeom>
            <a:grp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grpSp>
      <p:sp>
        <p:nvSpPr>
          <p:cNvPr id="23" name="Oval 4"/>
          <p:cNvSpPr>
            <a:spLocks noChangeArrowheads="1"/>
          </p:cNvSpPr>
          <p:nvPr/>
        </p:nvSpPr>
        <p:spPr bwMode="auto">
          <a:xfrm>
            <a:off x="1165411" y="5255853"/>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sp>
        <p:nvSpPr>
          <p:cNvPr id="24" name="Oval 4"/>
          <p:cNvSpPr>
            <a:spLocks noChangeArrowheads="1"/>
          </p:cNvSpPr>
          <p:nvPr/>
        </p:nvSpPr>
        <p:spPr bwMode="auto">
          <a:xfrm>
            <a:off x="3117092" y="5791236"/>
            <a:ext cx="308582" cy="299053"/>
          </a:xfrm>
          <a:prstGeom prst="ellipse">
            <a:avLst/>
          </a:prstGeom>
          <a:solidFill>
            <a:schemeClr val="bg1">
              <a:lumMod val="65000"/>
            </a:schemeClr>
          </a:solidFill>
          <a:ln>
            <a:headEnd/>
            <a:tailEnd/>
          </a:ln>
        </p:spPr>
        <p:style>
          <a:lnRef idx="0">
            <a:schemeClr val="accent1"/>
          </a:lnRef>
          <a:fillRef idx="3">
            <a:schemeClr val="accent1"/>
          </a:fillRef>
          <a:effectRef idx="3">
            <a:schemeClr val="accent1"/>
          </a:effectRef>
          <a:fontRef idx="minor">
            <a:schemeClr val="lt1"/>
          </a:fontRef>
        </p:style>
        <p:txBody>
          <a:bodyPr wrap="none" anchor="ctr">
            <a:spAutoFit/>
          </a:bodyPr>
          <a:lstStyle/>
          <a:p>
            <a:pPr algn="l"/>
            <a:endParaRPr lang="en-US" b="1">
              <a:latin typeface="Arial" pitchFamily="34" charset="0"/>
            </a:endParaRPr>
          </a:p>
        </p:txBody>
      </p:sp>
      <p:cxnSp>
        <p:nvCxnSpPr>
          <p:cNvPr id="26" name="Straight Arrow Connector 25"/>
          <p:cNvCxnSpPr/>
          <p:nvPr/>
        </p:nvCxnSpPr>
        <p:spPr bwMode="auto">
          <a:xfrm rot="16200000" flipH="1">
            <a:off x="1899617" y="1917400"/>
            <a:ext cx="239610" cy="1269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27" name="Straight Arrow Connector 26"/>
          <p:cNvCxnSpPr>
            <a:endCxn id="11" idx="7"/>
          </p:cNvCxnSpPr>
          <p:nvPr/>
        </p:nvCxnSpPr>
        <p:spPr bwMode="auto">
          <a:xfrm rot="10800000" flipV="1">
            <a:off x="1254073" y="2316603"/>
            <a:ext cx="675715" cy="30612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0" name="Straight Arrow Connector 29"/>
          <p:cNvCxnSpPr>
            <a:stCxn id="8" idx="5"/>
            <a:endCxn id="9" idx="1"/>
          </p:cNvCxnSpPr>
          <p:nvPr/>
        </p:nvCxnSpPr>
        <p:spPr bwMode="auto">
          <a:xfrm rot="16200000" flipH="1">
            <a:off x="2460212" y="1967118"/>
            <a:ext cx="859305" cy="15226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3" name="Straight Arrow Connector 32"/>
          <p:cNvCxnSpPr>
            <a:stCxn id="9" idx="5"/>
            <a:endCxn id="16" idx="0"/>
          </p:cNvCxnSpPr>
          <p:nvPr/>
        </p:nvCxnSpPr>
        <p:spPr bwMode="auto">
          <a:xfrm rot="16200000" flipH="1">
            <a:off x="3962537" y="3276446"/>
            <a:ext cx="280126" cy="46638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36" name="Straight Arrow Connector 35"/>
          <p:cNvCxnSpPr>
            <a:stCxn id="9" idx="3"/>
            <a:endCxn id="15" idx="7"/>
          </p:cNvCxnSpPr>
          <p:nvPr/>
        </p:nvCxnSpPr>
        <p:spPr bwMode="auto">
          <a:xfrm rot="5400000">
            <a:off x="3383409" y="3425698"/>
            <a:ext cx="323921" cy="211677"/>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0" name="Straight Arrow Connector 39"/>
          <p:cNvCxnSpPr>
            <a:stCxn id="16" idx="4"/>
            <a:endCxn id="20" idx="0"/>
          </p:cNvCxnSpPr>
          <p:nvPr/>
        </p:nvCxnSpPr>
        <p:spPr bwMode="auto">
          <a:xfrm rot="5400000">
            <a:off x="4217628"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3" name="Straight Arrow Connector 42"/>
          <p:cNvCxnSpPr>
            <a:stCxn id="15" idx="4"/>
            <a:endCxn id="22" idx="0"/>
          </p:cNvCxnSpPr>
          <p:nvPr/>
        </p:nvCxnSpPr>
        <p:spPr bwMode="auto">
          <a:xfrm rot="5400000">
            <a:off x="2934286" y="4324325"/>
            <a:ext cx="771714" cy="2057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7" name="Straight Arrow Connector 46"/>
          <p:cNvCxnSpPr/>
          <p:nvPr/>
        </p:nvCxnSpPr>
        <p:spPr bwMode="auto">
          <a:xfrm rot="5400000">
            <a:off x="2890951" y="5411018"/>
            <a:ext cx="767341" cy="341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49" name="Straight Arrow Connector 48"/>
          <p:cNvCxnSpPr>
            <a:stCxn id="23" idx="6"/>
            <a:endCxn id="24" idx="2"/>
          </p:cNvCxnSpPr>
          <p:nvPr/>
        </p:nvCxnSpPr>
        <p:spPr bwMode="auto">
          <a:xfrm>
            <a:off x="1473993" y="5405379"/>
            <a:ext cx="1643099" cy="53538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3" name="Straight Arrow Connector 52"/>
          <p:cNvCxnSpPr>
            <a:stCxn id="20" idx="4"/>
          </p:cNvCxnSpPr>
          <p:nvPr/>
        </p:nvCxnSpPr>
        <p:spPr bwMode="auto">
          <a:xfrm rot="5400000">
            <a:off x="3186585" y="4737391"/>
            <a:ext cx="1402461" cy="89595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6" name="Straight Arrow Connector 55"/>
          <p:cNvCxnSpPr>
            <a:stCxn id="21" idx="4"/>
            <a:endCxn id="23" idx="0"/>
          </p:cNvCxnSpPr>
          <p:nvPr/>
        </p:nvCxnSpPr>
        <p:spPr bwMode="auto">
          <a:xfrm rot="5400000">
            <a:off x="1201537" y="5137668"/>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59" name="Straight Arrow Connector 58"/>
          <p:cNvCxnSpPr>
            <a:endCxn id="12" idx="7"/>
          </p:cNvCxnSpPr>
          <p:nvPr/>
        </p:nvCxnSpPr>
        <p:spPr bwMode="auto">
          <a:xfrm rot="10800000" flipV="1">
            <a:off x="689808" y="2875871"/>
            <a:ext cx="374347" cy="282241"/>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2" name="Straight Arrow Connector 61"/>
          <p:cNvCxnSpPr>
            <a:endCxn id="10" idx="1"/>
          </p:cNvCxnSpPr>
          <p:nvPr/>
        </p:nvCxnSpPr>
        <p:spPr bwMode="auto">
          <a:xfrm>
            <a:off x="1218044" y="2847907"/>
            <a:ext cx="385298" cy="310205"/>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5" name="Straight Arrow Connector 64"/>
          <p:cNvCxnSpPr>
            <a:endCxn id="14" idx="1"/>
          </p:cNvCxnSpPr>
          <p:nvPr/>
        </p:nvCxnSpPr>
        <p:spPr bwMode="auto">
          <a:xfrm rot="16200000" flipH="1">
            <a:off x="1822738" y="3352499"/>
            <a:ext cx="342247" cy="339748"/>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68" name="Straight Arrow Connector 67"/>
          <p:cNvCxnSpPr>
            <a:stCxn id="10" idx="3"/>
            <a:endCxn id="13" idx="0"/>
          </p:cNvCxnSpPr>
          <p:nvPr/>
        </p:nvCxnSpPr>
        <p:spPr bwMode="auto">
          <a:xfrm rot="5400000">
            <a:off x="1321459" y="3367818"/>
            <a:ext cx="280126" cy="28364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3" name="Straight Arrow Connector 72"/>
          <p:cNvCxnSpPr>
            <a:stCxn id="12" idx="4"/>
            <a:endCxn id="17" idx="0"/>
          </p:cNvCxnSpPr>
          <p:nvPr/>
        </p:nvCxnSpPr>
        <p:spPr bwMode="auto">
          <a:xfrm rot="5400000">
            <a:off x="194850" y="3799208"/>
            <a:ext cx="771714"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6" name="Straight Arrow Connector 75"/>
          <p:cNvCxnSpPr>
            <a:stCxn id="13" idx="4"/>
            <a:endCxn id="18" idx="0"/>
          </p:cNvCxnSpPr>
          <p:nvPr/>
        </p:nvCxnSpPr>
        <p:spPr bwMode="auto">
          <a:xfrm rot="5400000">
            <a:off x="1201537"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79" name="Straight Arrow Connector 78"/>
          <p:cNvCxnSpPr>
            <a:stCxn id="14" idx="4"/>
            <a:endCxn id="19" idx="0"/>
          </p:cNvCxnSpPr>
          <p:nvPr/>
        </p:nvCxnSpPr>
        <p:spPr bwMode="auto">
          <a:xfrm rot="5400000">
            <a:off x="2154671" y="4066900"/>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2" name="Straight Arrow Connector 81"/>
          <p:cNvCxnSpPr>
            <a:stCxn id="19" idx="3"/>
            <a:endCxn id="21" idx="7"/>
          </p:cNvCxnSpPr>
          <p:nvPr/>
        </p:nvCxnSpPr>
        <p:spPr bwMode="auto">
          <a:xfrm rot="5400000">
            <a:off x="1634309" y="4234837"/>
            <a:ext cx="323921" cy="734933"/>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5" name="Straight Arrow Connector 84"/>
          <p:cNvCxnSpPr>
            <a:stCxn id="17" idx="5"/>
            <a:endCxn id="21" idx="1"/>
          </p:cNvCxnSpPr>
          <p:nvPr/>
        </p:nvCxnSpPr>
        <p:spPr bwMode="auto">
          <a:xfrm rot="16200000" flipH="1">
            <a:off x="788244" y="4341906"/>
            <a:ext cx="323921" cy="520794"/>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88" name="Straight Arrow Connector 87"/>
          <p:cNvCxnSpPr>
            <a:stCxn id="18" idx="4"/>
            <a:endCxn id="21" idx="0"/>
          </p:cNvCxnSpPr>
          <p:nvPr/>
        </p:nvCxnSpPr>
        <p:spPr bwMode="auto">
          <a:xfrm rot="5400000">
            <a:off x="1201537" y="4602284"/>
            <a:ext cx="236331" cy="1286"/>
          </a:xfrm>
          <a:prstGeom prst="straightConnector1">
            <a:avLst/>
          </a:prstGeom>
          <a:noFill/>
          <a:ln w="57150" cap="flat" cmpd="sng" algn="ctr">
            <a:solidFill>
              <a:schemeClr val="tx1"/>
            </a:solidFill>
            <a:prstDash val="solid"/>
            <a:round/>
            <a:headEnd type="none" w="med" len="med"/>
            <a:tailEnd type="triangle" w="med" len="med"/>
          </a:ln>
          <a:effectLst/>
        </p:spPr>
      </p:cxnSp>
      <p:sp>
        <p:nvSpPr>
          <p:cNvPr id="48" name="TextBox 47"/>
          <p:cNvSpPr txBox="1"/>
          <p:nvPr/>
        </p:nvSpPr>
        <p:spPr>
          <a:xfrm>
            <a:off x="4788575" y="2053653"/>
            <a:ext cx="3396314" cy="3416320"/>
          </a:xfrm>
          <a:prstGeom prst="rect">
            <a:avLst/>
          </a:prstGeom>
          <a:noFill/>
        </p:spPr>
        <p:txBody>
          <a:bodyPr wrap="none" rtlCol="0">
            <a:spAutoFit/>
          </a:bodyPr>
          <a:lstStyle/>
          <a:p>
            <a:pPr algn="l"/>
            <a:r>
              <a:rPr lang="en-US" dirty="0">
                <a:latin typeface="Arial" pitchFamily="34" charset="0"/>
                <a:cs typeface="Arial" pitchFamily="34" charset="0"/>
              </a:rPr>
              <a:t>There are </a:t>
            </a:r>
            <a:r>
              <a:rPr lang="en-US" dirty="0">
                <a:solidFill>
                  <a:schemeClr val="tx1"/>
                </a:solidFill>
                <a:latin typeface="Arial" pitchFamily="34" charset="0"/>
                <a:cs typeface="Arial" pitchFamily="34" charset="0"/>
              </a:rPr>
              <a:t>P</a:t>
            </a:r>
            <a:r>
              <a:rPr lang="en-US" dirty="0">
                <a:latin typeface="Arial" pitchFamily="34" charset="0"/>
                <a:cs typeface="Arial" pitchFamily="34" charset="0"/>
              </a:rPr>
              <a:t> processors</a:t>
            </a:r>
          </a:p>
          <a:p>
            <a:pPr algn="l"/>
            <a:endParaRPr lang="en-US" dirty="0">
              <a:solidFill>
                <a:schemeClr val="tx1"/>
              </a:solidFill>
              <a:latin typeface="Arial" pitchFamily="34" charset="0"/>
              <a:cs typeface="Arial" pitchFamily="34" charset="0"/>
            </a:endParaRPr>
          </a:p>
          <a:p>
            <a:pPr algn="l"/>
            <a:r>
              <a:rPr lang="en-US" dirty="0">
                <a:solidFill>
                  <a:schemeClr val="tx1"/>
                </a:solidFill>
                <a:latin typeface="Arial" pitchFamily="34" charset="0"/>
                <a:cs typeface="Arial" pitchFamily="34" charset="0"/>
              </a:rPr>
              <a:t>Complete Step</a:t>
            </a:r>
            <a:r>
              <a:rPr lang="en-US" dirty="0">
                <a:latin typeface="Arial" pitchFamily="34" charset="0"/>
                <a:cs typeface="Arial" pitchFamily="34" charset="0"/>
              </a:rPr>
              <a:t>:</a:t>
            </a:r>
          </a:p>
          <a:p>
            <a:pPr lvl="1" algn="l">
              <a:buFont typeface="Arial" pitchFamily="34" charset="0"/>
              <a:buChar char="•"/>
            </a:pPr>
            <a:r>
              <a:rPr lang="en-US" dirty="0">
                <a:latin typeface="Arial" pitchFamily="34" charset="0"/>
                <a:cs typeface="Arial" pitchFamily="34" charset="0"/>
              </a:rPr>
              <a:t>&gt;</a:t>
            </a:r>
            <a:r>
              <a:rPr lang="en-US" dirty="0">
                <a:solidFill>
                  <a:schemeClr val="tx1"/>
                </a:solidFill>
                <a:latin typeface="Arial" pitchFamily="34" charset="0"/>
                <a:cs typeface="Arial" pitchFamily="34" charset="0"/>
              </a:rPr>
              <a:t>P</a:t>
            </a:r>
            <a:r>
              <a:rPr lang="en-US" dirty="0">
                <a:latin typeface="Arial" pitchFamily="34" charset="0"/>
                <a:cs typeface="Arial" pitchFamily="34" charset="0"/>
              </a:rPr>
              <a:t> nodes ready</a:t>
            </a:r>
          </a:p>
          <a:p>
            <a:pPr lvl="1" algn="l">
              <a:buFont typeface="Arial" pitchFamily="34" charset="0"/>
              <a:buChar char="•"/>
            </a:pPr>
            <a:r>
              <a:rPr lang="en-US" dirty="0">
                <a:latin typeface="Arial" pitchFamily="34" charset="0"/>
                <a:cs typeface="Arial" pitchFamily="34" charset="0"/>
              </a:rPr>
              <a:t> run any </a:t>
            </a:r>
            <a:r>
              <a:rPr lang="en-US" dirty="0">
                <a:solidFill>
                  <a:schemeClr val="tx1"/>
                </a:solidFill>
                <a:latin typeface="Arial" pitchFamily="34" charset="0"/>
                <a:cs typeface="Arial" pitchFamily="34" charset="0"/>
              </a:rPr>
              <a:t>P</a:t>
            </a:r>
          </a:p>
          <a:p>
            <a:pPr lvl="1" algn="l">
              <a:buFont typeface="Arial" pitchFamily="34" charset="0"/>
              <a:buChar char="•"/>
            </a:pPr>
            <a:endParaRPr lang="en-US" dirty="0">
              <a:solidFill>
                <a:schemeClr val="tx1"/>
              </a:solidFill>
              <a:latin typeface="Arial" pitchFamily="34" charset="0"/>
              <a:cs typeface="Arial" pitchFamily="34" charset="0"/>
            </a:endParaRPr>
          </a:p>
          <a:p>
            <a:pPr algn="l"/>
            <a:r>
              <a:rPr lang="en-US" dirty="0">
                <a:solidFill>
                  <a:schemeClr val="tx1"/>
                </a:solidFill>
                <a:latin typeface="Arial" pitchFamily="34" charset="0"/>
                <a:cs typeface="Arial" pitchFamily="34" charset="0"/>
              </a:rPr>
              <a:t>Incomplete Step:</a:t>
            </a:r>
          </a:p>
          <a:p>
            <a:pPr lvl="1" algn="l">
              <a:buFont typeface="Arial" pitchFamily="34" charset="0"/>
              <a:buChar char="•"/>
            </a:pPr>
            <a:r>
              <a:rPr lang="en-US" dirty="0">
                <a:solidFill>
                  <a:schemeClr val="tx1"/>
                </a:solidFill>
                <a:latin typeface="Arial" pitchFamily="34" charset="0"/>
                <a:cs typeface="Arial" pitchFamily="34" charset="0"/>
              </a:rPr>
              <a:t> </a:t>
            </a:r>
            <a:r>
              <a:rPr lang="en-US" dirty="0">
                <a:latin typeface="Arial" pitchFamily="34" charset="0"/>
                <a:cs typeface="Arial" pitchFamily="34" charset="0"/>
              </a:rPr>
              <a:t>&lt;</a:t>
            </a:r>
            <a:r>
              <a:rPr lang="en-US" dirty="0">
                <a:solidFill>
                  <a:schemeClr val="tx1"/>
                </a:solidFill>
                <a:latin typeface="Arial" pitchFamily="34" charset="0"/>
                <a:cs typeface="Arial" pitchFamily="34" charset="0"/>
              </a:rPr>
              <a:t> P </a:t>
            </a:r>
            <a:r>
              <a:rPr lang="en-US" dirty="0">
                <a:latin typeface="Arial" pitchFamily="34" charset="0"/>
                <a:cs typeface="Arial" pitchFamily="34" charset="0"/>
              </a:rPr>
              <a:t>nodes ready</a:t>
            </a:r>
            <a:endParaRPr lang="en-US" dirty="0">
              <a:solidFill>
                <a:schemeClr val="tx1"/>
              </a:solidFill>
              <a:latin typeface="Arial" pitchFamily="34" charset="0"/>
              <a:cs typeface="Arial" pitchFamily="34" charset="0"/>
            </a:endParaRPr>
          </a:p>
          <a:p>
            <a:pPr lvl="1" algn="l">
              <a:buFont typeface="Arial" pitchFamily="34" charset="0"/>
              <a:buChar char="•"/>
            </a:pPr>
            <a:r>
              <a:rPr lang="en-US" dirty="0">
                <a:solidFill>
                  <a:schemeClr val="tx1"/>
                </a:solidFill>
                <a:latin typeface="Arial" pitchFamily="34" charset="0"/>
                <a:cs typeface="Arial" pitchFamily="34" charset="0"/>
              </a:rPr>
              <a:t> </a:t>
            </a:r>
            <a:r>
              <a:rPr lang="en-US" dirty="0">
                <a:latin typeface="Arial" pitchFamily="34" charset="0"/>
                <a:cs typeface="Arial" pitchFamily="34" charset="0"/>
              </a:rPr>
              <a:t>run them all</a:t>
            </a:r>
            <a:endParaRPr lang="en-US" dirty="0">
              <a:solidFill>
                <a:schemeClr val="tx1"/>
              </a:solidFill>
              <a:latin typeface="Arial" pitchFamily="34" charset="0"/>
              <a:cs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
                                            <p:txEl>
                                              <p:pRg st="2" end="2"/>
                                            </p:txEl>
                                          </p:spTgt>
                                        </p:tgtEl>
                                        <p:attrNameLst>
                                          <p:attrName>style.visibility</p:attrName>
                                        </p:attrNameLst>
                                      </p:cBhvr>
                                      <p:to>
                                        <p:strVal val="visible"/>
                                      </p:to>
                                    </p:set>
                                    <p:animEffect transition="in" filter="blinds(horizontal)">
                                      <p:cBhvr>
                                        <p:cTn id="7" dur="500"/>
                                        <p:tgtEl>
                                          <p:spTgt spid="4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
                                            <p:txEl>
                                              <p:pRg st="3" end="3"/>
                                            </p:txEl>
                                          </p:spTgt>
                                        </p:tgtEl>
                                        <p:attrNameLst>
                                          <p:attrName>style.visibility</p:attrName>
                                        </p:attrNameLst>
                                      </p:cBhvr>
                                      <p:to>
                                        <p:strVal val="visible"/>
                                      </p:to>
                                    </p:set>
                                    <p:animEffect transition="in" filter="blinds(horizontal)">
                                      <p:cBhvr>
                                        <p:cTn id="10" dur="500"/>
                                        <p:tgtEl>
                                          <p:spTgt spid="48">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
                                            <p:txEl>
                                              <p:pRg st="4" end="4"/>
                                            </p:txEl>
                                          </p:spTgt>
                                        </p:tgtEl>
                                        <p:attrNameLst>
                                          <p:attrName>style.visibility</p:attrName>
                                        </p:attrNameLst>
                                      </p:cBhvr>
                                      <p:to>
                                        <p:strVal val="visible"/>
                                      </p:to>
                                    </p:set>
                                    <p:animEffect transition="in" filter="blinds(horizontal)">
                                      <p:cBhvr>
                                        <p:cTn id="13" dur="500"/>
                                        <p:tgtEl>
                                          <p:spTgt spid="48">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8">
                                            <p:txEl>
                                              <p:pRg st="6" end="6"/>
                                            </p:txEl>
                                          </p:spTgt>
                                        </p:tgtEl>
                                        <p:attrNameLst>
                                          <p:attrName>style.visibility</p:attrName>
                                        </p:attrNameLst>
                                      </p:cBhvr>
                                      <p:to>
                                        <p:strVal val="visible"/>
                                      </p:to>
                                    </p:set>
                                    <p:animEffect transition="in" filter="blinds(horizontal)">
                                      <p:cBhvr>
                                        <p:cTn id="18" dur="500"/>
                                        <p:tgtEl>
                                          <p:spTgt spid="48">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8">
                                            <p:txEl>
                                              <p:pRg st="7" end="7"/>
                                            </p:txEl>
                                          </p:spTgt>
                                        </p:tgtEl>
                                        <p:attrNameLst>
                                          <p:attrName>style.visibility</p:attrName>
                                        </p:attrNameLst>
                                      </p:cBhvr>
                                      <p:to>
                                        <p:strVal val="visible"/>
                                      </p:to>
                                    </p:set>
                                    <p:animEffect transition="in" filter="blinds(horizontal)">
                                      <p:cBhvr>
                                        <p:cTn id="21" dur="500"/>
                                        <p:tgtEl>
                                          <p:spTgt spid="48">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8">
                                            <p:txEl>
                                              <p:pRg st="8" end="8"/>
                                            </p:txEl>
                                          </p:spTgt>
                                        </p:tgtEl>
                                        <p:attrNameLst>
                                          <p:attrName>style.visibility</p:attrName>
                                        </p:attrNameLst>
                                      </p:cBhvr>
                                      <p:to>
                                        <p:strVal val="visible"/>
                                      </p:to>
                                    </p:set>
                                    <p:animEffect transition="in" filter="blinds(horizontal)">
                                      <p:cBhvr>
                                        <p:cTn id="24" dur="500"/>
                                        <p:tgtEl>
                                          <p:spTgt spid="4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80</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80</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Theorem</a:t>
            </a:r>
          </a:p>
        </p:txBody>
      </p:sp>
      <p:sp>
        <p:nvSpPr>
          <p:cNvPr id="7" name="TextBox 6"/>
          <p:cNvSpPr txBox="1"/>
          <p:nvPr/>
        </p:nvSpPr>
        <p:spPr>
          <a:xfrm>
            <a:off x="815981" y="1933735"/>
            <a:ext cx="4345485" cy="523220"/>
          </a:xfrm>
          <a:prstGeom prst="rect">
            <a:avLst/>
          </a:prstGeom>
          <a:noFill/>
        </p:spPr>
        <p:txBody>
          <a:bodyPr wrap="none" rtlCol="0">
            <a:spAutoFit/>
          </a:bodyPr>
          <a:lstStyle/>
          <a:p>
            <a:r>
              <a:rPr lang="en-US" sz="2800" dirty="0">
                <a:latin typeface="Arial" pitchFamily="34" charset="0"/>
                <a:cs typeface="Arial" pitchFamily="34" charset="0"/>
              </a:rPr>
              <a:t>For any greedy scheduler,</a:t>
            </a:r>
          </a:p>
        </p:txBody>
      </p:sp>
      <p:sp>
        <p:nvSpPr>
          <p:cNvPr id="9" name="Rectangle 8"/>
          <p:cNvSpPr/>
          <p:nvPr/>
        </p:nvSpPr>
        <p:spPr>
          <a:xfrm>
            <a:off x="3011317" y="3105835"/>
            <a:ext cx="3121367" cy="646331"/>
          </a:xfrm>
          <a:prstGeom prst="rect">
            <a:avLst/>
          </a:prstGeom>
        </p:spPr>
        <p:txBody>
          <a:bodyPr wrap="none">
            <a:spAutoFit/>
          </a:bodyPr>
          <a:lstStyle/>
          <a:p>
            <a:r>
              <a:rPr lang="en-US" sz="3600" dirty="0">
                <a:solidFill>
                  <a:schemeClr val="tx1"/>
                </a:solidFill>
                <a:latin typeface="Arial" pitchFamily="34" charset="0"/>
                <a:cs typeface="Arial" pitchFamily="34" charset="0"/>
              </a:rPr>
              <a:t>T</a:t>
            </a:r>
            <a:r>
              <a:rPr lang="en-US" sz="3600" baseline="-25000" dirty="0">
                <a:solidFill>
                  <a:schemeClr val="tx1"/>
                </a:solidFill>
                <a:latin typeface="Arial" pitchFamily="34" charset="0"/>
                <a:cs typeface="Arial" pitchFamily="34" charset="0"/>
              </a:rPr>
              <a:t>P</a:t>
            </a:r>
            <a:r>
              <a:rPr lang="en-US" sz="3600" dirty="0">
                <a:solidFill>
                  <a:schemeClr val="tx1"/>
                </a:solidFill>
                <a:latin typeface="Arial" pitchFamily="34" charset="0"/>
                <a:cs typeface="Arial" pitchFamily="34" charset="0"/>
              </a:rPr>
              <a:t> ≤ T</a:t>
            </a:r>
            <a:r>
              <a:rPr lang="en-US" sz="3600" baseline="-25000" dirty="0">
                <a:solidFill>
                  <a:schemeClr val="tx1"/>
                </a:solidFill>
                <a:latin typeface="Arial" pitchFamily="34" charset="0"/>
                <a:cs typeface="Arial" pitchFamily="34" charset="0"/>
              </a:rPr>
              <a:t>1</a:t>
            </a:r>
            <a:r>
              <a:rPr lang="en-US" sz="3600" dirty="0">
                <a:solidFill>
                  <a:schemeClr val="tx1"/>
                </a:solidFill>
                <a:latin typeface="Arial" pitchFamily="34" charset="0"/>
                <a:cs typeface="Arial" pitchFamily="34" charset="0"/>
              </a:rPr>
              <a:t>/P + T</a:t>
            </a:r>
            <a:r>
              <a:rPr lang="en-US" sz="3600" baseline="-25000" dirty="0">
                <a:solidFill>
                  <a:schemeClr val="tx1"/>
                </a:solidFill>
                <a:latin typeface="Arial" pitchFamily="34" charset="0"/>
                <a:cs typeface="Arial" pitchFamily="34" charset="0"/>
              </a:rPr>
              <a:t>∞</a:t>
            </a:r>
            <a:endParaRPr lang="en-US" sz="3600" dirty="0">
              <a:latin typeface="Arial" pitchFamily="34" charset="0"/>
              <a:cs typeface="Arial" pitchFamily="34" charset="0"/>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81</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81</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Theorem</a:t>
            </a:r>
          </a:p>
        </p:txBody>
      </p:sp>
      <p:sp>
        <p:nvSpPr>
          <p:cNvPr id="7" name="TextBox 6"/>
          <p:cNvSpPr txBox="1"/>
          <p:nvPr/>
        </p:nvSpPr>
        <p:spPr>
          <a:xfrm>
            <a:off x="815981" y="1933735"/>
            <a:ext cx="4345485" cy="523220"/>
          </a:xfrm>
          <a:prstGeom prst="rect">
            <a:avLst/>
          </a:prstGeom>
          <a:noFill/>
        </p:spPr>
        <p:txBody>
          <a:bodyPr wrap="none" rtlCol="0">
            <a:spAutoFit/>
          </a:bodyPr>
          <a:lstStyle/>
          <a:p>
            <a:r>
              <a:rPr lang="en-US" sz="2800" dirty="0">
                <a:latin typeface="Arial" pitchFamily="34" charset="0"/>
                <a:cs typeface="Arial" pitchFamily="34" charset="0"/>
              </a:rPr>
              <a:t>For any greedy scheduler,</a:t>
            </a:r>
          </a:p>
        </p:txBody>
      </p:sp>
      <p:sp>
        <p:nvSpPr>
          <p:cNvPr id="8" name="AutoShape 4"/>
          <p:cNvSpPr>
            <a:spLocks noChangeArrowheads="1"/>
          </p:cNvSpPr>
          <p:nvPr/>
        </p:nvSpPr>
        <p:spPr bwMode="auto">
          <a:xfrm>
            <a:off x="3131368" y="3170874"/>
            <a:ext cx="658536" cy="698500"/>
          </a:xfrm>
          <a:prstGeom prst="wedgeRoundRectCallout">
            <a:avLst>
              <a:gd name="adj1" fmla="val 168132"/>
              <a:gd name="adj2" fmla="val 267024"/>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0" name="Text Box 5"/>
          <p:cNvSpPr txBox="1">
            <a:spLocks noChangeArrowheads="1"/>
          </p:cNvSpPr>
          <p:nvPr/>
        </p:nvSpPr>
        <p:spPr bwMode="auto">
          <a:xfrm>
            <a:off x="3035995" y="5482274"/>
            <a:ext cx="3282472" cy="523220"/>
          </a:xfrm>
          <a:prstGeom prst="rect">
            <a:avLst/>
          </a:prstGeom>
          <a:noFill/>
          <a:ln w="38100" algn="ctr">
            <a:noFill/>
            <a:miter lim="800000"/>
            <a:headEnd/>
            <a:tailEnd/>
          </a:ln>
        </p:spPr>
        <p:txBody>
          <a:bodyPr wrap="square">
            <a:spAutoFit/>
          </a:bodyPr>
          <a:lstStyle/>
          <a:p>
            <a:pPr algn="ctr"/>
            <a:r>
              <a:rPr lang="en-US" sz="2800" dirty="0">
                <a:solidFill>
                  <a:srgbClr val="FF0000"/>
                </a:solidFill>
                <a:latin typeface="Arial" pitchFamily="34" charset="0"/>
              </a:rPr>
              <a:t>Actual time</a:t>
            </a:r>
          </a:p>
        </p:txBody>
      </p:sp>
      <p:sp>
        <p:nvSpPr>
          <p:cNvPr id="11" name="Rectangle 10"/>
          <p:cNvSpPr/>
          <p:nvPr/>
        </p:nvSpPr>
        <p:spPr>
          <a:xfrm>
            <a:off x="3011317" y="3105835"/>
            <a:ext cx="3121367" cy="646331"/>
          </a:xfrm>
          <a:prstGeom prst="rect">
            <a:avLst/>
          </a:prstGeom>
        </p:spPr>
        <p:txBody>
          <a:bodyPr wrap="none">
            <a:spAutoFit/>
          </a:bodyPr>
          <a:lstStyle/>
          <a:p>
            <a:r>
              <a:rPr lang="en-US" sz="3600" dirty="0">
                <a:solidFill>
                  <a:schemeClr val="tx1"/>
                </a:solidFill>
                <a:latin typeface="Arial" pitchFamily="34" charset="0"/>
                <a:cs typeface="Arial" pitchFamily="34" charset="0"/>
              </a:rPr>
              <a:t>T</a:t>
            </a:r>
            <a:r>
              <a:rPr lang="en-US" sz="3600" baseline="-25000" dirty="0">
                <a:solidFill>
                  <a:schemeClr val="tx1"/>
                </a:solidFill>
                <a:latin typeface="Arial" pitchFamily="34" charset="0"/>
                <a:cs typeface="Arial" pitchFamily="34" charset="0"/>
              </a:rPr>
              <a:t>P</a:t>
            </a:r>
            <a:r>
              <a:rPr lang="en-US" sz="3600" dirty="0">
                <a:solidFill>
                  <a:schemeClr val="tx1"/>
                </a:solidFill>
                <a:latin typeface="Arial" pitchFamily="34" charset="0"/>
                <a:cs typeface="Arial" pitchFamily="34" charset="0"/>
              </a:rPr>
              <a:t> ≤ T</a:t>
            </a:r>
            <a:r>
              <a:rPr lang="en-US" sz="3600" baseline="-25000" dirty="0">
                <a:solidFill>
                  <a:schemeClr val="tx1"/>
                </a:solidFill>
                <a:latin typeface="Arial" pitchFamily="34" charset="0"/>
                <a:cs typeface="Arial" pitchFamily="34" charset="0"/>
              </a:rPr>
              <a:t>1</a:t>
            </a:r>
            <a:r>
              <a:rPr lang="en-US" sz="3600" dirty="0">
                <a:solidFill>
                  <a:schemeClr val="tx1"/>
                </a:solidFill>
                <a:latin typeface="Arial" pitchFamily="34" charset="0"/>
                <a:cs typeface="Arial" pitchFamily="34" charset="0"/>
              </a:rPr>
              <a:t>/P + T</a:t>
            </a:r>
            <a:r>
              <a:rPr lang="en-US" sz="3600" baseline="-25000" dirty="0">
                <a:solidFill>
                  <a:schemeClr val="tx1"/>
                </a:solidFill>
                <a:latin typeface="Arial" pitchFamily="34" charset="0"/>
                <a:cs typeface="Arial" pitchFamily="34" charset="0"/>
              </a:rPr>
              <a:t>∞</a:t>
            </a:r>
            <a:endParaRPr lang="en-US" sz="3600" dirty="0">
              <a:latin typeface="Arial" pitchFamily="34" charset="0"/>
              <a:cs typeface="Arial" pitchFamily="34" charset="0"/>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82</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82</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Theorem</a:t>
            </a:r>
          </a:p>
        </p:txBody>
      </p:sp>
      <p:sp>
        <p:nvSpPr>
          <p:cNvPr id="7" name="TextBox 6"/>
          <p:cNvSpPr txBox="1"/>
          <p:nvPr/>
        </p:nvSpPr>
        <p:spPr>
          <a:xfrm>
            <a:off x="815981" y="1933735"/>
            <a:ext cx="4345485" cy="523220"/>
          </a:xfrm>
          <a:prstGeom prst="rect">
            <a:avLst/>
          </a:prstGeom>
          <a:noFill/>
        </p:spPr>
        <p:txBody>
          <a:bodyPr wrap="none" rtlCol="0">
            <a:spAutoFit/>
          </a:bodyPr>
          <a:lstStyle/>
          <a:p>
            <a:r>
              <a:rPr lang="en-US" sz="2800" dirty="0">
                <a:latin typeface="Arial" pitchFamily="34" charset="0"/>
                <a:cs typeface="Arial" pitchFamily="34" charset="0"/>
              </a:rPr>
              <a:t>For any greedy scheduler,</a:t>
            </a:r>
          </a:p>
        </p:txBody>
      </p:sp>
      <p:sp>
        <p:nvSpPr>
          <p:cNvPr id="11" name="AutoShape 4"/>
          <p:cNvSpPr>
            <a:spLocks noChangeArrowheads="1"/>
          </p:cNvSpPr>
          <p:nvPr/>
        </p:nvSpPr>
        <p:spPr bwMode="auto">
          <a:xfrm>
            <a:off x="4055165" y="3101606"/>
            <a:ext cx="1133062" cy="698500"/>
          </a:xfrm>
          <a:prstGeom prst="wedgeRoundRectCallout">
            <a:avLst>
              <a:gd name="adj1" fmla="val 34245"/>
              <a:gd name="adj2" fmla="val 244971"/>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2" name="Text Box 5"/>
          <p:cNvSpPr txBox="1">
            <a:spLocks noChangeArrowheads="1"/>
          </p:cNvSpPr>
          <p:nvPr/>
        </p:nvSpPr>
        <p:spPr bwMode="auto">
          <a:xfrm>
            <a:off x="3555602" y="5188344"/>
            <a:ext cx="5291215" cy="954107"/>
          </a:xfrm>
          <a:prstGeom prst="rect">
            <a:avLst/>
          </a:prstGeom>
          <a:noFill/>
          <a:ln w="38100" algn="ctr">
            <a:noFill/>
            <a:miter lim="800000"/>
            <a:headEnd/>
            <a:tailEnd/>
          </a:ln>
        </p:spPr>
        <p:txBody>
          <a:bodyPr wrap="square">
            <a:spAutoFit/>
          </a:bodyPr>
          <a:lstStyle/>
          <a:p>
            <a:pPr algn="ctr"/>
            <a:r>
              <a:rPr lang="en-US" sz="2800" dirty="0">
                <a:solidFill>
                  <a:srgbClr val="FF0000"/>
                </a:solidFill>
                <a:latin typeface="Arial" pitchFamily="34" charset="0"/>
              </a:rPr>
              <a:t>No better than work divided among processors</a:t>
            </a:r>
          </a:p>
        </p:txBody>
      </p:sp>
      <p:sp>
        <p:nvSpPr>
          <p:cNvPr id="10" name="Rectangle 9"/>
          <p:cNvSpPr/>
          <p:nvPr/>
        </p:nvSpPr>
        <p:spPr>
          <a:xfrm>
            <a:off x="3011317" y="3105835"/>
            <a:ext cx="3121367" cy="646331"/>
          </a:xfrm>
          <a:prstGeom prst="rect">
            <a:avLst/>
          </a:prstGeom>
        </p:spPr>
        <p:txBody>
          <a:bodyPr wrap="none">
            <a:spAutoFit/>
          </a:bodyPr>
          <a:lstStyle/>
          <a:p>
            <a:r>
              <a:rPr lang="en-US" sz="3600" dirty="0">
                <a:solidFill>
                  <a:schemeClr val="tx1"/>
                </a:solidFill>
                <a:latin typeface="Arial" pitchFamily="34" charset="0"/>
                <a:cs typeface="Arial" pitchFamily="34" charset="0"/>
              </a:rPr>
              <a:t>T</a:t>
            </a:r>
            <a:r>
              <a:rPr lang="en-US" sz="3600" baseline="-25000" dirty="0">
                <a:solidFill>
                  <a:schemeClr val="tx1"/>
                </a:solidFill>
                <a:latin typeface="Arial" pitchFamily="34" charset="0"/>
                <a:cs typeface="Arial" pitchFamily="34" charset="0"/>
              </a:rPr>
              <a:t>P</a:t>
            </a:r>
            <a:r>
              <a:rPr lang="en-US" sz="3600" dirty="0">
                <a:solidFill>
                  <a:schemeClr val="tx1"/>
                </a:solidFill>
                <a:latin typeface="Arial" pitchFamily="34" charset="0"/>
                <a:cs typeface="Arial" pitchFamily="34" charset="0"/>
              </a:rPr>
              <a:t> ≤ T</a:t>
            </a:r>
            <a:r>
              <a:rPr lang="en-US" sz="3600" baseline="-25000" dirty="0">
                <a:solidFill>
                  <a:schemeClr val="tx1"/>
                </a:solidFill>
                <a:latin typeface="Arial" pitchFamily="34" charset="0"/>
                <a:cs typeface="Arial" pitchFamily="34" charset="0"/>
              </a:rPr>
              <a:t>1</a:t>
            </a:r>
            <a:r>
              <a:rPr lang="en-US" sz="3600" dirty="0">
                <a:solidFill>
                  <a:schemeClr val="tx1"/>
                </a:solidFill>
                <a:latin typeface="Arial" pitchFamily="34" charset="0"/>
                <a:cs typeface="Arial" pitchFamily="34" charset="0"/>
              </a:rPr>
              <a:t>/P + T</a:t>
            </a:r>
            <a:r>
              <a:rPr lang="en-US" sz="3600" baseline="-25000" dirty="0">
                <a:solidFill>
                  <a:schemeClr val="tx1"/>
                </a:solidFill>
                <a:latin typeface="Arial" pitchFamily="34" charset="0"/>
                <a:cs typeface="Arial" pitchFamily="34" charset="0"/>
              </a:rPr>
              <a:t>∞</a:t>
            </a:r>
            <a:endParaRPr lang="en-US" sz="3600" dirty="0">
              <a:latin typeface="Arial" pitchFamily="34" charset="0"/>
              <a:cs typeface="Arial" pitchFamily="34" charset="0"/>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83</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83</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Theorem</a:t>
            </a:r>
          </a:p>
        </p:txBody>
      </p:sp>
      <p:sp>
        <p:nvSpPr>
          <p:cNvPr id="7" name="TextBox 6"/>
          <p:cNvSpPr txBox="1"/>
          <p:nvPr/>
        </p:nvSpPr>
        <p:spPr>
          <a:xfrm>
            <a:off x="815981" y="1933735"/>
            <a:ext cx="4345485" cy="523220"/>
          </a:xfrm>
          <a:prstGeom prst="rect">
            <a:avLst/>
          </a:prstGeom>
          <a:noFill/>
        </p:spPr>
        <p:txBody>
          <a:bodyPr wrap="none" rtlCol="0">
            <a:spAutoFit/>
          </a:bodyPr>
          <a:lstStyle/>
          <a:p>
            <a:r>
              <a:rPr lang="en-US" sz="2800" dirty="0">
                <a:latin typeface="Arial" pitchFamily="34" charset="0"/>
                <a:cs typeface="Arial" pitchFamily="34" charset="0"/>
              </a:rPr>
              <a:t>For any greedy scheduler,</a:t>
            </a:r>
          </a:p>
        </p:txBody>
      </p:sp>
      <p:sp>
        <p:nvSpPr>
          <p:cNvPr id="11" name="AutoShape 4"/>
          <p:cNvSpPr>
            <a:spLocks noChangeArrowheads="1"/>
          </p:cNvSpPr>
          <p:nvPr/>
        </p:nvSpPr>
        <p:spPr bwMode="auto">
          <a:xfrm>
            <a:off x="5408681" y="3086779"/>
            <a:ext cx="974360" cy="698500"/>
          </a:xfrm>
          <a:prstGeom prst="wedgeRoundRectCallout">
            <a:avLst>
              <a:gd name="adj1" fmla="val -154872"/>
              <a:gd name="adj2" fmla="val 238439"/>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2" name="Text Box 5"/>
          <p:cNvSpPr txBox="1">
            <a:spLocks noChangeArrowheads="1"/>
          </p:cNvSpPr>
          <p:nvPr/>
        </p:nvSpPr>
        <p:spPr bwMode="auto">
          <a:xfrm>
            <a:off x="1064303" y="5073963"/>
            <a:ext cx="3852472" cy="954107"/>
          </a:xfrm>
          <a:prstGeom prst="rect">
            <a:avLst/>
          </a:prstGeom>
          <a:noFill/>
          <a:ln w="38100" algn="ctr">
            <a:noFill/>
            <a:miter lim="800000"/>
            <a:headEnd/>
            <a:tailEnd/>
          </a:ln>
        </p:spPr>
        <p:txBody>
          <a:bodyPr wrap="square">
            <a:spAutoFit/>
          </a:bodyPr>
          <a:lstStyle/>
          <a:p>
            <a:pPr algn="ctr"/>
            <a:r>
              <a:rPr lang="en-US" sz="2800" dirty="0">
                <a:solidFill>
                  <a:srgbClr val="FF0000"/>
                </a:solidFill>
                <a:latin typeface="Arial" pitchFamily="34" charset="0"/>
              </a:rPr>
              <a:t>No better than critical path length</a:t>
            </a:r>
          </a:p>
        </p:txBody>
      </p:sp>
      <p:sp>
        <p:nvSpPr>
          <p:cNvPr id="10" name="Rectangle 9"/>
          <p:cNvSpPr/>
          <p:nvPr/>
        </p:nvSpPr>
        <p:spPr>
          <a:xfrm>
            <a:off x="3011317" y="3105835"/>
            <a:ext cx="3121367" cy="646331"/>
          </a:xfrm>
          <a:prstGeom prst="rect">
            <a:avLst/>
          </a:prstGeom>
        </p:spPr>
        <p:txBody>
          <a:bodyPr wrap="none">
            <a:spAutoFit/>
          </a:bodyPr>
          <a:lstStyle/>
          <a:p>
            <a:r>
              <a:rPr lang="en-US" sz="3600" dirty="0">
                <a:solidFill>
                  <a:schemeClr val="tx1"/>
                </a:solidFill>
                <a:latin typeface="Arial" pitchFamily="34" charset="0"/>
                <a:cs typeface="Arial" pitchFamily="34" charset="0"/>
              </a:rPr>
              <a:t>T</a:t>
            </a:r>
            <a:r>
              <a:rPr lang="en-US" sz="3600" baseline="-25000" dirty="0">
                <a:solidFill>
                  <a:schemeClr val="tx1"/>
                </a:solidFill>
                <a:latin typeface="Arial" pitchFamily="34" charset="0"/>
                <a:cs typeface="Arial" pitchFamily="34" charset="0"/>
              </a:rPr>
              <a:t>P</a:t>
            </a:r>
            <a:r>
              <a:rPr lang="en-US" sz="3600" dirty="0">
                <a:solidFill>
                  <a:schemeClr val="tx1"/>
                </a:solidFill>
                <a:latin typeface="Arial" pitchFamily="34" charset="0"/>
                <a:cs typeface="Arial" pitchFamily="34" charset="0"/>
              </a:rPr>
              <a:t> ≤ T</a:t>
            </a:r>
            <a:r>
              <a:rPr lang="en-US" sz="3600" baseline="-25000" dirty="0">
                <a:solidFill>
                  <a:schemeClr val="tx1"/>
                </a:solidFill>
                <a:latin typeface="Arial" pitchFamily="34" charset="0"/>
                <a:cs typeface="Arial" pitchFamily="34" charset="0"/>
              </a:rPr>
              <a:t>1</a:t>
            </a:r>
            <a:r>
              <a:rPr lang="en-US" sz="3600" dirty="0">
                <a:solidFill>
                  <a:schemeClr val="tx1"/>
                </a:solidFill>
                <a:latin typeface="Arial" pitchFamily="34" charset="0"/>
                <a:cs typeface="Arial" pitchFamily="34" charset="0"/>
              </a:rPr>
              <a:t>/P + T</a:t>
            </a:r>
            <a:r>
              <a:rPr lang="en-US" sz="3600" baseline="-25000" dirty="0">
                <a:solidFill>
                  <a:schemeClr val="tx1"/>
                </a:solidFill>
                <a:latin typeface="Arial" pitchFamily="34" charset="0"/>
                <a:cs typeface="Arial" pitchFamily="34" charset="0"/>
              </a:rPr>
              <a:t>∞</a:t>
            </a:r>
            <a:endParaRPr lang="en-US" sz="3600" dirty="0">
              <a:latin typeface="Arial" pitchFamily="34" charset="0"/>
              <a:cs typeface="Arial" pitchFamily="34" charset="0"/>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tx1"/>
                </a:solidFill>
                <a:latin typeface="Arial"/>
              </a:rPr>
              <a:t>T</a:t>
            </a:r>
            <a:r>
              <a:rPr lang="en-US" baseline="-25000" dirty="0">
                <a:solidFill>
                  <a:schemeClr val="tx1"/>
                </a:solidFill>
                <a:latin typeface="Arial"/>
              </a:rPr>
              <a:t>P</a:t>
            </a:r>
            <a:r>
              <a:rPr lang="en-US" dirty="0">
                <a:solidFill>
                  <a:schemeClr val="tx1"/>
                </a:solidFill>
              </a:rPr>
              <a:t> ≤ T</a:t>
            </a:r>
            <a:r>
              <a:rPr lang="en-US" baseline="-25000" dirty="0">
                <a:solidFill>
                  <a:schemeClr val="tx1"/>
                </a:solidFill>
              </a:rPr>
              <a:t>1</a:t>
            </a:r>
            <a:r>
              <a:rPr lang="en-US" dirty="0">
                <a:solidFill>
                  <a:schemeClr val="tx1"/>
                </a:solidFill>
              </a:rPr>
              <a:t>/P + T</a:t>
            </a:r>
            <a:r>
              <a:rPr lang="en-US" baseline="-25000" dirty="0">
                <a:solidFill>
                  <a:schemeClr val="tx1"/>
                </a:solidFill>
              </a:rPr>
              <a:t>∞</a:t>
            </a:r>
            <a:endParaRPr lang="en-US" dirty="0"/>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787E89EA-07FC-40C9-8FBA-61DEDBD04152}" type="slidenum">
              <a:rPr lang="x-none" smtClean="0"/>
              <a:pPr>
                <a:defRPr/>
              </a:pPr>
              <a:t>84</a:t>
            </a:fld>
            <a:endParaRPr lang="en-US" dirty="0"/>
          </a:p>
        </p:txBody>
      </p:sp>
      <p:sp>
        <p:nvSpPr>
          <p:cNvPr id="6" name="TextBox 5"/>
          <p:cNvSpPr txBox="1"/>
          <p:nvPr/>
        </p:nvSpPr>
        <p:spPr>
          <a:xfrm>
            <a:off x="1194251" y="1619223"/>
            <a:ext cx="1143262" cy="523220"/>
          </a:xfrm>
          <a:prstGeom prst="rect">
            <a:avLst/>
          </a:prstGeom>
          <a:noFill/>
        </p:spPr>
        <p:txBody>
          <a:bodyPr wrap="none" rtlCol="0">
            <a:spAutoFit/>
          </a:bodyPr>
          <a:lstStyle/>
          <a:p>
            <a:r>
              <a:rPr lang="en-US" sz="2800" i="1" dirty="0">
                <a:solidFill>
                  <a:schemeClr val="tx1"/>
                </a:solidFill>
                <a:latin typeface="Arial" pitchFamily="34" charset="0"/>
                <a:cs typeface="Arial" pitchFamily="34" charset="0"/>
              </a:rPr>
              <a:t>Proof</a:t>
            </a:r>
            <a:r>
              <a:rPr lang="en-US" sz="2800" dirty="0">
                <a:latin typeface="Arial" pitchFamily="34" charset="0"/>
                <a:cs typeface="Arial" pitchFamily="34" charset="0"/>
              </a:rPr>
              <a:t>:</a:t>
            </a:r>
          </a:p>
        </p:txBody>
      </p:sp>
      <p:sp>
        <p:nvSpPr>
          <p:cNvPr id="7" name="TextBox 6"/>
          <p:cNvSpPr txBox="1"/>
          <p:nvPr/>
        </p:nvSpPr>
        <p:spPr>
          <a:xfrm>
            <a:off x="913726" y="2314571"/>
            <a:ext cx="6208623" cy="523220"/>
          </a:xfrm>
          <a:prstGeom prst="rect">
            <a:avLst/>
          </a:prstGeom>
          <a:noFill/>
        </p:spPr>
        <p:txBody>
          <a:bodyPr wrap="none" rtlCol="0">
            <a:spAutoFit/>
          </a:bodyPr>
          <a:lstStyle/>
          <a:p>
            <a:r>
              <a:rPr lang="en-US" sz="2800" dirty="0">
                <a:latin typeface="Arial" pitchFamily="34" charset="0"/>
                <a:cs typeface="Arial" pitchFamily="34" charset="0"/>
              </a:rPr>
              <a:t>Number of </a:t>
            </a:r>
            <a:r>
              <a:rPr lang="en-US" sz="2800" i="1" dirty="0">
                <a:solidFill>
                  <a:schemeClr val="tx1"/>
                </a:solidFill>
                <a:latin typeface="Arial" pitchFamily="34" charset="0"/>
                <a:cs typeface="Arial" pitchFamily="34" charset="0"/>
              </a:rPr>
              <a:t>incomplete</a:t>
            </a:r>
            <a:r>
              <a:rPr lang="en-US" sz="2800" i="1" dirty="0">
                <a:latin typeface="Arial" pitchFamily="34" charset="0"/>
                <a:cs typeface="Arial" pitchFamily="34" charset="0"/>
              </a:rPr>
              <a:t> steps </a:t>
            </a:r>
            <a:r>
              <a:rPr lang="en-US" sz="2800" dirty="0">
                <a:solidFill>
                  <a:schemeClr val="tx1"/>
                </a:solidFill>
              </a:rPr>
              <a:t>≤</a:t>
            </a:r>
            <a:r>
              <a:rPr lang="en-US" sz="2800" dirty="0">
                <a:latin typeface="Arial" pitchFamily="34" charset="0"/>
                <a:cs typeface="Arial" pitchFamily="34" charset="0"/>
              </a:rPr>
              <a:t> </a:t>
            </a:r>
            <a:r>
              <a:rPr lang="en-US" sz="2800" dirty="0">
                <a:solidFill>
                  <a:schemeClr val="tx1"/>
                </a:solidFill>
                <a:latin typeface="Arial"/>
                <a:cs typeface="Arial" pitchFamily="34" charset="0"/>
              </a:rPr>
              <a:t>T</a:t>
            </a:r>
            <a:r>
              <a:rPr lang="en-US" sz="2800" baseline="-25000" dirty="0">
                <a:solidFill>
                  <a:schemeClr val="tx1"/>
                </a:solidFill>
                <a:latin typeface="Arial"/>
                <a:cs typeface="Arial" pitchFamily="34" charset="0"/>
              </a:rPr>
              <a:t>1</a:t>
            </a:r>
            <a:r>
              <a:rPr lang="en-US" sz="2800" dirty="0">
                <a:solidFill>
                  <a:schemeClr val="tx1"/>
                </a:solidFill>
                <a:latin typeface="Arial"/>
                <a:cs typeface="Arial" pitchFamily="34" charset="0"/>
              </a:rPr>
              <a:t>/P</a:t>
            </a:r>
            <a:r>
              <a:rPr lang="en-US" sz="2800" dirty="0">
                <a:latin typeface="Arial"/>
                <a:cs typeface="Arial" pitchFamily="34" charset="0"/>
              </a:rPr>
              <a:t> …</a:t>
            </a:r>
          </a:p>
        </p:txBody>
      </p:sp>
      <p:sp>
        <p:nvSpPr>
          <p:cNvPr id="8" name="TextBox 7"/>
          <p:cNvSpPr txBox="1"/>
          <p:nvPr/>
        </p:nvSpPr>
        <p:spPr>
          <a:xfrm>
            <a:off x="2074216" y="3009919"/>
            <a:ext cx="5694123" cy="523220"/>
          </a:xfrm>
          <a:prstGeom prst="rect">
            <a:avLst/>
          </a:prstGeom>
          <a:noFill/>
        </p:spPr>
        <p:txBody>
          <a:bodyPr wrap="none" rtlCol="0">
            <a:spAutoFit/>
          </a:bodyPr>
          <a:lstStyle/>
          <a:p>
            <a:pPr algn="l"/>
            <a:r>
              <a:rPr lang="en-US" sz="2800" dirty="0">
                <a:latin typeface="Arial" pitchFamily="34" charset="0"/>
                <a:cs typeface="Arial" pitchFamily="34" charset="0"/>
              </a:rPr>
              <a:t>… because each performs </a:t>
            </a:r>
            <a:r>
              <a:rPr lang="en-US" sz="2800" dirty="0">
                <a:solidFill>
                  <a:schemeClr val="tx1"/>
                </a:solidFill>
                <a:latin typeface="Arial" pitchFamily="34" charset="0"/>
                <a:cs typeface="Arial" pitchFamily="34" charset="0"/>
              </a:rPr>
              <a:t>P</a:t>
            </a:r>
            <a:r>
              <a:rPr lang="en-US" sz="2800" dirty="0">
                <a:latin typeface="Arial" pitchFamily="34" charset="0"/>
                <a:cs typeface="Arial" pitchFamily="34" charset="0"/>
              </a:rPr>
              <a:t> work.</a:t>
            </a:r>
            <a:endParaRPr lang="en-US" sz="2800" dirty="0">
              <a:latin typeface="Arial"/>
              <a:cs typeface="Arial" pitchFamily="34" charset="0"/>
            </a:endParaRPr>
          </a:p>
        </p:txBody>
      </p:sp>
      <p:sp>
        <p:nvSpPr>
          <p:cNvPr id="9" name="TextBox 8"/>
          <p:cNvSpPr txBox="1"/>
          <p:nvPr/>
        </p:nvSpPr>
        <p:spPr>
          <a:xfrm>
            <a:off x="1194251" y="3705267"/>
            <a:ext cx="5782289" cy="523220"/>
          </a:xfrm>
          <a:prstGeom prst="rect">
            <a:avLst/>
          </a:prstGeom>
          <a:noFill/>
        </p:spPr>
        <p:txBody>
          <a:bodyPr wrap="none" rtlCol="0">
            <a:spAutoFit/>
          </a:bodyPr>
          <a:lstStyle/>
          <a:p>
            <a:pPr algn="l"/>
            <a:r>
              <a:rPr lang="en-US" sz="2800" dirty="0">
                <a:latin typeface="Arial" pitchFamily="34" charset="0"/>
                <a:cs typeface="Arial" pitchFamily="34" charset="0"/>
              </a:rPr>
              <a:t>Number of </a:t>
            </a:r>
            <a:r>
              <a:rPr lang="en-US" sz="2800" i="1" dirty="0">
                <a:solidFill>
                  <a:schemeClr val="tx1"/>
                </a:solidFill>
                <a:latin typeface="Arial" pitchFamily="34" charset="0"/>
                <a:cs typeface="Arial" pitchFamily="34" charset="0"/>
              </a:rPr>
              <a:t>complete</a:t>
            </a:r>
            <a:r>
              <a:rPr lang="en-US" sz="2800" i="1" dirty="0">
                <a:latin typeface="Arial" pitchFamily="34" charset="0"/>
                <a:cs typeface="Arial" pitchFamily="34" charset="0"/>
              </a:rPr>
              <a:t> steps </a:t>
            </a:r>
            <a:r>
              <a:rPr lang="en-US" sz="2800" dirty="0">
                <a:solidFill>
                  <a:schemeClr val="tx1"/>
                </a:solidFill>
              </a:rPr>
              <a:t>≤</a:t>
            </a:r>
            <a:r>
              <a:rPr lang="en-US" sz="2800" dirty="0">
                <a:latin typeface="Arial" pitchFamily="34" charset="0"/>
                <a:cs typeface="Arial" pitchFamily="34" charset="0"/>
              </a:rPr>
              <a:t> </a:t>
            </a:r>
            <a:r>
              <a:rPr lang="en-US" sz="2800" dirty="0">
                <a:solidFill>
                  <a:schemeClr val="tx1"/>
                </a:solidFill>
                <a:latin typeface="Arial"/>
                <a:cs typeface="Arial" pitchFamily="34" charset="0"/>
              </a:rPr>
              <a:t>T</a:t>
            </a:r>
            <a:r>
              <a:rPr lang="en-US" sz="2800" baseline="-25000" dirty="0">
                <a:solidFill>
                  <a:schemeClr val="tx1"/>
                </a:solidFill>
                <a:latin typeface="cmsy10"/>
                <a:cs typeface="Arial" pitchFamily="34" charset="0"/>
              </a:rPr>
              <a:t>1</a:t>
            </a:r>
            <a:r>
              <a:rPr lang="en-US" sz="2800" dirty="0">
                <a:latin typeface="Arial"/>
                <a:cs typeface="Arial" pitchFamily="34" charset="0"/>
              </a:rPr>
              <a:t> …</a:t>
            </a:r>
          </a:p>
        </p:txBody>
      </p:sp>
      <p:sp>
        <p:nvSpPr>
          <p:cNvPr id="10" name="TextBox 9"/>
          <p:cNvSpPr txBox="1"/>
          <p:nvPr/>
        </p:nvSpPr>
        <p:spPr>
          <a:xfrm>
            <a:off x="2074216" y="4400616"/>
            <a:ext cx="5388384" cy="954107"/>
          </a:xfrm>
          <a:prstGeom prst="rect">
            <a:avLst/>
          </a:prstGeom>
          <a:noFill/>
        </p:spPr>
        <p:txBody>
          <a:bodyPr wrap="square" rtlCol="0">
            <a:spAutoFit/>
          </a:bodyPr>
          <a:lstStyle/>
          <a:p>
            <a:pPr algn="l"/>
            <a:r>
              <a:rPr lang="en-US" sz="2800" dirty="0">
                <a:latin typeface="Arial" pitchFamily="34" charset="0"/>
                <a:cs typeface="Arial" pitchFamily="34" charset="0"/>
              </a:rPr>
              <a:t>… because each shortens the unexecuted critical path by </a:t>
            </a:r>
            <a:r>
              <a:rPr lang="en-US" sz="2800" dirty="0">
                <a:solidFill>
                  <a:schemeClr val="tx1"/>
                </a:solidFill>
                <a:latin typeface="Arial" pitchFamily="34" charset="0"/>
                <a:cs typeface="Arial" pitchFamily="34" charset="0"/>
              </a:rPr>
              <a:t>1</a:t>
            </a:r>
            <a:endParaRPr lang="en-US" sz="2800" dirty="0">
              <a:solidFill>
                <a:schemeClr val="tx1"/>
              </a:solidFill>
              <a:latin typeface="Arial"/>
              <a:cs typeface="Arial" pitchFamily="34" charset="0"/>
            </a:endParaRPr>
          </a:p>
        </p:txBody>
      </p:sp>
      <p:sp>
        <p:nvSpPr>
          <p:cNvPr id="11" name="AutoShape 4"/>
          <p:cNvSpPr>
            <a:spLocks noChangeArrowheads="1"/>
          </p:cNvSpPr>
          <p:nvPr/>
        </p:nvSpPr>
        <p:spPr bwMode="auto">
          <a:xfrm>
            <a:off x="3977446" y="870352"/>
            <a:ext cx="1190902" cy="698500"/>
          </a:xfrm>
          <a:prstGeom prst="wedgeRoundRectCallout">
            <a:avLst>
              <a:gd name="adj1" fmla="val -27180"/>
              <a:gd name="adj2" fmla="val 163024"/>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2" name="AutoShape 4"/>
          <p:cNvSpPr>
            <a:spLocks noChangeArrowheads="1"/>
          </p:cNvSpPr>
          <p:nvPr/>
        </p:nvSpPr>
        <p:spPr bwMode="auto">
          <a:xfrm>
            <a:off x="5561081" y="903482"/>
            <a:ext cx="829780" cy="698500"/>
          </a:xfrm>
          <a:prstGeom prst="wedgeRoundRectCallout">
            <a:avLst>
              <a:gd name="adj1" fmla="val -204562"/>
              <a:gd name="adj2" fmla="val 345159"/>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3" name="TextBox 12"/>
          <p:cNvSpPr txBox="1"/>
          <p:nvPr/>
        </p:nvSpPr>
        <p:spPr>
          <a:xfrm rot="19459782">
            <a:off x="6688520" y="5098774"/>
            <a:ext cx="1407758" cy="769441"/>
          </a:xfrm>
          <a:prstGeom prst="rect">
            <a:avLst/>
          </a:prstGeom>
          <a:noFill/>
          <a:ln>
            <a:solidFill>
              <a:srgbClr val="FF0000"/>
            </a:solidFill>
          </a:ln>
        </p:spPr>
        <p:txBody>
          <a:bodyPr wrap="none" rtlCol="0">
            <a:spAutoFit/>
          </a:bodyPr>
          <a:lstStyle/>
          <a:p>
            <a:r>
              <a:rPr lang="en-US" sz="4400" dirty="0">
                <a:solidFill>
                  <a:srgbClr val="FF0000"/>
                </a:solidFill>
                <a:latin typeface="Arial" pitchFamily="34" charset="0"/>
                <a:cs typeface="Arial" pitchFamily="34" charset="0"/>
              </a:rPr>
              <a:t>QED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animBg="1"/>
      <p:bldP spid="1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85</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Near-Optimality</a:t>
            </a:r>
          </a:p>
        </p:txBody>
      </p:sp>
      <p:sp>
        <p:nvSpPr>
          <p:cNvPr id="7" name="TextBox 6"/>
          <p:cNvSpPr txBox="1"/>
          <p:nvPr/>
        </p:nvSpPr>
        <p:spPr>
          <a:xfrm>
            <a:off x="1024607" y="1598455"/>
            <a:ext cx="7040101" cy="954107"/>
          </a:xfrm>
          <a:prstGeom prst="rect">
            <a:avLst/>
          </a:prstGeom>
          <a:noFill/>
        </p:spPr>
        <p:txBody>
          <a:bodyPr wrap="square" rtlCol="0">
            <a:spAutoFit/>
          </a:bodyPr>
          <a:lstStyle/>
          <a:p>
            <a:pPr algn="l"/>
            <a:r>
              <a:rPr lang="en-US" sz="2800" i="1" dirty="0">
                <a:solidFill>
                  <a:schemeClr val="tx1"/>
                </a:solidFill>
                <a:latin typeface="Arial" pitchFamily="34" charset="0"/>
                <a:cs typeface="Arial" pitchFamily="34" charset="0"/>
              </a:rPr>
              <a:t>Theorem</a:t>
            </a:r>
            <a:r>
              <a:rPr lang="en-US" sz="2800" dirty="0">
                <a:latin typeface="Arial" pitchFamily="34" charset="0"/>
                <a:cs typeface="Arial" pitchFamily="34" charset="0"/>
              </a:rPr>
              <a:t>: any greedy scheduler is within a factor of </a:t>
            </a:r>
            <a:r>
              <a:rPr lang="en-US" sz="2800" dirty="0">
                <a:solidFill>
                  <a:schemeClr val="tx1"/>
                </a:solidFill>
                <a:latin typeface="Arial" pitchFamily="34" charset="0"/>
                <a:cs typeface="Arial" pitchFamily="34" charset="0"/>
              </a:rPr>
              <a:t>2</a:t>
            </a:r>
            <a:r>
              <a:rPr lang="en-US" sz="2800" dirty="0">
                <a:latin typeface="Arial" pitchFamily="34" charset="0"/>
                <a:cs typeface="Arial" pitchFamily="34" charset="0"/>
              </a:rPr>
              <a:t> of optimal.</a:t>
            </a:r>
          </a:p>
        </p:txBody>
      </p:sp>
      <p:sp>
        <p:nvSpPr>
          <p:cNvPr id="8" name="TextBox 7"/>
          <p:cNvSpPr txBox="1"/>
          <p:nvPr/>
        </p:nvSpPr>
        <p:spPr>
          <a:xfrm>
            <a:off x="1046021" y="2533338"/>
            <a:ext cx="5139548" cy="523220"/>
          </a:xfrm>
          <a:prstGeom prst="rect">
            <a:avLst/>
          </a:prstGeom>
          <a:noFill/>
        </p:spPr>
        <p:txBody>
          <a:bodyPr wrap="none" rtlCol="0">
            <a:spAutoFit/>
          </a:bodyPr>
          <a:lstStyle/>
          <a:p>
            <a:pPr algn="l"/>
            <a:r>
              <a:rPr lang="en-US" sz="2800" i="1" dirty="0">
                <a:solidFill>
                  <a:schemeClr val="tx1"/>
                </a:solidFill>
                <a:latin typeface="Arial" pitchFamily="34" charset="0"/>
                <a:cs typeface="Arial" pitchFamily="34" charset="0"/>
              </a:rPr>
              <a:t>Remark</a:t>
            </a:r>
            <a:r>
              <a:rPr lang="en-US" sz="2800" dirty="0">
                <a:latin typeface="Arial" pitchFamily="34" charset="0"/>
                <a:cs typeface="Arial" pitchFamily="34" charset="0"/>
              </a:rPr>
              <a:t>: Optimality is NP-hard!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1"/>
          <p:cNvSpPr>
            <a:spLocks noGrp="1"/>
          </p:cNvSpPr>
          <p:nvPr>
            <p:ph type="ftr" sz="quarter" idx="10"/>
          </p:nvPr>
        </p:nvSpPr>
        <p:spPr>
          <a:noFill/>
        </p:spPr>
        <p:txBody>
          <a:bodyPr/>
          <a:lstStyle/>
          <a:p>
            <a:r>
              <a:rPr lang="en-US"/>
              <a:t>Art of Multiprocessor Programming</a:t>
            </a:r>
          </a:p>
        </p:txBody>
      </p:sp>
      <p:sp>
        <p:nvSpPr>
          <p:cNvPr id="78851" name="Slide Number Placeholder 2"/>
          <p:cNvSpPr>
            <a:spLocks noGrp="1"/>
          </p:cNvSpPr>
          <p:nvPr>
            <p:ph type="sldNum" sz="quarter" idx="11"/>
          </p:nvPr>
        </p:nvSpPr>
        <p:spPr>
          <a:noFill/>
        </p:spPr>
        <p:txBody>
          <a:bodyPr/>
          <a:lstStyle/>
          <a:p>
            <a:fld id="{D9E83147-50B7-46B6-BE1A-7F34C1EB2F13}" type="slidenum">
              <a:rPr lang="x-none" smtClean="0"/>
              <a:pPr/>
              <a:t>86</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EE3859F-FBA7-4692-B1EA-64CAC73BECA0}" type="slidenum">
              <a:rPr lang="x-none" sz="1400">
                <a:solidFill>
                  <a:schemeClr val="tx1"/>
                </a:solidFill>
                <a:latin typeface="Arial" pitchFamily="34" charset="0"/>
                <a:cs typeface="Arial" pitchFamily="34" charset="0"/>
              </a:rPr>
              <a:pPr>
                <a:defRPr/>
              </a:pPr>
              <a:t>86</a:t>
            </a:fld>
            <a:endParaRPr lang="en-US" sz="1400" dirty="0">
              <a:solidFill>
                <a:schemeClr val="tx1"/>
              </a:solidFill>
              <a:latin typeface="Arial" pitchFamily="34" charset="0"/>
              <a:cs typeface="Arial" pitchFamily="34" charset="0"/>
            </a:endParaRPr>
          </a:p>
        </p:txBody>
      </p:sp>
      <p:sp>
        <p:nvSpPr>
          <p:cNvPr id="78853" name="Rectangle 2"/>
          <p:cNvSpPr>
            <a:spLocks noGrp="1" noChangeArrowheads="1"/>
          </p:cNvSpPr>
          <p:nvPr>
            <p:ph type="title" idx="4294967295"/>
          </p:nvPr>
        </p:nvSpPr>
        <p:spPr/>
        <p:txBody>
          <a:bodyPr/>
          <a:lstStyle/>
          <a:p>
            <a:r>
              <a:rPr lang="en-US" dirty="0"/>
              <a:t>Proof of Near-Optimality</a:t>
            </a:r>
          </a:p>
        </p:txBody>
      </p:sp>
      <p:sp>
        <p:nvSpPr>
          <p:cNvPr id="8" name="TextBox 7"/>
          <p:cNvSpPr txBox="1"/>
          <p:nvPr/>
        </p:nvSpPr>
        <p:spPr>
          <a:xfrm>
            <a:off x="851149" y="1723869"/>
            <a:ext cx="5087226" cy="1077218"/>
          </a:xfrm>
          <a:prstGeom prst="rect">
            <a:avLst/>
          </a:prstGeom>
          <a:noFill/>
        </p:spPr>
        <p:txBody>
          <a:bodyPr wrap="none" rtlCol="0">
            <a:spAutoFit/>
          </a:bodyPr>
          <a:lstStyle/>
          <a:p>
            <a:pPr algn="l"/>
            <a:r>
              <a:rPr lang="en-US" sz="3200" dirty="0">
                <a:latin typeface="Arial" pitchFamily="34" charset="0"/>
                <a:cs typeface="Arial" pitchFamily="34" charset="0"/>
              </a:rPr>
              <a:t>Let </a:t>
            </a:r>
            <a:r>
              <a:rPr lang="en-US" sz="3200" dirty="0">
                <a:solidFill>
                  <a:schemeClr val="tx1"/>
                </a:solidFill>
                <a:latin typeface="Arial"/>
                <a:cs typeface="Arial" pitchFamily="34" charset="0"/>
              </a:rPr>
              <a:t>T</a:t>
            </a:r>
            <a:r>
              <a:rPr lang="en-US" sz="3200" baseline="-25000" dirty="0">
                <a:solidFill>
                  <a:schemeClr val="tx1"/>
                </a:solidFill>
                <a:latin typeface="Arial"/>
                <a:cs typeface="Arial" pitchFamily="34" charset="0"/>
              </a:rPr>
              <a:t>P</a:t>
            </a:r>
            <a:r>
              <a:rPr lang="en-US" sz="3200" baseline="30000" dirty="0">
                <a:solidFill>
                  <a:schemeClr val="tx1"/>
                </a:solidFill>
                <a:latin typeface="Arial" pitchFamily="34" charset="0"/>
                <a:cs typeface="Arial" pitchFamily="34" charset="0"/>
              </a:rPr>
              <a:t>*</a:t>
            </a:r>
            <a:r>
              <a:rPr lang="en-US" sz="3200" dirty="0">
                <a:latin typeface="Arial" pitchFamily="34" charset="0"/>
                <a:cs typeface="Arial" pitchFamily="34" charset="0"/>
              </a:rPr>
              <a:t> be the optimal time.</a:t>
            </a:r>
          </a:p>
          <a:p>
            <a:pPr algn="l"/>
            <a:endParaRPr lang="en-US" sz="3200" dirty="0">
              <a:latin typeface="Arial" pitchFamily="34" charset="0"/>
              <a:cs typeface="Arial" pitchFamily="34" charset="0"/>
            </a:endParaRPr>
          </a:p>
        </p:txBody>
      </p:sp>
      <p:sp>
        <p:nvSpPr>
          <p:cNvPr id="10" name="TextBox 9"/>
          <p:cNvSpPr txBox="1"/>
          <p:nvPr/>
        </p:nvSpPr>
        <p:spPr>
          <a:xfrm>
            <a:off x="2047399" y="2542832"/>
            <a:ext cx="3229770" cy="523220"/>
          </a:xfrm>
          <a:prstGeom prst="rect">
            <a:avLst/>
          </a:prstGeom>
          <a:noFill/>
        </p:spPr>
        <p:txBody>
          <a:bodyPr wrap="none" rtlCol="0">
            <a:spAutoFit/>
          </a:bodyPr>
          <a:lstStyle/>
          <a:p>
            <a:pPr algn="l"/>
            <a:r>
              <a:rPr lang="en-US" sz="2800" dirty="0">
                <a:solidFill>
                  <a:schemeClr val="tx1"/>
                </a:solidFill>
                <a:latin typeface="Arial" pitchFamily="34" charset="0"/>
                <a:cs typeface="Arial" pitchFamily="34" charset="0"/>
              </a:rPr>
              <a:t>T</a:t>
            </a:r>
            <a:r>
              <a:rPr lang="en-US" sz="2800" baseline="-25000" dirty="0">
                <a:solidFill>
                  <a:schemeClr val="tx1"/>
                </a:solidFill>
                <a:latin typeface="Arial"/>
                <a:cs typeface="Arial" pitchFamily="34" charset="0"/>
              </a:rPr>
              <a:t>P</a:t>
            </a:r>
            <a:r>
              <a:rPr lang="en-US" sz="2800" baseline="30000" dirty="0">
                <a:solidFill>
                  <a:schemeClr val="tx1"/>
                </a:solidFill>
                <a:latin typeface="Arial" pitchFamily="34" charset="0"/>
                <a:cs typeface="Arial" pitchFamily="34" charset="0"/>
              </a:rPr>
              <a:t>*</a:t>
            </a:r>
            <a:r>
              <a:rPr lang="en-US" sz="2800" dirty="0">
                <a:solidFill>
                  <a:schemeClr val="tx1"/>
                </a:solidFill>
                <a:latin typeface="Arial" pitchFamily="34" charset="0"/>
                <a:cs typeface="Arial" pitchFamily="34" charset="0"/>
              </a:rPr>
              <a:t> ≥ </a:t>
            </a:r>
            <a:r>
              <a:rPr lang="en-US" sz="2800" dirty="0">
                <a:solidFill>
                  <a:schemeClr val="tx1"/>
                </a:solidFill>
                <a:latin typeface="Arial"/>
                <a:cs typeface="Arial" pitchFamily="34" charset="0"/>
              </a:rPr>
              <a:t>max{T</a:t>
            </a:r>
            <a:r>
              <a:rPr lang="en-US" sz="2800" baseline="-25000" dirty="0">
                <a:solidFill>
                  <a:schemeClr val="tx1"/>
                </a:solidFill>
                <a:latin typeface="Arial"/>
                <a:cs typeface="Arial" pitchFamily="34" charset="0"/>
              </a:rPr>
              <a:t>1</a:t>
            </a:r>
            <a:r>
              <a:rPr lang="en-US" sz="28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T</a:t>
            </a:r>
            <a:r>
              <a:rPr lang="en-US" sz="2800" baseline="-25000" dirty="0">
                <a:solidFill>
                  <a:schemeClr val="tx1"/>
                </a:solidFill>
              </a:rPr>
              <a:t>∞</a:t>
            </a:r>
            <a:r>
              <a:rPr lang="en-US" sz="2800" dirty="0">
                <a:solidFill>
                  <a:schemeClr val="tx1"/>
                </a:solidFill>
                <a:latin typeface="Arial" pitchFamily="34" charset="0"/>
                <a:cs typeface="Arial" pitchFamily="34" charset="0"/>
              </a:rPr>
              <a:t>}</a:t>
            </a:r>
          </a:p>
        </p:txBody>
      </p:sp>
      <p:sp>
        <p:nvSpPr>
          <p:cNvPr id="11" name="TextBox 10"/>
          <p:cNvSpPr txBox="1"/>
          <p:nvPr/>
        </p:nvSpPr>
        <p:spPr>
          <a:xfrm>
            <a:off x="2047399" y="3483381"/>
            <a:ext cx="2461422" cy="523220"/>
          </a:xfrm>
          <a:prstGeom prst="rect">
            <a:avLst/>
          </a:prstGeom>
          <a:noFill/>
        </p:spPr>
        <p:txBody>
          <a:bodyPr wrap="none" rtlCol="0">
            <a:spAutoFit/>
          </a:bodyPr>
          <a:lstStyle/>
          <a:p>
            <a:pPr algn="l"/>
            <a:r>
              <a:rPr lang="en-US" sz="2800" dirty="0">
                <a:solidFill>
                  <a:schemeClr val="tx1"/>
                </a:solidFill>
                <a:latin typeface="Arial"/>
                <a:cs typeface="Arial" pitchFamily="34" charset="0"/>
              </a:rPr>
              <a:t>T</a:t>
            </a:r>
            <a:r>
              <a:rPr lang="en-US" sz="2800" baseline="-250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 </a:t>
            </a:r>
            <a:r>
              <a:rPr lang="en-US" sz="2800" dirty="0">
                <a:solidFill>
                  <a:schemeClr val="tx1"/>
                </a:solidFill>
                <a:latin typeface="Arial"/>
                <a:cs typeface="Arial" pitchFamily="34" charset="0"/>
              </a:rPr>
              <a:t>T</a:t>
            </a:r>
            <a:r>
              <a:rPr lang="en-US" sz="2800" baseline="-25000" dirty="0">
                <a:solidFill>
                  <a:schemeClr val="tx1"/>
                </a:solidFill>
                <a:latin typeface="Arial"/>
                <a:cs typeface="Arial" pitchFamily="34" charset="0"/>
              </a:rPr>
              <a:t>1</a:t>
            </a:r>
            <a:r>
              <a:rPr lang="en-US" sz="28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 T</a:t>
            </a:r>
            <a:r>
              <a:rPr lang="en-US" sz="2800" baseline="-25000" dirty="0">
                <a:solidFill>
                  <a:schemeClr val="tx1"/>
                </a:solidFill>
              </a:rPr>
              <a:t>∞</a:t>
            </a:r>
            <a:endParaRPr lang="en-US" sz="2800" baseline="-25000" dirty="0">
              <a:solidFill>
                <a:schemeClr val="tx1"/>
              </a:solidFill>
              <a:latin typeface="cmsy10"/>
              <a:cs typeface="Arial" pitchFamily="34" charset="0"/>
            </a:endParaRPr>
          </a:p>
        </p:txBody>
      </p:sp>
      <p:sp>
        <p:nvSpPr>
          <p:cNvPr id="12" name="TextBox 11"/>
          <p:cNvSpPr txBox="1"/>
          <p:nvPr/>
        </p:nvSpPr>
        <p:spPr>
          <a:xfrm>
            <a:off x="2047399" y="4423930"/>
            <a:ext cx="3482360" cy="523220"/>
          </a:xfrm>
          <a:prstGeom prst="rect">
            <a:avLst/>
          </a:prstGeom>
          <a:noFill/>
        </p:spPr>
        <p:txBody>
          <a:bodyPr wrap="none" rtlCol="0">
            <a:spAutoFit/>
          </a:bodyPr>
          <a:lstStyle/>
          <a:p>
            <a:pPr algn="l"/>
            <a:r>
              <a:rPr lang="en-US" sz="2800" dirty="0">
                <a:solidFill>
                  <a:schemeClr val="tx1"/>
                </a:solidFill>
                <a:latin typeface="Arial"/>
                <a:cs typeface="Arial" pitchFamily="34" charset="0"/>
              </a:rPr>
              <a:t>T</a:t>
            </a:r>
            <a:r>
              <a:rPr lang="en-US" sz="2800" baseline="-250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a:t>
            </a:r>
            <a:r>
              <a:rPr lang="en-US" sz="2800" dirty="0">
                <a:solidFill>
                  <a:schemeClr val="tx1"/>
                </a:solidFill>
                <a:latin typeface="cmsy10"/>
                <a:cs typeface="Arial" pitchFamily="34" charset="0"/>
              </a:rPr>
              <a:t>≤</a:t>
            </a:r>
            <a:r>
              <a:rPr lang="en-US" sz="2800" dirty="0">
                <a:solidFill>
                  <a:schemeClr val="tx1"/>
                </a:solidFill>
                <a:latin typeface="Arial" pitchFamily="34" charset="0"/>
                <a:cs typeface="Arial" pitchFamily="34" charset="0"/>
              </a:rPr>
              <a:t> 2 </a:t>
            </a:r>
            <a:r>
              <a:rPr lang="en-US" sz="2800" dirty="0">
                <a:solidFill>
                  <a:schemeClr val="tx1"/>
                </a:solidFill>
                <a:latin typeface="Arial"/>
                <a:cs typeface="Arial" pitchFamily="34" charset="0"/>
              </a:rPr>
              <a:t>max{T</a:t>
            </a:r>
            <a:r>
              <a:rPr lang="en-US" sz="2800" baseline="-25000" dirty="0">
                <a:solidFill>
                  <a:schemeClr val="tx1"/>
                </a:solidFill>
                <a:latin typeface="Arial"/>
                <a:cs typeface="Arial" pitchFamily="34" charset="0"/>
              </a:rPr>
              <a:t>1</a:t>
            </a:r>
            <a:r>
              <a:rPr lang="en-US" sz="28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,T</a:t>
            </a:r>
            <a:r>
              <a:rPr lang="en-US" sz="2800" baseline="-25000" dirty="0">
                <a:solidFill>
                  <a:schemeClr val="tx1"/>
                </a:solidFill>
              </a:rPr>
              <a:t>∞</a:t>
            </a:r>
            <a:r>
              <a:rPr lang="en-US" sz="2800" dirty="0">
                <a:solidFill>
                  <a:schemeClr val="tx1"/>
                </a:solidFill>
                <a:latin typeface="Arial" pitchFamily="34" charset="0"/>
                <a:cs typeface="Arial" pitchFamily="34" charset="0"/>
              </a:rPr>
              <a:t>}</a:t>
            </a:r>
          </a:p>
        </p:txBody>
      </p:sp>
      <p:sp>
        <p:nvSpPr>
          <p:cNvPr id="13" name="TextBox 12"/>
          <p:cNvSpPr txBox="1"/>
          <p:nvPr/>
        </p:nvSpPr>
        <p:spPr>
          <a:xfrm>
            <a:off x="2047399" y="5364480"/>
            <a:ext cx="1725393" cy="523220"/>
          </a:xfrm>
          <a:prstGeom prst="rect">
            <a:avLst/>
          </a:prstGeom>
          <a:noFill/>
        </p:spPr>
        <p:txBody>
          <a:bodyPr wrap="none" rtlCol="0">
            <a:spAutoFit/>
          </a:bodyPr>
          <a:lstStyle/>
          <a:p>
            <a:pPr algn="l"/>
            <a:r>
              <a:rPr lang="en-US" sz="2800" dirty="0">
                <a:solidFill>
                  <a:schemeClr val="tx1"/>
                </a:solidFill>
                <a:latin typeface="Arial"/>
                <a:cs typeface="Arial" pitchFamily="34" charset="0"/>
              </a:rPr>
              <a:t>T</a:t>
            </a:r>
            <a:r>
              <a:rPr lang="en-US" sz="2800" baseline="-25000" dirty="0">
                <a:solidFill>
                  <a:schemeClr val="tx1"/>
                </a:solidFill>
                <a:latin typeface="Arial"/>
                <a:cs typeface="Arial" pitchFamily="34" charset="0"/>
              </a:rPr>
              <a:t>P</a:t>
            </a:r>
            <a:r>
              <a:rPr lang="en-US" sz="2800" dirty="0">
                <a:solidFill>
                  <a:schemeClr val="tx1"/>
                </a:solidFill>
                <a:latin typeface="Arial" pitchFamily="34" charset="0"/>
                <a:cs typeface="Arial" pitchFamily="34" charset="0"/>
              </a:rPr>
              <a:t> </a:t>
            </a:r>
            <a:r>
              <a:rPr lang="en-US" sz="2800" dirty="0">
                <a:solidFill>
                  <a:schemeClr val="tx1"/>
                </a:solidFill>
                <a:latin typeface="cmsy10"/>
                <a:cs typeface="Arial" pitchFamily="34" charset="0"/>
              </a:rPr>
              <a:t>≤</a:t>
            </a:r>
            <a:r>
              <a:rPr lang="en-US" sz="2800" dirty="0">
                <a:solidFill>
                  <a:schemeClr val="tx1"/>
                </a:solidFill>
                <a:latin typeface="Arial" pitchFamily="34" charset="0"/>
                <a:cs typeface="Arial" pitchFamily="34" charset="0"/>
              </a:rPr>
              <a:t> 2 T</a:t>
            </a:r>
            <a:r>
              <a:rPr lang="en-US" sz="2800" baseline="-25000" dirty="0">
                <a:solidFill>
                  <a:schemeClr val="tx1"/>
                </a:solidFill>
                <a:latin typeface="Arial"/>
                <a:cs typeface="Arial" pitchFamily="34" charset="0"/>
              </a:rPr>
              <a:t>P</a:t>
            </a:r>
            <a:r>
              <a:rPr lang="en-US" sz="2800" baseline="30000" dirty="0">
                <a:solidFill>
                  <a:schemeClr val="tx1"/>
                </a:solidFill>
                <a:latin typeface="Arial" pitchFamily="34" charset="0"/>
                <a:cs typeface="Arial" pitchFamily="34" charset="0"/>
              </a:rPr>
              <a:t>*</a:t>
            </a:r>
          </a:p>
        </p:txBody>
      </p:sp>
      <p:sp>
        <p:nvSpPr>
          <p:cNvPr id="14" name="AutoShape 4"/>
          <p:cNvSpPr>
            <a:spLocks noChangeArrowheads="1"/>
          </p:cNvSpPr>
          <p:nvPr/>
        </p:nvSpPr>
        <p:spPr bwMode="auto">
          <a:xfrm>
            <a:off x="2008683" y="2493364"/>
            <a:ext cx="3417756" cy="698500"/>
          </a:xfrm>
          <a:prstGeom prst="wedgeRoundRectCallout">
            <a:avLst>
              <a:gd name="adj1" fmla="val 65852"/>
              <a:gd name="adj2" fmla="val -29925"/>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5" name="Text Box 5"/>
          <p:cNvSpPr txBox="1">
            <a:spLocks noChangeArrowheads="1"/>
          </p:cNvSpPr>
          <p:nvPr/>
        </p:nvSpPr>
        <p:spPr bwMode="auto">
          <a:xfrm>
            <a:off x="6160209" y="2070933"/>
            <a:ext cx="2983791" cy="954107"/>
          </a:xfrm>
          <a:prstGeom prst="rect">
            <a:avLst/>
          </a:prstGeom>
          <a:noFill/>
          <a:ln w="38100" algn="ctr">
            <a:noFill/>
            <a:miter lim="800000"/>
            <a:headEnd/>
            <a:tailEnd/>
          </a:ln>
        </p:spPr>
        <p:txBody>
          <a:bodyPr wrap="square">
            <a:spAutoFit/>
          </a:bodyPr>
          <a:lstStyle/>
          <a:p>
            <a:pPr algn="l"/>
            <a:r>
              <a:rPr lang="en-US" sz="2800" dirty="0">
                <a:solidFill>
                  <a:srgbClr val="FF0000"/>
                </a:solidFill>
                <a:latin typeface="Arial" pitchFamily="34" charset="0"/>
              </a:rPr>
              <a:t>From work and critical path laws</a:t>
            </a:r>
          </a:p>
        </p:txBody>
      </p:sp>
      <p:sp>
        <p:nvSpPr>
          <p:cNvPr id="16" name="AutoShape 4"/>
          <p:cNvSpPr>
            <a:spLocks noChangeArrowheads="1"/>
          </p:cNvSpPr>
          <p:nvPr/>
        </p:nvSpPr>
        <p:spPr bwMode="auto">
          <a:xfrm>
            <a:off x="2101123" y="3395272"/>
            <a:ext cx="2560818" cy="698500"/>
          </a:xfrm>
          <a:prstGeom prst="wedgeRoundRectCallout">
            <a:avLst>
              <a:gd name="adj1" fmla="val 86340"/>
              <a:gd name="adj2" fmla="val -27779"/>
              <a:gd name="adj3" fmla="val 16667"/>
            </a:avLst>
          </a:prstGeom>
          <a:noFill/>
          <a:ln w="38100" algn="ctr">
            <a:solidFill>
              <a:srgbClr val="FF0000"/>
            </a:solidFill>
            <a:miter lim="800000"/>
            <a:headEnd/>
            <a:tailEnd/>
          </a:ln>
        </p:spPr>
        <p:txBody>
          <a:bodyPr anchor="ctr"/>
          <a:lstStyle/>
          <a:p>
            <a:pPr algn="ctr"/>
            <a:endParaRPr lang="en-US" sz="2800" dirty="0">
              <a:latin typeface="Arial" pitchFamily="34" charset="0"/>
            </a:endParaRPr>
          </a:p>
        </p:txBody>
      </p:sp>
      <p:sp>
        <p:nvSpPr>
          <p:cNvPr id="17" name="Text Box 5"/>
          <p:cNvSpPr txBox="1">
            <a:spLocks noChangeArrowheads="1"/>
          </p:cNvSpPr>
          <p:nvPr/>
        </p:nvSpPr>
        <p:spPr bwMode="auto">
          <a:xfrm>
            <a:off x="4975986" y="3302625"/>
            <a:ext cx="3553417" cy="523220"/>
          </a:xfrm>
          <a:prstGeom prst="rect">
            <a:avLst/>
          </a:prstGeom>
          <a:noFill/>
          <a:ln w="38100" algn="ctr">
            <a:noFill/>
            <a:miter lim="800000"/>
            <a:headEnd/>
            <a:tailEnd/>
          </a:ln>
        </p:spPr>
        <p:txBody>
          <a:bodyPr wrap="square">
            <a:spAutoFit/>
          </a:bodyPr>
          <a:lstStyle/>
          <a:p>
            <a:pPr algn="ctr"/>
            <a:r>
              <a:rPr lang="en-US" sz="2800" dirty="0">
                <a:solidFill>
                  <a:srgbClr val="FF0000"/>
                </a:solidFill>
                <a:latin typeface="Arial" pitchFamily="34" charset="0"/>
              </a:rPr>
              <a:t>Theorem</a:t>
            </a:r>
          </a:p>
        </p:txBody>
      </p:sp>
      <p:sp>
        <p:nvSpPr>
          <p:cNvPr id="18" name="TextBox 17"/>
          <p:cNvSpPr txBox="1"/>
          <p:nvPr/>
        </p:nvSpPr>
        <p:spPr>
          <a:xfrm rot="19459782">
            <a:off x="6688520" y="5098774"/>
            <a:ext cx="1407758" cy="769441"/>
          </a:xfrm>
          <a:prstGeom prst="rect">
            <a:avLst/>
          </a:prstGeom>
          <a:noFill/>
          <a:ln>
            <a:solidFill>
              <a:srgbClr val="FF0000"/>
            </a:solidFill>
          </a:ln>
        </p:spPr>
        <p:txBody>
          <a:bodyPr wrap="none" rtlCol="0">
            <a:spAutoFit/>
          </a:bodyPr>
          <a:lstStyle/>
          <a:p>
            <a:r>
              <a:rPr lang="en-US" sz="4400" dirty="0">
                <a:solidFill>
                  <a:srgbClr val="FF0000"/>
                </a:solidFill>
                <a:latin typeface="Arial" pitchFamily="34" charset="0"/>
                <a:cs typeface="Arial" pitchFamily="34" charset="0"/>
              </a:rPr>
              <a:t>QED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linds(horizontal)">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animBg="1"/>
      <p:bldP spid="15" grpId="0"/>
      <p:bldP spid="16" grpId="0" animBg="1"/>
      <p:bldP spid="17" grpId="0"/>
      <p:bldP spid="1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1"/>
          <p:cNvSpPr>
            <a:spLocks noGrp="1"/>
          </p:cNvSpPr>
          <p:nvPr>
            <p:ph type="ftr" sz="quarter" idx="10"/>
          </p:nvPr>
        </p:nvSpPr>
        <p:spPr>
          <a:noFill/>
        </p:spPr>
        <p:txBody>
          <a:bodyPr/>
          <a:lstStyle/>
          <a:p>
            <a:r>
              <a:rPr lang="en-US"/>
              <a:t>Art of Multiprocessor Programming</a:t>
            </a:r>
          </a:p>
        </p:txBody>
      </p:sp>
      <p:sp>
        <p:nvSpPr>
          <p:cNvPr id="96259" name="Slide Number Placeholder 2"/>
          <p:cNvSpPr>
            <a:spLocks noGrp="1"/>
          </p:cNvSpPr>
          <p:nvPr>
            <p:ph type="sldNum" sz="quarter" idx="11"/>
          </p:nvPr>
        </p:nvSpPr>
        <p:spPr>
          <a:noFill/>
        </p:spPr>
        <p:txBody>
          <a:bodyPr/>
          <a:lstStyle/>
          <a:p>
            <a:fld id="{53F8137C-8B9E-4BFE-98BC-E29BBD237E22}" type="slidenum">
              <a:rPr lang="x-none" smtClean="0"/>
              <a:pPr/>
              <a:t>87</a:t>
            </a:fld>
            <a:endParaRPr lang="en-US"/>
          </a:p>
        </p:txBody>
      </p:sp>
      <p:sp>
        <p:nvSpPr>
          <p:cNvPr id="83"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57E46C7-A5D1-4A40-AC15-5926AD5E2860}" type="slidenum">
              <a:rPr lang="x-none" sz="1400">
                <a:solidFill>
                  <a:schemeClr val="tx1"/>
                </a:solidFill>
                <a:latin typeface="Arial" pitchFamily="34" charset="0"/>
                <a:cs typeface="Arial" pitchFamily="34" charset="0"/>
              </a:rPr>
              <a:pPr>
                <a:defRPr/>
              </a:pPr>
              <a:t>87</a:t>
            </a:fld>
            <a:endParaRPr lang="en-US" sz="1400" dirty="0">
              <a:solidFill>
                <a:schemeClr val="tx1"/>
              </a:solidFill>
              <a:latin typeface="Arial" pitchFamily="34" charset="0"/>
              <a:cs typeface="Arial" pitchFamily="34" charset="0"/>
            </a:endParaRPr>
          </a:p>
        </p:txBody>
      </p:sp>
      <p:pic>
        <p:nvPicPr>
          <p:cNvPr id="96261"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96262"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6263" name="AutoShape 4"/>
          <p:cNvSpPr>
            <a:spLocks noChangeArrowheads="1"/>
          </p:cNvSpPr>
          <p:nvPr/>
        </p:nvSpPr>
        <p:spPr bwMode="auto">
          <a:xfrm>
            <a:off x="3490913" y="1890713"/>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pPr algn="l"/>
            <a:endParaRPr lang="en-US" b="1">
              <a:latin typeface="Arial" pitchFamily="34" charset="0"/>
            </a:endParaRPr>
          </a:p>
        </p:txBody>
      </p:sp>
      <p:sp>
        <p:nvSpPr>
          <p:cNvPr id="96264" name="AutoShape 5"/>
          <p:cNvSpPr>
            <a:spLocks noChangeArrowheads="1"/>
          </p:cNvSpPr>
          <p:nvPr/>
        </p:nvSpPr>
        <p:spPr bwMode="auto">
          <a:xfrm>
            <a:off x="2209800" y="381000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sz="3200" b="1" dirty="0">
              <a:latin typeface="Arial" pitchFamily="34" charset="0"/>
            </a:endParaRPr>
          </a:p>
        </p:txBody>
      </p:sp>
      <p:sp>
        <p:nvSpPr>
          <p:cNvPr id="96265" name="Rectangle 6"/>
          <p:cNvSpPr>
            <a:spLocks noGrp="1" noChangeArrowheads="1"/>
          </p:cNvSpPr>
          <p:nvPr>
            <p:ph type="title" idx="4294967295"/>
          </p:nvPr>
        </p:nvSpPr>
        <p:spPr/>
        <p:txBody>
          <a:bodyPr/>
          <a:lstStyle/>
          <a:p>
            <a:r>
              <a:rPr lang="en-US" sz="4000"/>
              <a:t>Work Distribution</a:t>
            </a:r>
          </a:p>
        </p:txBody>
      </p:sp>
      <p:sp>
        <p:nvSpPr>
          <p:cNvPr id="96266" name="AutoShape 7"/>
          <p:cNvSpPr>
            <a:spLocks noChangeArrowheads="1"/>
          </p:cNvSpPr>
          <p:nvPr/>
        </p:nvSpPr>
        <p:spPr bwMode="auto">
          <a:xfrm>
            <a:off x="566738" y="179705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pPr algn="l"/>
            <a:endParaRPr lang="en-US" b="1">
              <a:latin typeface="Arial" pitchFamily="34" charset="0"/>
            </a:endParaRPr>
          </a:p>
        </p:txBody>
      </p:sp>
      <p:grpSp>
        <p:nvGrpSpPr>
          <p:cNvPr id="2" name="Group 8"/>
          <p:cNvGrpSpPr>
            <a:grpSpLocks/>
          </p:cNvGrpSpPr>
          <p:nvPr/>
        </p:nvGrpSpPr>
        <p:grpSpPr bwMode="auto">
          <a:xfrm>
            <a:off x="3998913" y="4551363"/>
            <a:ext cx="1146175" cy="1000125"/>
            <a:chOff x="1043" y="2546"/>
            <a:chExt cx="869" cy="740"/>
          </a:xfrm>
        </p:grpSpPr>
        <p:sp>
          <p:nvSpPr>
            <p:cNvPr id="96333" name="Freeform 9"/>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6334" name="Freeform 10"/>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6335" name="Freeform 11"/>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6336" name="Freeform 12"/>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6337" name="AutoShape 13"/>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96338" name="Rectangle 14"/>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96339" name="Freeform 15"/>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6340" name="Freeform 16"/>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6268" name="AutoShape 17"/>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pPr algn="ctr"/>
            <a:endParaRPr lang="en-US" sz="4400" b="1" dirty="0">
              <a:solidFill>
                <a:srgbClr val="FF0000"/>
              </a:solidFill>
              <a:latin typeface="Arial" pitchFamily="34" charset="0"/>
            </a:endParaRPr>
          </a:p>
        </p:txBody>
      </p:sp>
      <p:sp>
        <p:nvSpPr>
          <p:cNvPr id="96269" name="AutoShape 18"/>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pPr algn="ctr"/>
            <a:r>
              <a:rPr lang="en-US" sz="3200" b="1" dirty="0" err="1">
                <a:solidFill>
                  <a:srgbClr val="33CC33"/>
                </a:solidFill>
                <a:latin typeface="Arial" pitchFamily="34" charset="0"/>
              </a:rPr>
              <a:t>zzz</a:t>
            </a:r>
            <a:r>
              <a:rPr lang="en-US" sz="3200" b="1" dirty="0">
                <a:solidFill>
                  <a:srgbClr val="33CC33"/>
                </a:solidFill>
                <a:latin typeface="Arial" pitchFamily="34" charset="0"/>
              </a:rPr>
              <a:t>…</a:t>
            </a:r>
          </a:p>
        </p:txBody>
      </p:sp>
      <p:grpSp>
        <p:nvGrpSpPr>
          <p:cNvPr id="3" name="Group 19"/>
          <p:cNvGrpSpPr>
            <a:grpSpLocks/>
          </p:cNvGrpSpPr>
          <p:nvPr/>
        </p:nvGrpSpPr>
        <p:grpSpPr bwMode="auto">
          <a:xfrm>
            <a:off x="1879600" y="2784475"/>
            <a:ext cx="1447800" cy="1295400"/>
            <a:chOff x="3168" y="1824"/>
            <a:chExt cx="912" cy="816"/>
          </a:xfrm>
        </p:grpSpPr>
        <p:sp>
          <p:nvSpPr>
            <p:cNvPr id="96324" name="Freeform 2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25" name="Freeform 2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26" name="Freeform 2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27" name="Freeform 2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6328" name="Freeform 2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6329" name="Freeform 2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6330" name="Freeform 2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31" name="Freeform 2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32" name="Freeform 2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4" name="Group 29"/>
          <p:cNvGrpSpPr>
            <a:grpSpLocks/>
          </p:cNvGrpSpPr>
          <p:nvPr/>
        </p:nvGrpSpPr>
        <p:grpSpPr bwMode="auto">
          <a:xfrm flipH="1">
            <a:off x="5165725" y="2786063"/>
            <a:ext cx="1447800" cy="1295400"/>
            <a:chOff x="3168" y="1824"/>
            <a:chExt cx="912" cy="816"/>
          </a:xfrm>
        </p:grpSpPr>
        <p:sp>
          <p:nvSpPr>
            <p:cNvPr id="96315" name="Freeform 3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16" name="Freeform 3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17" name="Freeform 3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18" name="Freeform 3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6319" name="Freeform 3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6320" name="Freeform 3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6321" name="Freeform 3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22" name="Freeform 3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6323" name="Freeform 3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6272" name="AutoShape 39"/>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pPr algn="ctr"/>
            <a:endParaRPr lang="en-US" sz="4400" b="1" dirty="0">
              <a:solidFill>
                <a:srgbClr val="9966FF"/>
              </a:solidFill>
              <a:latin typeface="Arial" pitchFamily="34" charset="0"/>
            </a:endParaRPr>
          </a:p>
        </p:txBody>
      </p:sp>
      <p:grpSp>
        <p:nvGrpSpPr>
          <p:cNvPr id="5" name="Group 40"/>
          <p:cNvGrpSpPr>
            <a:grpSpLocks/>
          </p:cNvGrpSpPr>
          <p:nvPr/>
        </p:nvGrpSpPr>
        <p:grpSpPr bwMode="auto">
          <a:xfrm>
            <a:off x="1101725" y="1651000"/>
            <a:ext cx="779463" cy="536575"/>
            <a:chOff x="3507" y="1789"/>
            <a:chExt cx="858" cy="497"/>
          </a:xfrm>
        </p:grpSpPr>
        <p:sp>
          <p:nvSpPr>
            <p:cNvPr id="96310" name="Oval 41"/>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42"/>
            <p:cNvGrpSpPr>
              <a:grpSpLocks/>
            </p:cNvGrpSpPr>
            <p:nvPr/>
          </p:nvGrpSpPr>
          <p:grpSpPr bwMode="auto">
            <a:xfrm>
              <a:off x="3758" y="2002"/>
              <a:ext cx="357" cy="76"/>
              <a:chOff x="4109" y="1226"/>
              <a:chExt cx="357" cy="76"/>
            </a:xfrm>
          </p:grpSpPr>
          <p:sp>
            <p:nvSpPr>
              <p:cNvPr id="96312" name="Freeform 4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6313" name="Freeform 4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6314" name="Freeform 4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46"/>
          <p:cNvGrpSpPr>
            <a:grpSpLocks/>
          </p:cNvGrpSpPr>
          <p:nvPr/>
        </p:nvGrpSpPr>
        <p:grpSpPr bwMode="auto">
          <a:xfrm>
            <a:off x="1114425" y="1371600"/>
            <a:ext cx="779463" cy="536575"/>
            <a:chOff x="3507" y="1789"/>
            <a:chExt cx="858" cy="497"/>
          </a:xfrm>
        </p:grpSpPr>
        <p:sp>
          <p:nvSpPr>
            <p:cNvPr id="96305" name="Oval 47"/>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48"/>
            <p:cNvGrpSpPr>
              <a:grpSpLocks/>
            </p:cNvGrpSpPr>
            <p:nvPr/>
          </p:nvGrpSpPr>
          <p:grpSpPr bwMode="auto">
            <a:xfrm>
              <a:off x="3758" y="2002"/>
              <a:ext cx="357" cy="76"/>
              <a:chOff x="4109" y="1226"/>
              <a:chExt cx="357" cy="76"/>
            </a:xfrm>
          </p:grpSpPr>
          <p:sp>
            <p:nvSpPr>
              <p:cNvPr id="96307" name="Freeform 4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6308" name="Freeform 5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6309" name="Freeform 5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58"/>
          <p:cNvGrpSpPr>
            <a:grpSpLocks/>
          </p:cNvGrpSpPr>
          <p:nvPr/>
        </p:nvGrpSpPr>
        <p:grpSpPr bwMode="auto">
          <a:xfrm>
            <a:off x="6403975" y="4241800"/>
            <a:ext cx="779463" cy="536575"/>
            <a:chOff x="3507" y="1789"/>
            <a:chExt cx="858" cy="497"/>
          </a:xfrm>
        </p:grpSpPr>
        <p:sp>
          <p:nvSpPr>
            <p:cNvPr id="96300" name="Oval 59"/>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60"/>
            <p:cNvGrpSpPr>
              <a:grpSpLocks/>
            </p:cNvGrpSpPr>
            <p:nvPr/>
          </p:nvGrpSpPr>
          <p:grpSpPr bwMode="auto">
            <a:xfrm>
              <a:off x="3758" y="2002"/>
              <a:ext cx="357" cy="76"/>
              <a:chOff x="4109" y="1226"/>
              <a:chExt cx="357" cy="76"/>
            </a:xfrm>
          </p:grpSpPr>
          <p:sp>
            <p:nvSpPr>
              <p:cNvPr id="96302" name="Freeform 6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6303" name="Freeform 6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6304" name="Freeform 6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1" name="Group 64"/>
          <p:cNvGrpSpPr>
            <a:grpSpLocks/>
          </p:cNvGrpSpPr>
          <p:nvPr/>
        </p:nvGrpSpPr>
        <p:grpSpPr bwMode="auto">
          <a:xfrm>
            <a:off x="6403975" y="3965575"/>
            <a:ext cx="779463" cy="536575"/>
            <a:chOff x="3507" y="1789"/>
            <a:chExt cx="858" cy="497"/>
          </a:xfrm>
        </p:grpSpPr>
        <p:sp>
          <p:nvSpPr>
            <p:cNvPr id="96295" name="Oval 65"/>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2" name="Group 66"/>
            <p:cNvGrpSpPr>
              <a:grpSpLocks/>
            </p:cNvGrpSpPr>
            <p:nvPr/>
          </p:nvGrpSpPr>
          <p:grpSpPr bwMode="auto">
            <a:xfrm>
              <a:off x="3758" y="2002"/>
              <a:ext cx="357" cy="76"/>
              <a:chOff x="4109" y="1226"/>
              <a:chExt cx="357" cy="76"/>
            </a:xfrm>
          </p:grpSpPr>
          <p:sp>
            <p:nvSpPr>
              <p:cNvPr id="96297" name="Freeform 6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6298" name="Freeform 6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6299" name="Freeform 6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3" name="Group 70"/>
          <p:cNvGrpSpPr>
            <a:grpSpLocks/>
          </p:cNvGrpSpPr>
          <p:nvPr/>
        </p:nvGrpSpPr>
        <p:grpSpPr bwMode="auto">
          <a:xfrm>
            <a:off x="6403975" y="3689350"/>
            <a:ext cx="779463" cy="536575"/>
            <a:chOff x="3507" y="1789"/>
            <a:chExt cx="858" cy="497"/>
          </a:xfrm>
        </p:grpSpPr>
        <p:sp>
          <p:nvSpPr>
            <p:cNvPr id="96290" name="Oval 71"/>
            <p:cNvSpPr>
              <a:spLocks noChangeArrowheads="1"/>
            </p:cNvSpPr>
            <p:nvPr/>
          </p:nvSpPr>
          <p:spPr bwMode="auto">
            <a:xfrm>
              <a:off x="3507" y="1789"/>
              <a:ext cx="858" cy="497"/>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4" name="Group 72"/>
            <p:cNvGrpSpPr>
              <a:grpSpLocks/>
            </p:cNvGrpSpPr>
            <p:nvPr/>
          </p:nvGrpSpPr>
          <p:grpSpPr bwMode="auto">
            <a:xfrm>
              <a:off x="3758" y="2002"/>
              <a:ext cx="357" cy="76"/>
              <a:chOff x="4109" y="1226"/>
              <a:chExt cx="357" cy="76"/>
            </a:xfrm>
          </p:grpSpPr>
          <p:sp>
            <p:nvSpPr>
              <p:cNvPr id="96292" name="Freeform 7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00FF"/>
              </a:solidFill>
              <a:ln w="9525">
                <a:solidFill>
                  <a:schemeClr val="tx1"/>
                </a:solidFill>
                <a:round/>
                <a:headEnd/>
                <a:tailEnd/>
              </a:ln>
            </p:spPr>
            <p:txBody>
              <a:bodyPr wrap="none" anchor="ctr"/>
              <a:lstStyle/>
              <a:p>
                <a:pPr algn="l"/>
                <a:endParaRPr lang="en-US" b="1">
                  <a:latin typeface="Arial" pitchFamily="34" charset="0"/>
                </a:endParaRPr>
              </a:p>
            </p:txBody>
          </p:sp>
          <p:sp>
            <p:nvSpPr>
              <p:cNvPr id="96293" name="Freeform 7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sp>
            <p:nvSpPr>
              <p:cNvPr id="96294" name="Freeform 7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5" name="Group 76"/>
          <p:cNvGrpSpPr>
            <a:grpSpLocks/>
          </p:cNvGrpSpPr>
          <p:nvPr/>
        </p:nvGrpSpPr>
        <p:grpSpPr bwMode="auto">
          <a:xfrm>
            <a:off x="6403975" y="3413125"/>
            <a:ext cx="779463" cy="536575"/>
            <a:chOff x="3507" y="1789"/>
            <a:chExt cx="858" cy="497"/>
          </a:xfrm>
        </p:grpSpPr>
        <p:sp>
          <p:nvSpPr>
            <p:cNvPr id="96285" name="Oval 77"/>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6" name="Group 78"/>
            <p:cNvGrpSpPr>
              <a:grpSpLocks/>
            </p:cNvGrpSpPr>
            <p:nvPr/>
          </p:nvGrpSpPr>
          <p:grpSpPr bwMode="auto">
            <a:xfrm>
              <a:off x="3758" y="2002"/>
              <a:ext cx="357" cy="76"/>
              <a:chOff x="4109" y="1226"/>
              <a:chExt cx="357" cy="76"/>
            </a:xfrm>
          </p:grpSpPr>
          <p:sp>
            <p:nvSpPr>
              <p:cNvPr id="96287" name="Freeform 7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6288" name="Freeform 8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6289" name="Freeform 8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7" name="Group 82"/>
          <p:cNvGrpSpPr>
            <a:grpSpLocks/>
          </p:cNvGrpSpPr>
          <p:nvPr/>
        </p:nvGrpSpPr>
        <p:grpSpPr bwMode="auto">
          <a:xfrm>
            <a:off x="6403975" y="3136900"/>
            <a:ext cx="779463" cy="536575"/>
            <a:chOff x="3507" y="1789"/>
            <a:chExt cx="858" cy="497"/>
          </a:xfrm>
        </p:grpSpPr>
        <p:sp>
          <p:nvSpPr>
            <p:cNvPr id="96280" name="Oval 83"/>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8" name="Group 84"/>
            <p:cNvGrpSpPr>
              <a:grpSpLocks/>
            </p:cNvGrpSpPr>
            <p:nvPr/>
          </p:nvGrpSpPr>
          <p:grpSpPr bwMode="auto">
            <a:xfrm>
              <a:off x="3758" y="2002"/>
              <a:ext cx="357" cy="76"/>
              <a:chOff x="4109" y="1226"/>
              <a:chExt cx="357" cy="76"/>
            </a:xfrm>
          </p:grpSpPr>
          <p:sp>
            <p:nvSpPr>
              <p:cNvPr id="96282" name="Freeform 8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6283" name="Freeform 8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6284" name="Freeform 8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1"/>
          <p:cNvSpPr>
            <a:spLocks noGrp="1"/>
          </p:cNvSpPr>
          <p:nvPr>
            <p:ph type="ftr" sz="quarter" idx="10"/>
          </p:nvPr>
        </p:nvSpPr>
        <p:spPr>
          <a:noFill/>
        </p:spPr>
        <p:txBody>
          <a:bodyPr/>
          <a:lstStyle/>
          <a:p>
            <a:r>
              <a:rPr lang="en-US"/>
              <a:t>Art of Multiprocessor Programming</a:t>
            </a:r>
          </a:p>
        </p:txBody>
      </p:sp>
      <p:sp>
        <p:nvSpPr>
          <p:cNvPr id="97283" name="Slide Number Placeholder 2"/>
          <p:cNvSpPr>
            <a:spLocks noGrp="1"/>
          </p:cNvSpPr>
          <p:nvPr>
            <p:ph type="sldNum" sz="quarter" idx="11"/>
          </p:nvPr>
        </p:nvSpPr>
        <p:spPr>
          <a:noFill/>
        </p:spPr>
        <p:txBody>
          <a:bodyPr/>
          <a:lstStyle/>
          <a:p>
            <a:fld id="{08A95AFE-AA7E-452A-BF3B-6D672F221140}" type="slidenum">
              <a:rPr lang="x-none" smtClean="0"/>
              <a:pPr/>
              <a:t>88</a:t>
            </a:fld>
            <a:endParaRPr lang="en-US"/>
          </a:p>
        </p:txBody>
      </p:sp>
      <p:sp>
        <p:nvSpPr>
          <p:cNvPr id="10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F847E5D-77D2-4DAD-90F4-62937A0C1D85}" type="slidenum">
              <a:rPr lang="x-none" sz="1400">
                <a:solidFill>
                  <a:schemeClr val="tx1"/>
                </a:solidFill>
                <a:latin typeface="Arial" pitchFamily="34" charset="0"/>
                <a:cs typeface="Arial" pitchFamily="34" charset="0"/>
              </a:rPr>
              <a:pPr>
                <a:defRPr/>
              </a:pPr>
              <a:t>88</a:t>
            </a:fld>
            <a:endParaRPr lang="en-US" sz="1400" dirty="0">
              <a:solidFill>
                <a:schemeClr val="tx1"/>
              </a:solidFill>
              <a:latin typeface="Arial" pitchFamily="34" charset="0"/>
              <a:cs typeface="Arial" pitchFamily="34" charset="0"/>
            </a:endParaRPr>
          </a:p>
        </p:txBody>
      </p:sp>
      <p:grpSp>
        <p:nvGrpSpPr>
          <p:cNvPr id="2" name="Group 2"/>
          <p:cNvGrpSpPr>
            <a:grpSpLocks/>
          </p:cNvGrpSpPr>
          <p:nvPr/>
        </p:nvGrpSpPr>
        <p:grpSpPr bwMode="auto">
          <a:xfrm flipH="1">
            <a:off x="5165725" y="2786063"/>
            <a:ext cx="1447800" cy="1295400"/>
            <a:chOff x="3168" y="1824"/>
            <a:chExt cx="912" cy="816"/>
          </a:xfrm>
        </p:grpSpPr>
        <p:sp>
          <p:nvSpPr>
            <p:cNvPr id="97380" name="Freeform 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81" name="Freeform 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82" name="Freeform 5"/>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83" name="Freeform 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7384" name="Freeform 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7385" name="Freeform 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7386" name="Freeform 9"/>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87" name="Freeform 10"/>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88" name="Freeform 11"/>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2"/>
          <p:cNvGrpSpPr>
            <a:grpSpLocks/>
          </p:cNvGrpSpPr>
          <p:nvPr/>
        </p:nvGrpSpPr>
        <p:grpSpPr bwMode="auto">
          <a:xfrm flipH="1">
            <a:off x="5178425" y="2811463"/>
            <a:ext cx="1447800" cy="1295400"/>
            <a:chOff x="3168" y="1824"/>
            <a:chExt cx="912" cy="816"/>
          </a:xfrm>
        </p:grpSpPr>
        <p:sp>
          <p:nvSpPr>
            <p:cNvPr id="97371" name="Freeform 1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72" name="Freeform 1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73" name="Freeform 15"/>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74" name="Freeform 1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75" name="Freeform 1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76" name="Freeform 1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77" name="Freeform 19"/>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78" name="Freeform 20"/>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79" name="Freeform 21"/>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pic>
        <p:nvPicPr>
          <p:cNvPr id="97287" name="Picture 2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97288" name="Picture 2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361944" name="AutoShape 24"/>
          <p:cNvSpPr>
            <a:spLocks noChangeArrowheads="1"/>
          </p:cNvSpPr>
          <p:nvPr/>
        </p:nvSpPr>
        <p:spPr bwMode="auto">
          <a:xfrm>
            <a:off x="3490913" y="1890713"/>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pPr algn="l"/>
            <a:endParaRPr lang="en-US" b="1">
              <a:latin typeface="Arial" pitchFamily="34" charset="0"/>
            </a:endParaRPr>
          </a:p>
        </p:txBody>
      </p:sp>
      <p:sp>
        <p:nvSpPr>
          <p:cNvPr id="97290" name="AutoShape 25"/>
          <p:cNvSpPr>
            <a:spLocks noChangeArrowheads="1"/>
          </p:cNvSpPr>
          <p:nvPr/>
        </p:nvSpPr>
        <p:spPr bwMode="auto">
          <a:xfrm>
            <a:off x="2209800" y="381000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sz="3200" b="1" dirty="0">
              <a:latin typeface="Arial" pitchFamily="34" charset="0"/>
            </a:endParaRPr>
          </a:p>
        </p:txBody>
      </p:sp>
      <p:sp>
        <p:nvSpPr>
          <p:cNvPr id="97291" name="Rectangle 26"/>
          <p:cNvSpPr>
            <a:spLocks noGrp="1" noChangeArrowheads="1"/>
          </p:cNvSpPr>
          <p:nvPr>
            <p:ph type="title" idx="4294967295"/>
          </p:nvPr>
        </p:nvSpPr>
        <p:spPr/>
        <p:txBody>
          <a:bodyPr/>
          <a:lstStyle/>
          <a:p>
            <a:r>
              <a:rPr lang="en-US" sz="4000"/>
              <a:t>Work Dealing</a:t>
            </a:r>
          </a:p>
        </p:txBody>
      </p:sp>
      <p:sp>
        <p:nvSpPr>
          <p:cNvPr id="1361947" name="AutoShape 27"/>
          <p:cNvSpPr>
            <a:spLocks noChangeArrowheads="1"/>
          </p:cNvSpPr>
          <p:nvPr/>
        </p:nvSpPr>
        <p:spPr bwMode="auto">
          <a:xfrm>
            <a:off x="566738" y="179705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pPr algn="l"/>
            <a:endParaRPr lang="en-US" b="1">
              <a:latin typeface="Arial" pitchFamily="34" charset="0"/>
            </a:endParaRPr>
          </a:p>
        </p:txBody>
      </p:sp>
      <p:grpSp>
        <p:nvGrpSpPr>
          <p:cNvPr id="4" name="Group 28"/>
          <p:cNvGrpSpPr>
            <a:grpSpLocks/>
          </p:cNvGrpSpPr>
          <p:nvPr/>
        </p:nvGrpSpPr>
        <p:grpSpPr bwMode="auto">
          <a:xfrm>
            <a:off x="3998913" y="4551363"/>
            <a:ext cx="1146175" cy="1000125"/>
            <a:chOff x="1043" y="2546"/>
            <a:chExt cx="869" cy="740"/>
          </a:xfrm>
        </p:grpSpPr>
        <p:sp>
          <p:nvSpPr>
            <p:cNvPr id="97363" name="Freeform 29"/>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7364" name="Freeform 30"/>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7365" name="Freeform 31"/>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7366" name="Freeform 32"/>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7367" name="AutoShape 33"/>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97368" name="Rectangle 34"/>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97369" name="Freeform 35"/>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7370" name="Freeform 36"/>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7294" name="AutoShape 37"/>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pPr algn="ctr"/>
            <a:endParaRPr lang="en-US" sz="4400" b="1" dirty="0">
              <a:solidFill>
                <a:srgbClr val="FF0000"/>
              </a:solidFill>
              <a:latin typeface="Arial" pitchFamily="34" charset="0"/>
            </a:endParaRPr>
          </a:p>
        </p:txBody>
      </p:sp>
      <p:sp>
        <p:nvSpPr>
          <p:cNvPr id="97295" name="AutoShape 38"/>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pPr algn="ctr"/>
            <a:endParaRPr lang="en-US" sz="4400" b="1" dirty="0">
              <a:solidFill>
                <a:srgbClr val="33CC33"/>
              </a:solidFill>
              <a:latin typeface="Arial" pitchFamily="34" charset="0"/>
            </a:endParaRPr>
          </a:p>
        </p:txBody>
      </p:sp>
      <p:grpSp>
        <p:nvGrpSpPr>
          <p:cNvPr id="5" name="Group 39"/>
          <p:cNvGrpSpPr>
            <a:grpSpLocks/>
          </p:cNvGrpSpPr>
          <p:nvPr/>
        </p:nvGrpSpPr>
        <p:grpSpPr bwMode="auto">
          <a:xfrm>
            <a:off x="1879600" y="2784475"/>
            <a:ext cx="1447800" cy="1295400"/>
            <a:chOff x="3168" y="1824"/>
            <a:chExt cx="912" cy="816"/>
          </a:xfrm>
        </p:grpSpPr>
        <p:sp>
          <p:nvSpPr>
            <p:cNvPr id="97354" name="Freeform 4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55" name="Freeform 4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56" name="Freeform 4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57" name="Freeform 4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7358" name="Freeform 4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7359" name="Freeform 4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7360" name="Freeform 4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61" name="Freeform 4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62" name="Freeform 4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7297" name="AutoShape 49"/>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pPr algn="ctr"/>
            <a:endParaRPr lang="en-US" sz="4400" b="1" dirty="0">
              <a:solidFill>
                <a:srgbClr val="9966FF"/>
              </a:solidFill>
              <a:latin typeface="Arial" pitchFamily="34" charset="0"/>
            </a:endParaRPr>
          </a:p>
        </p:txBody>
      </p:sp>
      <p:grpSp>
        <p:nvGrpSpPr>
          <p:cNvPr id="6" name="Group 50"/>
          <p:cNvGrpSpPr>
            <a:grpSpLocks/>
          </p:cNvGrpSpPr>
          <p:nvPr/>
        </p:nvGrpSpPr>
        <p:grpSpPr bwMode="auto">
          <a:xfrm>
            <a:off x="1101725" y="1651000"/>
            <a:ext cx="779463" cy="536575"/>
            <a:chOff x="3507" y="1789"/>
            <a:chExt cx="858" cy="497"/>
          </a:xfrm>
        </p:grpSpPr>
        <p:sp>
          <p:nvSpPr>
            <p:cNvPr id="97349" name="Oval 51"/>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52"/>
            <p:cNvGrpSpPr>
              <a:grpSpLocks/>
            </p:cNvGrpSpPr>
            <p:nvPr/>
          </p:nvGrpSpPr>
          <p:grpSpPr bwMode="auto">
            <a:xfrm>
              <a:off x="3758" y="2002"/>
              <a:ext cx="357" cy="76"/>
              <a:chOff x="4109" y="1226"/>
              <a:chExt cx="357" cy="76"/>
            </a:xfrm>
          </p:grpSpPr>
          <p:sp>
            <p:nvSpPr>
              <p:cNvPr id="97351" name="Freeform 5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52" name="Freeform 5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7353" name="Freeform 5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56"/>
          <p:cNvGrpSpPr>
            <a:grpSpLocks/>
          </p:cNvGrpSpPr>
          <p:nvPr/>
        </p:nvGrpSpPr>
        <p:grpSpPr bwMode="auto">
          <a:xfrm>
            <a:off x="1114425" y="1371600"/>
            <a:ext cx="779463" cy="536575"/>
            <a:chOff x="3507" y="1789"/>
            <a:chExt cx="858" cy="497"/>
          </a:xfrm>
        </p:grpSpPr>
        <p:sp>
          <p:nvSpPr>
            <p:cNvPr id="97344" name="Oval 57"/>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58"/>
            <p:cNvGrpSpPr>
              <a:grpSpLocks/>
            </p:cNvGrpSpPr>
            <p:nvPr/>
          </p:nvGrpSpPr>
          <p:grpSpPr bwMode="auto">
            <a:xfrm>
              <a:off x="3758" y="2002"/>
              <a:ext cx="357" cy="76"/>
              <a:chOff x="4109" y="1226"/>
              <a:chExt cx="357" cy="76"/>
            </a:xfrm>
          </p:grpSpPr>
          <p:sp>
            <p:nvSpPr>
              <p:cNvPr id="97346" name="Freeform 5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47" name="Freeform 6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7348" name="Freeform 6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 name="Group 62"/>
          <p:cNvGrpSpPr>
            <a:grpSpLocks/>
          </p:cNvGrpSpPr>
          <p:nvPr/>
        </p:nvGrpSpPr>
        <p:grpSpPr bwMode="auto">
          <a:xfrm>
            <a:off x="6403975" y="4241800"/>
            <a:ext cx="779463" cy="536575"/>
            <a:chOff x="3507" y="1789"/>
            <a:chExt cx="858" cy="497"/>
          </a:xfrm>
        </p:grpSpPr>
        <p:sp>
          <p:nvSpPr>
            <p:cNvPr id="97339" name="Oval 63"/>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64"/>
            <p:cNvGrpSpPr>
              <a:grpSpLocks/>
            </p:cNvGrpSpPr>
            <p:nvPr/>
          </p:nvGrpSpPr>
          <p:grpSpPr bwMode="auto">
            <a:xfrm>
              <a:off x="3758" y="2002"/>
              <a:ext cx="357" cy="76"/>
              <a:chOff x="4109" y="1226"/>
              <a:chExt cx="357" cy="76"/>
            </a:xfrm>
          </p:grpSpPr>
          <p:sp>
            <p:nvSpPr>
              <p:cNvPr id="97341" name="Freeform 6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7342" name="Freeform 6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7343" name="Freeform 6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2" name="Group 68"/>
          <p:cNvGrpSpPr>
            <a:grpSpLocks/>
          </p:cNvGrpSpPr>
          <p:nvPr/>
        </p:nvGrpSpPr>
        <p:grpSpPr bwMode="auto">
          <a:xfrm>
            <a:off x="6403975" y="3965575"/>
            <a:ext cx="779463" cy="536575"/>
            <a:chOff x="3507" y="1789"/>
            <a:chExt cx="858" cy="497"/>
          </a:xfrm>
        </p:grpSpPr>
        <p:sp>
          <p:nvSpPr>
            <p:cNvPr id="97334" name="Oval 69"/>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3" name="Group 70"/>
            <p:cNvGrpSpPr>
              <a:grpSpLocks/>
            </p:cNvGrpSpPr>
            <p:nvPr/>
          </p:nvGrpSpPr>
          <p:grpSpPr bwMode="auto">
            <a:xfrm>
              <a:off x="3758" y="2002"/>
              <a:ext cx="357" cy="76"/>
              <a:chOff x="4109" y="1226"/>
              <a:chExt cx="357" cy="76"/>
            </a:xfrm>
          </p:grpSpPr>
          <p:sp>
            <p:nvSpPr>
              <p:cNvPr id="97336" name="Freeform 7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7337" name="Freeform 7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7338" name="Freeform 7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4" name="Group 74"/>
          <p:cNvGrpSpPr>
            <a:grpSpLocks/>
          </p:cNvGrpSpPr>
          <p:nvPr/>
        </p:nvGrpSpPr>
        <p:grpSpPr bwMode="auto">
          <a:xfrm>
            <a:off x="6632575" y="3919538"/>
            <a:ext cx="323850" cy="82550"/>
            <a:chOff x="4109" y="1226"/>
            <a:chExt cx="357" cy="76"/>
          </a:xfrm>
        </p:grpSpPr>
        <p:sp>
          <p:nvSpPr>
            <p:cNvPr id="97331" name="Freeform 7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32" name="Freeform 7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7333" name="Freeform 7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sp>
        <p:nvSpPr>
          <p:cNvPr id="97303" name="Oval 78"/>
          <p:cNvSpPr>
            <a:spLocks noChangeArrowheads="1"/>
          </p:cNvSpPr>
          <p:nvPr/>
        </p:nvSpPr>
        <p:spPr bwMode="auto">
          <a:xfrm>
            <a:off x="6410325" y="36703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5" name="Group 79"/>
          <p:cNvGrpSpPr>
            <a:grpSpLocks/>
          </p:cNvGrpSpPr>
          <p:nvPr/>
        </p:nvGrpSpPr>
        <p:grpSpPr bwMode="auto">
          <a:xfrm>
            <a:off x="6638925" y="3900488"/>
            <a:ext cx="323850" cy="82550"/>
            <a:chOff x="4109" y="1226"/>
            <a:chExt cx="357" cy="76"/>
          </a:xfrm>
        </p:grpSpPr>
        <p:sp>
          <p:nvSpPr>
            <p:cNvPr id="97328" name="Freeform 8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29" name="Freeform 8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7330" name="Freeform 8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nvGrpSpPr>
          <p:cNvPr id="16" name="Group 83"/>
          <p:cNvGrpSpPr>
            <a:grpSpLocks/>
          </p:cNvGrpSpPr>
          <p:nvPr/>
        </p:nvGrpSpPr>
        <p:grpSpPr bwMode="auto">
          <a:xfrm>
            <a:off x="6403975" y="3413125"/>
            <a:ext cx="779463" cy="536575"/>
            <a:chOff x="3507" y="1789"/>
            <a:chExt cx="858" cy="497"/>
          </a:xfrm>
        </p:grpSpPr>
        <p:sp>
          <p:nvSpPr>
            <p:cNvPr id="97323" name="Oval 84"/>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7" name="Group 85"/>
            <p:cNvGrpSpPr>
              <a:grpSpLocks/>
            </p:cNvGrpSpPr>
            <p:nvPr/>
          </p:nvGrpSpPr>
          <p:grpSpPr bwMode="auto">
            <a:xfrm>
              <a:off x="3758" y="2002"/>
              <a:ext cx="357" cy="76"/>
              <a:chOff x="4109" y="1226"/>
              <a:chExt cx="357" cy="76"/>
            </a:xfrm>
          </p:grpSpPr>
          <p:sp>
            <p:nvSpPr>
              <p:cNvPr id="97325" name="Freeform 8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26" name="Freeform 8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7327" name="Freeform 8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8" name="Group 89"/>
          <p:cNvGrpSpPr>
            <a:grpSpLocks/>
          </p:cNvGrpSpPr>
          <p:nvPr/>
        </p:nvGrpSpPr>
        <p:grpSpPr bwMode="auto">
          <a:xfrm>
            <a:off x="6403975" y="3136900"/>
            <a:ext cx="779463" cy="536575"/>
            <a:chOff x="3507" y="1789"/>
            <a:chExt cx="858" cy="497"/>
          </a:xfrm>
        </p:grpSpPr>
        <p:sp>
          <p:nvSpPr>
            <p:cNvPr id="97318" name="Oval 9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9" name="Group 91"/>
            <p:cNvGrpSpPr>
              <a:grpSpLocks/>
            </p:cNvGrpSpPr>
            <p:nvPr/>
          </p:nvGrpSpPr>
          <p:grpSpPr bwMode="auto">
            <a:xfrm>
              <a:off x="3758" y="2002"/>
              <a:ext cx="357" cy="76"/>
              <a:chOff x="4109" y="1226"/>
              <a:chExt cx="357" cy="76"/>
            </a:xfrm>
          </p:grpSpPr>
          <p:sp>
            <p:nvSpPr>
              <p:cNvPr id="97320" name="Freeform 9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7321" name="Freeform 9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7322" name="Freeform 9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0" name="Group 95"/>
          <p:cNvGrpSpPr>
            <a:grpSpLocks/>
          </p:cNvGrpSpPr>
          <p:nvPr/>
        </p:nvGrpSpPr>
        <p:grpSpPr bwMode="auto">
          <a:xfrm>
            <a:off x="1866900" y="2809875"/>
            <a:ext cx="1447800" cy="1295400"/>
            <a:chOff x="3168" y="1824"/>
            <a:chExt cx="912" cy="816"/>
          </a:xfrm>
        </p:grpSpPr>
        <p:sp>
          <p:nvSpPr>
            <p:cNvPr id="97309" name="Freeform 96"/>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10" name="Freeform 97"/>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11" name="Freeform 98"/>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12" name="Freeform 99"/>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13" name="Freeform 100"/>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14" name="Freeform 101"/>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7315" name="Freeform 102"/>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16" name="Freeform 103"/>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7317" name="Freeform 104"/>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362025" name="AutoShape 105"/>
          <p:cNvSpPr>
            <a:spLocks noChangeArrowheads="1"/>
          </p:cNvSpPr>
          <p:nvPr/>
        </p:nvSpPr>
        <p:spPr bwMode="auto">
          <a:xfrm>
            <a:off x="2324100" y="4991100"/>
            <a:ext cx="1130300" cy="635000"/>
          </a:xfrm>
          <a:prstGeom prst="wedgeRoundRectCallout">
            <a:avLst>
              <a:gd name="adj1" fmla="val 88903"/>
              <a:gd name="adj2" fmla="val -60000"/>
              <a:gd name="adj3" fmla="val 16667"/>
            </a:avLst>
          </a:prstGeom>
          <a:noFill/>
          <a:ln w="38100" algn="ctr">
            <a:solidFill>
              <a:srgbClr val="9966FF"/>
            </a:solidFill>
            <a:miter lim="800000"/>
            <a:headEnd/>
            <a:tailEnd/>
          </a:ln>
        </p:spPr>
        <p:txBody>
          <a:bodyPr/>
          <a:lstStyle/>
          <a:p>
            <a:pPr algn="ctr"/>
            <a:r>
              <a:rPr lang="en-US" b="1">
                <a:solidFill>
                  <a:schemeClr val="tx1"/>
                </a:solidFill>
                <a:latin typeface="Arial" pitchFamily="34" charset="0"/>
              </a:rPr>
              <a:t>Yes!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xit" presetSubtype="10" fill="hold" grpId="0" nodeType="withEffect">
                                  <p:stCondLst>
                                    <p:cond delay="0"/>
                                  </p:stCondLst>
                                  <p:childTnLst>
                                    <p:animEffect transition="out" filter="blinds(horizontal)">
                                      <p:cBhvr>
                                        <p:cTn id="9" dur="500"/>
                                        <p:tgtEl>
                                          <p:spTgt spid="1361947"/>
                                        </p:tgtEl>
                                      </p:cBhvr>
                                    </p:animEffect>
                                    <p:set>
                                      <p:cBhvr>
                                        <p:cTn id="10" dur="1" fill="hold">
                                          <p:stCondLst>
                                            <p:cond delay="499"/>
                                          </p:stCondLst>
                                        </p:cTn>
                                        <p:tgtEl>
                                          <p:spTgt spid="1361947"/>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1361944"/>
                                        </p:tgtEl>
                                      </p:cBhvr>
                                    </p:animEffect>
                                    <p:set>
                                      <p:cBhvr>
                                        <p:cTn id="13" dur="1" fill="hold">
                                          <p:stCondLst>
                                            <p:cond delay="499"/>
                                          </p:stCondLst>
                                        </p:cTn>
                                        <p:tgtEl>
                                          <p:spTgt spid="1361944"/>
                                        </p:tgtEl>
                                        <p:attrNameLst>
                                          <p:attrName>style.visibility</p:attrName>
                                        </p:attrNameLst>
                                      </p:cBhvr>
                                      <p:to>
                                        <p:strVal val="hidden"/>
                                      </p:to>
                                    </p:set>
                                  </p:childTnLst>
                                </p:cTn>
                              </p:par>
                            </p:childTnLst>
                          </p:cTn>
                        </p:par>
                        <p:par>
                          <p:cTn id="14" fill="hold">
                            <p:stCondLst>
                              <p:cond delay="500"/>
                            </p:stCondLst>
                            <p:childTnLst>
                              <p:par>
                                <p:cTn id="15" presetID="0" presetClass="path" presetSubtype="0" accel="50000" decel="50000" fill="hold" nodeType="afterEffect">
                                  <p:stCondLst>
                                    <p:cond delay="0"/>
                                  </p:stCondLst>
                                  <p:childTnLst>
                                    <p:animMotion origin="layout" path="M 0 0 L 0.08889 -0.24815 " pathEditMode="relative" ptsTypes="AA">
                                      <p:cBhvr>
                                        <p:cTn id="16" dur="2000" fill="hold"/>
                                        <p:tgtEl>
                                          <p:spTgt spid="18"/>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08889 -0.24815 " pathEditMode="relative" ptsTypes="AA">
                                      <p:cBhvr>
                                        <p:cTn id="18" dur="2000" fill="hold"/>
                                        <p:tgtEl>
                                          <p:spTgt spid="16"/>
                                        </p:tgtEl>
                                        <p:attrNameLst>
                                          <p:attrName>ppt_x</p:attrName>
                                          <p:attrName>ppt_y</p:attrName>
                                        </p:attrNameLst>
                                      </p:cBhvr>
                                    </p:animMotion>
                                  </p:childTnLst>
                                </p:cTn>
                              </p:par>
                              <p:par>
                                <p:cTn id="19" presetID="3" presetClass="entr" presetSubtype="1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par>
                          <p:cTn id="22" fill="hold">
                            <p:stCondLst>
                              <p:cond delay="2500"/>
                            </p:stCondLst>
                            <p:childTnLst>
                              <p:par>
                                <p:cTn id="23" presetID="3" presetClass="entr" presetSubtype="10" fill="hold" grpId="0" nodeType="afterEffect">
                                  <p:stCondLst>
                                    <p:cond delay="0"/>
                                  </p:stCondLst>
                                  <p:childTnLst>
                                    <p:set>
                                      <p:cBhvr>
                                        <p:cTn id="24" dur="1" fill="hold">
                                          <p:stCondLst>
                                            <p:cond delay="0"/>
                                          </p:stCondLst>
                                        </p:cTn>
                                        <p:tgtEl>
                                          <p:spTgt spid="1362025"/>
                                        </p:tgtEl>
                                        <p:attrNameLst>
                                          <p:attrName>style.visibility</p:attrName>
                                        </p:attrNameLst>
                                      </p:cBhvr>
                                      <p:to>
                                        <p:strVal val="visible"/>
                                      </p:to>
                                    </p:set>
                                    <p:animEffect transition="in" filter="blinds(horizontal)">
                                      <p:cBhvr>
                                        <p:cTn id="25" dur="500"/>
                                        <p:tgtEl>
                                          <p:spTgt spid="1362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4" grpId="0" animBg="1"/>
      <p:bldP spid="1361947" grpId="0" animBg="1"/>
      <p:bldP spid="136202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1"/>
          <p:cNvSpPr>
            <a:spLocks noGrp="1"/>
          </p:cNvSpPr>
          <p:nvPr>
            <p:ph type="ftr" sz="quarter" idx="10"/>
          </p:nvPr>
        </p:nvSpPr>
        <p:spPr>
          <a:noFill/>
        </p:spPr>
        <p:txBody>
          <a:bodyPr/>
          <a:lstStyle/>
          <a:p>
            <a:r>
              <a:rPr lang="en-US"/>
              <a:t>Art of Multiprocessor Programming</a:t>
            </a:r>
          </a:p>
        </p:txBody>
      </p:sp>
      <p:sp>
        <p:nvSpPr>
          <p:cNvPr id="98307" name="Slide Number Placeholder 2"/>
          <p:cNvSpPr>
            <a:spLocks noGrp="1"/>
          </p:cNvSpPr>
          <p:nvPr>
            <p:ph type="sldNum" sz="quarter" idx="11"/>
          </p:nvPr>
        </p:nvSpPr>
        <p:spPr>
          <a:noFill/>
        </p:spPr>
        <p:txBody>
          <a:bodyPr/>
          <a:lstStyle/>
          <a:p>
            <a:fld id="{C94FC459-3BBC-4AA2-9007-F127AD953561}" type="slidenum">
              <a:rPr lang="x-none" smtClean="0"/>
              <a:pPr/>
              <a:t>89</a:t>
            </a:fld>
            <a:endParaRPr lang="en-US"/>
          </a:p>
        </p:txBody>
      </p:sp>
      <p:sp>
        <p:nvSpPr>
          <p:cNvPr id="144"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84592724-A223-4C4A-8F96-AF1024ACE4D4}" type="slidenum">
              <a:rPr lang="x-none" sz="1400">
                <a:solidFill>
                  <a:schemeClr val="tx1"/>
                </a:solidFill>
                <a:latin typeface="Arial" pitchFamily="34" charset="0"/>
                <a:cs typeface="Arial" pitchFamily="34" charset="0"/>
              </a:rPr>
              <a:pPr>
                <a:defRPr/>
              </a:pPr>
              <a:t>89</a:t>
            </a:fld>
            <a:endParaRPr lang="en-US" sz="1400" dirty="0">
              <a:solidFill>
                <a:schemeClr val="tx1"/>
              </a:solidFill>
              <a:latin typeface="Arial" pitchFamily="34" charset="0"/>
              <a:cs typeface="Arial" pitchFamily="34" charset="0"/>
            </a:endParaRPr>
          </a:p>
        </p:txBody>
      </p:sp>
      <p:sp>
        <p:nvSpPr>
          <p:cNvPr id="98309" name="AutoShape 2"/>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pPr algn="ctr"/>
            <a:endParaRPr lang="en-US" sz="4400" b="1" dirty="0">
              <a:solidFill>
                <a:srgbClr val="FF0000"/>
              </a:solidFill>
              <a:latin typeface="Arial" pitchFamily="34" charset="0"/>
            </a:endParaRPr>
          </a:p>
        </p:txBody>
      </p:sp>
      <p:grpSp>
        <p:nvGrpSpPr>
          <p:cNvPr id="2" name="Group 3"/>
          <p:cNvGrpSpPr>
            <a:grpSpLocks/>
          </p:cNvGrpSpPr>
          <p:nvPr/>
        </p:nvGrpSpPr>
        <p:grpSpPr bwMode="auto">
          <a:xfrm>
            <a:off x="917575" y="1524000"/>
            <a:ext cx="779463" cy="536575"/>
            <a:chOff x="3507" y="1789"/>
            <a:chExt cx="858" cy="497"/>
          </a:xfrm>
        </p:grpSpPr>
        <p:sp>
          <p:nvSpPr>
            <p:cNvPr id="98445" name="Oval 4"/>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5"/>
            <p:cNvGrpSpPr>
              <a:grpSpLocks/>
            </p:cNvGrpSpPr>
            <p:nvPr/>
          </p:nvGrpSpPr>
          <p:grpSpPr bwMode="auto">
            <a:xfrm>
              <a:off x="3758" y="2002"/>
              <a:ext cx="357" cy="76"/>
              <a:chOff x="4109" y="1226"/>
              <a:chExt cx="357" cy="76"/>
            </a:xfrm>
          </p:grpSpPr>
          <p:sp>
            <p:nvSpPr>
              <p:cNvPr id="98447" name="Freeform 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8448" name="Freeform 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8449" name="Freeform 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9"/>
          <p:cNvGrpSpPr>
            <a:grpSpLocks/>
          </p:cNvGrpSpPr>
          <p:nvPr/>
        </p:nvGrpSpPr>
        <p:grpSpPr bwMode="auto">
          <a:xfrm>
            <a:off x="917575" y="1247775"/>
            <a:ext cx="779463" cy="536575"/>
            <a:chOff x="3507" y="1789"/>
            <a:chExt cx="858" cy="497"/>
          </a:xfrm>
        </p:grpSpPr>
        <p:sp>
          <p:nvSpPr>
            <p:cNvPr id="98440" name="Oval 10"/>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11"/>
            <p:cNvGrpSpPr>
              <a:grpSpLocks/>
            </p:cNvGrpSpPr>
            <p:nvPr/>
          </p:nvGrpSpPr>
          <p:grpSpPr bwMode="auto">
            <a:xfrm>
              <a:off x="3758" y="2002"/>
              <a:ext cx="357" cy="76"/>
              <a:chOff x="4109" y="1226"/>
              <a:chExt cx="357" cy="76"/>
            </a:xfrm>
          </p:grpSpPr>
          <p:sp>
            <p:nvSpPr>
              <p:cNvPr id="98442" name="Freeform 1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8443" name="Freeform 1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8444" name="Freeform 1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98312" name="Oval 15"/>
          <p:cNvSpPr>
            <a:spLocks noChangeArrowheads="1"/>
          </p:cNvSpPr>
          <p:nvPr/>
        </p:nvSpPr>
        <p:spPr bwMode="auto">
          <a:xfrm>
            <a:off x="923925" y="9525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sp>
        <p:nvSpPr>
          <p:cNvPr id="98313" name="AutoShape 16"/>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pPr algn="ctr"/>
            <a:endParaRPr lang="en-US" sz="4400" b="1" dirty="0">
              <a:solidFill>
                <a:srgbClr val="33CC33"/>
              </a:solidFill>
              <a:latin typeface="Arial" pitchFamily="34" charset="0"/>
            </a:endParaRPr>
          </a:p>
        </p:txBody>
      </p:sp>
      <p:grpSp>
        <p:nvGrpSpPr>
          <p:cNvPr id="6" name="Group 17"/>
          <p:cNvGrpSpPr>
            <a:grpSpLocks/>
          </p:cNvGrpSpPr>
          <p:nvPr/>
        </p:nvGrpSpPr>
        <p:grpSpPr bwMode="auto">
          <a:xfrm>
            <a:off x="7191375" y="1676400"/>
            <a:ext cx="779463" cy="536575"/>
            <a:chOff x="3507" y="1789"/>
            <a:chExt cx="858" cy="497"/>
          </a:xfrm>
        </p:grpSpPr>
        <p:sp>
          <p:nvSpPr>
            <p:cNvPr id="98435" name="Oval 18"/>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19"/>
            <p:cNvGrpSpPr>
              <a:grpSpLocks/>
            </p:cNvGrpSpPr>
            <p:nvPr/>
          </p:nvGrpSpPr>
          <p:grpSpPr bwMode="auto">
            <a:xfrm>
              <a:off x="3758" y="2002"/>
              <a:ext cx="357" cy="76"/>
              <a:chOff x="4109" y="1226"/>
              <a:chExt cx="357" cy="76"/>
            </a:xfrm>
          </p:grpSpPr>
          <p:sp>
            <p:nvSpPr>
              <p:cNvPr id="98437" name="Freeform 2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8438" name="Freeform 2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8439" name="Freeform 2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23"/>
          <p:cNvGrpSpPr>
            <a:grpSpLocks/>
          </p:cNvGrpSpPr>
          <p:nvPr/>
        </p:nvGrpSpPr>
        <p:grpSpPr bwMode="auto">
          <a:xfrm>
            <a:off x="7191375" y="1400175"/>
            <a:ext cx="779463" cy="536575"/>
            <a:chOff x="3507" y="1789"/>
            <a:chExt cx="858" cy="497"/>
          </a:xfrm>
        </p:grpSpPr>
        <p:sp>
          <p:nvSpPr>
            <p:cNvPr id="98430" name="Oval 24"/>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25"/>
            <p:cNvGrpSpPr>
              <a:grpSpLocks/>
            </p:cNvGrpSpPr>
            <p:nvPr/>
          </p:nvGrpSpPr>
          <p:grpSpPr bwMode="auto">
            <a:xfrm>
              <a:off x="3758" y="2002"/>
              <a:ext cx="357" cy="76"/>
              <a:chOff x="4109" y="1226"/>
              <a:chExt cx="357" cy="76"/>
            </a:xfrm>
          </p:grpSpPr>
          <p:sp>
            <p:nvSpPr>
              <p:cNvPr id="98432" name="Freeform 2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8433" name="Freeform 2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8434" name="Freeform 2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98316" name="Oval 29"/>
          <p:cNvSpPr>
            <a:spLocks noChangeArrowheads="1"/>
          </p:cNvSpPr>
          <p:nvPr/>
        </p:nvSpPr>
        <p:spPr bwMode="auto">
          <a:xfrm>
            <a:off x="7197725" y="11049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pic>
        <p:nvPicPr>
          <p:cNvPr id="98317" name="Picture 30"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98318" name="Picture 31"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8319" name="AutoShape 32"/>
          <p:cNvSpPr>
            <a:spLocks noChangeArrowheads="1"/>
          </p:cNvSpPr>
          <p:nvPr/>
        </p:nvSpPr>
        <p:spPr bwMode="auto">
          <a:xfrm>
            <a:off x="3490913" y="1890713"/>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pPr algn="l"/>
            <a:endParaRPr lang="en-US" b="1">
              <a:latin typeface="Arial" pitchFamily="34" charset="0"/>
            </a:endParaRPr>
          </a:p>
        </p:txBody>
      </p:sp>
      <p:sp>
        <p:nvSpPr>
          <p:cNvPr id="98320" name="AutoShape 33"/>
          <p:cNvSpPr>
            <a:spLocks noChangeArrowheads="1"/>
          </p:cNvSpPr>
          <p:nvPr/>
        </p:nvSpPr>
        <p:spPr bwMode="auto">
          <a:xfrm>
            <a:off x="2209800" y="381000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sz="3200" b="1" dirty="0">
              <a:latin typeface="Arial" pitchFamily="34" charset="0"/>
            </a:endParaRPr>
          </a:p>
        </p:txBody>
      </p:sp>
      <p:sp>
        <p:nvSpPr>
          <p:cNvPr id="98321" name="Rectangle 34"/>
          <p:cNvSpPr>
            <a:spLocks noGrp="1" noChangeArrowheads="1"/>
          </p:cNvSpPr>
          <p:nvPr>
            <p:ph type="title" idx="4294967295"/>
          </p:nvPr>
        </p:nvSpPr>
        <p:spPr/>
        <p:txBody>
          <a:bodyPr/>
          <a:lstStyle/>
          <a:p>
            <a:r>
              <a:rPr lang="en-US" sz="4000"/>
              <a:t>The Problem with </a:t>
            </a:r>
            <a:br>
              <a:rPr lang="en-US" sz="4000"/>
            </a:br>
            <a:r>
              <a:rPr lang="en-US" sz="4000"/>
              <a:t>Work Dealing</a:t>
            </a:r>
          </a:p>
        </p:txBody>
      </p:sp>
      <p:sp>
        <p:nvSpPr>
          <p:cNvPr id="98322" name="AutoShape 35"/>
          <p:cNvSpPr>
            <a:spLocks noChangeArrowheads="1"/>
          </p:cNvSpPr>
          <p:nvPr/>
        </p:nvSpPr>
        <p:spPr bwMode="auto">
          <a:xfrm>
            <a:off x="566738" y="179705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pPr algn="l"/>
            <a:endParaRPr lang="en-US" b="1">
              <a:latin typeface="Arial" pitchFamily="34" charset="0"/>
            </a:endParaRPr>
          </a:p>
        </p:txBody>
      </p:sp>
      <p:grpSp>
        <p:nvGrpSpPr>
          <p:cNvPr id="10" name="Group 36"/>
          <p:cNvGrpSpPr>
            <a:grpSpLocks/>
          </p:cNvGrpSpPr>
          <p:nvPr/>
        </p:nvGrpSpPr>
        <p:grpSpPr bwMode="auto">
          <a:xfrm>
            <a:off x="3998913" y="4551363"/>
            <a:ext cx="1146175" cy="1000125"/>
            <a:chOff x="1043" y="2546"/>
            <a:chExt cx="869" cy="740"/>
          </a:xfrm>
        </p:grpSpPr>
        <p:sp>
          <p:nvSpPr>
            <p:cNvPr id="98422" name="Freeform 37"/>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8423" name="Freeform 38"/>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8424" name="Freeform 39"/>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8425" name="Freeform 40"/>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8426" name="AutoShape 41"/>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98427" name="Rectangle 42"/>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98428" name="Freeform 43"/>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8429" name="Freeform 44"/>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11" name="Group 45"/>
          <p:cNvGrpSpPr>
            <a:grpSpLocks/>
          </p:cNvGrpSpPr>
          <p:nvPr/>
        </p:nvGrpSpPr>
        <p:grpSpPr bwMode="auto">
          <a:xfrm>
            <a:off x="1879600" y="2784475"/>
            <a:ext cx="1447800" cy="1295400"/>
            <a:chOff x="3168" y="1824"/>
            <a:chExt cx="912" cy="816"/>
          </a:xfrm>
        </p:grpSpPr>
        <p:sp>
          <p:nvSpPr>
            <p:cNvPr id="98413" name="Freeform 46"/>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14" name="Freeform 47"/>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15" name="Freeform 48"/>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16" name="Freeform 49"/>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8417" name="Freeform 50"/>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8418" name="Freeform 51"/>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8419" name="Freeform 52"/>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20" name="Freeform 53"/>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21" name="Freeform 54"/>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12" name="Group 55"/>
          <p:cNvGrpSpPr>
            <a:grpSpLocks/>
          </p:cNvGrpSpPr>
          <p:nvPr/>
        </p:nvGrpSpPr>
        <p:grpSpPr bwMode="auto">
          <a:xfrm flipH="1">
            <a:off x="5165725" y="2786063"/>
            <a:ext cx="1447800" cy="1295400"/>
            <a:chOff x="3168" y="1824"/>
            <a:chExt cx="912" cy="816"/>
          </a:xfrm>
        </p:grpSpPr>
        <p:sp>
          <p:nvSpPr>
            <p:cNvPr id="98404" name="Freeform 56"/>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05" name="Freeform 57"/>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06" name="Freeform 58"/>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07" name="Freeform 59"/>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8408" name="Freeform 60"/>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8409" name="Freeform 61"/>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8410" name="Freeform 62"/>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11" name="Freeform 63"/>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8412" name="Freeform 64"/>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8326" name="AutoShape 65"/>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pPr algn="ctr"/>
            <a:endParaRPr lang="en-US" sz="4400" b="1" dirty="0">
              <a:solidFill>
                <a:srgbClr val="9966FF"/>
              </a:solidFill>
              <a:latin typeface="Arial" pitchFamily="34" charset="0"/>
            </a:endParaRPr>
          </a:p>
        </p:txBody>
      </p:sp>
      <p:grpSp>
        <p:nvGrpSpPr>
          <p:cNvPr id="13" name="Group 66"/>
          <p:cNvGrpSpPr>
            <a:grpSpLocks/>
          </p:cNvGrpSpPr>
          <p:nvPr/>
        </p:nvGrpSpPr>
        <p:grpSpPr bwMode="auto">
          <a:xfrm>
            <a:off x="6403975" y="4241800"/>
            <a:ext cx="779463" cy="536575"/>
            <a:chOff x="3507" y="1789"/>
            <a:chExt cx="858" cy="497"/>
          </a:xfrm>
        </p:grpSpPr>
        <p:sp>
          <p:nvSpPr>
            <p:cNvPr id="98399" name="Oval 67"/>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4" name="Group 68"/>
            <p:cNvGrpSpPr>
              <a:grpSpLocks/>
            </p:cNvGrpSpPr>
            <p:nvPr/>
          </p:nvGrpSpPr>
          <p:grpSpPr bwMode="auto">
            <a:xfrm>
              <a:off x="3758" y="2002"/>
              <a:ext cx="357" cy="76"/>
              <a:chOff x="4109" y="1226"/>
              <a:chExt cx="357" cy="76"/>
            </a:xfrm>
          </p:grpSpPr>
          <p:sp>
            <p:nvSpPr>
              <p:cNvPr id="98401" name="Freeform 6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8402" name="Freeform 7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8403" name="Freeform 7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5" name="Group 72"/>
          <p:cNvGrpSpPr>
            <a:grpSpLocks/>
          </p:cNvGrpSpPr>
          <p:nvPr/>
        </p:nvGrpSpPr>
        <p:grpSpPr bwMode="auto">
          <a:xfrm>
            <a:off x="6403975" y="3965575"/>
            <a:ext cx="779463" cy="536575"/>
            <a:chOff x="3507" y="1789"/>
            <a:chExt cx="858" cy="497"/>
          </a:xfrm>
        </p:grpSpPr>
        <p:sp>
          <p:nvSpPr>
            <p:cNvPr id="98394" name="Oval 73"/>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6" name="Group 74"/>
            <p:cNvGrpSpPr>
              <a:grpSpLocks/>
            </p:cNvGrpSpPr>
            <p:nvPr/>
          </p:nvGrpSpPr>
          <p:grpSpPr bwMode="auto">
            <a:xfrm>
              <a:off x="3758" y="2002"/>
              <a:ext cx="357" cy="76"/>
              <a:chOff x="4109" y="1226"/>
              <a:chExt cx="357" cy="76"/>
            </a:xfrm>
          </p:grpSpPr>
          <p:sp>
            <p:nvSpPr>
              <p:cNvPr id="98396" name="Freeform 7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8397" name="Freeform 7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8398" name="Freeform 7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7" name="Group 78"/>
          <p:cNvGrpSpPr>
            <a:grpSpLocks/>
          </p:cNvGrpSpPr>
          <p:nvPr/>
        </p:nvGrpSpPr>
        <p:grpSpPr bwMode="auto">
          <a:xfrm>
            <a:off x="6632575" y="3919538"/>
            <a:ext cx="323850" cy="82550"/>
            <a:chOff x="4109" y="1226"/>
            <a:chExt cx="357" cy="76"/>
          </a:xfrm>
        </p:grpSpPr>
        <p:sp>
          <p:nvSpPr>
            <p:cNvPr id="98391" name="Freeform 7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92" name="Freeform 8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93" name="Freeform 8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sp>
        <p:nvSpPr>
          <p:cNvPr id="98330" name="Oval 82"/>
          <p:cNvSpPr>
            <a:spLocks noChangeArrowheads="1"/>
          </p:cNvSpPr>
          <p:nvPr/>
        </p:nvSpPr>
        <p:spPr bwMode="auto">
          <a:xfrm>
            <a:off x="6410325" y="36703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8" name="Group 83"/>
          <p:cNvGrpSpPr>
            <a:grpSpLocks/>
          </p:cNvGrpSpPr>
          <p:nvPr/>
        </p:nvGrpSpPr>
        <p:grpSpPr bwMode="auto">
          <a:xfrm>
            <a:off x="6638925" y="3900488"/>
            <a:ext cx="323850" cy="82550"/>
            <a:chOff x="4109" y="1226"/>
            <a:chExt cx="357" cy="76"/>
          </a:xfrm>
        </p:grpSpPr>
        <p:sp>
          <p:nvSpPr>
            <p:cNvPr id="98388" name="Freeform 8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89" name="Freeform 8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90" name="Freeform 8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nvGrpSpPr>
          <p:cNvPr id="19" name="Group 87"/>
          <p:cNvGrpSpPr>
            <a:grpSpLocks/>
          </p:cNvGrpSpPr>
          <p:nvPr/>
        </p:nvGrpSpPr>
        <p:grpSpPr bwMode="auto">
          <a:xfrm>
            <a:off x="6403975" y="3413125"/>
            <a:ext cx="779463" cy="536575"/>
            <a:chOff x="3507" y="1789"/>
            <a:chExt cx="858" cy="497"/>
          </a:xfrm>
        </p:grpSpPr>
        <p:sp>
          <p:nvSpPr>
            <p:cNvPr id="98383" name="Oval 88"/>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0" name="Group 89"/>
            <p:cNvGrpSpPr>
              <a:grpSpLocks/>
            </p:cNvGrpSpPr>
            <p:nvPr/>
          </p:nvGrpSpPr>
          <p:grpSpPr bwMode="auto">
            <a:xfrm>
              <a:off x="3758" y="2002"/>
              <a:ext cx="357" cy="76"/>
              <a:chOff x="4109" y="1226"/>
              <a:chExt cx="357" cy="76"/>
            </a:xfrm>
          </p:grpSpPr>
          <p:sp>
            <p:nvSpPr>
              <p:cNvPr id="98385" name="Freeform 9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86" name="Freeform 9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87" name="Freeform 9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1" name="Group 93"/>
          <p:cNvGrpSpPr>
            <a:grpSpLocks/>
          </p:cNvGrpSpPr>
          <p:nvPr/>
        </p:nvGrpSpPr>
        <p:grpSpPr bwMode="auto">
          <a:xfrm>
            <a:off x="6403975" y="3136900"/>
            <a:ext cx="779463" cy="536575"/>
            <a:chOff x="3507" y="1789"/>
            <a:chExt cx="858" cy="497"/>
          </a:xfrm>
        </p:grpSpPr>
        <p:sp>
          <p:nvSpPr>
            <p:cNvPr id="98378" name="Oval 9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2" name="Group 95"/>
            <p:cNvGrpSpPr>
              <a:grpSpLocks/>
            </p:cNvGrpSpPr>
            <p:nvPr/>
          </p:nvGrpSpPr>
          <p:grpSpPr bwMode="auto">
            <a:xfrm>
              <a:off x="3758" y="2002"/>
              <a:ext cx="357" cy="76"/>
              <a:chOff x="4109" y="1226"/>
              <a:chExt cx="357" cy="76"/>
            </a:xfrm>
          </p:grpSpPr>
          <p:sp>
            <p:nvSpPr>
              <p:cNvPr id="98380" name="Freeform 9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81" name="Freeform 9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82" name="Freeform 9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3" name="Group 99"/>
          <p:cNvGrpSpPr>
            <a:grpSpLocks/>
          </p:cNvGrpSpPr>
          <p:nvPr/>
        </p:nvGrpSpPr>
        <p:grpSpPr bwMode="auto">
          <a:xfrm>
            <a:off x="7419975" y="1354138"/>
            <a:ext cx="323850" cy="82550"/>
            <a:chOff x="4109" y="1226"/>
            <a:chExt cx="357" cy="76"/>
          </a:xfrm>
        </p:grpSpPr>
        <p:sp>
          <p:nvSpPr>
            <p:cNvPr id="98375" name="Freeform 10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76" name="Freeform 10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77" name="Freeform 10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nvGrpSpPr>
          <p:cNvPr id="24" name="Group 103"/>
          <p:cNvGrpSpPr>
            <a:grpSpLocks/>
          </p:cNvGrpSpPr>
          <p:nvPr/>
        </p:nvGrpSpPr>
        <p:grpSpPr bwMode="auto">
          <a:xfrm>
            <a:off x="7426325" y="1335088"/>
            <a:ext cx="323850" cy="82550"/>
            <a:chOff x="4109" y="1226"/>
            <a:chExt cx="357" cy="76"/>
          </a:xfrm>
        </p:grpSpPr>
        <p:sp>
          <p:nvSpPr>
            <p:cNvPr id="98372" name="Freeform 10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73" name="Freeform 10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74" name="Freeform 10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nvGrpSpPr>
          <p:cNvPr id="25" name="Group 107"/>
          <p:cNvGrpSpPr>
            <a:grpSpLocks/>
          </p:cNvGrpSpPr>
          <p:nvPr/>
        </p:nvGrpSpPr>
        <p:grpSpPr bwMode="auto">
          <a:xfrm>
            <a:off x="7191375" y="847725"/>
            <a:ext cx="779463" cy="536575"/>
            <a:chOff x="3507" y="1789"/>
            <a:chExt cx="858" cy="497"/>
          </a:xfrm>
        </p:grpSpPr>
        <p:sp>
          <p:nvSpPr>
            <p:cNvPr id="98367" name="Oval 108"/>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6" name="Group 109"/>
            <p:cNvGrpSpPr>
              <a:grpSpLocks/>
            </p:cNvGrpSpPr>
            <p:nvPr/>
          </p:nvGrpSpPr>
          <p:grpSpPr bwMode="auto">
            <a:xfrm>
              <a:off x="3758" y="2002"/>
              <a:ext cx="357" cy="76"/>
              <a:chOff x="4109" y="1226"/>
              <a:chExt cx="357" cy="76"/>
            </a:xfrm>
          </p:grpSpPr>
          <p:sp>
            <p:nvSpPr>
              <p:cNvPr id="98369" name="Freeform 11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70" name="Freeform 11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71" name="Freeform 11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7" name="Group 113"/>
          <p:cNvGrpSpPr>
            <a:grpSpLocks/>
          </p:cNvGrpSpPr>
          <p:nvPr/>
        </p:nvGrpSpPr>
        <p:grpSpPr bwMode="auto">
          <a:xfrm>
            <a:off x="7191375" y="571500"/>
            <a:ext cx="779463" cy="536575"/>
            <a:chOff x="3507" y="1789"/>
            <a:chExt cx="858" cy="497"/>
          </a:xfrm>
        </p:grpSpPr>
        <p:sp>
          <p:nvSpPr>
            <p:cNvPr id="98362" name="Oval 11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8" name="Group 115"/>
            <p:cNvGrpSpPr>
              <a:grpSpLocks/>
            </p:cNvGrpSpPr>
            <p:nvPr/>
          </p:nvGrpSpPr>
          <p:grpSpPr bwMode="auto">
            <a:xfrm>
              <a:off x="3758" y="2002"/>
              <a:ext cx="357" cy="76"/>
              <a:chOff x="4109" y="1226"/>
              <a:chExt cx="357" cy="76"/>
            </a:xfrm>
          </p:grpSpPr>
          <p:sp>
            <p:nvSpPr>
              <p:cNvPr id="98364" name="Freeform 11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65" name="Freeform 11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66" name="Freeform 11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9" name="Group 119"/>
          <p:cNvGrpSpPr>
            <a:grpSpLocks/>
          </p:cNvGrpSpPr>
          <p:nvPr/>
        </p:nvGrpSpPr>
        <p:grpSpPr bwMode="auto">
          <a:xfrm>
            <a:off x="1146175" y="1201738"/>
            <a:ext cx="323850" cy="82550"/>
            <a:chOff x="4109" y="1226"/>
            <a:chExt cx="357" cy="76"/>
          </a:xfrm>
        </p:grpSpPr>
        <p:sp>
          <p:nvSpPr>
            <p:cNvPr id="98359" name="Freeform 12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60" name="Freeform 12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61" name="Freeform 12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nvGrpSpPr>
          <p:cNvPr id="30" name="Group 123"/>
          <p:cNvGrpSpPr>
            <a:grpSpLocks/>
          </p:cNvGrpSpPr>
          <p:nvPr/>
        </p:nvGrpSpPr>
        <p:grpSpPr bwMode="auto">
          <a:xfrm>
            <a:off x="1152525" y="1182688"/>
            <a:ext cx="323850" cy="82550"/>
            <a:chOff x="4109" y="1226"/>
            <a:chExt cx="357" cy="76"/>
          </a:xfrm>
        </p:grpSpPr>
        <p:sp>
          <p:nvSpPr>
            <p:cNvPr id="98356" name="Freeform 12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57" name="Freeform 12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58" name="Freeform 12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nvGrpSpPr>
          <p:cNvPr id="31" name="Group 127"/>
          <p:cNvGrpSpPr>
            <a:grpSpLocks/>
          </p:cNvGrpSpPr>
          <p:nvPr/>
        </p:nvGrpSpPr>
        <p:grpSpPr bwMode="auto">
          <a:xfrm>
            <a:off x="917575" y="695325"/>
            <a:ext cx="779463" cy="536575"/>
            <a:chOff x="3507" y="1789"/>
            <a:chExt cx="858" cy="497"/>
          </a:xfrm>
        </p:grpSpPr>
        <p:sp>
          <p:nvSpPr>
            <p:cNvPr id="98351" name="Oval 128"/>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8336" name="Group 129"/>
            <p:cNvGrpSpPr>
              <a:grpSpLocks/>
            </p:cNvGrpSpPr>
            <p:nvPr/>
          </p:nvGrpSpPr>
          <p:grpSpPr bwMode="auto">
            <a:xfrm>
              <a:off x="3758" y="2002"/>
              <a:ext cx="357" cy="76"/>
              <a:chOff x="4109" y="1226"/>
              <a:chExt cx="357" cy="76"/>
            </a:xfrm>
          </p:grpSpPr>
          <p:sp>
            <p:nvSpPr>
              <p:cNvPr id="98353" name="Freeform 13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54" name="Freeform 13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8355" name="Freeform 13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8337" name="Group 133"/>
          <p:cNvGrpSpPr>
            <a:grpSpLocks/>
          </p:cNvGrpSpPr>
          <p:nvPr/>
        </p:nvGrpSpPr>
        <p:grpSpPr bwMode="auto">
          <a:xfrm>
            <a:off x="917575" y="419100"/>
            <a:ext cx="779463" cy="536575"/>
            <a:chOff x="3507" y="1789"/>
            <a:chExt cx="858" cy="497"/>
          </a:xfrm>
        </p:grpSpPr>
        <p:sp>
          <p:nvSpPr>
            <p:cNvPr id="98346" name="Oval 13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8338" name="Group 135"/>
            <p:cNvGrpSpPr>
              <a:grpSpLocks/>
            </p:cNvGrpSpPr>
            <p:nvPr/>
          </p:nvGrpSpPr>
          <p:grpSpPr bwMode="auto">
            <a:xfrm>
              <a:off x="3758" y="2002"/>
              <a:ext cx="357" cy="76"/>
              <a:chOff x="4109" y="1226"/>
              <a:chExt cx="357" cy="76"/>
            </a:xfrm>
          </p:grpSpPr>
          <p:sp>
            <p:nvSpPr>
              <p:cNvPr id="98348" name="Freeform 13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8349" name="Freeform 13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8350" name="Freeform 13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364107" name="AutoShape 139"/>
          <p:cNvSpPr>
            <a:spLocks noChangeArrowheads="1"/>
          </p:cNvSpPr>
          <p:nvPr/>
        </p:nvSpPr>
        <p:spPr bwMode="auto">
          <a:xfrm>
            <a:off x="2324100" y="4991100"/>
            <a:ext cx="1130300" cy="635000"/>
          </a:xfrm>
          <a:prstGeom prst="wedgeRoundRectCallout">
            <a:avLst>
              <a:gd name="adj1" fmla="val 88903"/>
              <a:gd name="adj2" fmla="val -60000"/>
              <a:gd name="adj3" fmla="val 16667"/>
            </a:avLst>
          </a:prstGeom>
          <a:noFill/>
          <a:ln w="38100" algn="ctr">
            <a:solidFill>
              <a:srgbClr val="9966FF"/>
            </a:solidFill>
            <a:miter lim="800000"/>
            <a:headEnd/>
            <a:tailEnd/>
          </a:ln>
        </p:spPr>
        <p:txBody>
          <a:bodyPr/>
          <a:lstStyle/>
          <a:p>
            <a:pPr algn="ctr"/>
            <a:r>
              <a:rPr lang="en-US" b="1">
                <a:solidFill>
                  <a:schemeClr val="tx1"/>
                </a:solidFill>
                <a:latin typeface="Arial" pitchFamily="34" charset="0"/>
              </a:rPr>
              <a:t>D’oh!</a:t>
            </a:r>
          </a:p>
        </p:txBody>
      </p:sp>
      <p:sp>
        <p:nvSpPr>
          <p:cNvPr id="1364108" name="AutoShape 140"/>
          <p:cNvSpPr>
            <a:spLocks noChangeArrowheads="1"/>
          </p:cNvSpPr>
          <p:nvPr/>
        </p:nvSpPr>
        <p:spPr bwMode="auto">
          <a:xfrm>
            <a:off x="4432300" y="1790700"/>
            <a:ext cx="1130300" cy="635000"/>
          </a:xfrm>
          <a:prstGeom prst="wedgeRoundRectCallout">
            <a:avLst>
              <a:gd name="adj1" fmla="val 19241"/>
              <a:gd name="adj2" fmla="val 140000"/>
              <a:gd name="adj3" fmla="val 16667"/>
            </a:avLst>
          </a:prstGeom>
          <a:noFill/>
          <a:ln w="38100" algn="ctr">
            <a:solidFill>
              <a:schemeClr val="accent1"/>
            </a:solidFill>
            <a:miter lim="800000"/>
            <a:headEnd/>
            <a:tailEnd/>
          </a:ln>
        </p:spPr>
        <p:txBody>
          <a:bodyPr/>
          <a:lstStyle/>
          <a:p>
            <a:pPr algn="ctr"/>
            <a:r>
              <a:rPr lang="en-US" b="1">
                <a:solidFill>
                  <a:schemeClr val="tx1"/>
                </a:solidFill>
                <a:latin typeface="Arial" pitchFamily="34" charset="0"/>
              </a:rPr>
              <a:t>D’oh!</a:t>
            </a:r>
          </a:p>
        </p:txBody>
      </p:sp>
      <p:sp>
        <p:nvSpPr>
          <p:cNvPr id="1364109" name="AutoShape 141"/>
          <p:cNvSpPr>
            <a:spLocks noChangeArrowheads="1"/>
          </p:cNvSpPr>
          <p:nvPr/>
        </p:nvSpPr>
        <p:spPr bwMode="auto">
          <a:xfrm>
            <a:off x="546100" y="3683000"/>
            <a:ext cx="1130300" cy="635000"/>
          </a:xfrm>
          <a:prstGeom prst="wedgeRoundRectCallout">
            <a:avLst>
              <a:gd name="adj1" fmla="val 88903"/>
              <a:gd name="adj2" fmla="val -60000"/>
              <a:gd name="adj3" fmla="val 16667"/>
            </a:avLst>
          </a:prstGeom>
          <a:noFill/>
          <a:ln w="38100" algn="ctr">
            <a:solidFill>
              <a:srgbClr val="FF0000"/>
            </a:solidFill>
            <a:miter lim="800000"/>
            <a:headEnd/>
            <a:tailEnd/>
          </a:ln>
        </p:spPr>
        <p:txBody>
          <a:bodyPr/>
          <a:lstStyle/>
          <a:p>
            <a:pPr algn="ctr"/>
            <a:r>
              <a:rPr lang="en-US" b="1">
                <a:solidFill>
                  <a:schemeClr val="tx1"/>
                </a:solidFill>
                <a:latin typeface="Arial" pitchFamily="34" charset="0"/>
              </a:rPr>
              <a:t>D’oh!</a:t>
            </a:r>
          </a:p>
        </p:txBody>
      </p:sp>
      <p:sp>
        <p:nvSpPr>
          <p:cNvPr id="98345" name="Text Box 142"/>
          <p:cNvSpPr txBox="1">
            <a:spLocks noChangeArrowheads="1"/>
          </p:cNvSpPr>
          <p:nvPr/>
        </p:nvSpPr>
        <p:spPr bwMode="auto">
          <a:xfrm>
            <a:off x="3095625" y="2439988"/>
            <a:ext cx="184150" cy="457200"/>
          </a:xfrm>
          <a:prstGeom prst="rect">
            <a:avLst/>
          </a:prstGeom>
          <a:noFill/>
          <a:ln w="9525" algn="ctr">
            <a:noFill/>
            <a:miter lim="800000"/>
            <a:headEnd/>
            <a:tailEnd/>
          </a:ln>
        </p:spPr>
        <p:txBody>
          <a:bodyPr wrap="none">
            <a:spAutoFit/>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07639 -0.38333 " pathEditMode="relative" ptsTypes="AA">
                                      <p:cBhvr>
                                        <p:cTn id="6" dur="2000" fill="hold"/>
                                        <p:tgtEl>
                                          <p:spTgt spid="2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07639 -0.38333 " pathEditMode="relative" ptsTypes="AA">
                                      <p:cBhvr>
                                        <p:cTn id="8" dur="2000" fill="hold"/>
                                        <p:tgtEl>
                                          <p:spTgt spid="19"/>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68055 -0.03518 " pathEditMode="relative" ptsTypes="AA">
                                      <p:cBhvr>
                                        <p:cTn id="10" dur="2000" fill="hold"/>
                                        <p:tgtEl>
                                          <p:spTgt spid="2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68055 -0.03518 " pathEditMode="relative" ptsTypes="AA">
                                      <p:cBhvr>
                                        <p:cTn id="12" dur="2000" fill="hold"/>
                                        <p:tgtEl>
                                          <p:spTgt spid="25"/>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59723 0.4 " pathEditMode="relative" ptsTypes="AA">
                                      <p:cBhvr>
                                        <p:cTn id="14" dur="2000" fill="hold"/>
                                        <p:tgtEl>
                                          <p:spTgt spid="98337"/>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59723 0.4 " pathEditMode="relative" ptsTypes="AA">
                                      <p:cBhvr>
                                        <p:cTn id="16" dur="2000" fill="hold"/>
                                        <p:tgtEl>
                                          <p:spTgt spid="31"/>
                                        </p:tgtEl>
                                        <p:attrNameLst>
                                          <p:attrName>ppt_x</p:attrName>
                                          <p:attrName>ppt_y</p:attrName>
                                        </p:attrNameLst>
                                      </p:cBhvr>
                                    </p:animMotion>
                                  </p:childTnLst>
                                </p:cTn>
                              </p:par>
                            </p:childTnLst>
                          </p:cTn>
                        </p:par>
                        <p:par>
                          <p:cTn id="17" fill="hold">
                            <p:stCondLst>
                              <p:cond delay="2000"/>
                            </p:stCondLst>
                            <p:childTnLst>
                              <p:par>
                                <p:cTn id="18" presetID="3" presetClass="entr" presetSubtype="10" fill="hold" grpId="0" nodeType="afterEffect">
                                  <p:stCondLst>
                                    <p:cond delay="0"/>
                                  </p:stCondLst>
                                  <p:childTnLst>
                                    <p:set>
                                      <p:cBhvr>
                                        <p:cTn id="19" dur="1" fill="hold">
                                          <p:stCondLst>
                                            <p:cond delay="0"/>
                                          </p:stCondLst>
                                        </p:cTn>
                                        <p:tgtEl>
                                          <p:spTgt spid="1364107"/>
                                        </p:tgtEl>
                                        <p:attrNameLst>
                                          <p:attrName>style.visibility</p:attrName>
                                        </p:attrNameLst>
                                      </p:cBhvr>
                                      <p:to>
                                        <p:strVal val="visible"/>
                                      </p:to>
                                    </p:set>
                                    <p:animEffect transition="in" filter="blinds(horizontal)">
                                      <p:cBhvr>
                                        <p:cTn id="20" dur="500"/>
                                        <p:tgtEl>
                                          <p:spTgt spid="136410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64108"/>
                                        </p:tgtEl>
                                        <p:attrNameLst>
                                          <p:attrName>style.visibility</p:attrName>
                                        </p:attrNameLst>
                                      </p:cBhvr>
                                      <p:to>
                                        <p:strVal val="visible"/>
                                      </p:to>
                                    </p:set>
                                    <p:animEffect transition="in" filter="blinds(horizontal)">
                                      <p:cBhvr>
                                        <p:cTn id="23" dur="500"/>
                                        <p:tgtEl>
                                          <p:spTgt spid="1364108"/>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64109"/>
                                        </p:tgtEl>
                                        <p:attrNameLst>
                                          <p:attrName>style.visibility</p:attrName>
                                        </p:attrNameLst>
                                      </p:cBhvr>
                                      <p:to>
                                        <p:strVal val="visible"/>
                                      </p:to>
                                    </p:set>
                                    <p:animEffect transition="in" filter="blinds(horizontal)">
                                      <p:cBhvr>
                                        <p:cTn id="26" dur="500"/>
                                        <p:tgtEl>
                                          <p:spTgt spid="136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4107" grpId="0" animBg="1"/>
      <p:bldP spid="1364108" grpId="0" animBg="1"/>
      <p:bldP spid="136410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1"/>
          <p:cNvSpPr>
            <a:spLocks noGrp="1"/>
          </p:cNvSpPr>
          <p:nvPr>
            <p:ph type="ftr" sz="quarter" idx="10"/>
          </p:nvPr>
        </p:nvSpPr>
        <p:spPr>
          <a:noFill/>
        </p:spPr>
        <p:txBody>
          <a:bodyPr/>
          <a:lstStyle/>
          <a:p>
            <a:r>
              <a:rPr lang="en-US"/>
              <a:t>Art of Multiprocessor Programming</a:t>
            </a:r>
          </a:p>
        </p:txBody>
      </p:sp>
      <p:sp>
        <p:nvSpPr>
          <p:cNvPr id="99331" name="Slide Number Placeholder 2"/>
          <p:cNvSpPr>
            <a:spLocks noGrp="1"/>
          </p:cNvSpPr>
          <p:nvPr>
            <p:ph type="sldNum" sz="quarter" idx="11"/>
          </p:nvPr>
        </p:nvSpPr>
        <p:spPr>
          <a:noFill/>
        </p:spPr>
        <p:txBody>
          <a:bodyPr/>
          <a:lstStyle/>
          <a:p>
            <a:fld id="{93FCEE83-81BA-45C2-8662-FAF8BD3B113C}" type="slidenum">
              <a:rPr lang="x-none" smtClean="0"/>
              <a:pPr/>
              <a:t>90</a:t>
            </a:fld>
            <a:endParaRPr lang="en-US"/>
          </a:p>
        </p:txBody>
      </p:sp>
      <p:sp>
        <p:nvSpPr>
          <p:cNvPr id="110"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2ABBDCB-E0FC-41DB-ACA6-1B5A609395EB}" type="slidenum">
              <a:rPr lang="x-none" sz="1400">
                <a:solidFill>
                  <a:schemeClr val="tx1"/>
                </a:solidFill>
                <a:latin typeface="Arial" pitchFamily="34" charset="0"/>
                <a:cs typeface="Arial" pitchFamily="34" charset="0"/>
              </a:rPr>
              <a:pPr>
                <a:defRPr/>
              </a:pPr>
              <a:t>90</a:t>
            </a:fld>
            <a:endParaRPr lang="en-US" sz="1400" dirty="0">
              <a:solidFill>
                <a:schemeClr val="tx1"/>
              </a:solidFill>
              <a:latin typeface="Arial" pitchFamily="34" charset="0"/>
              <a:cs typeface="Arial" pitchFamily="34" charset="0"/>
            </a:endParaRPr>
          </a:p>
        </p:txBody>
      </p:sp>
      <p:pic>
        <p:nvPicPr>
          <p:cNvPr id="99333"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99334"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9335" name="AutoShape 4"/>
          <p:cNvSpPr>
            <a:spLocks noChangeArrowheads="1"/>
          </p:cNvSpPr>
          <p:nvPr/>
        </p:nvSpPr>
        <p:spPr bwMode="auto">
          <a:xfrm>
            <a:off x="3490913" y="1890713"/>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pPr algn="l"/>
            <a:endParaRPr lang="en-US" b="1">
              <a:latin typeface="Arial" pitchFamily="34" charset="0"/>
            </a:endParaRPr>
          </a:p>
        </p:txBody>
      </p:sp>
      <p:sp>
        <p:nvSpPr>
          <p:cNvPr id="1320965" name="AutoShape 5"/>
          <p:cNvSpPr>
            <a:spLocks noChangeArrowheads="1"/>
          </p:cNvSpPr>
          <p:nvPr/>
        </p:nvSpPr>
        <p:spPr bwMode="auto">
          <a:xfrm>
            <a:off x="2209800" y="381000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sz="3200" b="1" dirty="0">
              <a:latin typeface="Arial" pitchFamily="34" charset="0"/>
            </a:endParaRPr>
          </a:p>
        </p:txBody>
      </p:sp>
      <p:sp>
        <p:nvSpPr>
          <p:cNvPr id="99337" name="Rectangle 6"/>
          <p:cNvSpPr>
            <a:spLocks noGrp="1" noChangeArrowheads="1"/>
          </p:cNvSpPr>
          <p:nvPr>
            <p:ph type="title" idx="4294967295"/>
          </p:nvPr>
        </p:nvSpPr>
        <p:spPr/>
        <p:txBody>
          <a:bodyPr/>
          <a:lstStyle/>
          <a:p>
            <a:r>
              <a:rPr lang="en-US" sz="4000"/>
              <a:t>Work Stealing</a:t>
            </a:r>
          </a:p>
        </p:txBody>
      </p:sp>
      <p:sp>
        <p:nvSpPr>
          <p:cNvPr id="1320967" name="AutoShape 7"/>
          <p:cNvSpPr>
            <a:spLocks noChangeArrowheads="1"/>
          </p:cNvSpPr>
          <p:nvPr/>
        </p:nvSpPr>
        <p:spPr bwMode="auto">
          <a:xfrm>
            <a:off x="566738" y="179705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pPr algn="l"/>
            <a:endParaRPr lang="en-US" b="1">
              <a:latin typeface="Arial" pitchFamily="34" charset="0"/>
            </a:endParaRPr>
          </a:p>
        </p:txBody>
      </p:sp>
      <p:grpSp>
        <p:nvGrpSpPr>
          <p:cNvPr id="2" name="Group 8"/>
          <p:cNvGrpSpPr>
            <a:grpSpLocks/>
          </p:cNvGrpSpPr>
          <p:nvPr/>
        </p:nvGrpSpPr>
        <p:grpSpPr bwMode="auto">
          <a:xfrm>
            <a:off x="3998913" y="4551363"/>
            <a:ext cx="1146175" cy="1000125"/>
            <a:chOff x="1043" y="2546"/>
            <a:chExt cx="869" cy="740"/>
          </a:xfrm>
        </p:grpSpPr>
        <p:sp>
          <p:nvSpPr>
            <p:cNvPr id="99432" name="Freeform 9"/>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433" name="Freeform 10"/>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434" name="Freeform 11"/>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435" name="Freeform 12"/>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436" name="AutoShape 13"/>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99437" name="Rectangle 14"/>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99438" name="Freeform 15"/>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439" name="Freeform 16"/>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9340" name="AutoShape 17"/>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pPr algn="ctr"/>
            <a:endParaRPr lang="en-US" sz="4400" b="1" dirty="0">
              <a:solidFill>
                <a:srgbClr val="FF0000"/>
              </a:solidFill>
              <a:latin typeface="Arial" pitchFamily="34" charset="0"/>
            </a:endParaRPr>
          </a:p>
        </p:txBody>
      </p:sp>
      <p:sp>
        <p:nvSpPr>
          <p:cNvPr id="99341" name="AutoShape 18"/>
          <p:cNvSpPr>
            <a:spLocks noChangeArrowheads="1"/>
          </p:cNvSpPr>
          <p:nvPr/>
        </p:nvSpPr>
        <p:spPr bwMode="auto">
          <a:xfrm>
            <a:off x="5921115" y="957263"/>
            <a:ext cx="3222885" cy="1498600"/>
          </a:xfrm>
          <a:prstGeom prst="cloudCallout">
            <a:avLst>
              <a:gd name="adj1" fmla="val -32792"/>
              <a:gd name="adj2" fmla="val 80824"/>
            </a:avLst>
          </a:prstGeom>
          <a:solidFill>
            <a:schemeClr val="bg1">
              <a:alpha val="70195"/>
            </a:schemeClr>
          </a:solidFill>
          <a:ln w="38100">
            <a:solidFill>
              <a:srgbClr val="00FF99"/>
            </a:solidFill>
            <a:round/>
            <a:headEnd/>
            <a:tailEnd/>
          </a:ln>
        </p:spPr>
        <p:txBody>
          <a:bodyPr anchor="ctr"/>
          <a:lstStyle/>
          <a:p>
            <a:pPr algn="ctr"/>
            <a:r>
              <a:rPr lang="en-US" b="1" dirty="0">
                <a:solidFill>
                  <a:srgbClr val="33CC33"/>
                </a:solidFill>
                <a:latin typeface="Arial" pitchFamily="34" charset="0"/>
              </a:rPr>
              <a:t>No work…</a:t>
            </a:r>
            <a:endParaRPr lang="en-US" sz="4400" b="1" dirty="0">
              <a:solidFill>
                <a:srgbClr val="33CC33"/>
              </a:solidFill>
              <a:latin typeface="Arial" pitchFamily="34" charset="0"/>
            </a:endParaRPr>
          </a:p>
        </p:txBody>
      </p:sp>
      <p:grpSp>
        <p:nvGrpSpPr>
          <p:cNvPr id="3" name="Group 19"/>
          <p:cNvGrpSpPr>
            <a:grpSpLocks/>
          </p:cNvGrpSpPr>
          <p:nvPr/>
        </p:nvGrpSpPr>
        <p:grpSpPr bwMode="auto">
          <a:xfrm>
            <a:off x="1879600" y="2784475"/>
            <a:ext cx="1447800" cy="1295400"/>
            <a:chOff x="3168" y="1824"/>
            <a:chExt cx="912" cy="816"/>
          </a:xfrm>
        </p:grpSpPr>
        <p:sp>
          <p:nvSpPr>
            <p:cNvPr id="99423" name="Freeform 2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24" name="Freeform 2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25" name="Freeform 2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26" name="Freeform 2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9427" name="Freeform 2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9428" name="Freeform 2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99429" name="Freeform 2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30" name="Freeform 2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31" name="Freeform 2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4" name="Group 29"/>
          <p:cNvGrpSpPr>
            <a:grpSpLocks/>
          </p:cNvGrpSpPr>
          <p:nvPr/>
        </p:nvGrpSpPr>
        <p:grpSpPr bwMode="auto">
          <a:xfrm flipH="1">
            <a:off x="5165725" y="2786063"/>
            <a:ext cx="1447800" cy="1295400"/>
            <a:chOff x="3168" y="1824"/>
            <a:chExt cx="912" cy="816"/>
          </a:xfrm>
        </p:grpSpPr>
        <p:sp>
          <p:nvSpPr>
            <p:cNvPr id="99414" name="Freeform 3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15" name="Freeform 3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16" name="Freeform 3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17" name="Freeform 3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9418" name="Freeform 3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9419" name="Freeform 3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99420" name="Freeform 3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21" name="Freeform 3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422" name="Freeform 3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99344" name="AutoShape 39"/>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pPr algn="ctr"/>
            <a:endParaRPr lang="en-US" sz="4400" b="1" dirty="0">
              <a:solidFill>
                <a:srgbClr val="9966FF"/>
              </a:solidFill>
              <a:latin typeface="Arial" pitchFamily="34" charset="0"/>
            </a:endParaRPr>
          </a:p>
        </p:txBody>
      </p:sp>
      <p:grpSp>
        <p:nvGrpSpPr>
          <p:cNvPr id="5" name="Group 40"/>
          <p:cNvGrpSpPr>
            <a:grpSpLocks/>
          </p:cNvGrpSpPr>
          <p:nvPr/>
        </p:nvGrpSpPr>
        <p:grpSpPr bwMode="auto">
          <a:xfrm>
            <a:off x="1101725" y="1651000"/>
            <a:ext cx="779463" cy="536575"/>
            <a:chOff x="3507" y="1789"/>
            <a:chExt cx="858" cy="497"/>
          </a:xfrm>
        </p:grpSpPr>
        <p:sp>
          <p:nvSpPr>
            <p:cNvPr id="99409" name="Oval 41"/>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42"/>
            <p:cNvGrpSpPr>
              <a:grpSpLocks/>
            </p:cNvGrpSpPr>
            <p:nvPr/>
          </p:nvGrpSpPr>
          <p:grpSpPr bwMode="auto">
            <a:xfrm>
              <a:off x="3758" y="2002"/>
              <a:ext cx="357" cy="76"/>
              <a:chOff x="4109" y="1226"/>
              <a:chExt cx="357" cy="76"/>
            </a:xfrm>
          </p:grpSpPr>
          <p:sp>
            <p:nvSpPr>
              <p:cNvPr id="99411" name="Freeform 4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412" name="Freeform 4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9413" name="Freeform 4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46"/>
          <p:cNvGrpSpPr>
            <a:grpSpLocks/>
          </p:cNvGrpSpPr>
          <p:nvPr/>
        </p:nvGrpSpPr>
        <p:grpSpPr bwMode="auto">
          <a:xfrm>
            <a:off x="1114425" y="1371600"/>
            <a:ext cx="779463" cy="536575"/>
            <a:chOff x="3507" y="1789"/>
            <a:chExt cx="858" cy="497"/>
          </a:xfrm>
        </p:grpSpPr>
        <p:sp>
          <p:nvSpPr>
            <p:cNvPr id="99404" name="Oval 47"/>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48"/>
            <p:cNvGrpSpPr>
              <a:grpSpLocks/>
            </p:cNvGrpSpPr>
            <p:nvPr/>
          </p:nvGrpSpPr>
          <p:grpSpPr bwMode="auto">
            <a:xfrm>
              <a:off x="3758" y="2002"/>
              <a:ext cx="357" cy="76"/>
              <a:chOff x="4109" y="1226"/>
              <a:chExt cx="357" cy="76"/>
            </a:xfrm>
          </p:grpSpPr>
          <p:sp>
            <p:nvSpPr>
              <p:cNvPr id="99406" name="Freeform 4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407" name="Freeform 5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9408" name="Freeform 5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52"/>
          <p:cNvGrpSpPr>
            <a:grpSpLocks/>
          </p:cNvGrpSpPr>
          <p:nvPr/>
        </p:nvGrpSpPr>
        <p:grpSpPr bwMode="auto">
          <a:xfrm>
            <a:off x="6403975" y="4241800"/>
            <a:ext cx="779463" cy="536575"/>
            <a:chOff x="3507" y="1789"/>
            <a:chExt cx="858" cy="497"/>
          </a:xfrm>
        </p:grpSpPr>
        <p:sp>
          <p:nvSpPr>
            <p:cNvPr id="99399" name="Oval 53"/>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54"/>
            <p:cNvGrpSpPr>
              <a:grpSpLocks/>
            </p:cNvGrpSpPr>
            <p:nvPr/>
          </p:nvGrpSpPr>
          <p:grpSpPr bwMode="auto">
            <a:xfrm>
              <a:off x="3758" y="2002"/>
              <a:ext cx="357" cy="76"/>
              <a:chOff x="4109" y="1226"/>
              <a:chExt cx="357" cy="76"/>
            </a:xfrm>
          </p:grpSpPr>
          <p:sp>
            <p:nvSpPr>
              <p:cNvPr id="99401" name="Freeform 5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99402" name="Freeform 5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99403" name="Freeform 5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1" name="Group 58"/>
          <p:cNvGrpSpPr>
            <a:grpSpLocks/>
          </p:cNvGrpSpPr>
          <p:nvPr/>
        </p:nvGrpSpPr>
        <p:grpSpPr bwMode="auto">
          <a:xfrm>
            <a:off x="6403975" y="3965575"/>
            <a:ext cx="779463" cy="536575"/>
            <a:chOff x="3507" y="1789"/>
            <a:chExt cx="858" cy="497"/>
          </a:xfrm>
        </p:grpSpPr>
        <p:sp>
          <p:nvSpPr>
            <p:cNvPr id="99394" name="Oval 59"/>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2" name="Group 60"/>
            <p:cNvGrpSpPr>
              <a:grpSpLocks/>
            </p:cNvGrpSpPr>
            <p:nvPr/>
          </p:nvGrpSpPr>
          <p:grpSpPr bwMode="auto">
            <a:xfrm>
              <a:off x="3758" y="2002"/>
              <a:ext cx="357" cy="76"/>
              <a:chOff x="4109" y="1226"/>
              <a:chExt cx="357" cy="76"/>
            </a:xfrm>
          </p:grpSpPr>
          <p:sp>
            <p:nvSpPr>
              <p:cNvPr id="99396" name="Freeform 6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99397" name="Freeform 6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99398" name="Freeform 6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3" name="Group 66"/>
          <p:cNvGrpSpPr>
            <a:grpSpLocks/>
          </p:cNvGrpSpPr>
          <p:nvPr/>
        </p:nvGrpSpPr>
        <p:grpSpPr bwMode="auto">
          <a:xfrm>
            <a:off x="6632575" y="3919538"/>
            <a:ext cx="323850" cy="82550"/>
            <a:chOff x="4109" y="1226"/>
            <a:chExt cx="357" cy="76"/>
          </a:xfrm>
        </p:grpSpPr>
        <p:sp>
          <p:nvSpPr>
            <p:cNvPr id="99391" name="Freeform 6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392" name="Freeform 6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9393" name="Freeform 6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sp>
        <p:nvSpPr>
          <p:cNvPr id="99350" name="Oval 83"/>
          <p:cNvSpPr>
            <a:spLocks noChangeArrowheads="1"/>
          </p:cNvSpPr>
          <p:nvPr/>
        </p:nvSpPr>
        <p:spPr bwMode="auto">
          <a:xfrm>
            <a:off x="6410325" y="36703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4" name="Group 84"/>
          <p:cNvGrpSpPr>
            <a:grpSpLocks/>
          </p:cNvGrpSpPr>
          <p:nvPr/>
        </p:nvGrpSpPr>
        <p:grpSpPr bwMode="auto">
          <a:xfrm>
            <a:off x="6638925" y="3900488"/>
            <a:ext cx="323850" cy="82550"/>
            <a:chOff x="4109" y="1226"/>
            <a:chExt cx="357" cy="76"/>
          </a:xfrm>
        </p:grpSpPr>
        <p:sp>
          <p:nvSpPr>
            <p:cNvPr id="99388" name="Freeform 8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389" name="Freeform 8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9390" name="Freeform 8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nvGrpSpPr>
          <p:cNvPr id="15" name="Group 70"/>
          <p:cNvGrpSpPr>
            <a:grpSpLocks/>
          </p:cNvGrpSpPr>
          <p:nvPr/>
        </p:nvGrpSpPr>
        <p:grpSpPr bwMode="auto">
          <a:xfrm>
            <a:off x="6403975" y="3413125"/>
            <a:ext cx="779463" cy="536575"/>
            <a:chOff x="3507" y="1789"/>
            <a:chExt cx="858" cy="497"/>
          </a:xfrm>
        </p:grpSpPr>
        <p:sp>
          <p:nvSpPr>
            <p:cNvPr id="99383" name="Oval 71"/>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6" name="Group 72"/>
            <p:cNvGrpSpPr>
              <a:grpSpLocks/>
            </p:cNvGrpSpPr>
            <p:nvPr/>
          </p:nvGrpSpPr>
          <p:grpSpPr bwMode="auto">
            <a:xfrm>
              <a:off x="3758" y="2002"/>
              <a:ext cx="357" cy="76"/>
              <a:chOff x="4109" y="1226"/>
              <a:chExt cx="357" cy="76"/>
            </a:xfrm>
          </p:grpSpPr>
          <p:sp>
            <p:nvSpPr>
              <p:cNvPr id="99385" name="Freeform 7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386" name="Freeform 7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99387" name="Freeform 7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7" name="Group 76"/>
          <p:cNvGrpSpPr>
            <a:grpSpLocks/>
          </p:cNvGrpSpPr>
          <p:nvPr/>
        </p:nvGrpSpPr>
        <p:grpSpPr bwMode="auto">
          <a:xfrm>
            <a:off x="6403975" y="3136900"/>
            <a:ext cx="779463" cy="536575"/>
            <a:chOff x="3507" y="1789"/>
            <a:chExt cx="858" cy="497"/>
          </a:xfrm>
        </p:grpSpPr>
        <p:sp>
          <p:nvSpPr>
            <p:cNvPr id="99378" name="Oval 77"/>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8" name="Group 78"/>
            <p:cNvGrpSpPr>
              <a:grpSpLocks/>
            </p:cNvGrpSpPr>
            <p:nvPr/>
          </p:nvGrpSpPr>
          <p:grpSpPr bwMode="auto">
            <a:xfrm>
              <a:off x="3758" y="2002"/>
              <a:ext cx="357" cy="76"/>
              <a:chOff x="4109" y="1226"/>
              <a:chExt cx="357" cy="76"/>
            </a:xfrm>
          </p:grpSpPr>
          <p:sp>
            <p:nvSpPr>
              <p:cNvPr id="99380" name="Freeform 7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99381" name="Freeform 8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99382" name="Freeform 8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9" name="Group 91"/>
          <p:cNvGrpSpPr>
            <a:grpSpLocks/>
          </p:cNvGrpSpPr>
          <p:nvPr/>
        </p:nvGrpSpPr>
        <p:grpSpPr bwMode="auto">
          <a:xfrm flipH="1">
            <a:off x="5065713" y="3236913"/>
            <a:ext cx="777875" cy="558800"/>
            <a:chOff x="1831" y="1359"/>
            <a:chExt cx="490" cy="352"/>
          </a:xfrm>
        </p:grpSpPr>
        <p:sp>
          <p:nvSpPr>
            <p:cNvPr id="99375" name="Freeform 88"/>
            <p:cNvSpPr>
              <a:spLocks/>
            </p:cNvSpPr>
            <p:nvPr/>
          </p:nvSpPr>
          <p:spPr bwMode="auto">
            <a:xfrm>
              <a:off x="1831" y="1359"/>
              <a:ext cx="490" cy="352"/>
            </a:xfrm>
            <a:custGeom>
              <a:avLst/>
              <a:gdLst>
                <a:gd name="T0" fmla="*/ 233 w 490"/>
                <a:gd name="T1" fmla="*/ 129 h 352"/>
                <a:gd name="T2" fmla="*/ 33 w 490"/>
                <a:gd name="T3" fmla="*/ 209 h 352"/>
                <a:gd name="T4" fmla="*/ 57 w 490"/>
                <a:gd name="T5" fmla="*/ 321 h 352"/>
                <a:gd name="T6" fmla="*/ 169 w 490"/>
                <a:gd name="T7" fmla="*/ 321 h 352"/>
                <a:gd name="T8" fmla="*/ 305 w 490"/>
                <a:gd name="T9" fmla="*/ 225 h 352"/>
                <a:gd name="T10" fmla="*/ 305 w 490"/>
                <a:gd name="T11" fmla="*/ 225 h 352"/>
                <a:gd name="T12" fmla="*/ 465 w 490"/>
                <a:gd name="T13" fmla="*/ 177 h 352"/>
                <a:gd name="T14" fmla="*/ 425 w 490"/>
                <a:gd name="T15" fmla="*/ 41 h 352"/>
                <a:gd name="T16" fmla="*/ 313 w 490"/>
                <a:gd name="T17" fmla="*/ 17 h 352"/>
                <a:gd name="T18" fmla="*/ 241 w 490"/>
                <a:gd name="T19" fmla="*/ 105 h 352"/>
                <a:gd name="T20" fmla="*/ 233 w 490"/>
                <a:gd name="T21" fmla="*/ 129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99376" name="Oval 89"/>
            <p:cNvSpPr>
              <a:spLocks noChangeArrowheads="1"/>
            </p:cNvSpPr>
            <p:nvPr/>
          </p:nvSpPr>
          <p:spPr bwMode="auto">
            <a:xfrm rot="-873640">
              <a:off x="1920" y="1544"/>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99377" name="Oval 90"/>
            <p:cNvSpPr>
              <a:spLocks noChangeArrowheads="1"/>
            </p:cNvSpPr>
            <p:nvPr/>
          </p:nvSpPr>
          <p:spPr bwMode="auto">
            <a:xfrm rot="9076414">
              <a:off x="2104" y="1440"/>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grpSp>
      <p:grpSp>
        <p:nvGrpSpPr>
          <p:cNvPr id="20" name="Group 92"/>
          <p:cNvGrpSpPr>
            <a:grpSpLocks/>
          </p:cNvGrpSpPr>
          <p:nvPr/>
        </p:nvGrpSpPr>
        <p:grpSpPr bwMode="auto">
          <a:xfrm>
            <a:off x="1866900" y="2809875"/>
            <a:ext cx="1447800" cy="1295400"/>
            <a:chOff x="3168" y="1824"/>
            <a:chExt cx="912" cy="816"/>
          </a:xfrm>
        </p:grpSpPr>
        <p:sp>
          <p:nvSpPr>
            <p:cNvPr id="99366" name="Freeform 9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367" name="Freeform 9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368" name="Freeform 95"/>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369" name="Freeform 9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9370" name="Freeform 9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9371" name="Freeform 9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99372" name="Freeform 99"/>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373" name="Freeform 100"/>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99374" name="Freeform 101"/>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21" name="Group 102"/>
          <p:cNvGrpSpPr>
            <a:grpSpLocks/>
          </p:cNvGrpSpPr>
          <p:nvPr/>
        </p:nvGrpSpPr>
        <p:grpSpPr bwMode="auto">
          <a:xfrm>
            <a:off x="4011613" y="4564063"/>
            <a:ext cx="1146175" cy="1000125"/>
            <a:chOff x="1043" y="2546"/>
            <a:chExt cx="869" cy="740"/>
          </a:xfrm>
        </p:grpSpPr>
        <p:sp>
          <p:nvSpPr>
            <p:cNvPr id="99358" name="Freeform 103"/>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359" name="Freeform 104"/>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360" name="Freeform 105"/>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361" name="Freeform 106"/>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362" name="AutoShape 107"/>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folHlink"/>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99363" name="Rectangle 108"/>
            <p:cNvSpPr>
              <a:spLocks noChangeArrowheads="1"/>
            </p:cNvSpPr>
            <p:nvPr/>
          </p:nvSpPr>
          <p:spPr bwMode="auto">
            <a:xfrm>
              <a:off x="1163" y="3110"/>
              <a:ext cx="657" cy="157"/>
            </a:xfrm>
            <a:prstGeom prst="rect">
              <a:avLst/>
            </a:prstGeom>
            <a:solidFill>
              <a:schemeClr val="folHlink"/>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99364" name="Freeform 109"/>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99365" name="Freeform 110"/>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321072" name="AutoShape 112"/>
          <p:cNvSpPr>
            <a:spLocks noChangeArrowheads="1"/>
          </p:cNvSpPr>
          <p:nvPr/>
        </p:nvSpPr>
        <p:spPr bwMode="auto">
          <a:xfrm>
            <a:off x="4432300" y="1790700"/>
            <a:ext cx="1130300" cy="635000"/>
          </a:xfrm>
          <a:prstGeom prst="wedgeRoundRectCallout">
            <a:avLst>
              <a:gd name="adj1" fmla="val 19241"/>
              <a:gd name="adj2" fmla="val 140000"/>
              <a:gd name="adj3" fmla="val 16667"/>
            </a:avLst>
          </a:prstGeom>
          <a:noFill/>
          <a:ln w="38100" algn="ctr">
            <a:solidFill>
              <a:schemeClr val="accent1"/>
            </a:solidFill>
            <a:miter lim="800000"/>
            <a:headEnd/>
            <a:tailEnd/>
          </a:ln>
        </p:spPr>
        <p:txBody>
          <a:bodyPr/>
          <a:lstStyle/>
          <a:p>
            <a:pPr algn="ctr"/>
            <a:r>
              <a:rPr lang="en-US" b="1" dirty="0">
                <a:solidFill>
                  <a:schemeClr val="tx1"/>
                </a:solidFill>
                <a:latin typeface="Arial" pitchFamily="34" charset="0"/>
              </a:rPr>
              <a:t>Yes!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par>
                                <p:cTn id="13" presetID="3" presetClass="exit" presetSubtype="10" fill="hold" grpId="0" nodeType="withEffect">
                                  <p:stCondLst>
                                    <p:cond delay="0"/>
                                  </p:stCondLst>
                                  <p:childTnLst>
                                    <p:animEffect transition="out" filter="blinds(horizontal)">
                                      <p:cBhvr>
                                        <p:cTn id="14" dur="500"/>
                                        <p:tgtEl>
                                          <p:spTgt spid="1320967"/>
                                        </p:tgtEl>
                                      </p:cBhvr>
                                    </p:animEffect>
                                    <p:set>
                                      <p:cBhvr>
                                        <p:cTn id="15" dur="1" fill="hold">
                                          <p:stCondLst>
                                            <p:cond delay="499"/>
                                          </p:stCondLst>
                                        </p:cTn>
                                        <p:tgtEl>
                                          <p:spTgt spid="1320967"/>
                                        </p:tgtEl>
                                        <p:attrNameLst>
                                          <p:attrName>style.visibility</p:attrName>
                                        </p:attrNameLst>
                                      </p:cBhvr>
                                      <p:to>
                                        <p:strVal val="hidden"/>
                                      </p:to>
                                    </p:set>
                                  </p:childTnLst>
                                </p:cTn>
                              </p:par>
                              <p:par>
                                <p:cTn id="16" presetID="3" presetClass="exit" presetSubtype="10" fill="hold" grpId="0" nodeType="withEffect">
                                  <p:stCondLst>
                                    <p:cond delay="0"/>
                                  </p:stCondLst>
                                  <p:childTnLst>
                                    <p:animEffect transition="out" filter="blinds(horizontal)">
                                      <p:cBhvr>
                                        <p:cTn id="17" dur="500"/>
                                        <p:tgtEl>
                                          <p:spTgt spid="1320965"/>
                                        </p:tgtEl>
                                      </p:cBhvr>
                                    </p:animEffect>
                                    <p:set>
                                      <p:cBhvr>
                                        <p:cTn id="18" dur="1" fill="hold">
                                          <p:stCondLst>
                                            <p:cond delay="499"/>
                                          </p:stCondLst>
                                        </p:cTn>
                                        <p:tgtEl>
                                          <p:spTgt spid="1320965"/>
                                        </p:tgtEl>
                                        <p:attrNameLst>
                                          <p:attrName>style.visibility</p:attrName>
                                        </p:attrNameLst>
                                      </p:cBhvr>
                                      <p:to>
                                        <p:strVal val="hidden"/>
                                      </p:to>
                                    </p:set>
                                  </p:childTnLst>
                                </p:cTn>
                              </p:par>
                              <p:par>
                                <p:cTn id="19" presetID="3" presetClass="entr" presetSubtype="1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linds(horizontal)">
                                      <p:cBhvr>
                                        <p:cTn id="21" dur="500"/>
                                        <p:tgtEl>
                                          <p:spTgt spid="20"/>
                                        </p:tgtEl>
                                      </p:cBhvr>
                                    </p:animEffect>
                                  </p:childTnLst>
                                </p:cTn>
                              </p:par>
                              <p:par>
                                <p:cTn id="22" presetID="0" presetClass="path" presetSubtype="0" accel="50000" decel="50000" fill="hold" nodeType="withEffect">
                                  <p:stCondLst>
                                    <p:cond delay="0"/>
                                  </p:stCondLst>
                                  <p:childTnLst>
                                    <p:animMotion origin="layout" path="M 0 0 L 0.08889 -0.24815 " pathEditMode="relative" ptsTypes="AA">
                                      <p:cBhvr>
                                        <p:cTn id="23" dur="2000" fill="hold"/>
                                        <p:tgtEl>
                                          <p:spTgt spid="17"/>
                                        </p:tgtEl>
                                        <p:attrNameLst>
                                          <p:attrName>ppt_x</p:attrName>
                                          <p:attrName>ppt_y</p:attrName>
                                        </p:attrNameLst>
                                      </p:cBhvr>
                                    </p:animMotion>
                                  </p:childTnLst>
                                </p:cTn>
                              </p:par>
                            </p:childTnLst>
                          </p:cTn>
                        </p:par>
                        <p:par>
                          <p:cTn id="24" fill="hold">
                            <p:stCondLst>
                              <p:cond delay="2000"/>
                            </p:stCondLst>
                            <p:childTnLst>
                              <p:par>
                                <p:cTn id="25" presetID="3" presetClass="entr" presetSubtype="10" fill="hold" grpId="0" nodeType="afterEffect">
                                  <p:stCondLst>
                                    <p:cond delay="0"/>
                                  </p:stCondLst>
                                  <p:childTnLst>
                                    <p:set>
                                      <p:cBhvr>
                                        <p:cTn id="26" dur="1" fill="hold">
                                          <p:stCondLst>
                                            <p:cond delay="0"/>
                                          </p:stCondLst>
                                        </p:cTn>
                                        <p:tgtEl>
                                          <p:spTgt spid="1321072"/>
                                        </p:tgtEl>
                                        <p:attrNameLst>
                                          <p:attrName>style.visibility</p:attrName>
                                        </p:attrNameLst>
                                      </p:cBhvr>
                                      <p:to>
                                        <p:strVal val="visible"/>
                                      </p:to>
                                    </p:set>
                                    <p:animEffect transition="in" filter="blinds(horizontal)">
                                      <p:cBhvr>
                                        <p:cTn id="27" dur="500"/>
                                        <p:tgtEl>
                                          <p:spTgt spid="1321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65" grpId="0" animBg="1"/>
      <p:bldP spid="1320967" grpId="0" animBg="1"/>
      <p:bldP spid="132107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1"/>
          <p:cNvSpPr>
            <a:spLocks noGrp="1"/>
          </p:cNvSpPr>
          <p:nvPr>
            <p:ph type="ftr" sz="quarter" idx="10"/>
          </p:nvPr>
        </p:nvSpPr>
        <p:spPr>
          <a:noFill/>
        </p:spPr>
        <p:txBody>
          <a:bodyPr/>
          <a:lstStyle/>
          <a:p>
            <a:r>
              <a:rPr lang="en-US"/>
              <a:t>Art of Multiprocessor Programming</a:t>
            </a:r>
          </a:p>
        </p:txBody>
      </p:sp>
      <p:sp>
        <p:nvSpPr>
          <p:cNvPr id="100355" name="Slide Number Placeholder 2"/>
          <p:cNvSpPr>
            <a:spLocks noGrp="1"/>
          </p:cNvSpPr>
          <p:nvPr>
            <p:ph type="sldNum" sz="quarter" idx="11"/>
          </p:nvPr>
        </p:nvSpPr>
        <p:spPr>
          <a:noFill/>
        </p:spPr>
        <p:txBody>
          <a:bodyPr/>
          <a:lstStyle/>
          <a:p>
            <a:fld id="{D003F5EE-5BFD-495F-A080-6211872925EF}" type="slidenum">
              <a:rPr lang="x-none" smtClean="0"/>
              <a:pPr/>
              <a:t>91</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3B8DE86-B8C6-4421-9332-2B4BB1881509}" type="slidenum">
              <a:rPr lang="x-none" sz="1400">
                <a:solidFill>
                  <a:schemeClr val="tx1"/>
                </a:solidFill>
                <a:latin typeface="Arial" pitchFamily="34" charset="0"/>
                <a:cs typeface="Arial" pitchFamily="34" charset="0"/>
              </a:rPr>
              <a:pPr>
                <a:defRPr/>
              </a:pPr>
              <a:t>91</a:t>
            </a:fld>
            <a:endParaRPr lang="en-US" sz="1400" dirty="0">
              <a:solidFill>
                <a:schemeClr val="tx1"/>
              </a:solidFill>
              <a:latin typeface="Arial" pitchFamily="34" charset="0"/>
              <a:cs typeface="Arial" pitchFamily="34" charset="0"/>
            </a:endParaRPr>
          </a:p>
        </p:txBody>
      </p:sp>
      <p:sp>
        <p:nvSpPr>
          <p:cNvPr id="100357" name="Rectangle 2"/>
          <p:cNvSpPr>
            <a:spLocks noGrp="1" noChangeArrowheads="1"/>
          </p:cNvSpPr>
          <p:nvPr>
            <p:ph type="title" idx="4294967295"/>
          </p:nvPr>
        </p:nvSpPr>
        <p:spPr/>
        <p:txBody>
          <a:bodyPr/>
          <a:lstStyle/>
          <a:p>
            <a:r>
              <a:rPr lang="en-US"/>
              <a:t>Lock-Free Work Stealing</a:t>
            </a:r>
          </a:p>
        </p:txBody>
      </p:sp>
      <p:sp>
        <p:nvSpPr>
          <p:cNvPr id="100358" name="Rectangle 3"/>
          <p:cNvSpPr>
            <a:spLocks noGrp="1" noChangeArrowheads="1"/>
          </p:cNvSpPr>
          <p:nvPr>
            <p:ph type="body" idx="4294967295"/>
          </p:nvPr>
        </p:nvSpPr>
        <p:spPr/>
        <p:txBody>
          <a:bodyPr/>
          <a:lstStyle/>
          <a:p>
            <a:r>
              <a:rPr lang="en-US"/>
              <a:t>Each thread has a pool of ready work</a:t>
            </a:r>
          </a:p>
          <a:p>
            <a:r>
              <a:rPr lang="en-US"/>
              <a:t>Remove work without synchronizing</a:t>
            </a:r>
          </a:p>
          <a:p>
            <a:r>
              <a:rPr lang="en-US"/>
              <a:t>If you run out of work, steal someone else’s</a:t>
            </a:r>
          </a:p>
          <a:p>
            <a:r>
              <a:rPr lang="en-US"/>
              <a:t>Choose victim at random</a:t>
            </a: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1"/>
          <p:cNvSpPr>
            <a:spLocks noGrp="1"/>
          </p:cNvSpPr>
          <p:nvPr>
            <p:ph type="ftr" sz="quarter" idx="10"/>
          </p:nvPr>
        </p:nvSpPr>
        <p:spPr>
          <a:noFill/>
        </p:spPr>
        <p:txBody>
          <a:bodyPr/>
          <a:lstStyle/>
          <a:p>
            <a:r>
              <a:rPr lang="en-US"/>
              <a:t>Art of Multiprocessor Programming</a:t>
            </a:r>
          </a:p>
        </p:txBody>
      </p:sp>
      <p:sp>
        <p:nvSpPr>
          <p:cNvPr id="101379" name="Slide Number Placeholder 2"/>
          <p:cNvSpPr>
            <a:spLocks noGrp="1"/>
          </p:cNvSpPr>
          <p:nvPr>
            <p:ph type="sldNum" sz="quarter" idx="11"/>
          </p:nvPr>
        </p:nvSpPr>
        <p:spPr>
          <a:noFill/>
        </p:spPr>
        <p:txBody>
          <a:bodyPr/>
          <a:lstStyle/>
          <a:p>
            <a:fld id="{48B363CF-1EC4-4EFD-9329-9943900B176A}" type="slidenum">
              <a:rPr lang="x-none" smtClean="0"/>
              <a:pPr/>
              <a:t>92</a:t>
            </a:fld>
            <a:endParaRPr lang="en-US"/>
          </a:p>
        </p:txBody>
      </p:sp>
      <p:sp>
        <p:nvSpPr>
          <p:cNvPr id="16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A4310C7-1499-444E-8D52-B276AECB95E0}" type="slidenum">
              <a:rPr lang="x-none" sz="1400">
                <a:solidFill>
                  <a:schemeClr val="tx1"/>
                </a:solidFill>
                <a:latin typeface="Arial" pitchFamily="34" charset="0"/>
                <a:cs typeface="Arial" pitchFamily="34" charset="0"/>
              </a:rPr>
              <a:pPr>
                <a:defRPr/>
              </a:pPr>
              <a:t>92</a:t>
            </a:fld>
            <a:endParaRPr lang="en-US" sz="1400" dirty="0">
              <a:solidFill>
                <a:schemeClr val="tx1"/>
              </a:solidFill>
              <a:latin typeface="Arial" pitchFamily="34" charset="0"/>
              <a:cs typeface="Arial" pitchFamily="34" charset="0"/>
            </a:endParaRPr>
          </a:p>
        </p:txBody>
      </p:sp>
      <p:sp>
        <p:nvSpPr>
          <p:cNvPr id="101381" name="Rectangle 4"/>
          <p:cNvSpPr>
            <a:spLocks noGrp="1" noChangeArrowheads="1"/>
          </p:cNvSpPr>
          <p:nvPr>
            <p:ph type="title" idx="4294967295"/>
          </p:nvPr>
        </p:nvSpPr>
        <p:spPr/>
        <p:txBody>
          <a:bodyPr/>
          <a:lstStyle/>
          <a:p>
            <a:r>
              <a:rPr lang="en-US"/>
              <a:t>Local Work Pools</a:t>
            </a:r>
            <a:endParaRPr lang="en-US" baseline="30000"/>
          </a:p>
        </p:txBody>
      </p:sp>
      <p:grpSp>
        <p:nvGrpSpPr>
          <p:cNvPr id="2" name="Group 6"/>
          <p:cNvGrpSpPr>
            <a:grpSpLocks/>
          </p:cNvGrpSpPr>
          <p:nvPr/>
        </p:nvGrpSpPr>
        <p:grpSpPr bwMode="auto">
          <a:xfrm>
            <a:off x="2012950" y="5110163"/>
            <a:ext cx="546100" cy="477837"/>
            <a:chOff x="1584" y="816"/>
            <a:chExt cx="912" cy="816"/>
          </a:xfrm>
        </p:grpSpPr>
        <p:sp>
          <p:nvSpPr>
            <p:cNvPr id="101536" name="Freeform 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37" name="Freeform 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38" name="Freeform 9"/>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39" name="Freeform 1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40" name="Freeform 1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41" name="Freeform 1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42" name="Freeform 13"/>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43" name="Freeform 14"/>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44" name="Freeform 15"/>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383" name="Rectangle 5"/>
          <p:cNvSpPr>
            <a:spLocks noChangeArrowheads="1"/>
          </p:cNvSpPr>
          <p:nvPr/>
        </p:nvSpPr>
        <p:spPr bwMode="auto">
          <a:xfrm>
            <a:off x="20288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3" name="Group 22"/>
          <p:cNvGrpSpPr>
            <a:grpSpLocks/>
          </p:cNvGrpSpPr>
          <p:nvPr/>
        </p:nvGrpSpPr>
        <p:grpSpPr bwMode="auto">
          <a:xfrm>
            <a:off x="2073275" y="4606925"/>
            <a:ext cx="398463" cy="238125"/>
            <a:chOff x="3507" y="1789"/>
            <a:chExt cx="858" cy="497"/>
          </a:xfrm>
        </p:grpSpPr>
        <p:sp>
          <p:nvSpPr>
            <p:cNvPr id="101531" name="Oval 23"/>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24"/>
            <p:cNvGrpSpPr>
              <a:grpSpLocks/>
            </p:cNvGrpSpPr>
            <p:nvPr/>
          </p:nvGrpSpPr>
          <p:grpSpPr bwMode="auto">
            <a:xfrm>
              <a:off x="3758" y="2002"/>
              <a:ext cx="357" cy="76"/>
              <a:chOff x="4109" y="1226"/>
              <a:chExt cx="357" cy="76"/>
            </a:xfrm>
          </p:grpSpPr>
          <p:sp>
            <p:nvSpPr>
              <p:cNvPr id="101533" name="Freeform 2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1534" name="Freeform 2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1535" name="Freeform 2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28"/>
          <p:cNvGrpSpPr>
            <a:grpSpLocks/>
          </p:cNvGrpSpPr>
          <p:nvPr/>
        </p:nvGrpSpPr>
        <p:grpSpPr bwMode="auto">
          <a:xfrm>
            <a:off x="2073275" y="4348163"/>
            <a:ext cx="398463" cy="238125"/>
            <a:chOff x="3507" y="1789"/>
            <a:chExt cx="858" cy="497"/>
          </a:xfrm>
        </p:grpSpPr>
        <p:sp>
          <p:nvSpPr>
            <p:cNvPr id="101526" name="Oval 29"/>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30"/>
            <p:cNvGrpSpPr>
              <a:grpSpLocks/>
            </p:cNvGrpSpPr>
            <p:nvPr/>
          </p:nvGrpSpPr>
          <p:grpSpPr bwMode="auto">
            <a:xfrm>
              <a:off x="3758" y="2002"/>
              <a:ext cx="357" cy="76"/>
              <a:chOff x="4109" y="1226"/>
              <a:chExt cx="357" cy="76"/>
            </a:xfrm>
          </p:grpSpPr>
          <p:sp>
            <p:nvSpPr>
              <p:cNvPr id="101528" name="Freeform 3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529" name="Freeform 3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530" name="Freeform 3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34"/>
          <p:cNvGrpSpPr>
            <a:grpSpLocks/>
          </p:cNvGrpSpPr>
          <p:nvPr/>
        </p:nvGrpSpPr>
        <p:grpSpPr bwMode="auto">
          <a:xfrm>
            <a:off x="2073275" y="4087813"/>
            <a:ext cx="398463" cy="238125"/>
            <a:chOff x="3507" y="1789"/>
            <a:chExt cx="858" cy="497"/>
          </a:xfrm>
        </p:grpSpPr>
        <p:sp>
          <p:nvSpPr>
            <p:cNvPr id="101521" name="Oval 35"/>
            <p:cNvSpPr>
              <a:spLocks noChangeArrowheads="1"/>
            </p:cNvSpPr>
            <p:nvPr/>
          </p:nvSpPr>
          <p:spPr bwMode="auto">
            <a:xfrm>
              <a:off x="3507" y="1789"/>
              <a:ext cx="858" cy="497"/>
            </a:xfrm>
            <a:prstGeom prst="ellipse">
              <a:avLst/>
            </a:pr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6"/>
            <p:cNvGrpSpPr>
              <a:grpSpLocks/>
            </p:cNvGrpSpPr>
            <p:nvPr/>
          </p:nvGrpSpPr>
          <p:grpSpPr bwMode="auto">
            <a:xfrm>
              <a:off x="3758" y="2002"/>
              <a:ext cx="357" cy="76"/>
              <a:chOff x="4109" y="1226"/>
              <a:chExt cx="357" cy="76"/>
            </a:xfrm>
          </p:grpSpPr>
          <p:sp>
            <p:nvSpPr>
              <p:cNvPr id="101523" name="Freeform 3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9966FF"/>
              </a:solidFill>
              <a:ln w="9525">
                <a:solidFill>
                  <a:schemeClr val="tx1"/>
                </a:solidFill>
                <a:round/>
                <a:headEnd/>
                <a:tailEnd/>
              </a:ln>
            </p:spPr>
            <p:txBody>
              <a:bodyPr wrap="none" anchor="ctr"/>
              <a:lstStyle/>
              <a:p>
                <a:pPr algn="l"/>
                <a:endParaRPr lang="en-US" b="1">
                  <a:latin typeface="Arial" pitchFamily="34" charset="0"/>
                </a:endParaRPr>
              </a:p>
            </p:txBody>
          </p:sp>
          <p:sp>
            <p:nvSpPr>
              <p:cNvPr id="101524" name="Freeform 3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sp>
            <p:nvSpPr>
              <p:cNvPr id="101525" name="Freeform 3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47"/>
          <p:cNvGrpSpPr>
            <a:grpSpLocks/>
          </p:cNvGrpSpPr>
          <p:nvPr/>
        </p:nvGrpSpPr>
        <p:grpSpPr bwMode="auto">
          <a:xfrm>
            <a:off x="2813050" y="5110163"/>
            <a:ext cx="546100" cy="477837"/>
            <a:chOff x="1584" y="816"/>
            <a:chExt cx="912" cy="816"/>
          </a:xfrm>
        </p:grpSpPr>
        <p:sp>
          <p:nvSpPr>
            <p:cNvPr id="101512" name="Freeform 4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13" name="Freeform 4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14" name="Freeform 50"/>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15" name="Freeform 5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16" name="Freeform 5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17" name="Freeform 5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518" name="Freeform 54"/>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19" name="Freeform 55"/>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20" name="Freeform 56"/>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388" name="Rectangle 58"/>
          <p:cNvSpPr>
            <a:spLocks noChangeArrowheads="1"/>
          </p:cNvSpPr>
          <p:nvPr/>
        </p:nvSpPr>
        <p:spPr bwMode="auto">
          <a:xfrm>
            <a:off x="28289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0" name="Group 59"/>
          <p:cNvGrpSpPr>
            <a:grpSpLocks/>
          </p:cNvGrpSpPr>
          <p:nvPr/>
        </p:nvGrpSpPr>
        <p:grpSpPr bwMode="auto">
          <a:xfrm>
            <a:off x="2873375" y="4606925"/>
            <a:ext cx="398463" cy="238125"/>
            <a:chOff x="3507" y="1789"/>
            <a:chExt cx="858" cy="497"/>
          </a:xfrm>
        </p:grpSpPr>
        <p:sp>
          <p:nvSpPr>
            <p:cNvPr id="101507" name="Oval 60"/>
            <p:cNvSpPr>
              <a:spLocks noChangeArrowheads="1"/>
            </p:cNvSpPr>
            <p:nvPr/>
          </p:nvSpPr>
          <p:spPr bwMode="auto">
            <a:xfrm>
              <a:off x="3507" y="1789"/>
              <a:ext cx="858" cy="497"/>
            </a:xfrm>
            <a:prstGeom prst="ellipse">
              <a:avLst/>
            </a:pr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61"/>
            <p:cNvGrpSpPr>
              <a:grpSpLocks/>
            </p:cNvGrpSpPr>
            <p:nvPr/>
          </p:nvGrpSpPr>
          <p:grpSpPr bwMode="auto">
            <a:xfrm>
              <a:off x="3758" y="2002"/>
              <a:ext cx="357" cy="76"/>
              <a:chOff x="4109" y="1226"/>
              <a:chExt cx="357" cy="76"/>
            </a:xfrm>
          </p:grpSpPr>
          <p:sp>
            <p:nvSpPr>
              <p:cNvPr id="101509" name="Freeform 6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2"/>
              </a:solidFill>
              <a:ln w="9525">
                <a:solidFill>
                  <a:schemeClr val="tx1"/>
                </a:solidFill>
                <a:round/>
                <a:headEnd/>
                <a:tailEnd/>
              </a:ln>
            </p:spPr>
            <p:txBody>
              <a:bodyPr wrap="none" anchor="ctr"/>
              <a:lstStyle/>
              <a:p>
                <a:pPr algn="l"/>
                <a:endParaRPr lang="en-US" b="1">
                  <a:latin typeface="Arial" pitchFamily="34" charset="0"/>
                </a:endParaRPr>
              </a:p>
            </p:txBody>
          </p:sp>
          <p:sp>
            <p:nvSpPr>
              <p:cNvPr id="101510" name="Freeform 6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sp>
            <p:nvSpPr>
              <p:cNvPr id="101511" name="Freeform 6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2" name="Group 65"/>
          <p:cNvGrpSpPr>
            <a:grpSpLocks/>
          </p:cNvGrpSpPr>
          <p:nvPr/>
        </p:nvGrpSpPr>
        <p:grpSpPr bwMode="auto">
          <a:xfrm>
            <a:off x="2873375" y="4348163"/>
            <a:ext cx="398463" cy="238125"/>
            <a:chOff x="3507" y="1789"/>
            <a:chExt cx="858" cy="497"/>
          </a:xfrm>
        </p:grpSpPr>
        <p:sp>
          <p:nvSpPr>
            <p:cNvPr id="101502" name="Oval 66"/>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3" name="Group 67"/>
            <p:cNvGrpSpPr>
              <a:grpSpLocks/>
            </p:cNvGrpSpPr>
            <p:nvPr/>
          </p:nvGrpSpPr>
          <p:grpSpPr bwMode="auto">
            <a:xfrm>
              <a:off x="3758" y="2002"/>
              <a:ext cx="357" cy="76"/>
              <a:chOff x="4109" y="1226"/>
              <a:chExt cx="357" cy="76"/>
            </a:xfrm>
          </p:grpSpPr>
          <p:sp>
            <p:nvSpPr>
              <p:cNvPr id="101504" name="Freeform 6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accent1"/>
              </a:solidFill>
              <a:ln w="9525">
                <a:solidFill>
                  <a:schemeClr val="tx1"/>
                </a:solidFill>
                <a:round/>
                <a:headEnd/>
                <a:tailEnd/>
              </a:ln>
            </p:spPr>
            <p:txBody>
              <a:bodyPr wrap="none" anchor="ctr"/>
              <a:lstStyle/>
              <a:p>
                <a:pPr algn="l"/>
                <a:endParaRPr lang="en-US" b="1">
                  <a:latin typeface="Arial" pitchFamily="34" charset="0"/>
                </a:endParaRPr>
              </a:p>
            </p:txBody>
          </p:sp>
          <p:sp>
            <p:nvSpPr>
              <p:cNvPr id="101505" name="Freeform 6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101506" name="Freeform 7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4" name="Group 78"/>
          <p:cNvGrpSpPr>
            <a:grpSpLocks/>
          </p:cNvGrpSpPr>
          <p:nvPr/>
        </p:nvGrpSpPr>
        <p:grpSpPr bwMode="auto">
          <a:xfrm>
            <a:off x="3625850" y="5110163"/>
            <a:ext cx="546100" cy="477837"/>
            <a:chOff x="1584" y="816"/>
            <a:chExt cx="912" cy="816"/>
          </a:xfrm>
        </p:grpSpPr>
        <p:sp>
          <p:nvSpPr>
            <p:cNvPr id="101493" name="Freeform 7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94" name="Freeform 8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95" name="Freeform 81"/>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96" name="Freeform 8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97" name="Freeform 8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98" name="Freeform 8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99" name="Freeform 85"/>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00" name="Freeform 86"/>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501" name="Freeform 87"/>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392" name="Rectangle 89"/>
          <p:cNvSpPr>
            <a:spLocks noChangeArrowheads="1"/>
          </p:cNvSpPr>
          <p:nvPr/>
        </p:nvSpPr>
        <p:spPr bwMode="auto">
          <a:xfrm>
            <a:off x="36417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5" name="Group 90"/>
          <p:cNvGrpSpPr>
            <a:grpSpLocks/>
          </p:cNvGrpSpPr>
          <p:nvPr/>
        </p:nvGrpSpPr>
        <p:grpSpPr bwMode="auto">
          <a:xfrm>
            <a:off x="3686175" y="4606925"/>
            <a:ext cx="398463" cy="238125"/>
            <a:chOff x="3507" y="1789"/>
            <a:chExt cx="858" cy="497"/>
          </a:xfrm>
        </p:grpSpPr>
        <p:sp>
          <p:nvSpPr>
            <p:cNvPr id="101488" name="Oval 91"/>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6" name="Group 92"/>
            <p:cNvGrpSpPr>
              <a:grpSpLocks/>
            </p:cNvGrpSpPr>
            <p:nvPr/>
          </p:nvGrpSpPr>
          <p:grpSpPr bwMode="auto">
            <a:xfrm>
              <a:off x="3758" y="2002"/>
              <a:ext cx="357" cy="76"/>
              <a:chOff x="4109" y="1226"/>
              <a:chExt cx="357" cy="76"/>
            </a:xfrm>
          </p:grpSpPr>
          <p:sp>
            <p:nvSpPr>
              <p:cNvPr id="101490" name="Freeform 9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91" name="Freeform 9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92" name="Freeform 9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7" name="Group 109"/>
          <p:cNvGrpSpPr>
            <a:grpSpLocks/>
          </p:cNvGrpSpPr>
          <p:nvPr/>
        </p:nvGrpSpPr>
        <p:grpSpPr bwMode="auto">
          <a:xfrm>
            <a:off x="4438650" y="5110163"/>
            <a:ext cx="546100" cy="477837"/>
            <a:chOff x="1584" y="816"/>
            <a:chExt cx="912" cy="816"/>
          </a:xfrm>
        </p:grpSpPr>
        <p:sp>
          <p:nvSpPr>
            <p:cNvPr id="101479" name="Freeform 1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80" name="Freeform 1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81" name="Freeform 112"/>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82" name="Freeform 1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83" name="Freeform 1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84" name="Freeform 1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85" name="Freeform 116"/>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86" name="Freeform 117"/>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87" name="Freeform 118"/>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395" name="Rectangle 120"/>
          <p:cNvSpPr>
            <a:spLocks noChangeArrowheads="1"/>
          </p:cNvSpPr>
          <p:nvPr/>
        </p:nvSpPr>
        <p:spPr bwMode="auto">
          <a:xfrm>
            <a:off x="44545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8" name="Group 121"/>
          <p:cNvGrpSpPr>
            <a:grpSpLocks/>
          </p:cNvGrpSpPr>
          <p:nvPr/>
        </p:nvGrpSpPr>
        <p:grpSpPr bwMode="auto">
          <a:xfrm>
            <a:off x="4498975" y="4606925"/>
            <a:ext cx="398463" cy="238125"/>
            <a:chOff x="3507" y="1789"/>
            <a:chExt cx="858" cy="497"/>
          </a:xfrm>
        </p:grpSpPr>
        <p:sp>
          <p:nvSpPr>
            <p:cNvPr id="101474" name="Oval 122"/>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9" name="Group 123"/>
            <p:cNvGrpSpPr>
              <a:grpSpLocks/>
            </p:cNvGrpSpPr>
            <p:nvPr/>
          </p:nvGrpSpPr>
          <p:grpSpPr bwMode="auto">
            <a:xfrm>
              <a:off x="3758" y="2002"/>
              <a:ext cx="357" cy="76"/>
              <a:chOff x="4109" y="1226"/>
              <a:chExt cx="357" cy="76"/>
            </a:xfrm>
          </p:grpSpPr>
          <p:sp>
            <p:nvSpPr>
              <p:cNvPr id="101476" name="Freeform 12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77" name="Freeform 12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78" name="Freeform 12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0" name="Group 127"/>
          <p:cNvGrpSpPr>
            <a:grpSpLocks/>
          </p:cNvGrpSpPr>
          <p:nvPr/>
        </p:nvGrpSpPr>
        <p:grpSpPr bwMode="auto">
          <a:xfrm>
            <a:off x="4498975" y="4348163"/>
            <a:ext cx="398463" cy="238125"/>
            <a:chOff x="3507" y="1789"/>
            <a:chExt cx="858" cy="497"/>
          </a:xfrm>
        </p:grpSpPr>
        <p:sp>
          <p:nvSpPr>
            <p:cNvPr id="101469" name="Oval 128"/>
            <p:cNvSpPr>
              <a:spLocks noChangeArrowheads="1"/>
            </p:cNvSpPr>
            <p:nvPr/>
          </p:nvSpPr>
          <p:spPr bwMode="auto">
            <a:xfrm>
              <a:off x="3507" y="1789"/>
              <a:ext cx="858" cy="497"/>
            </a:xfrm>
            <a:prstGeom prst="ellipse">
              <a:avLst/>
            </a:pr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1" name="Group 129"/>
            <p:cNvGrpSpPr>
              <a:grpSpLocks/>
            </p:cNvGrpSpPr>
            <p:nvPr/>
          </p:nvGrpSpPr>
          <p:grpSpPr bwMode="auto">
            <a:xfrm>
              <a:off x="3758" y="2002"/>
              <a:ext cx="357" cy="76"/>
              <a:chOff x="4109" y="1226"/>
              <a:chExt cx="357" cy="76"/>
            </a:xfrm>
          </p:grpSpPr>
          <p:sp>
            <p:nvSpPr>
              <p:cNvPr id="101471" name="Freeform 13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2"/>
              </a:solidFill>
              <a:ln w="9525">
                <a:solidFill>
                  <a:schemeClr val="tx1"/>
                </a:solidFill>
                <a:round/>
                <a:headEnd/>
                <a:tailEnd/>
              </a:ln>
            </p:spPr>
            <p:txBody>
              <a:bodyPr wrap="none" anchor="ctr"/>
              <a:lstStyle/>
              <a:p>
                <a:pPr algn="l"/>
                <a:endParaRPr lang="en-US" b="1">
                  <a:latin typeface="Arial" pitchFamily="34" charset="0"/>
                </a:endParaRPr>
              </a:p>
            </p:txBody>
          </p:sp>
          <p:sp>
            <p:nvSpPr>
              <p:cNvPr id="101472" name="Freeform 13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sp>
            <p:nvSpPr>
              <p:cNvPr id="101473" name="Freeform 13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2" name="Group 133"/>
          <p:cNvGrpSpPr>
            <a:grpSpLocks/>
          </p:cNvGrpSpPr>
          <p:nvPr/>
        </p:nvGrpSpPr>
        <p:grpSpPr bwMode="auto">
          <a:xfrm>
            <a:off x="4498975" y="4087813"/>
            <a:ext cx="398463" cy="238125"/>
            <a:chOff x="3507" y="1789"/>
            <a:chExt cx="858" cy="497"/>
          </a:xfrm>
        </p:grpSpPr>
        <p:sp>
          <p:nvSpPr>
            <p:cNvPr id="101464" name="Oval 134"/>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3" name="Group 135"/>
            <p:cNvGrpSpPr>
              <a:grpSpLocks/>
            </p:cNvGrpSpPr>
            <p:nvPr/>
          </p:nvGrpSpPr>
          <p:grpSpPr bwMode="auto">
            <a:xfrm>
              <a:off x="3758" y="2002"/>
              <a:ext cx="357" cy="76"/>
              <a:chOff x="4109" y="1226"/>
              <a:chExt cx="357" cy="76"/>
            </a:xfrm>
          </p:grpSpPr>
          <p:sp>
            <p:nvSpPr>
              <p:cNvPr id="101466" name="Freeform 13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1467" name="Freeform 13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1468" name="Freeform 13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4" name="Group 140"/>
          <p:cNvGrpSpPr>
            <a:grpSpLocks/>
          </p:cNvGrpSpPr>
          <p:nvPr/>
        </p:nvGrpSpPr>
        <p:grpSpPr bwMode="auto">
          <a:xfrm>
            <a:off x="5238750" y="5110163"/>
            <a:ext cx="546100" cy="477837"/>
            <a:chOff x="1584" y="816"/>
            <a:chExt cx="912" cy="816"/>
          </a:xfrm>
        </p:grpSpPr>
        <p:sp>
          <p:nvSpPr>
            <p:cNvPr id="101455" name="Freeform 1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56" name="Freeform 1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57" name="Freeform 143"/>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58" name="Freeform 1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59" name="Freeform 1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60" name="Freeform 1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61" name="Freeform 147"/>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62" name="Freeform 148"/>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63" name="Freeform 149"/>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400" name="Rectangle 151"/>
          <p:cNvSpPr>
            <a:spLocks noChangeArrowheads="1"/>
          </p:cNvSpPr>
          <p:nvPr/>
        </p:nvSpPr>
        <p:spPr bwMode="auto">
          <a:xfrm>
            <a:off x="52546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5" name="Group 152"/>
          <p:cNvGrpSpPr>
            <a:grpSpLocks/>
          </p:cNvGrpSpPr>
          <p:nvPr/>
        </p:nvGrpSpPr>
        <p:grpSpPr bwMode="auto">
          <a:xfrm>
            <a:off x="5299075" y="4606925"/>
            <a:ext cx="398463" cy="238125"/>
            <a:chOff x="3507" y="1789"/>
            <a:chExt cx="858" cy="497"/>
          </a:xfrm>
        </p:grpSpPr>
        <p:sp>
          <p:nvSpPr>
            <p:cNvPr id="101450" name="Oval 153"/>
            <p:cNvSpPr>
              <a:spLocks noChangeArrowheads="1"/>
            </p:cNvSpPr>
            <p:nvPr/>
          </p:nvSpPr>
          <p:spPr bwMode="auto">
            <a:xfrm>
              <a:off x="3507" y="1789"/>
              <a:ext cx="858" cy="497"/>
            </a:xfrm>
            <a:prstGeom prst="ellipse">
              <a:avLst/>
            </a:pr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6" name="Group 154"/>
            <p:cNvGrpSpPr>
              <a:grpSpLocks/>
            </p:cNvGrpSpPr>
            <p:nvPr/>
          </p:nvGrpSpPr>
          <p:grpSpPr bwMode="auto">
            <a:xfrm>
              <a:off x="3758" y="2002"/>
              <a:ext cx="357" cy="76"/>
              <a:chOff x="4109" y="1226"/>
              <a:chExt cx="357" cy="76"/>
            </a:xfrm>
          </p:grpSpPr>
          <p:sp>
            <p:nvSpPr>
              <p:cNvPr id="101452" name="Freeform 15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9966FF"/>
              </a:solidFill>
              <a:ln w="9525">
                <a:solidFill>
                  <a:schemeClr val="tx1"/>
                </a:solidFill>
                <a:round/>
                <a:headEnd/>
                <a:tailEnd/>
              </a:ln>
            </p:spPr>
            <p:txBody>
              <a:bodyPr wrap="none" anchor="ctr"/>
              <a:lstStyle/>
              <a:p>
                <a:pPr algn="l"/>
                <a:endParaRPr lang="en-US" b="1">
                  <a:latin typeface="Arial" pitchFamily="34" charset="0"/>
                </a:endParaRPr>
              </a:p>
            </p:txBody>
          </p:sp>
          <p:sp>
            <p:nvSpPr>
              <p:cNvPr id="101453" name="Freeform 15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sp>
            <p:nvSpPr>
              <p:cNvPr id="101454" name="Freeform 15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7" name="Group 158"/>
          <p:cNvGrpSpPr>
            <a:grpSpLocks/>
          </p:cNvGrpSpPr>
          <p:nvPr/>
        </p:nvGrpSpPr>
        <p:grpSpPr bwMode="auto">
          <a:xfrm>
            <a:off x="5299075" y="4348163"/>
            <a:ext cx="398463" cy="238125"/>
            <a:chOff x="3507" y="1789"/>
            <a:chExt cx="858" cy="497"/>
          </a:xfrm>
        </p:grpSpPr>
        <p:sp>
          <p:nvSpPr>
            <p:cNvPr id="101445" name="Oval 159"/>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8" name="Group 160"/>
            <p:cNvGrpSpPr>
              <a:grpSpLocks/>
            </p:cNvGrpSpPr>
            <p:nvPr/>
          </p:nvGrpSpPr>
          <p:grpSpPr bwMode="auto">
            <a:xfrm>
              <a:off x="3758" y="2002"/>
              <a:ext cx="357" cy="76"/>
              <a:chOff x="4109" y="1226"/>
              <a:chExt cx="357" cy="76"/>
            </a:xfrm>
          </p:grpSpPr>
          <p:sp>
            <p:nvSpPr>
              <p:cNvPr id="101447" name="Freeform 16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48" name="Freeform 16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49" name="Freeform 16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9" name="Group 164"/>
          <p:cNvGrpSpPr>
            <a:grpSpLocks/>
          </p:cNvGrpSpPr>
          <p:nvPr/>
        </p:nvGrpSpPr>
        <p:grpSpPr bwMode="auto">
          <a:xfrm>
            <a:off x="5299075" y="4087813"/>
            <a:ext cx="398463" cy="238125"/>
            <a:chOff x="3507" y="1789"/>
            <a:chExt cx="858" cy="497"/>
          </a:xfrm>
        </p:grpSpPr>
        <p:sp>
          <p:nvSpPr>
            <p:cNvPr id="101440" name="Oval 165"/>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0" name="Group 166"/>
            <p:cNvGrpSpPr>
              <a:grpSpLocks/>
            </p:cNvGrpSpPr>
            <p:nvPr/>
          </p:nvGrpSpPr>
          <p:grpSpPr bwMode="auto">
            <a:xfrm>
              <a:off x="3758" y="2002"/>
              <a:ext cx="357" cy="76"/>
              <a:chOff x="4109" y="1226"/>
              <a:chExt cx="357" cy="76"/>
            </a:xfrm>
          </p:grpSpPr>
          <p:sp>
            <p:nvSpPr>
              <p:cNvPr id="101442" name="Freeform 16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43" name="Freeform 16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44" name="Freeform 16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31" name="Group 171"/>
          <p:cNvGrpSpPr>
            <a:grpSpLocks/>
          </p:cNvGrpSpPr>
          <p:nvPr/>
        </p:nvGrpSpPr>
        <p:grpSpPr bwMode="auto">
          <a:xfrm>
            <a:off x="6051550" y="5110163"/>
            <a:ext cx="546100" cy="477837"/>
            <a:chOff x="1584" y="816"/>
            <a:chExt cx="912" cy="816"/>
          </a:xfrm>
        </p:grpSpPr>
        <p:sp>
          <p:nvSpPr>
            <p:cNvPr id="101431" name="Freeform 17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32" name="Freeform 17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33" name="Freeform 174"/>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34" name="Freeform 17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35" name="Freeform 17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36" name="Freeform 17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1437" name="Freeform 178"/>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38" name="Freeform 179"/>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1439" name="Freeform 180"/>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1405" name="Rectangle 182"/>
          <p:cNvSpPr>
            <a:spLocks noChangeArrowheads="1"/>
          </p:cNvSpPr>
          <p:nvPr/>
        </p:nvSpPr>
        <p:spPr bwMode="auto">
          <a:xfrm>
            <a:off x="60674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01475" name="Group 183"/>
          <p:cNvGrpSpPr>
            <a:grpSpLocks/>
          </p:cNvGrpSpPr>
          <p:nvPr/>
        </p:nvGrpSpPr>
        <p:grpSpPr bwMode="auto">
          <a:xfrm>
            <a:off x="6111875" y="4606925"/>
            <a:ext cx="398463" cy="238125"/>
            <a:chOff x="3507" y="1789"/>
            <a:chExt cx="858" cy="497"/>
          </a:xfrm>
        </p:grpSpPr>
        <p:sp>
          <p:nvSpPr>
            <p:cNvPr id="101426" name="Oval 184"/>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1489" name="Group 185"/>
            <p:cNvGrpSpPr>
              <a:grpSpLocks/>
            </p:cNvGrpSpPr>
            <p:nvPr/>
          </p:nvGrpSpPr>
          <p:grpSpPr bwMode="auto">
            <a:xfrm>
              <a:off x="3758" y="2002"/>
              <a:ext cx="357" cy="76"/>
              <a:chOff x="4109" y="1226"/>
              <a:chExt cx="357" cy="76"/>
            </a:xfrm>
          </p:grpSpPr>
          <p:sp>
            <p:nvSpPr>
              <p:cNvPr id="101428" name="Freeform 18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29" name="Freeform 18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30" name="Freeform 18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1503" name="Group 189"/>
          <p:cNvGrpSpPr>
            <a:grpSpLocks/>
          </p:cNvGrpSpPr>
          <p:nvPr/>
        </p:nvGrpSpPr>
        <p:grpSpPr bwMode="auto">
          <a:xfrm>
            <a:off x="6111875" y="4348163"/>
            <a:ext cx="398463" cy="238125"/>
            <a:chOff x="3507" y="1789"/>
            <a:chExt cx="858" cy="497"/>
          </a:xfrm>
        </p:grpSpPr>
        <p:sp>
          <p:nvSpPr>
            <p:cNvPr id="101421" name="Oval 190"/>
            <p:cNvSpPr>
              <a:spLocks noChangeArrowheads="1"/>
            </p:cNvSpPr>
            <p:nvPr/>
          </p:nvSpPr>
          <p:spPr bwMode="auto">
            <a:xfrm>
              <a:off x="3507" y="1789"/>
              <a:ext cx="858" cy="497"/>
            </a:xfrm>
            <a:prstGeom prst="ellipse">
              <a:avLst/>
            </a:pr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1508" name="Group 191"/>
            <p:cNvGrpSpPr>
              <a:grpSpLocks/>
            </p:cNvGrpSpPr>
            <p:nvPr/>
          </p:nvGrpSpPr>
          <p:grpSpPr bwMode="auto">
            <a:xfrm>
              <a:off x="3758" y="2002"/>
              <a:ext cx="357" cy="76"/>
              <a:chOff x="4109" y="1226"/>
              <a:chExt cx="357" cy="76"/>
            </a:xfrm>
          </p:grpSpPr>
          <p:sp>
            <p:nvSpPr>
              <p:cNvPr id="101423" name="Freeform 19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folHlink"/>
              </a:solidFill>
              <a:ln w="9525">
                <a:solidFill>
                  <a:schemeClr val="tx1"/>
                </a:solidFill>
                <a:round/>
                <a:headEnd/>
                <a:tailEnd/>
              </a:ln>
            </p:spPr>
            <p:txBody>
              <a:bodyPr wrap="none" anchor="ctr"/>
              <a:lstStyle/>
              <a:p>
                <a:pPr algn="l"/>
                <a:endParaRPr lang="en-US" b="1">
                  <a:latin typeface="Arial" pitchFamily="34" charset="0"/>
                </a:endParaRPr>
              </a:p>
            </p:txBody>
          </p:sp>
          <p:sp>
            <p:nvSpPr>
              <p:cNvPr id="101424" name="Freeform 19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101425" name="Freeform 19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1522" name="Group 195"/>
          <p:cNvGrpSpPr>
            <a:grpSpLocks/>
          </p:cNvGrpSpPr>
          <p:nvPr/>
        </p:nvGrpSpPr>
        <p:grpSpPr bwMode="auto">
          <a:xfrm>
            <a:off x="6111875" y="4087813"/>
            <a:ext cx="398463" cy="238125"/>
            <a:chOff x="3507" y="1789"/>
            <a:chExt cx="858" cy="497"/>
          </a:xfrm>
        </p:grpSpPr>
        <p:sp>
          <p:nvSpPr>
            <p:cNvPr id="101416" name="Oval 196"/>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1527" name="Group 197"/>
            <p:cNvGrpSpPr>
              <a:grpSpLocks/>
            </p:cNvGrpSpPr>
            <p:nvPr/>
          </p:nvGrpSpPr>
          <p:grpSpPr bwMode="auto">
            <a:xfrm>
              <a:off x="3758" y="2002"/>
              <a:ext cx="357" cy="76"/>
              <a:chOff x="4109" y="1226"/>
              <a:chExt cx="357" cy="76"/>
            </a:xfrm>
          </p:grpSpPr>
          <p:sp>
            <p:nvSpPr>
              <p:cNvPr id="101418" name="Freeform 19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1419" name="Freeform 19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1420" name="Freeform 20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1532" name="Group 201"/>
          <p:cNvGrpSpPr>
            <a:grpSpLocks/>
          </p:cNvGrpSpPr>
          <p:nvPr/>
        </p:nvGrpSpPr>
        <p:grpSpPr bwMode="auto">
          <a:xfrm>
            <a:off x="5299075" y="3821113"/>
            <a:ext cx="398463" cy="238125"/>
            <a:chOff x="3507" y="1789"/>
            <a:chExt cx="858" cy="497"/>
          </a:xfrm>
        </p:grpSpPr>
        <p:sp>
          <p:nvSpPr>
            <p:cNvPr id="101411" name="Oval 202"/>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1545" name="Group 203"/>
            <p:cNvGrpSpPr>
              <a:grpSpLocks/>
            </p:cNvGrpSpPr>
            <p:nvPr/>
          </p:nvGrpSpPr>
          <p:grpSpPr bwMode="auto">
            <a:xfrm>
              <a:off x="3758" y="2002"/>
              <a:ext cx="357" cy="76"/>
              <a:chOff x="4109" y="1226"/>
              <a:chExt cx="357" cy="76"/>
            </a:xfrm>
          </p:grpSpPr>
          <p:sp>
            <p:nvSpPr>
              <p:cNvPr id="101413" name="Freeform 20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1414" name="Freeform 20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1415" name="Freeform 20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01410" name="Text Box 207"/>
          <p:cNvSpPr txBox="1">
            <a:spLocks noChangeArrowheads="1"/>
          </p:cNvSpPr>
          <p:nvPr/>
        </p:nvSpPr>
        <p:spPr bwMode="auto">
          <a:xfrm>
            <a:off x="544115" y="2390775"/>
            <a:ext cx="7928774" cy="584775"/>
          </a:xfrm>
          <a:prstGeom prst="rect">
            <a:avLst/>
          </a:prstGeom>
          <a:noFill/>
          <a:ln w="38100" algn="ctr">
            <a:noFill/>
            <a:miter lim="800000"/>
            <a:headEnd/>
            <a:tailEnd/>
          </a:ln>
        </p:spPr>
        <p:txBody>
          <a:bodyPr wrap="none">
            <a:spAutoFit/>
          </a:bodyPr>
          <a:lstStyle/>
          <a:p>
            <a:pPr algn="ctr"/>
            <a:r>
              <a:rPr lang="en-US" sz="3200" dirty="0">
                <a:latin typeface="Arial" pitchFamily="34" charset="0"/>
              </a:rPr>
              <a:t>Each work pool is a  Double-Ended Queue</a:t>
            </a: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1"/>
          <p:cNvSpPr>
            <a:spLocks noGrp="1"/>
          </p:cNvSpPr>
          <p:nvPr>
            <p:ph type="ftr" sz="quarter" idx="10"/>
          </p:nvPr>
        </p:nvSpPr>
        <p:spPr>
          <a:noFill/>
        </p:spPr>
        <p:txBody>
          <a:bodyPr/>
          <a:lstStyle/>
          <a:p>
            <a:r>
              <a:rPr lang="en-US"/>
              <a:t>Art of Multiprocessor Programming</a:t>
            </a:r>
          </a:p>
        </p:txBody>
      </p:sp>
      <p:sp>
        <p:nvSpPr>
          <p:cNvPr id="102403" name="Slide Number Placeholder 2"/>
          <p:cNvSpPr>
            <a:spLocks noGrp="1"/>
          </p:cNvSpPr>
          <p:nvPr>
            <p:ph type="sldNum" sz="quarter" idx="11"/>
          </p:nvPr>
        </p:nvSpPr>
        <p:spPr>
          <a:noFill/>
        </p:spPr>
        <p:txBody>
          <a:bodyPr/>
          <a:lstStyle/>
          <a:p>
            <a:fld id="{3C1EC897-EE30-4119-AE70-942C01C592E7}" type="slidenum">
              <a:rPr lang="x-none" smtClean="0"/>
              <a:pPr/>
              <a:t>93</a:t>
            </a:fld>
            <a:endParaRPr lang="en-US"/>
          </a:p>
        </p:txBody>
      </p:sp>
      <p:sp>
        <p:nvSpPr>
          <p:cNvPr id="40"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8FE2D58-4CBA-4429-8F76-20CA8ED25065}" type="slidenum">
              <a:rPr lang="x-none" sz="1400">
                <a:solidFill>
                  <a:schemeClr val="tx1"/>
                </a:solidFill>
                <a:latin typeface="Arial" pitchFamily="34" charset="0"/>
                <a:cs typeface="Arial" pitchFamily="34" charset="0"/>
              </a:rPr>
              <a:pPr>
                <a:defRPr/>
              </a:pPr>
              <a:t>93</a:t>
            </a:fld>
            <a:endParaRPr lang="en-US" sz="1400" dirty="0">
              <a:solidFill>
                <a:schemeClr val="tx1"/>
              </a:solidFill>
              <a:latin typeface="Arial" pitchFamily="34" charset="0"/>
              <a:cs typeface="Arial" pitchFamily="34" charset="0"/>
            </a:endParaRPr>
          </a:p>
        </p:txBody>
      </p:sp>
      <p:sp>
        <p:nvSpPr>
          <p:cNvPr id="102405" name="Rectangle 2"/>
          <p:cNvSpPr>
            <a:spLocks noGrp="1" noChangeArrowheads="1"/>
          </p:cNvSpPr>
          <p:nvPr>
            <p:ph type="title" idx="4294967295"/>
          </p:nvPr>
        </p:nvSpPr>
        <p:spPr/>
        <p:txBody>
          <a:bodyPr/>
          <a:lstStyle/>
          <a:p>
            <a:r>
              <a:rPr lang="en-US" dirty="0"/>
              <a:t>Work DEQueue</a:t>
            </a:r>
            <a:r>
              <a:rPr lang="en-US" baseline="30000" dirty="0"/>
              <a:t>1</a:t>
            </a:r>
          </a:p>
        </p:txBody>
      </p:sp>
      <p:sp>
        <p:nvSpPr>
          <p:cNvPr id="102406"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02433"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2434"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2435"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2436"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2437"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2438"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2439"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2440"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2441"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2408" name="Freeform 14"/>
          <p:cNvSpPr>
            <a:spLocks/>
          </p:cNvSpPr>
          <p:nvPr/>
        </p:nvSpPr>
        <p:spPr bwMode="auto">
          <a:xfrm>
            <a:off x="3289300" y="4978400"/>
            <a:ext cx="1570038" cy="865188"/>
          </a:xfrm>
          <a:custGeom>
            <a:avLst/>
            <a:gdLst>
              <a:gd name="T0" fmla="*/ 0 w 989"/>
              <a:gd name="T1" fmla="*/ 2147483647 h 545"/>
              <a:gd name="T2" fmla="*/ 2147483647 w 989"/>
              <a:gd name="T3" fmla="*/ 2147483647 h 545"/>
              <a:gd name="T4" fmla="*/ 2147483647 w 989"/>
              <a:gd name="T5" fmla="*/ 2147483647 h 545"/>
              <a:gd name="T6" fmla="*/ 2147483647 w 989"/>
              <a:gd name="T7" fmla="*/ 0 h 545"/>
              <a:gd name="T8" fmla="*/ 0 60000 65536"/>
              <a:gd name="T9" fmla="*/ 0 60000 65536"/>
              <a:gd name="T10" fmla="*/ 0 60000 65536"/>
              <a:gd name="T11" fmla="*/ 0 60000 65536"/>
              <a:gd name="T12" fmla="*/ 0 w 989"/>
              <a:gd name="T13" fmla="*/ 0 h 545"/>
              <a:gd name="T14" fmla="*/ 989 w 989"/>
              <a:gd name="T15" fmla="*/ 545 h 545"/>
            </a:gdLst>
            <a:ahLst/>
            <a:cxnLst>
              <a:cxn ang="T8">
                <a:pos x="T0" y="T1"/>
              </a:cxn>
              <a:cxn ang="T9">
                <a:pos x="T2" y="T3"/>
              </a:cxn>
              <a:cxn ang="T10">
                <a:pos x="T4" y="T5"/>
              </a:cxn>
              <a:cxn ang="T11">
                <a:pos x="T6" y="T7"/>
              </a:cxn>
            </a:cxnLst>
            <a:rect l="T12" t="T13" r="T14" b="T15"/>
            <a:pathLst>
              <a:path w="989" h="545">
                <a:moveTo>
                  <a:pt x="0" y="416"/>
                </a:moveTo>
                <a:cubicBezTo>
                  <a:pt x="199" y="472"/>
                  <a:pt x="399" y="529"/>
                  <a:pt x="552" y="536"/>
                </a:cubicBezTo>
                <a:cubicBezTo>
                  <a:pt x="705" y="543"/>
                  <a:pt x="851" y="545"/>
                  <a:pt x="920" y="456"/>
                </a:cubicBezTo>
                <a:cubicBezTo>
                  <a:pt x="989" y="367"/>
                  <a:pt x="958" y="95"/>
                  <a:pt x="968" y="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02409" name="Freeform 15"/>
          <p:cNvSpPr>
            <a:spLocks/>
          </p:cNvSpPr>
          <p:nvPr/>
        </p:nvSpPr>
        <p:spPr bwMode="auto">
          <a:xfrm>
            <a:off x="3073400" y="5080000"/>
            <a:ext cx="2101850" cy="1106488"/>
          </a:xfrm>
          <a:custGeom>
            <a:avLst/>
            <a:gdLst>
              <a:gd name="T0" fmla="*/ 0 w 1324"/>
              <a:gd name="T1" fmla="*/ 2147483647 h 697"/>
              <a:gd name="T2" fmla="*/ 2147483647 w 1324"/>
              <a:gd name="T3" fmla="*/ 2147483647 h 697"/>
              <a:gd name="T4" fmla="*/ 2147483647 w 1324"/>
              <a:gd name="T5" fmla="*/ 2147483647 h 697"/>
              <a:gd name="T6" fmla="*/ 2147483647 w 1324"/>
              <a:gd name="T7" fmla="*/ 0 h 697"/>
              <a:gd name="T8" fmla="*/ 0 60000 65536"/>
              <a:gd name="T9" fmla="*/ 0 60000 65536"/>
              <a:gd name="T10" fmla="*/ 0 60000 65536"/>
              <a:gd name="T11" fmla="*/ 0 60000 65536"/>
              <a:gd name="T12" fmla="*/ 0 w 1324"/>
              <a:gd name="T13" fmla="*/ 0 h 697"/>
              <a:gd name="T14" fmla="*/ 1324 w 1324"/>
              <a:gd name="T15" fmla="*/ 697 h 697"/>
            </a:gdLst>
            <a:ahLst/>
            <a:cxnLst>
              <a:cxn ang="T8">
                <a:pos x="T0" y="T1"/>
              </a:cxn>
              <a:cxn ang="T9">
                <a:pos x="T2" y="T3"/>
              </a:cxn>
              <a:cxn ang="T10">
                <a:pos x="T4" y="T5"/>
              </a:cxn>
              <a:cxn ang="T11">
                <a:pos x="T6" y="T7"/>
              </a:cxn>
            </a:cxnLst>
            <a:rect l="T12" t="T13" r="T14" b="T15"/>
            <a:pathLst>
              <a:path w="1324" h="697">
                <a:moveTo>
                  <a:pt x="0" y="528"/>
                </a:moveTo>
                <a:cubicBezTo>
                  <a:pt x="147" y="557"/>
                  <a:pt x="671" y="697"/>
                  <a:pt x="880" y="696"/>
                </a:cubicBezTo>
                <a:cubicBezTo>
                  <a:pt x="1089" y="695"/>
                  <a:pt x="1188" y="636"/>
                  <a:pt x="1256" y="520"/>
                </a:cubicBezTo>
                <a:cubicBezTo>
                  <a:pt x="1324" y="404"/>
                  <a:pt x="1281" y="108"/>
                  <a:pt x="1288" y="0"/>
                </a:cubicBezTo>
              </a:path>
            </a:pathLst>
          </a:custGeom>
          <a:noFill/>
          <a:ln w="76200">
            <a:solidFill>
              <a:schemeClr val="tx1"/>
            </a:solidFill>
            <a:round/>
            <a:headEnd type="triangle" w="med" len="med"/>
            <a:tailEnd/>
          </a:ln>
        </p:spPr>
        <p:txBody>
          <a:bodyPr wrap="none" anchor="ctr">
            <a:spAutoFit/>
          </a:bodyPr>
          <a:lstStyle/>
          <a:p>
            <a:pPr algn="l"/>
            <a:endParaRPr lang="en-US" b="1">
              <a:latin typeface="Arial" pitchFamily="34" charset="0"/>
            </a:endParaRPr>
          </a:p>
        </p:txBody>
      </p:sp>
      <p:sp>
        <p:nvSpPr>
          <p:cNvPr id="102410" name="Text Box 16"/>
          <p:cNvSpPr txBox="1">
            <a:spLocks noChangeArrowheads="1"/>
          </p:cNvSpPr>
          <p:nvPr/>
        </p:nvSpPr>
        <p:spPr bwMode="auto">
          <a:xfrm>
            <a:off x="2581275" y="4427538"/>
            <a:ext cx="1865313" cy="457200"/>
          </a:xfrm>
          <a:prstGeom prst="rect">
            <a:avLst/>
          </a:prstGeom>
          <a:noFill/>
          <a:ln w="38100" algn="ctr">
            <a:noFill/>
            <a:miter lim="800000"/>
            <a:headEnd/>
            <a:tailEnd/>
          </a:ln>
        </p:spPr>
        <p:txBody>
          <a:bodyPr wrap="none">
            <a:spAutoFit/>
          </a:bodyPr>
          <a:lstStyle/>
          <a:p>
            <a:pPr algn="ctr"/>
            <a:r>
              <a:rPr lang="en-US" dirty="0" err="1">
                <a:latin typeface="Arial" pitchFamily="34" charset="0"/>
              </a:rPr>
              <a:t>pushBottom</a:t>
            </a:r>
            <a:endParaRPr lang="en-US" dirty="0">
              <a:latin typeface="Arial" pitchFamily="34" charset="0"/>
            </a:endParaRPr>
          </a:p>
        </p:txBody>
      </p:sp>
      <p:sp>
        <p:nvSpPr>
          <p:cNvPr id="102411" name="Text Box 17"/>
          <p:cNvSpPr txBox="1">
            <a:spLocks noChangeArrowheads="1"/>
          </p:cNvSpPr>
          <p:nvPr/>
        </p:nvSpPr>
        <p:spPr bwMode="auto">
          <a:xfrm>
            <a:off x="5618163" y="4876800"/>
            <a:ext cx="1706562" cy="457200"/>
          </a:xfrm>
          <a:prstGeom prst="rect">
            <a:avLst/>
          </a:prstGeom>
          <a:noFill/>
          <a:ln w="38100" algn="ctr">
            <a:noFill/>
            <a:miter lim="800000"/>
            <a:headEnd/>
            <a:tailEnd/>
          </a:ln>
        </p:spPr>
        <p:txBody>
          <a:bodyPr wrap="none">
            <a:spAutoFit/>
          </a:bodyPr>
          <a:lstStyle/>
          <a:p>
            <a:pPr algn="ctr"/>
            <a:r>
              <a:rPr lang="en-US" dirty="0" err="1">
                <a:latin typeface="Arial" pitchFamily="34" charset="0"/>
              </a:rPr>
              <a:t>popBottom</a:t>
            </a:r>
            <a:endParaRPr lang="en-US" dirty="0">
              <a:latin typeface="Arial" pitchFamily="34" charset="0"/>
            </a:endParaRPr>
          </a:p>
        </p:txBody>
      </p:sp>
      <p:grpSp>
        <p:nvGrpSpPr>
          <p:cNvPr id="3" name="Group 18"/>
          <p:cNvGrpSpPr>
            <a:grpSpLocks/>
          </p:cNvGrpSpPr>
          <p:nvPr/>
        </p:nvGrpSpPr>
        <p:grpSpPr bwMode="auto">
          <a:xfrm>
            <a:off x="4606925" y="4394200"/>
            <a:ext cx="779463" cy="536575"/>
            <a:chOff x="3507" y="1789"/>
            <a:chExt cx="858" cy="497"/>
          </a:xfrm>
        </p:grpSpPr>
        <p:sp>
          <p:nvSpPr>
            <p:cNvPr id="102428" name="Oval 19"/>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20"/>
            <p:cNvGrpSpPr>
              <a:grpSpLocks/>
            </p:cNvGrpSpPr>
            <p:nvPr/>
          </p:nvGrpSpPr>
          <p:grpSpPr bwMode="auto">
            <a:xfrm>
              <a:off x="3758" y="2002"/>
              <a:ext cx="357" cy="76"/>
              <a:chOff x="4109" y="1226"/>
              <a:chExt cx="357" cy="76"/>
            </a:xfrm>
          </p:grpSpPr>
          <p:sp>
            <p:nvSpPr>
              <p:cNvPr id="102430" name="Freeform 2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2431" name="Freeform 2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2432" name="Freeform 2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24"/>
          <p:cNvGrpSpPr>
            <a:grpSpLocks/>
          </p:cNvGrpSpPr>
          <p:nvPr/>
        </p:nvGrpSpPr>
        <p:grpSpPr bwMode="auto">
          <a:xfrm>
            <a:off x="4606925" y="3810000"/>
            <a:ext cx="779463" cy="536575"/>
            <a:chOff x="3507" y="1789"/>
            <a:chExt cx="858" cy="497"/>
          </a:xfrm>
        </p:grpSpPr>
        <p:sp>
          <p:nvSpPr>
            <p:cNvPr id="102423" name="Oval 25"/>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26"/>
            <p:cNvGrpSpPr>
              <a:grpSpLocks/>
            </p:cNvGrpSpPr>
            <p:nvPr/>
          </p:nvGrpSpPr>
          <p:grpSpPr bwMode="auto">
            <a:xfrm>
              <a:off x="3758" y="2002"/>
              <a:ext cx="357" cy="76"/>
              <a:chOff x="4109" y="1226"/>
              <a:chExt cx="357" cy="76"/>
            </a:xfrm>
          </p:grpSpPr>
          <p:sp>
            <p:nvSpPr>
              <p:cNvPr id="102425" name="Freeform 2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2426" name="Freeform 2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2427" name="Freeform 2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30"/>
          <p:cNvGrpSpPr>
            <a:grpSpLocks/>
          </p:cNvGrpSpPr>
          <p:nvPr/>
        </p:nvGrpSpPr>
        <p:grpSpPr bwMode="auto">
          <a:xfrm>
            <a:off x="4606925" y="3225800"/>
            <a:ext cx="779463" cy="536575"/>
            <a:chOff x="3507" y="1789"/>
            <a:chExt cx="858" cy="497"/>
          </a:xfrm>
        </p:grpSpPr>
        <p:sp>
          <p:nvSpPr>
            <p:cNvPr id="102418" name="Oval 31"/>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2"/>
            <p:cNvGrpSpPr>
              <a:grpSpLocks/>
            </p:cNvGrpSpPr>
            <p:nvPr/>
          </p:nvGrpSpPr>
          <p:grpSpPr bwMode="auto">
            <a:xfrm>
              <a:off x="3758" y="2002"/>
              <a:ext cx="357" cy="76"/>
              <a:chOff x="4109" y="1226"/>
              <a:chExt cx="357" cy="76"/>
            </a:xfrm>
          </p:grpSpPr>
          <p:sp>
            <p:nvSpPr>
              <p:cNvPr id="102420" name="Freeform 3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2421" name="Freeform 3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2422" name="Freeform 3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02415" name="AutoShape 36"/>
          <p:cNvSpPr>
            <a:spLocks/>
          </p:cNvSpPr>
          <p:nvPr/>
        </p:nvSpPr>
        <p:spPr bwMode="auto">
          <a:xfrm>
            <a:off x="5715000" y="3352800"/>
            <a:ext cx="469900" cy="1485900"/>
          </a:xfrm>
          <a:prstGeom prst="rightBrace">
            <a:avLst>
              <a:gd name="adj1" fmla="val 26351"/>
              <a:gd name="adj2" fmla="val 50000"/>
            </a:avLst>
          </a:prstGeom>
          <a:noFill/>
          <a:ln w="38100">
            <a:solidFill>
              <a:schemeClr val="accent2"/>
            </a:solidFill>
            <a:round/>
            <a:headEnd/>
            <a:tailEnd/>
          </a:ln>
        </p:spPr>
        <p:txBody>
          <a:bodyPr wrap="none" anchor="ctr">
            <a:spAutoFit/>
          </a:bodyPr>
          <a:lstStyle/>
          <a:p>
            <a:pPr algn="l"/>
            <a:endParaRPr lang="en-US" b="1">
              <a:latin typeface="Arial" pitchFamily="34" charset="0"/>
            </a:endParaRPr>
          </a:p>
        </p:txBody>
      </p:sp>
      <p:sp>
        <p:nvSpPr>
          <p:cNvPr id="102416" name="Text Box 37"/>
          <p:cNvSpPr txBox="1">
            <a:spLocks noChangeArrowheads="1"/>
          </p:cNvSpPr>
          <p:nvPr/>
        </p:nvSpPr>
        <p:spPr bwMode="auto">
          <a:xfrm>
            <a:off x="6416675" y="3856038"/>
            <a:ext cx="863600" cy="457200"/>
          </a:xfrm>
          <a:prstGeom prst="rect">
            <a:avLst/>
          </a:prstGeom>
          <a:noFill/>
          <a:ln w="38100" algn="ctr">
            <a:noFill/>
            <a:miter lim="800000"/>
            <a:headEnd/>
            <a:tailEnd/>
          </a:ln>
        </p:spPr>
        <p:txBody>
          <a:bodyPr wrap="none">
            <a:spAutoFit/>
          </a:bodyPr>
          <a:lstStyle/>
          <a:p>
            <a:pPr algn="ctr"/>
            <a:r>
              <a:rPr lang="en-US" dirty="0">
                <a:latin typeface="Arial" pitchFamily="34" charset="0"/>
              </a:rPr>
              <a:t>work</a:t>
            </a:r>
          </a:p>
        </p:txBody>
      </p:sp>
      <p:sp>
        <p:nvSpPr>
          <p:cNvPr id="102417" name="Text Box 38"/>
          <p:cNvSpPr txBox="1">
            <a:spLocks noChangeArrowheads="1"/>
          </p:cNvSpPr>
          <p:nvPr/>
        </p:nvSpPr>
        <p:spPr bwMode="auto">
          <a:xfrm>
            <a:off x="5576888" y="5794375"/>
            <a:ext cx="2649537" cy="366713"/>
          </a:xfrm>
          <a:prstGeom prst="rect">
            <a:avLst/>
          </a:prstGeom>
          <a:noFill/>
          <a:ln w="38100" algn="ctr">
            <a:noFill/>
            <a:miter lim="800000"/>
            <a:headEnd/>
            <a:tailEnd/>
          </a:ln>
        </p:spPr>
        <p:txBody>
          <a:bodyPr wrap="none">
            <a:spAutoFit/>
          </a:bodyPr>
          <a:lstStyle/>
          <a:p>
            <a:pPr algn="ctr"/>
            <a:r>
              <a:rPr lang="en-US" sz="1800" dirty="0">
                <a:solidFill>
                  <a:schemeClr val="tx1"/>
                </a:solidFill>
                <a:latin typeface="Arial" pitchFamily="34" charset="0"/>
              </a:rPr>
              <a:t>1. Double-Ended Queue</a:t>
            </a: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1"/>
          <p:cNvSpPr>
            <a:spLocks noGrp="1"/>
          </p:cNvSpPr>
          <p:nvPr>
            <p:ph type="ftr" sz="quarter" idx="10"/>
          </p:nvPr>
        </p:nvSpPr>
        <p:spPr>
          <a:noFill/>
        </p:spPr>
        <p:txBody>
          <a:bodyPr/>
          <a:lstStyle/>
          <a:p>
            <a:r>
              <a:rPr lang="en-US"/>
              <a:t>Art of Multiprocessor Programming</a:t>
            </a:r>
          </a:p>
        </p:txBody>
      </p:sp>
      <p:sp>
        <p:nvSpPr>
          <p:cNvPr id="103427" name="Slide Number Placeholder 2"/>
          <p:cNvSpPr>
            <a:spLocks noGrp="1"/>
          </p:cNvSpPr>
          <p:nvPr>
            <p:ph type="sldNum" sz="quarter" idx="11"/>
          </p:nvPr>
        </p:nvSpPr>
        <p:spPr>
          <a:noFill/>
        </p:spPr>
        <p:txBody>
          <a:bodyPr/>
          <a:lstStyle/>
          <a:p>
            <a:fld id="{8B3DCBC6-62BE-444C-95FB-0BA63BEDABD7}" type="slidenum">
              <a:rPr lang="x-none" smtClean="0"/>
              <a:pPr/>
              <a:t>94</a:t>
            </a:fld>
            <a:endParaRPr lang="en-US"/>
          </a:p>
        </p:txBody>
      </p:sp>
      <p:sp>
        <p:nvSpPr>
          <p:cNvPr id="3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4785CFE-52F7-48F5-A0D1-85F558B66928}" type="slidenum">
              <a:rPr lang="x-none" sz="1400">
                <a:solidFill>
                  <a:schemeClr val="tx1"/>
                </a:solidFill>
                <a:latin typeface="Arial" pitchFamily="34" charset="0"/>
                <a:cs typeface="Arial" pitchFamily="34" charset="0"/>
              </a:rPr>
              <a:pPr>
                <a:defRPr/>
              </a:pPr>
              <a:t>94</a:t>
            </a:fld>
            <a:endParaRPr lang="en-US" sz="1400" dirty="0">
              <a:solidFill>
                <a:schemeClr val="tx1"/>
              </a:solidFill>
              <a:latin typeface="Arial" pitchFamily="34" charset="0"/>
              <a:cs typeface="Arial" pitchFamily="34" charset="0"/>
            </a:endParaRPr>
          </a:p>
        </p:txBody>
      </p:sp>
      <p:sp>
        <p:nvSpPr>
          <p:cNvPr id="103429" name="Rectangle 2"/>
          <p:cNvSpPr>
            <a:spLocks noGrp="1" noChangeArrowheads="1"/>
          </p:cNvSpPr>
          <p:nvPr>
            <p:ph type="title" idx="4294967295"/>
          </p:nvPr>
        </p:nvSpPr>
        <p:spPr/>
        <p:txBody>
          <a:bodyPr/>
          <a:lstStyle/>
          <a:p>
            <a:r>
              <a:rPr lang="en-US"/>
              <a:t>Obtain Work</a:t>
            </a:r>
          </a:p>
        </p:txBody>
      </p:sp>
      <p:sp>
        <p:nvSpPr>
          <p:cNvPr id="103430"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03452"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3453"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3454"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3455"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3456"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3457"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3458"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3459"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3460"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8"/>
          <p:cNvGrpSpPr>
            <a:grpSpLocks/>
          </p:cNvGrpSpPr>
          <p:nvPr/>
        </p:nvGrpSpPr>
        <p:grpSpPr bwMode="auto">
          <a:xfrm>
            <a:off x="4606925" y="4394200"/>
            <a:ext cx="779463" cy="536575"/>
            <a:chOff x="3507" y="1789"/>
            <a:chExt cx="858" cy="497"/>
          </a:xfrm>
        </p:grpSpPr>
        <p:sp>
          <p:nvSpPr>
            <p:cNvPr id="103447" name="Oval 19"/>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20"/>
            <p:cNvGrpSpPr>
              <a:grpSpLocks/>
            </p:cNvGrpSpPr>
            <p:nvPr/>
          </p:nvGrpSpPr>
          <p:grpSpPr bwMode="auto">
            <a:xfrm>
              <a:off x="3758" y="2002"/>
              <a:ext cx="357" cy="76"/>
              <a:chOff x="4109" y="1226"/>
              <a:chExt cx="357" cy="76"/>
            </a:xfrm>
          </p:grpSpPr>
          <p:sp>
            <p:nvSpPr>
              <p:cNvPr id="103449" name="Freeform 2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3450" name="Freeform 2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3451" name="Freeform 2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24"/>
          <p:cNvGrpSpPr>
            <a:grpSpLocks/>
          </p:cNvGrpSpPr>
          <p:nvPr/>
        </p:nvGrpSpPr>
        <p:grpSpPr bwMode="auto">
          <a:xfrm>
            <a:off x="4606925" y="3810000"/>
            <a:ext cx="779463" cy="536575"/>
            <a:chOff x="3507" y="1789"/>
            <a:chExt cx="858" cy="497"/>
          </a:xfrm>
        </p:grpSpPr>
        <p:sp>
          <p:nvSpPr>
            <p:cNvPr id="103442" name="Oval 25"/>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26"/>
            <p:cNvGrpSpPr>
              <a:grpSpLocks/>
            </p:cNvGrpSpPr>
            <p:nvPr/>
          </p:nvGrpSpPr>
          <p:grpSpPr bwMode="auto">
            <a:xfrm>
              <a:off x="3758" y="2002"/>
              <a:ext cx="357" cy="76"/>
              <a:chOff x="4109" y="1226"/>
              <a:chExt cx="357" cy="76"/>
            </a:xfrm>
          </p:grpSpPr>
          <p:sp>
            <p:nvSpPr>
              <p:cNvPr id="103444" name="Freeform 2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3445" name="Freeform 2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3446" name="Freeform 2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30"/>
          <p:cNvGrpSpPr>
            <a:grpSpLocks/>
          </p:cNvGrpSpPr>
          <p:nvPr/>
        </p:nvGrpSpPr>
        <p:grpSpPr bwMode="auto">
          <a:xfrm>
            <a:off x="4606925" y="3225800"/>
            <a:ext cx="779463" cy="536575"/>
            <a:chOff x="3507" y="1789"/>
            <a:chExt cx="858" cy="497"/>
          </a:xfrm>
        </p:grpSpPr>
        <p:sp>
          <p:nvSpPr>
            <p:cNvPr id="103437" name="Oval 31"/>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2"/>
            <p:cNvGrpSpPr>
              <a:grpSpLocks/>
            </p:cNvGrpSpPr>
            <p:nvPr/>
          </p:nvGrpSpPr>
          <p:grpSpPr bwMode="auto">
            <a:xfrm>
              <a:off x="3758" y="2002"/>
              <a:ext cx="357" cy="76"/>
              <a:chOff x="4109" y="1226"/>
              <a:chExt cx="357" cy="76"/>
            </a:xfrm>
          </p:grpSpPr>
          <p:sp>
            <p:nvSpPr>
              <p:cNvPr id="103439" name="Freeform 3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3440" name="Freeform 3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3441" name="Freeform 3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661542" name="Text Box 38"/>
          <p:cNvSpPr txBox="1">
            <a:spLocks noChangeArrowheads="1"/>
          </p:cNvSpPr>
          <p:nvPr/>
        </p:nvSpPr>
        <p:spPr bwMode="auto">
          <a:xfrm>
            <a:off x="555625" y="3082925"/>
            <a:ext cx="3567002" cy="1384995"/>
          </a:xfrm>
          <a:prstGeom prst="rect">
            <a:avLst/>
          </a:prstGeom>
          <a:noFill/>
          <a:ln w="38100" algn="ctr">
            <a:noFill/>
            <a:miter lim="800000"/>
            <a:headEnd/>
            <a:tailEnd/>
          </a:ln>
        </p:spPr>
        <p:txBody>
          <a:bodyPr wrap="none">
            <a:spAutoFit/>
          </a:bodyPr>
          <a:lstStyle/>
          <a:p>
            <a:pPr algn="l">
              <a:buFontTx/>
              <a:buChar char="•"/>
            </a:pPr>
            <a:r>
              <a:rPr lang="en-US" sz="2800" dirty="0">
                <a:latin typeface="Arial" pitchFamily="34" charset="0"/>
              </a:rPr>
              <a:t>Obtain work</a:t>
            </a:r>
          </a:p>
          <a:p>
            <a:pPr algn="l">
              <a:buFontTx/>
              <a:buChar char="•"/>
            </a:pPr>
            <a:r>
              <a:rPr lang="en-US" sz="2800" dirty="0">
                <a:latin typeface="Arial" pitchFamily="34" charset="0"/>
              </a:rPr>
              <a:t>Run task until</a:t>
            </a:r>
          </a:p>
          <a:p>
            <a:pPr algn="l">
              <a:buFontTx/>
              <a:buChar char="•"/>
            </a:pPr>
            <a:r>
              <a:rPr lang="en-US" sz="2800" dirty="0">
                <a:latin typeface="Arial" pitchFamily="34" charset="0"/>
              </a:rPr>
              <a:t>Blocks or terminates</a:t>
            </a:r>
          </a:p>
        </p:txBody>
      </p:sp>
      <p:sp>
        <p:nvSpPr>
          <p:cNvPr id="661547" name="Text Box 43"/>
          <p:cNvSpPr txBox="1">
            <a:spLocks noChangeArrowheads="1"/>
          </p:cNvSpPr>
          <p:nvPr/>
        </p:nvSpPr>
        <p:spPr bwMode="auto">
          <a:xfrm>
            <a:off x="5692775" y="4546600"/>
            <a:ext cx="2217738" cy="579438"/>
          </a:xfrm>
          <a:prstGeom prst="rect">
            <a:avLst/>
          </a:prstGeom>
          <a:noFill/>
          <a:ln w="38100" algn="ctr">
            <a:noFill/>
            <a:miter lim="800000"/>
            <a:headEnd/>
            <a:tailEnd/>
          </a:ln>
        </p:spPr>
        <p:txBody>
          <a:bodyPr wrap="none">
            <a:spAutoFit/>
          </a:bodyPr>
          <a:lstStyle/>
          <a:p>
            <a:pPr algn="ctr"/>
            <a:r>
              <a:rPr lang="en-US" sz="3200" dirty="0" err="1">
                <a:latin typeface="Arial" pitchFamily="34" charset="0"/>
              </a:rPr>
              <a:t>popBottom</a:t>
            </a:r>
            <a:endParaRPr lang="en-US" sz="3200" dirty="0">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1547"/>
                                        </p:tgtEl>
                                        <p:attrNameLst>
                                          <p:attrName>style.visibility</p:attrName>
                                        </p:attrNameLst>
                                      </p:cBhvr>
                                      <p:to>
                                        <p:strVal val="visible"/>
                                      </p:to>
                                    </p:set>
                                    <p:animEffect transition="in" filter="blinds(horizontal)">
                                      <p:cBhvr>
                                        <p:cTn id="7" dur="500"/>
                                        <p:tgtEl>
                                          <p:spTgt spid="661547"/>
                                        </p:tgtEl>
                                      </p:cBhvr>
                                    </p:animEffect>
                                  </p:childTnLst>
                                </p:cTn>
                              </p:par>
                              <p:par>
                                <p:cTn id="8" presetID="0" presetClass="path" presetSubtype="0" accel="50000" decel="50000" fill="hold" nodeType="withEffect">
                                  <p:stCondLst>
                                    <p:cond delay="0"/>
                                  </p:stCondLst>
                                  <p:childTnLst>
                                    <p:animMotion origin="layout" path="M 3.05556E-6 -3.7037E-7 C 0.01441 0.06898 0.02899 0.13796 -0.00555 0.16852 C -0.0401 0.19908 -0.12361 0.19121 -0.20694 0.18333 " pathEditMode="relative" ptsTypes="aaA">
                                      <p:cBhvr>
                                        <p:cTn id="9" dur="2000" fill="hold"/>
                                        <p:tgtEl>
                                          <p:spTgt spid="3"/>
                                        </p:tgtEl>
                                        <p:attrNameLst>
                                          <p:attrName>ppt_x</p:attrName>
                                          <p:attrName>ppt_y</p:attrName>
                                        </p:attrNameLst>
                                      </p:cBhvr>
                                    </p:animMotion>
                                  </p:childTnLst>
                                </p:cTn>
                              </p:par>
                              <p:par>
                                <p:cTn id="10" presetID="0" presetClass="path" presetSubtype="0" accel="50000" decel="50000" fill="hold" nodeType="withEffect">
                                  <p:stCondLst>
                                    <p:cond delay="0"/>
                                  </p:stCondLst>
                                  <p:childTnLst>
                                    <p:animMotion origin="layout" path="M 0.0 0.0 L -0.00139 0.13519 " pathEditMode="relative" ptsTypes="AA">
                                      <p:cBhvr>
                                        <p:cTn id="11" dur="2000" fill="hold"/>
                                        <p:tgtEl>
                                          <p:spTgt spid="7"/>
                                        </p:tgtEl>
                                        <p:attrNameLst>
                                          <p:attrName>ppt_x</p:attrName>
                                          <p:attrName>ppt_y</p:attrName>
                                        </p:attrNameLst>
                                      </p:cBhvr>
                                    </p:animMotion>
                                  </p:childTnLst>
                                </p:cTn>
                              </p:par>
                              <p:par>
                                <p:cTn id="12" presetID="0" presetClass="path" presetSubtype="0" accel="50000" decel="50000" fill="hold" nodeType="withEffect">
                                  <p:stCondLst>
                                    <p:cond delay="0"/>
                                  </p:stCondLst>
                                  <p:childTnLst>
                                    <p:animMotion origin="layout" path="M 0.0 0.0 L -0.00139 0.13519 " pathEditMode="relative" ptsTypes="AA">
                                      <p:cBhvr>
                                        <p:cTn id="13" dur="2000" fill="hold"/>
                                        <p:tgtEl>
                                          <p:spTgt spid="5"/>
                                        </p:tgtEl>
                                        <p:attrNameLst>
                                          <p:attrName>ppt_x</p:attrName>
                                          <p:attrName>ppt_y</p:attrName>
                                        </p:attrNameLst>
                                      </p:cBhvr>
                                    </p:animMotion>
                                  </p:childTnLst>
                                </p:cTn>
                              </p:par>
                            </p:childTnLst>
                          </p:cTn>
                        </p:par>
                        <p:par>
                          <p:cTn id="14" fill="hold">
                            <p:stCondLst>
                              <p:cond delay="2000"/>
                            </p:stCondLst>
                            <p:childTnLst>
                              <p:par>
                                <p:cTn id="15" presetID="3" presetClass="entr" presetSubtype="10" fill="hold" grpId="0" nodeType="afterEffect">
                                  <p:stCondLst>
                                    <p:cond delay="0"/>
                                  </p:stCondLst>
                                  <p:childTnLst>
                                    <p:set>
                                      <p:cBhvr>
                                        <p:cTn id="16" dur="1" fill="hold">
                                          <p:stCondLst>
                                            <p:cond delay="0"/>
                                          </p:stCondLst>
                                        </p:cTn>
                                        <p:tgtEl>
                                          <p:spTgt spid="661542"/>
                                        </p:tgtEl>
                                        <p:attrNameLst>
                                          <p:attrName>style.visibility</p:attrName>
                                        </p:attrNameLst>
                                      </p:cBhvr>
                                      <p:to>
                                        <p:strVal val="visible"/>
                                      </p:to>
                                    </p:set>
                                    <p:animEffect transition="in" filter="blinds(horizontal)">
                                      <p:cBhvr>
                                        <p:cTn id="17" dur="500"/>
                                        <p:tgtEl>
                                          <p:spTgt spid="661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42" grpId="0"/>
      <p:bldP spid="66154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1"/>
          <p:cNvSpPr>
            <a:spLocks noGrp="1"/>
          </p:cNvSpPr>
          <p:nvPr>
            <p:ph type="ftr" sz="quarter" idx="10"/>
          </p:nvPr>
        </p:nvSpPr>
        <p:spPr>
          <a:noFill/>
        </p:spPr>
        <p:txBody>
          <a:bodyPr/>
          <a:lstStyle/>
          <a:p>
            <a:r>
              <a:rPr lang="en-US"/>
              <a:t>Art of Multiprocessor Programming</a:t>
            </a:r>
          </a:p>
        </p:txBody>
      </p:sp>
      <p:sp>
        <p:nvSpPr>
          <p:cNvPr id="104451" name="Slide Number Placeholder 2"/>
          <p:cNvSpPr>
            <a:spLocks noGrp="1"/>
          </p:cNvSpPr>
          <p:nvPr>
            <p:ph type="sldNum" sz="quarter" idx="11"/>
          </p:nvPr>
        </p:nvSpPr>
        <p:spPr>
          <a:noFill/>
        </p:spPr>
        <p:txBody>
          <a:bodyPr/>
          <a:lstStyle/>
          <a:p>
            <a:fld id="{E2304767-830E-4762-84C4-325AA9DC37F8}" type="slidenum">
              <a:rPr lang="x-none" smtClean="0"/>
              <a:pPr/>
              <a:t>95</a:t>
            </a:fld>
            <a:endParaRPr lang="en-US"/>
          </a:p>
        </p:txBody>
      </p:sp>
      <p:sp>
        <p:nvSpPr>
          <p:cNvPr id="42"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3FA38A8-9AD9-4FDA-983E-1E9498FCB3F6}" type="slidenum">
              <a:rPr lang="x-none" sz="1400">
                <a:solidFill>
                  <a:schemeClr val="tx1"/>
                </a:solidFill>
                <a:latin typeface="Arial" pitchFamily="34" charset="0"/>
                <a:cs typeface="Arial" pitchFamily="34" charset="0"/>
              </a:rPr>
              <a:pPr>
                <a:defRPr/>
              </a:pPr>
              <a:t>95</a:t>
            </a:fld>
            <a:endParaRPr lang="en-US" sz="1400" dirty="0">
              <a:solidFill>
                <a:schemeClr val="tx1"/>
              </a:solidFill>
              <a:latin typeface="Arial" pitchFamily="34" charset="0"/>
              <a:cs typeface="Arial" pitchFamily="34" charset="0"/>
            </a:endParaRPr>
          </a:p>
        </p:txBody>
      </p:sp>
      <p:sp>
        <p:nvSpPr>
          <p:cNvPr id="104453" name="Rectangle 2"/>
          <p:cNvSpPr>
            <a:spLocks noGrp="1" noChangeArrowheads="1"/>
          </p:cNvSpPr>
          <p:nvPr>
            <p:ph type="title" idx="4294967295"/>
          </p:nvPr>
        </p:nvSpPr>
        <p:spPr/>
        <p:txBody>
          <a:bodyPr/>
          <a:lstStyle/>
          <a:p>
            <a:r>
              <a:rPr lang="en-US"/>
              <a:t>New Work</a:t>
            </a:r>
          </a:p>
        </p:txBody>
      </p:sp>
      <p:sp>
        <p:nvSpPr>
          <p:cNvPr id="104454"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04483"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4484"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4485"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4486"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4487"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4488"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4489"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4490"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4491"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701925" y="5664200"/>
            <a:ext cx="779463" cy="536575"/>
            <a:chOff x="3507" y="1789"/>
            <a:chExt cx="858" cy="497"/>
          </a:xfrm>
        </p:grpSpPr>
        <p:sp>
          <p:nvSpPr>
            <p:cNvPr id="104478" name="Oval 15"/>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16"/>
            <p:cNvGrpSpPr>
              <a:grpSpLocks/>
            </p:cNvGrpSpPr>
            <p:nvPr/>
          </p:nvGrpSpPr>
          <p:grpSpPr bwMode="auto">
            <a:xfrm>
              <a:off x="3758" y="2002"/>
              <a:ext cx="357" cy="76"/>
              <a:chOff x="4109" y="1226"/>
              <a:chExt cx="357" cy="76"/>
            </a:xfrm>
          </p:grpSpPr>
          <p:sp>
            <p:nvSpPr>
              <p:cNvPr id="104480" name="Freeform 1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4481" name="Freeform 1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4482" name="Freeform 1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43"/>
          <p:cNvGrpSpPr>
            <a:grpSpLocks/>
          </p:cNvGrpSpPr>
          <p:nvPr/>
        </p:nvGrpSpPr>
        <p:grpSpPr bwMode="auto">
          <a:xfrm>
            <a:off x="4606925" y="4152900"/>
            <a:ext cx="779463" cy="1108075"/>
            <a:chOff x="2902" y="2616"/>
            <a:chExt cx="491" cy="698"/>
          </a:xfrm>
        </p:grpSpPr>
        <p:grpSp>
          <p:nvGrpSpPr>
            <p:cNvPr id="6" name="Group 20"/>
            <p:cNvGrpSpPr>
              <a:grpSpLocks/>
            </p:cNvGrpSpPr>
            <p:nvPr/>
          </p:nvGrpSpPr>
          <p:grpSpPr bwMode="auto">
            <a:xfrm>
              <a:off x="2902" y="2976"/>
              <a:ext cx="491" cy="338"/>
              <a:chOff x="3507" y="1789"/>
              <a:chExt cx="858" cy="497"/>
            </a:xfrm>
          </p:grpSpPr>
          <p:sp>
            <p:nvSpPr>
              <p:cNvPr id="104473" name="Oval 21"/>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22"/>
              <p:cNvGrpSpPr>
                <a:grpSpLocks/>
              </p:cNvGrpSpPr>
              <p:nvPr/>
            </p:nvGrpSpPr>
            <p:grpSpPr bwMode="auto">
              <a:xfrm>
                <a:off x="3758" y="2002"/>
                <a:ext cx="357" cy="76"/>
                <a:chOff x="4109" y="1226"/>
                <a:chExt cx="357" cy="76"/>
              </a:xfrm>
            </p:grpSpPr>
            <p:sp>
              <p:nvSpPr>
                <p:cNvPr id="104475" name="Freeform 2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4476" name="Freeform 2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4477" name="Freeform 2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26"/>
            <p:cNvGrpSpPr>
              <a:grpSpLocks/>
            </p:cNvGrpSpPr>
            <p:nvPr/>
          </p:nvGrpSpPr>
          <p:grpSpPr bwMode="auto">
            <a:xfrm>
              <a:off x="2902" y="2616"/>
              <a:ext cx="491" cy="338"/>
              <a:chOff x="3507" y="1789"/>
              <a:chExt cx="858" cy="497"/>
            </a:xfrm>
          </p:grpSpPr>
          <p:sp>
            <p:nvSpPr>
              <p:cNvPr id="104468" name="Oval 27"/>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28"/>
              <p:cNvGrpSpPr>
                <a:grpSpLocks/>
              </p:cNvGrpSpPr>
              <p:nvPr/>
            </p:nvGrpSpPr>
            <p:grpSpPr bwMode="auto">
              <a:xfrm>
                <a:off x="3758" y="2002"/>
                <a:ext cx="357" cy="76"/>
                <a:chOff x="4109" y="1226"/>
                <a:chExt cx="357" cy="76"/>
              </a:xfrm>
            </p:grpSpPr>
            <p:sp>
              <p:nvSpPr>
                <p:cNvPr id="104470" name="Freeform 2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4471" name="Freeform 3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4472" name="Freeform 3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104458" name="Text Box 32"/>
          <p:cNvSpPr txBox="1">
            <a:spLocks noChangeArrowheads="1"/>
          </p:cNvSpPr>
          <p:nvPr/>
        </p:nvSpPr>
        <p:spPr bwMode="auto">
          <a:xfrm>
            <a:off x="555625" y="3082925"/>
            <a:ext cx="2524125" cy="946150"/>
          </a:xfrm>
          <a:prstGeom prst="rect">
            <a:avLst/>
          </a:prstGeom>
          <a:noFill/>
          <a:ln w="38100" algn="ctr">
            <a:noFill/>
            <a:miter lim="800000"/>
            <a:headEnd/>
            <a:tailEnd/>
          </a:ln>
        </p:spPr>
        <p:txBody>
          <a:bodyPr wrap="none">
            <a:spAutoFit/>
          </a:bodyPr>
          <a:lstStyle/>
          <a:p>
            <a:pPr algn="l">
              <a:buFontTx/>
              <a:buChar char="•"/>
            </a:pPr>
            <a:r>
              <a:rPr lang="en-US" sz="2800" dirty="0">
                <a:latin typeface="Arial" pitchFamily="34" charset="0"/>
              </a:rPr>
              <a:t>Unblock node</a:t>
            </a:r>
          </a:p>
          <a:p>
            <a:pPr algn="l">
              <a:buFontTx/>
              <a:buChar char="•"/>
            </a:pPr>
            <a:r>
              <a:rPr lang="en-US" sz="2800" dirty="0">
                <a:latin typeface="Arial" pitchFamily="34" charset="0"/>
              </a:rPr>
              <a:t>Spawn node</a:t>
            </a:r>
          </a:p>
        </p:txBody>
      </p:sp>
      <p:grpSp>
        <p:nvGrpSpPr>
          <p:cNvPr id="10" name="Group 37"/>
          <p:cNvGrpSpPr>
            <a:grpSpLocks/>
          </p:cNvGrpSpPr>
          <p:nvPr/>
        </p:nvGrpSpPr>
        <p:grpSpPr bwMode="auto">
          <a:xfrm>
            <a:off x="3578225" y="5664200"/>
            <a:ext cx="779463" cy="536575"/>
            <a:chOff x="3507" y="1789"/>
            <a:chExt cx="858" cy="497"/>
          </a:xfrm>
        </p:grpSpPr>
        <p:sp>
          <p:nvSpPr>
            <p:cNvPr id="104461" name="Oval 38"/>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39"/>
            <p:cNvGrpSpPr>
              <a:grpSpLocks/>
            </p:cNvGrpSpPr>
            <p:nvPr/>
          </p:nvGrpSpPr>
          <p:grpSpPr bwMode="auto">
            <a:xfrm>
              <a:off x="3758" y="2002"/>
              <a:ext cx="357" cy="76"/>
              <a:chOff x="4109" y="1226"/>
              <a:chExt cx="357" cy="76"/>
            </a:xfrm>
          </p:grpSpPr>
          <p:sp>
            <p:nvSpPr>
              <p:cNvPr id="104463" name="Freeform 4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4464" name="Freeform 4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4465" name="Freeform 4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662572" name="Text Box 44"/>
          <p:cNvSpPr txBox="1">
            <a:spLocks noChangeArrowheads="1"/>
          </p:cNvSpPr>
          <p:nvPr/>
        </p:nvSpPr>
        <p:spPr bwMode="auto">
          <a:xfrm>
            <a:off x="5586413" y="4546600"/>
            <a:ext cx="2430462" cy="579438"/>
          </a:xfrm>
          <a:prstGeom prst="rect">
            <a:avLst/>
          </a:prstGeom>
          <a:noFill/>
          <a:ln w="38100" algn="ctr">
            <a:noFill/>
            <a:miter lim="800000"/>
            <a:headEnd/>
            <a:tailEnd/>
          </a:ln>
        </p:spPr>
        <p:txBody>
          <a:bodyPr wrap="none">
            <a:spAutoFit/>
          </a:bodyPr>
          <a:lstStyle/>
          <a:p>
            <a:pPr algn="ctr"/>
            <a:r>
              <a:rPr lang="en-US" sz="3200" dirty="0" err="1">
                <a:latin typeface="Arial" pitchFamily="34" charset="0"/>
              </a:rPr>
              <a:t>pushBottom</a:t>
            </a:r>
            <a:endParaRPr lang="en-US" sz="3200" dirty="0">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2572"/>
                                        </p:tgtEl>
                                        <p:attrNameLst>
                                          <p:attrName>style.visibility</p:attrName>
                                        </p:attrNameLst>
                                      </p:cBhvr>
                                      <p:to>
                                        <p:strVal val="visible"/>
                                      </p:to>
                                    </p:set>
                                    <p:animEffect transition="in" filter="blinds(horizontal)">
                                      <p:cBhvr>
                                        <p:cTn id="7" dur="500"/>
                                        <p:tgtEl>
                                          <p:spTgt spid="66257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par>
                          <p:cTn id="12" fill="hold">
                            <p:stCondLst>
                              <p:cond delay="1000"/>
                            </p:stCondLst>
                            <p:childTnLst>
                              <p:par>
                                <p:cTn id="13" presetID="0" presetClass="path" presetSubtype="0" accel="50000" decel="50000" fill="hold" nodeType="afterEffect">
                                  <p:stCondLst>
                                    <p:cond delay="0"/>
                                  </p:stCondLst>
                                  <p:childTnLst>
                                    <p:animMotion origin="layout" path="M -0.00052 -0.00024 C 0.03507 0.01412 0.07084 0.0287 0.08976 0.00532 C 0.10868 -0.01806 0.11094 -0.07963 0.11337 -0.14098 " pathEditMode="relative" ptsTypes="aaA">
                                      <p:cBhvr>
                                        <p:cTn id="14" dur="2000" fill="hold"/>
                                        <p:tgtEl>
                                          <p:spTgt spid="10"/>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2.77778E-7 -7.40741E-7 L 0.00139 -0.08889 " pathEditMode="relative" ptsTypes="AA">
                                      <p:cBhvr>
                                        <p:cTn id="1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7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1"/>
          <p:cNvSpPr>
            <a:spLocks noGrp="1"/>
          </p:cNvSpPr>
          <p:nvPr>
            <p:ph type="ftr" sz="quarter" idx="10"/>
          </p:nvPr>
        </p:nvSpPr>
        <p:spPr>
          <a:noFill/>
        </p:spPr>
        <p:txBody>
          <a:bodyPr/>
          <a:lstStyle/>
          <a:p>
            <a:r>
              <a:rPr lang="en-US"/>
              <a:t>Art of Multiprocessor Programming</a:t>
            </a:r>
          </a:p>
        </p:txBody>
      </p:sp>
      <p:sp>
        <p:nvSpPr>
          <p:cNvPr id="105475" name="Slide Number Placeholder 2"/>
          <p:cNvSpPr>
            <a:spLocks noGrp="1"/>
          </p:cNvSpPr>
          <p:nvPr>
            <p:ph type="sldNum" sz="quarter" idx="11"/>
          </p:nvPr>
        </p:nvSpPr>
        <p:spPr>
          <a:noFill/>
        </p:spPr>
        <p:txBody>
          <a:bodyPr/>
          <a:lstStyle/>
          <a:p>
            <a:fld id="{CCDCC41C-2415-4EDE-AA14-77E7A248F2ED}" type="slidenum">
              <a:rPr lang="x-none" smtClean="0"/>
              <a:pPr/>
              <a:t>96</a:t>
            </a:fld>
            <a:endParaRPr lang="en-US"/>
          </a:p>
        </p:txBody>
      </p:sp>
      <p:sp>
        <p:nvSpPr>
          <p:cNvPr id="1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3AC678E-FC71-47A3-8A28-982230075FDB}" type="slidenum">
              <a:rPr lang="x-none" sz="1400">
                <a:solidFill>
                  <a:schemeClr val="tx1"/>
                </a:solidFill>
                <a:latin typeface="Arial" pitchFamily="34" charset="0"/>
                <a:cs typeface="Arial" pitchFamily="34" charset="0"/>
              </a:rPr>
              <a:pPr>
                <a:defRPr/>
              </a:pPr>
              <a:t>96</a:t>
            </a:fld>
            <a:endParaRPr lang="en-US" sz="1400" dirty="0">
              <a:solidFill>
                <a:schemeClr val="tx1"/>
              </a:solidFill>
              <a:latin typeface="Arial" pitchFamily="34" charset="0"/>
              <a:cs typeface="Arial" pitchFamily="34" charset="0"/>
            </a:endParaRPr>
          </a:p>
        </p:txBody>
      </p:sp>
      <p:sp>
        <p:nvSpPr>
          <p:cNvPr id="105477" name="Rectangle 2"/>
          <p:cNvSpPr>
            <a:spLocks noGrp="1" noChangeArrowheads="1"/>
          </p:cNvSpPr>
          <p:nvPr>
            <p:ph type="title" idx="4294967295"/>
          </p:nvPr>
        </p:nvSpPr>
        <p:spPr/>
        <p:txBody>
          <a:bodyPr/>
          <a:lstStyle/>
          <a:p>
            <a:r>
              <a:rPr lang="en-US" sz="4000"/>
              <a:t>Whatcha Gonna do When the Well Runs Dry?</a:t>
            </a:r>
          </a:p>
        </p:txBody>
      </p:sp>
      <p:sp>
        <p:nvSpPr>
          <p:cNvPr id="105478"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05482"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5483"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5484"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5485"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5486"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5487"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5488"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5489"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5490"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5480" name="AutoShape 41"/>
          <p:cNvSpPr>
            <a:spLocks noChangeArrowheads="1"/>
          </p:cNvSpPr>
          <p:nvPr/>
        </p:nvSpPr>
        <p:spPr bwMode="auto">
          <a:xfrm>
            <a:off x="1828800" y="3365500"/>
            <a:ext cx="2501900" cy="838200"/>
          </a:xfrm>
          <a:prstGeom prst="cloudCallout">
            <a:avLst>
              <a:gd name="adj1" fmla="val -10662"/>
              <a:gd name="adj2" fmla="val 129167"/>
            </a:avLst>
          </a:prstGeom>
          <a:noFill/>
          <a:ln w="38100">
            <a:solidFill>
              <a:schemeClr val="tx1"/>
            </a:solidFill>
            <a:round/>
            <a:headEnd/>
            <a:tailEnd/>
          </a:ln>
        </p:spPr>
        <p:txBody>
          <a:bodyPr anchor="ctr"/>
          <a:lstStyle/>
          <a:p>
            <a:pPr algn="ctr"/>
            <a:r>
              <a:rPr lang="en-US" dirty="0">
                <a:latin typeface="Arial" pitchFamily="34" charset="0"/>
              </a:rPr>
              <a:t>@&amp;%$!!</a:t>
            </a:r>
          </a:p>
        </p:txBody>
      </p:sp>
      <p:sp>
        <p:nvSpPr>
          <p:cNvPr id="105481" name="Text Box 42"/>
          <p:cNvSpPr txBox="1">
            <a:spLocks noChangeArrowheads="1"/>
          </p:cNvSpPr>
          <p:nvPr/>
        </p:nvSpPr>
        <p:spPr bwMode="auto">
          <a:xfrm>
            <a:off x="4521200" y="4911725"/>
            <a:ext cx="908050" cy="396875"/>
          </a:xfrm>
          <a:prstGeom prst="rect">
            <a:avLst/>
          </a:prstGeom>
          <a:noFill/>
          <a:ln w="38100" algn="ctr">
            <a:noFill/>
            <a:miter lim="800000"/>
            <a:headEnd/>
            <a:tailEnd/>
          </a:ln>
        </p:spPr>
        <p:txBody>
          <a:bodyPr wrap="none">
            <a:spAutoFit/>
          </a:bodyPr>
          <a:lstStyle/>
          <a:p>
            <a:pPr algn="ctr"/>
            <a:r>
              <a:rPr lang="en-US" sz="2000" dirty="0">
                <a:latin typeface="Arial" pitchFamily="34" charset="0"/>
              </a:rPr>
              <a:t>empty</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1"/>
          <p:cNvSpPr>
            <a:spLocks noGrp="1"/>
          </p:cNvSpPr>
          <p:nvPr>
            <p:ph type="ftr" sz="quarter" idx="10"/>
          </p:nvPr>
        </p:nvSpPr>
        <p:spPr>
          <a:noFill/>
        </p:spPr>
        <p:txBody>
          <a:bodyPr/>
          <a:lstStyle/>
          <a:p>
            <a:r>
              <a:rPr lang="en-US"/>
              <a:t>Art of Multiprocessor Programming</a:t>
            </a:r>
          </a:p>
        </p:txBody>
      </p:sp>
      <p:sp>
        <p:nvSpPr>
          <p:cNvPr id="106499" name="Slide Number Placeholder 2"/>
          <p:cNvSpPr>
            <a:spLocks noGrp="1"/>
          </p:cNvSpPr>
          <p:nvPr>
            <p:ph type="sldNum" sz="quarter" idx="11"/>
          </p:nvPr>
        </p:nvSpPr>
        <p:spPr>
          <a:noFill/>
        </p:spPr>
        <p:txBody>
          <a:bodyPr/>
          <a:lstStyle/>
          <a:p>
            <a:fld id="{4728C822-86DA-4ECD-8E06-376C2289A65D}" type="slidenum">
              <a:rPr lang="x-none" smtClean="0"/>
              <a:pPr/>
              <a:t>97</a:t>
            </a:fld>
            <a:endParaRPr lang="en-US"/>
          </a:p>
        </p:txBody>
      </p:sp>
      <p:sp>
        <p:nvSpPr>
          <p:cNvPr id="166"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D2F53FF-0624-4337-9C63-810B9B0918A7}" type="slidenum">
              <a:rPr lang="x-none" sz="1400">
                <a:solidFill>
                  <a:schemeClr val="tx1"/>
                </a:solidFill>
                <a:latin typeface="Arial" pitchFamily="34" charset="0"/>
                <a:cs typeface="Arial" pitchFamily="34" charset="0"/>
              </a:rPr>
              <a:pPr>
                <a:defRPr/>
              </a:pPr>
              <a:t>97</a:t>
            </a:fld>
            <a:endParaRPr lang="en-US" sz="1400" dirty="0">
              <a:solidFill>
                <a:schemeClr val="tx1"/>
              </a:solidFill>
              <a:latin typeface="Arial" pitchFamily="34" charset="0"/>
              <a:cs typeface="Arial" pitchFamily="34" charset="0"/>
            </a:endParaRPr>
          </a:p>
        </p:txBody>
      </p:sp>
      <p:sp>
        <p:nvSpPr>
          <p:cNvPr id="106501" name="Rectangle 2"/>
          <p:cNvSpPr>
            <a:spLocks noGrp="1" noChangeArrowheads="1"/>
          </p:cNvSpPr>
          <p:nvPr>
            <p:ph type="title" idx="4294967295"/>
          </p:nvPr>
        </p:nvSpPr>
        <p:spPr/>
        <p:txBody>
          <a:bodyPr/>
          <a:lstStyle/>
          <a:p>
            <a:r>
              <a:rPr lang="en-US"/>
              <a:t>Steal Work from Others</a:t>
            </a:r>
            <a:endParaRPr lang="en-US" baseline="30000"/>
          </a:p>
        </p:txBody>
      </p:sp>
      <p:grpSp>
        <p:nvGrpSpPr>
          <p:cNvPr id="2" name="Group 3"/>
          <p:cNvGrpSpPr>
            <a:grpSpLocks/>
          </p:cNvGrpSpPr>
          <p:nvPr/>
        </p:nvGrpSpPr>
        <p:grpSpPr bwMode="auto">
          <a:xfrm>
            <a:off x="2012950" y="5110163"/>
            <a:ext cx="546100" cy="477837"/>
            <a:chOff x="1584" y="816"/>
            <a:chExt cx="912" cy="816"/>
          </a:xfrm>
        </p:grpSpPr>
        <p:sp>
          <p:nvSpPr>
            <p:cNvPr id="106655" name="Freeform 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56" name="Freeform 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57" name="Freeform 6"/>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58" name="Freeform 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59" name="Freeform 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60" name="Freeform 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61" name="Freeform 10"/>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62" name="Freeform 11"/>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63" name="Freeform 12"/>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03" name="Rectangle 13"/>
          <p:cNvSpPr>
            <a:spLocks noChangeArrowheads="1"/>
          </p:cNvSpPr>
          <p:nvPr/>
        </p:nvSpPr>
        <p:spPr bwMode="auto">
          <a:xfrm>
            <a:off x="20288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3" name="Group 14"/>
          <p:cNvGrpSpPr>
            <a:grpSpLocks/>
          </p:cNvGrpSpPr>
          <p:nvPr/>
        </p:nvGrpSpPr>
        <p:grpSpPr bwMode="auto">
          <a:xfrm>
            <a:off x="2073275" y="4606925"/>
            <a:ext cx="398463" cy="238125"/>
            <a:chOff x="3507" y="1789"/>
            <a:chExt cx="858" cy="497"/>
          </a:xfrm>
        </p:grpSpPr>
        <p:sp>
          <p:nvSpPr>
            <p:cNvPr id="106650" name="Oval 15"/>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16"/>
            <p:cNvGrpSpPr>
              <a:grpSpLocks/>
            </p:cNvGrpSpPr>
            <p:nvPr/>
          </p:nvGrpSpPr>
          <p:grpSpPr bwMode="auto">
            <a:xfrm>
              <a:off x="3758" y="2002"/>
              <a:ext cx="357" cy="76"/>
              <a:chOff x="4109" y="1226"/>
              <a:chExt cx="357" cy="76"/>
            </a:xfrm>
          </p:grpSpPr>
          <p:sp>
            <p:nvSpPr>
              <p:cNvPr id="106652" name="Freeform 1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6653" name="Freeform 1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6654" name="Freeform 1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20"/>
          <p:cNvGrpSpPr>
            <a:grpSpLocks/>
          </p:cNvGrpSpPr>
          <p:nvPr/>
        </p:nvGrpSpPr>
        <p:grpSpPr bwMode="auto">
          <a:xfrm>
            <a:off x="2073275" y="4348163"/>
            <a:ext cx="398463" cy="238125"/>
            <a:chOff x="3507" y="1789"/>
            <a:chExt cx="858" cy="497"/>
          </a:xfrm>
        </p:grpSpPr>
        <p:sp>
          <p:nvSpPr>
            <p:cNvPr id="106645" name="Oval 21"/>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22"/>
            <p:cNvGrpSpPr>
              <a:grpSpLocks/>
            </p:cNvGrpSpPr>
            <p:nvPr/>
          </p:nvGrpSpPr>
          <p:grpSpPr bwMode="auto">
            <a:xfrm>
              <a:off x="3758" y="2002"/>
              <a:ext cx="357" cy="76"/>
              <a:chOff x="4109" y="1226"/>
              <a:chExt cx="357" cy="76"/>
            </a:xfrm>
          </p:grpSpPr>
          <p:sp>
            <p:nvSpPr>
              <p:cNvPr id="106647" name="Freeform 2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648" name="Freeform 2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649" name="Freeform 2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26"/>
          <p:cNvGrpSpPr>
            <a:grpSpLocks/>
          </p:cNvGrpSpPr>
          <p:nvPr/>
        </p:nvGrpSpPr>
        <p:grpSpPr bwMode="auto">
          <a:xfrm>
            <a:off x="2073275" y="4087813"/>
            <a:ext cx="398463" cy="238125"/>
            <a:chOff x="3507" y="1789"/>
            <a:chExt cx="858" cy="497"/>
          </a:xfrm>
        </p:grpSpPr>
        <p:sp>
          <p:nvSpPr>
            <p:cNvPr id="106640" name="Oval 27"/>
            <p:cNvSpPr>
              <a:spLocks noChangeArrowheads="1"/>
            </p:cNvSpPr>
            <p:nvPr/>
          </p:nvSpPr>
          <p:spPr bwMode="auto">
            <a:xfrm>
              <a:off x="3507" y="1789"/>
              <a:ext cx="858" cy="497"/>
            </a:xfrm>
            <a:prstGeom prst="ellipse">
              <a:avLst/>
            </a:pr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28"/>
            <p:cNvGrpSpPr>
              <a:grpSpLocks/>
            </p:cNvGrpSpPr>
            <p:nvPr/>
          </p:nvGrpSpPr>
          <p:grpSpPr bwMode="auto">
            <a:xfrm>
              <a:off x="3758" y="2002"/>
              <a:ext cx="357" cy="76"/>
              <a:chOff x="4109" y="1226"/>
              <a:chExt cx="357" cy="76"/>
            </a:xfrm>
          </p:grpSpPr>
          <p:sp>
            <p:nvSpPr>
              <p:cNvPr id="106642" name="Freeform 2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9966FF"/>
              </a:solidFill>
              <a:ln w="9525">
                <a:solidFill>
                  <a:schemeClr val="tx1"/>
                </a:solidFill>
                <a:round/>
                <a:headEnd/>
                <a:tailEnd/>
              </a:ln>
            </p:spPr>
            <p:txBody>
              <a:bodyPr wrap="none" anchor="ctr"/>
              <a:lstStyle/>
              <a:p>
                <a:pPr algn="l"/>
                <a:endParaRPr lang="en-US" b="1">
                  <a:latin typeface="Arial" pitchFamily="34" charset="0"/>
                </a:endParaRPr>
              </a:p>
            </p:txBody>
          </p:sp>
          <p:sp>
            <p:nvSpPr>
              <p:cNvPr id="106643" name="Freeform 3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sp>
            <p:nvSpPr>
              <p:cNvPr id="106644" name="Freeform 3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32"/>
          <p:cNvGrpSpPr>
            <a:grpSpLocks/>
          </p:cNvGrpSpPr>
          <p:nvPr/>
        </p:nvGrpSpPr>
        <p:grpSpPr bwMode="auto">
          <a:xfrm>
            <a:off x="2813050" y="5110163"/>
            <a:ext cx="546100" cy="477837"/>
            <a:chOff x="1584" y="816"/>
            <a:chExt cx="912" cy="816"/>
          </a:xfrm>
        </p:grpSpPr>
        <p:sp>
          <p:nvSpPr>
            <p:cNvPr id="106631" name="Freeform 3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32" name="Freeform 3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33" name="Freeform 35"/>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34" name="Freeform 3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35" name="Freeform 3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36" name="Freeform 3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37" name="Freeform 39"/>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38" name="Freeform 40"/>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39" name="Freeform 41"/>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08" name="Rectangle 42"/>
          <p:cNvSpPr>
            <a:spLocks noChangeArrowheads="1"/>
          </p:cNvSpPr>
          <p:nvPr/>
        </p:nvSpPr>
        <p:spPr bwMode="auto">
          <a:xfrm>
            <a:off x="28289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0" name="Group 43"/>
          <p:cNvGrpSpPr>
            <a:grpSpLocks/>
          </p:cNvGrpSpPr>
          <p:nvPr/>
        </p:nvGrpSpPr>
        <p:grpSpPr bwMode="auto">
          <a:xfrm>
            <a:off x="2873375" y="4606925"/>
            <a:ext cx="398463" cy="238125"/>
            <a:chOff x="3507" y="1789"/>
            <a:chExt cx="858" cy="497"/>
          </a:xfrm>
        </p:grpSpPr>
        <p:sp>
          <p:nvSpPr>
            <p:cNvPr id="106626" name="Oval 44"/>
            <p:cNvSpPr>
              <a:spLocks noChangeArrowheads="1"/>
            </p:cNvSpPr>
            <p:nvPr/>
          </p:nvSpPr>
          <p:spPr bwMode="auto">
            <a:xfrm>
              <a:off x="3507" y="1789"/>
              <a:ext cx="858" cy="497"/>
            </a:xfrm>
            <a:prstGeom prst="ellipse">
              <a:avLst/>
            </a:pr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45"/>
            <p:cNvGrpSpPr>
              <a:grpSpLocks/>
            </p:cNvGrpSpPr>
            <p:nvPr/>
          </p:nvGrpSpPr>
          <p:grpSpPr bwMode="auto">
            <a:xfrm>
              <a:off x="3758" y="2002"/>
              <a:ext cx="357" cy="76"/>
              <a:chOff x="4109" y="1226"/>
              <a:chExt cx="357" cy="76"/>
            </a:xfrm>
          </p:grpSpPr>
          <p:sp>
            <p:nvSpPr>
              <p:cNvPr id="106628" name="Freeform 4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2"/>
              </a:solidFill>
              <a:ln w="9525">
                <a:solidFill>
                  <a:schemeClr val="tx1"/>
                </a:solidFill>
                <a:round/>
                <a:headEnd/>
                <a:tailEnd/>
              </a:ln>
            </p:spPr>
            <p:txBody>
              <a:bodyPr wrap="none" anchor="ctr"/>
              <a:lstStyle/>
              <a:p>
                <a:pPr algn="l"/>
                <a:endParaRPr lang="en-US" b="1">
                  <a:latin typeface="Arial" pitchFamily="34" charset="0"/>
                </a:endParaRPr>
              </a:p>
            </p:txBody>
          </p:sp>
          <p:sp>
            <p:nvSpPr>
              <p:cNvPr id="106629" name="Freeform 4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sp>
            <p:nvSpPr>
              <p:cNvPr id="106630" name="Freeform 4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2" name="Group 49"/>
          <p:cNvGrpSpPr>
            <a:grpSpLocks/>
          </p:cNvGrpSpPr>
          <p:nvPr/>
        </p:nvGrpSpPr>
        <p:grpSpPr bwMode="auto">
          <a:xfrm>
            <a:off x="2873375" y="4348163"/>
            <a:ext cx="398463" cy="238125"/>
            <a:chOff x="3507" y="1789"/>
            <a:chExt cx="858" cy="497"/>
          </a:xfrm>
        </p:grpSpPr>
        <p:sp>
          <p:nvSpPr>
            <p:cNvPr id="106621" name="Oval 50"/>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3" name="Group 51"/>
            <p:cNvGrpSpPr>
              <a:grpSpLocks/>
            </p:cNvGrpSpPr>
            <p:nvPr/>
          </p:nvGrpSpPr>
          <p:grpSpPr bwMode="auto">
            <a:xfrm>
              <a:off x="3758" y="2002"/>
              <a:ext cx="357" cy="76"/>
              <a:chOff x="4109" y="1226"/>
              <a:chExt cx="357" cy="76"/>
            </a:xfrm>
          </p:grpSpPr>
          <p:sp>
            <p:nvSpPr>
              <p:cNvPr id="106623" name="Freeform 5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accent1"/>
              </a:solidFill>
              <a:ln w="9525">
                <a:solidFill>
                  <a:schemeClr val="tx1"/>
                </a:solidFill>
                <a:round/>
                <a:headEnd/>
                <a:tailEnd/>
              </a:ln>
            </p:spPr>
            <p:txBody>
              <a:bodyPr wrap="none" anchor="ctr"/>
              <a:lstStyle/>
              <a:p>
                <a:pPr algn="l"/>
                <a:endParaRPr lang="en-US" b="1">
                  <a:latin typeface="Arial" pitchFamily="34" charset="0"/>
                </a:endParaRPr>
              </a:p>
            </p:txBody>
          </p:sp>
          <p:sp>
            <p:nvSpPr>
              <p:cNvPr id="106624" name="Freeform 5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106625" name="Freeform 5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4" name="Group 55"/>
          <p:cNvGrpSpPr>
            <a:grpSpLocks/>
          </p:cNvGrpSpPr>
          <p:nvPr/>
        </p:nvGrpSpPr>
        <p:grpSpPr bwMode="auto">
          <a:xfrm>
            <a:off x="3625850" y="5110163"/>
            <a:ext cx="546100" cy="477837"/>
            <a:chOff x="1584" y="816"/>
            <a:chExt cx="912" cy="816"/>
          </a:xfrm>
        </p:grpSpPr>
        <p:sp>
          <p:nvSpPr>
            <p:cNvPr id="106612" name="Freeform 5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3" name="Freeform 5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4" name="Freeform 58"/>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5" name="Freeform 5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16" name="Freeform 6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17" name="Freeform 6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18" name="Freeform 62"/>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9" name="Freeform 63"/>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20" name="Freeform 64"/>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12" name="Rectangle 65"/>
          <p:cNvSpPr>
            <a:spLocks noChangeArrowheads="1"/>
          </p:cNvSpPr>
          <p:nvPr/>
        </p:nvSpPr>
        <p:spPr bwMode="auto">
          <a:xfrm>
            <a:off x="36417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5" name="Group 72"/>
          <p:cNvGrpSpPr>
            <a:grpSpLocks/>
          </p:cNvGrpSpPr>
          <p:nvPr/>
        </p:nvGrpSpPr>
        <p:grpSpPr bwMode="auto">
          <a:xfrm>
            <a:off x="4438650" y="5110163"/>
            <a:ext cx="546100" cy="477837"/>
            <a:chOff x="1584" y="816"/>
            <a:chExt cx="912" cy="816"/>
          </a:xfrm>
        </p:grpSpPr>
        <p:sp>
          <p:nvSpPr>
            <p:cNvPr id="106603" name="Freeform 7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04" name="Freeform 7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05" name="Freeform 75"/>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06" name="Freeform 7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07" name="Freeform 7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08" name="Freeform 7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609" name="Freeform 79"/>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0" name="Freeform 80"/>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611" name="Freeform 81"/>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14" name="Rectangle 82"/>
          <p:cNvSpPr>
            <a:spLocks noChangeArrowheads="1"/>
          </p:cNvSpPr>
          <p:nvPr/>
        </p:nvSpPr>
        <p:spPr bwMode="auto">
          <a:xfrm>
            <a:off x="44545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16" name="Group 83"/>
          <p:cNvGrpSpPr>
            <a:grpSpLocks/>
          </p:cNvGrpSpPr>
          <p:nvPr/>
        </p:nvGrpSpPr>
        <p:grpSpPr bwMode="auto">
          <a:xfrm>
            <a:off x="4498975" y="4606925"/>
            <a:ext cx="398463" cy="238125"/>
            <a:chOff x="3507" y="1789"/>
            <a:chExt cx="858" cy="497"/>
          </a:xfrm>
        </p:grpSpPr>
        <p:sp>
          <p:nvSpPr>
            <p:cNvPr id="106598" name="Oval 84"/>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7" name="Group 85"/>
            <p:cNvGrpSpPr>
              <a:grpSpLocks/>
            </p:cNvGrpSpPr>
            <p:nvPr/>
          </p:nvGrpSpPr>
          <p:grpSpPr bwMode="auto">
            <a:xfrm>
              <a:off x="3758" y="2002"/>
              <a:ext cx="357" cy="76"/>
              <a:chOff x="4109" y="1226"/>
              <a:chExt cx="357" cy="76"/>
            </a:xfrm>
          </p:grpSpPr>
          <p:sp>
            <p:nvSpPr>
              <p:cNvPr id="106600" name="Freeform 8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601" name="Freeform 8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602" name="Freeform 8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8" name="Group 89"/>
          <p:cNvGrpSpPr>
            <a:grpSpLocks/>
          </p:cNvGrpSpPr>
          <p:nvPr/>
        </p:nvGrpSpPr>
        <p:grpSpPr bwMode="auto">
          <a:xfrm>
            <a:off x="4498975" y="4348163"/>
            <a:ext cx="398463" cy="238125"/>
            <a:chOff x="3507" y="1789"/>
            <a:chExt cx="858" cy="497"/>
          </a:xfrm>
        </p:grpSpPr>
        <p:sp>
          <p:nvSpPr>
            <p:cNvPr id="106593" name="Oval 90"/>
            <p:cNvSpPr>
              <a:spLocks noChangeArrowheads="1"/>
            </p:cNvSpPr>
            <p:nvPr/>
          </p:nvSpPr>
          <p:spPr bwMode="auto">
            <a:xfrm>
              <a:off x="3507" y="1789"/>
              <a:ext cx="858" cy="497"/>
            </a:xfrm>
            <a:prstGeom prst="ellipse">
              <a:avLst/>
            </a:pr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9" name="Group 91"/>
            <p:cNvGrpSpPr>
              <a:grpSpLocks/>
            </p:cNvGrpSpPr>
            <p:nvPr/>
          </p:nvGrpSpPr>
          <p:grpSpPr bwMode="auto">
            <a:xfrm>
              <a:off x="3758" y="2002"/>
              <a:ext cx="357" cy="76"/>
              <a:chOff x="4109" y="1226"/>
              <a:chExt cx="357" cy="76"/>
            </a:xfrm>
          </p:grpSpPr>
          <p:sp>
            <p:nvSpPr>
              <p:cNvPr id="106595" name="Freeform 9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2"/>
              </a:solidFill>
              <a:ln w="9525">
                <a:solidFill>
                  <a:schemeClr val="tx1"/>
                </a:solidFill>
                <a:round/>
                <a:headEnd/>
                <a:tailEnd/>
              </a:ln>
            </p:spPr>
            <p:txBody>
              <a:bodyPr wrap="none" anchor="ctr"/>
              <a:lstStyle/>
              <a:p>
                <a:pPr algn="l"/>
                <a:endParaRPr lang="en-US" b="1">
                  <a:latin typeface="Arial" pitchFamily="34" charset="0"/>
                </a:endParaRPr>
              </a:p>
            </p:txBody>
          </p:sp>
          <p:sp>
            <p:nvSpPr>
              <p:cNvPr id="106596" name="Freeform 9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sp>
            <p:nvSpPr>
              <p:cNvPr id="106597" name="Freeform 9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2"/>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0" name="Group 95"/>
          <p:cNvGrpSpPr>
            <a:grpSpLocks/>
          </p:cNvGrpSpPr>
          <p:nvPr/>
        </p:nvGrpSpPr>
        <p:grpSpPr bwMode="auto">
          <a:xfrm>
            <a:off x="4498975" y="4087813"/>
            <a:ext cx="398463" cy="238125"/>
            <a:chOff x="3507" y="1789"/>
            <a:chExt cx="858" cy="497"/>
          </a:xfrm>
        </p:grpSpPr>
        <p:sp>
          <p:nvSpPr>
            <p:cNvPr id="106588" name="Oval 96"/>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1" name="Group 97"/>
            <p:cNvGrpSpPr>
              <a:grpSpLocks/>
            </p:cNvGrpSpPr>
            <p:nvPr/>
          </p:nvGrpSpPr>
          <p:grpSpPr bwMode="auto">
            <a:xfrm>
              <a:off x="3758" y="2002"/>
              <a:ext cx="357" cy="76"/>
              <a:chOff x="4109" y="1226"/>
              <a:chExt cx="357" cy="76"/>
            </a:xfrm>
          </p:grpSpPr>
          <p:sp>
            <p:nvSpPr>
              <p:cNvPr id="106590" name="Freeform 9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6591" name="Freeform 9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6592" name="Freeform 10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2" name="Group 101"/>
          <p:cNvGrpSpPr>
            <a:grpSpLocks/>
          </p:cNvGrpSpPr>
          <p:nvPr/>
        </p:nvGrpSpPr>
        <p:grpSpPr bwMode="auto">
          <a:xfrm>
            <a:off x="5238750" y="5110163"/>
            <a:ext cx="546100" cy="477837"/>
            <a:chOff x="1584" y="816"/>
            <a:chExt cx="912" cy="816"/>
          </a:xfrm>
        </p:grpSpPr>
        <p:sp>
          <p:nvSpPr>
            <p:cNvPr id="106579" name="Freeform 10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80" name="Freeform 10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81" name="Freeform 104"/>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82" name="Freeform 10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583" name="Freeform 10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584" name="Freeform 10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585" name="Freeform 108"/>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86" name="Freeform 109"/>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87" name="Freeform 110"/>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19" name="Rectangle 111"/>
          <p:cNvSpPr>
            <a:spLocks noChangeArrowheads="1"/>
          </p:cNvSpPr>
          <p:nvPr/>
        </p:nvSpPr>
        <p:spPr bwMode="auto">
          <a:xfrm>
            <a:off x="52546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3" name="Group 112"/>
          <p:cNvGrpSpPr>
            <a:grpSpLocks/>
          </p:cNvGrpSpPr>
          <p:nvPr/>
        </p:nvGrpSpPr>
        <p:grpSpPr bwMode="auto">
          <a:xfrm>
            <a:off x="5299075" y="4606925"/>
            <a:ext cx="398463" cy="238125"/>
            <a:chOff x="3507" y="1789"/>
            <a:chExt cx="858" cy="497"/>
          </a:xfrm>
        </p:grpSpPr>
        <p:sp>
          <p:nvSpPr>
            <p:cNvPr id="106574" name="Oval 113"/>
            <p:cNvSpPr>
              <a:spLocks noChangeArrowheads="1"/>
            </p:cNvSpPr>
            <p:nvPr/>
          </p:nvSpPr>
          <p:spPr bwMode="auto">
            <a:xfrm>
              <a:off x="3507" y="1789"/>
              <a:ext cx="858" cy="497"/>
            </a:xfrm>
            <a:prstGeom prst="ellipse">
              <a:avLst/>
            </a:pr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4" name="Group 114"/>
            <p:cNvGrpSpPr>
              <a:grpSpLocks/>
            </p:cNvGrpSpPr>
            <p:nvPr/>
          </p:nvGrpSpPr>
          <p:grpSpPr bwMode="auto">
            <a:xfrm>
              <a:off x="3758" y="2002"/>
              <a:ext cx="357" cy="76"/>
              <a:chOff x="4109" y="1226"/>
              <a:chExt cx="357" cy="76"/>
            </a:xfrm>
          </p:grpSpPr>
          <p:sp>
            <p:nvSpPr>
              <p:cNvPr id="106576" name="Freeform 11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9966FF"/>
              </a:solidFill>
              <a:ln w="9525">
                <a:solidFill>
                  <a:schemeClr val="tx1"/>
                </a:solidFill>
                <a:round/>
                <a:headEnd/>
                <a:tailEnd/>
              </a:ln>
            </p:spPr>
            <p:txBody>
              <a:bodyPr wrap="none" anchor="ctr"/>
              <a:lstStyle/>
              <a:p>
                <a:pPr algn="l"/>
                <a:endParaRPr lang="en-US" b="1">
                  <a:latin typeface="Arial" pitchFamily="34" charset="0"/>
                </a:endParaRPr>
              </a:p>
            </p:txBody>
          </p:sp>
          <p:sp>
            <p:nvSpPr>
              <p:cNvPr id="106577" name="Freeform 11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sp>
            <p:nvSpPr>
              <p:cNvPr id="106578" name="Freeform 11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9966FF"/>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5" name="Group 118"/>
          <p:cNvGrpSpPr>
            <a:grpSpLocks/>
          </p:cNvGrpSpPr>
          <p:nvPr/>
        </p:nvGrpSpPr>
        <p:grpSpPr bwMode="auto">
          <a:xfrm>
            <a:off x="5299075" y="4348163"/>
            <a:ext cx="398463" cy="238125"/>
            <a:chOff x="3507" y="1789"/>
            <a:chExt cx="858" cy="497"/>
          </a:xfrm>
        </p:grpSpPr>
        <p:sp>
          <p:nvSpPr>
            <p:cNvPr id="106569" name="Oval 119"/>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6" name="Group 120"/>
            <p:cNvGrpSpPr>
              <a:grpSpLocks/>
            </p:cNvGrpSpPr>
            <p:nvPr/>
          </p:nvGrpSpPr>
          <p:grpSpPr bwMode="auto">
            <a:xfrm>
              <a:off x="3758" y="2002"/>
              <a:ext cx="357" cy="76"/>
              <a:chOff x="4109" y="1226"/>
              <a:chExt cx="357" cy="76"/>
            </a:xfrm>
          </p:grpSpPr>
          <p:sp>
            <p:nvSpPr>
              <p:cNvPr id="106571" name="Freeform 12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572" name="Freeform 12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573" name="Freeform 12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7" name="Group 124"/>
          <p:cNvGrpSpPr>
            <a:grpSpLocks/>
          </p:cNvGrpSpPr>
          <p:nvPr/>
        </p:nvGrpSpPr>
        <p:grpSpPr bwMode="auto">
          <a:xfrm>
            <a:off x="5299075" y="4087813"/>
            <a:ext cx="398463" cy="238125"/>
            <a:chOff x="3507" y="1789"/>
            <a:chExt cx="858" cy="497"/>
          </a:xfrm>
        </p:grpSpPr>
        <p:sp>
          <p:nvSpPr>
            <p:cNvPr id="106564" name="Oval 125"/>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28" name="Group 126"/>
            <p:cNvGrpSpPr>
              <a:grpSpLocks/>
            </p:cNvGrpSpPr>
            <p:nvPr/>
          </p:nvGrpSpPr>
          <p:grpSpPr bwMode="auto">
            <a:xfrm>
              <a:off x="3758" y="2002"/>
              <a:ext cx="357" cy="76"/>
              <a:chOff x="4109" y="1226"/>
              <a:chExt cx="357" cy="76"/>
            </a:xfrm>
          </p:grpSpPr>
          <p:sp>
            <p:nvSpPr>
              <p:cNvPr id="106566" name="Freeform 12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567" name="Freeform 12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568" name="Freeform 12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29" name="Group 130"/>
          <p:cNvGrpSpPr>
            <a:grpSpLocks/>
          </p:cNvGrpSpPr>
          <p:nvPr/>
        </p:nvGrpSpPr>
        <p:grpSpPr bwMode="auto">
          <a:xfrm>
            <a:off x="6051550" y="5110163"/>
            <a:ext cx="546100" cy="477837"/>
            <a:chOff x="1584" y="816"/>
            <a:chExt cx="912" cy="816"/>
          </a:xfrm>
        </p:grpSpPr>
        <p:sp>
          <p:nvSpPr>
            <p:cNvPr id="106555" name="Freeform 13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56" name="Freeform 13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57" name="Freeform 133"/>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58" name="Freeform 13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6559" name="Freeform 13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6560" name="Freeform 13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6561" name="Freeform 137"/>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62" name="Freeform 138"/>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6563" name="Freeform 139"/>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06524" name="Rectangle 140"/>
          <p:cNvSpPr>
            <a:spLocks noChangeArrowheads="1"/>
          </p:cNvSpPr>
          <p:nvPr/>
        </p:nvSpPr>
        <p:spPr bwMode="auto">
          <a:xfrm>
            <a:off x="6067425" y="3670300"/>
            <a:ext cx="487363" cy="1354138"/>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30" name="Group 141"/>
          <p:cNvGrpSpPr>
            <a:grpSpLocks/>
          </p:cNvGrpSpPr>
          <p:nvPr/>
        </p:nvGrpSpPr>
        <p:grpSpPr bwMode="auto">
          <a:xfrm>
            <a:off x="6111875" y="4606925"/>
            <a:ext cx="398463" cy="238125"/>
            <a:chOff x="3507" y="1789"/>
            <a:chExt cx="858" cy="497"/>
          </a:xfrm>
        </p:grpSpPr>
        <p:sp>
          <p:nvSpPr>
            <p:cNvPr id="106550" name="Oval 142"/>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1" name="Group 143"/>
            <p:cNvGrpSpPr>
              <a:grpSpLocks/>
            </p:cNvGrpSpPr>
            <p:nvPr/>
          </p:nvGrpSpPr>
          <p:grpSpPr bwMode="auto">
            <a:xfrm>
              <a:off x="3758" y="2002"/>
              <a:ext cx="357" cy="76"/>
              <a:chOff x="4109" y="1226"/>
              <a:chExt cx="357" cy="76"/>
            </a:xfrm>
          </p:grpSpPr>
          <p:sp>
            <p:nvSpPr>
              <p:cNvPr id="106552" name="Freeform 14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553" name="Freeform 14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554" name="Freeform 14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6627" name="Group 147"/>
          <p:cNvGrpSpPr>
            <a:grpSpLocks/>
          </p:cNvGrpSpPr>
          <p:nvPr/>
        </p:nvGrpSpPr>
        <p:grpSpPr bwMode="auto">
          <a:xfrm>
            <a:off x="6111875" y="4348163"/>
            <a:ext cx="398463" cy="238125"/>
            <a:chOff x="3507" y="1789"/>
            <a:chExt cx="858" cy="497"/>
          </a:xfrm>
        </p:grpSpPr>
        <p:sp>
          <p:nvSpPr>
            <p:cNvPr id="106545" name="Oval 148"/>
            <p:cNvSpPr>
              <a:spLocks noChangeArrowheads="1"/>
            </p:cNvSpPr>
            <p:nvPr/>
          </p:nvSpPr>
          <p:spPr bwMode="auto">
            <a:xfrm>
              <a:off x="3507" y="1789"/>
              <a:ext cx="858" cy="497"/>
            </a:xfrm>
            <a:prstGeom prst="ellipse">
              <a:avLst/>
            </a:prstGeom>
            <a:solidFill>
              <a:srgbClr val="FF0000">
                <a:alpha val="54117"/>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6641" name="Group 149"/>
            <p:cNvGrpSpPr>
              <a:grpSpLocks/>
            </p:cNvGrpSpPr>
            <p:nvPr/>
          </p:nvGrpSpPr>
          <p:grpSpPr bwMode="auto">
            <a:xfrm>
              <a:off x="3758" y="2002"/>
              <a:ext cx="357" cy="76"/>
              <a:chOff x="4109" y="1226"/>
              <a:chExt cx="357" cy="76"/>
            </a:xfrm>
          </p:grpSpPr>
          <p:sp>
            <p:nvSpPr>
              <p:cNvPr id="106547" name="Freeform 15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0000"/>
              </a:solidFill>
              <a:ln w="9525">
                <a:solidFill>
                  <a:schemeClr val="tx1"/>
                </a:solidFill>
                <a:round/>
                <a:headEnd/>
                <a:tailEnd/>
              </a:ln>
            </p:spPr>
            <p:txBody>
              <a:bodyPr wrap="none" anchor="ctr"/>
              <a:lstStyle/>
              <a:p>
                <a:pPr algn="l"/>
                <a:endParaRPr lang="en-US" b="1">
                  <a:latin typeface="Arial" pitchFamily="34" charset="0"/>
                </a:endParaRPr>
              </a:p>
            </p:txBody>
          </p:sp>
          <p:sp>
            <p:nvSpPr>
              <p:cNvPr id="106548" name="Freeform 15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6549" name="Freeform 15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6646" name="Group 153"/>
          <p:cNvGrpSpPr>
            <a:grpSpLocks/>
          </p:cNvGrpSpPr>
          <p:nvPr/>
        </p:nvGrpSpPr>
        <p:grpSpPr bwMode="auto">
          <a:xfrm>
            <a:off x="6111875" y="4087813"/>
            <a:ext cx="398463" cy="238125"/>
            <a:chOff x="3507" y="1789"/>
            <a:chExt cx="858" cy="497"/>
          </a:xfrm>
        </p:grpSpPr>
        <p:sp>
          <p:nvSpPr>
            <p:cNvPr id="106540" name="Oval 15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6651" name="Group 155"/>
            <p:cNvGrpSpPr>
              <a:grpSpLocks/>
            </p:cNvGrpSpPr>
            <p:nvPr/>
          </p:nvGrpSpPr>
          <p:grpSpPr bwMode="auto">
            <a:xfrm>
              <a:off x="3758" y="2002"/>
              <a:ext cx="357" cy="76"/>
              <a:chOff x="4109" y="1226"/>
              <a:chExt cx="357" cy="76"/>
            </a:xfrm>
          </p:grpSpPr>
          <p:sp>
            <p:nvSpPr>
              <p:cNvPr id="106542" name="Freeform 15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6543" name="Freeform 15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6544" name="Freeform 15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6664" name="Group 159"/>
          <p:cNvGrpSpPr>
            <a:grpSpLocks/>
          </p:cNvGrpSpPr>
          <p:nvPr/>
        </p:nvGrpSpPr>
        <p:grpSpPr bwMode="auto">
          <a:xfrm>
            <a:off x="5299075" y="3821113"/>
            <a:ext cx="398463" cy="238125"/>
            <a:chOff x="3507" y="1789"/>
            <a:chExt cx="858" cy="497"/>
          </a:xfrm>
        </p:grpSpPr>
        <p:sp>
          <p:nvSpPr>
            <p:cNvPr id="106535" name="Oval 160"/>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6665" name="Group 161"/>
            <p:cNvGrpSpPr>
              <a:grpSpLocks/>
            </p:cNvGrpSpPr>
            <p:nvPr/>
          </p:nvGrpSpPr>
          <p:grpSpPr bwMode="auto">
            <a:xfrm>
              <a:off x="3758" y="2002"/>
              <a:ext cx="357" cy="76"/>
              <a:chOff x="4109" y="1226"/>
              <a:chExt cx="357" cy="76"/>
            </a:xfrm>
          </p:grpSpPr>
          <p:sp>
            <p:nvSpPr>
              <p:cNvPr id="106537" name="Freeform 16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9900"/>
              </a:solidFill>
              <a:ln w="9525">
                <a:solidFill>
                  <a:schemeClr val="tx1"/>
                </a:solidFill>
                <a:round/>
                <a:headEnd/>
                <a:tailEnd/>
              </a:ln>
            </p:spPr>
            <p:txBody>
              <a:bodyPr wrap="none" anchor="ctr"/>
              <a:lstStyle/>
              <a:p>
                <a:pPr algn="l"/>
                <a:endParaRPr lang="en-US" b="1">
                  <a:latin typeface="Arial" pitchFamily="34" charset="0"/>
                </a:endParaRPr>
              </a:p>
            </p:txBody>
          </p:sp>
          <p:sp>
            <p:nvSpPr>
              <p:cNvPr id="106538" name="Freeform 16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sp>
            <p:nvSpPr>
              <p:cNvPr id="106539" name="Freeform 16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6666" name="Group 167"/>
          <p:cNvGrpSpPr>
            <a:grpSpLocks/>
          </p:cNvGrpSpPr>
          <p:nvPr/>
        </p:nvGrpSpPr>
        <p:grpSpPr bwMode="auto">
          <a:xfrm>
            <a:off x="3871913" y="5256213"/>
            <a:ext cx="358775" cy="279400"/>
            <a:chOff x="1831" y="1359"/>
            <a:chExt cx="490" cy="352"/>
          </a:xfrm>
        </p:grpSpPr>
        <p:sp>
          <p:nvSpPr>
            <p:cNvPr id="106532" name="Freeform 168"/>
            <p:cNvSpPr>
              <a:spLocks/>
            </p:cNvSpPr>
            <p:nvPr/>
          </p:nvSpPr>
          <p:spPr bwMode="auto">
            <a:xfrm>
              <a:off x="1831" y="1359"/>
              <a:ext cx="490" cy="352"/>
            </a:xfrm>
            <a:custGeom>
              <a:avLst/>
              <a:gdLst>
                <a:gd name="T0" fmla="*/ 233 w 490"/>
                <a:gd name="T1" fmla="*/ 129 h 352"/>
                <a:gd name="T2" fmla="*/ 33 w 490"/>
                <a:gd name="T3" fmla="*/ 209 h 352"/>
                <a:gd name="T4" fmla="*/ 57 w 490"/>
                <a:gd name="T5" fmla="*/ 321 h 352"/>
                <a:gd name="T6" fmla="*/ 169 w 490"/>
                <a:gd name="T7" fmla="*/ 321 h 352"/>
                <a:gd name="T8" fmla="*/ 305 w 490"/>
                <a:gd name="T9" fmla="*/ 225 h 352"/>
                <a:gd name="T10" fmla="*/ 305 w 490"/>
                <a:gd name="T11" fmla="*/ 225 h 352"/>
                <a:gd name="T12" fmla="*/ 465 w 490"/>
                <a:gd name="T13" fmla="*/ 177 h 352"/>
                <a:gd name="T14" fmla="*/ 425 w 490"/>
                <a:gd name="T15" fmla="*/ 41 h 352"/>
                <a:gd name="T16" fmla="*/ 313 w 490"/>
                <a:gd name="T17" fmla="*/ 17 h 352"/>
                <a:gd name="T18" fmla="*/ 241 w 490"/>
                <a:gd name="T19" fmla="*/ 105 h 352"/>
                <a:gd name="T20" fmla="*/ 233 w 490"/>
                <a:gd name="T21" fmla="*/ 129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06533" name="Oval 169"/>
            <p:cNvSpPr>
              <a:spLocks noChangeArrowheads="1"/>
            </p:cNvSpPr>
            <p:nvPr/>
          </p:nvSpPr>
          <p:spPr bwMode="auto">
            <a:xfrm rot="-873640">
              <a:off x="1920" y="1544"/>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06534" name="Oval 170"/>
            <p:cNvSpPr>
              <a:spLocks noChangeArrowheads="1"/>
            </p:cNvSpPr>
            <p:nvPr/>
          </p:nvSpPr>
          <p:spPr bwMode="auto">
            <a:xfrm rot="9076414">
              <a:off x="2104" y="1440"/>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grpSp>
      <p:sp>
        <p:nvSpPr>
          <p:cNvPr id="106530" name="Freeform 171"/>
          <p:cNvSpPr>
            <a:spLocks/>
          </p:cNvSpPr>
          <p:nvPr/>
        </p:nvSpPr>
        <p:spPr bwMode="auto">
          <a:xfrm>
            <a:off x="3681413" y="2381250"/>
            <a:ext cx="2528887" cy="2724150"/>
          </a:xfrm>
          <a:custGeom>
            <a:avLst/>
            <a:gdLst>
              <a:gd name="T0" fmla="*/ 2147483647 w 1553"/>
              <a:gd name="T1" fmla="*/ 2147483647 h 1828"/>
              <a:gd name="T2" fmla="*/ 2147483647 w 1553"/>
              <a:gd name="T3" fmla="*/ 2147483647 h 1828"/>
              <a:gd name="T4" fmla="*/ 2147483647 w 1553"/>
              <a:gd name="T5" fmla="*/ 2147483647 h 1828"/>
              <a:gd name="T6" fmla="*/ 2147483647 w 1553"/>
              <a:gd name="T7" fmla="*/ 2147483647 h 1828"/>
              <a:gd name="T8" fmla="*/ 0 60000 65536"/>
              <a:gd name="T9" fmla="*/ 0 60000 65536"/>
              <a:gd name="T10" fmla="*/ 0 60000 65536"/>
              <a:gd name="T11" fmla="*/ 0 60000 65536"/>
              <a:gd name="T12" fmla="*/ 0 w 1553"/>
              <a:gd name="T13" fmla="*/ 0 h 1828"/>
              <a:gd name="T14" fmla="*/ 1553 w 1553"/>
              <a:gd name="T15" fmla="*/ 1828 h 1828"/>
            </a:gdLst>
            <a:ahLst/>
            <a:cxnLst>
              <a:cxn ang="T8">
                <a:pos x="T0" y="T1"/>
              </a:cxn>
              <a:cxn ang="T9">
                <a:pos x="T2" y="T3"/>
              </a:cxn>
              <a:cxn ang="T10">
                <a:pos x="T4" y="T5"/>
              </a:cxn>
              <a:cxn ang="T11">
                <a:pos x="T6" y="T7"/>
              </a:cxn>
            </a:cxnLst>
            <a:rect l="T12" t="T13" r="T14" b="T15"/>
            <a:pathLst>
              <a:path w="1553" h="1828">
                <a:moveTo>
                  <a:pt x="89" y="1828"/>
                </a:moveTo>
                <a:cubicBezTo>
                  <a:pt x="44" y="1342"/>
                  <a:pt x="0" y="857"/>
                  <a:pt x="97" y="556"/>
                </a:cubicBezTo>
                <a:cubicBezTo>
                  <a:pt x="194" y="255"/>
                  <a:pt x="430" y="0"/>
                  <a:pt x="673" y="20"/>
                </a:cubicBezTo>
                <a:cubicBezTo>
                  <a:pt x="916" y="40"/>
                  <a:pt x="1234" y="358"/>
                  <a:pt x="1553" y="676"/>
                </a:cubicBezTo>
              </a:path>
            </a:pathLst>
          </a:custGeom>
          <a:noFill/>
          <a:ln w="57150">
            <a:solidFill>
              <a:srgbClr val="FF0000"/>
            </a:solidFill>
            <a:round/>
            <a:headEnd/>
            <a:tailEnd type="triangle" w="med" len="med"/>
          </a:ln>
        </p:spPr>
        <p:txBody>
          <a:bodyPr>
            <a:spAutoFit/>
          </a:bodyPr>
          <a:lstStyle/>
          <a:p>
            <a:pPr algn="l"/>
            <a:endParaRPr lang="en-US" b="1">
              <a:latin typeface="Arial" pitchFamily="34" charset="0"/>
            </a:endParaRPr>
          </a:p>
        </p:txBody>
      </p:sp>
      <p:sp>
        <p:nvSpPr>
          <p:cNvPr id="106531" name="Text Box 172"/>
          <p:cNvSpPr txBox="1">
            <a:spLocks noChangeArrowheads="1"/>
          </p:cNvSpPr>
          <p:nvPr/>
        </p:nvSpPr>
        <p:spPr bwMode="auto">
          <a:xfrm>
            <a:off x="2828925" y="1830388"/>
            <a:ext cx="4908550" cy="457200"/>
          </a:xfrm>
          <a:prstGeom prst="rect">
            <a:avLst/>
          </a:prstGeom>
          <a:noFill/>
          <a:ln w="9525" algn="ctr">
            <a:noFill/>
            <a:miter lim="800000"/>
            <a:headEnd/>
            <a:tailEnd/>
          </a:ln>
        </p:spPr>
        <p:txBody>
          <a:bodyPr wrap="none">
            <a:spAutoFit/>
          </a:bodyPr>
          <a:lstStyle/>
          <a:p>
            <a:pPr algn="l"/>
            <a:r>
              <a:rPr lang="en-US" b="1" dirty="0">
                <a:solidFill>
                  <a:srgbClr val="FF0000"/>
                </a:solidFill>
                <a:latin typeface="Arial" pitchFamily="34" charset="0"/>
              </a:rPr>
              <a:t>Pick random thread’s </a:t>
            </a:r>
            <a:r>
              <a:rPr lang="en-US" b="1" dirty="0" err="1">
                <a:solidFill>
                  <a:srgbClr val="FF0000"/>
                </a:solidFill>
                <a:latin typeface="Arial" pitchFamily="34" charset="0"/>
              </a:rPr>
              <a:t>DEQeueue</a:t>
            </a:r>
            <a:endParaRPr lang="en-US" b="1" dirty="0">
              <a:solidFill>
                <a:srgbClr val="FF0000"/>
              </a:solidFill>
              <a:latin typeface="Arial" pitchFamily="34" charset="0"/>
            </a:endParaRP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1"/>
          <p:cNvSpPr>
            <a:spLocks noGrp="1"/>
          </p:cNvSpPr>
          <p:nvPr>
            <p:ph type="ftr" sz="quarter" idx="10"/>
          </p:nvPr>
        </p:nvSpPr>
        <p:spPr>
          <a:noFill/>
        </p:spPr>
        <p:txBody>
          <a:bodyPr/>
          <a:lstStyle/>
          <a:p>
            <a:r>
              <a:rPr lang="en-US"/>
              <a:t>Art of Multiprocessor Programming</a:t>
            </a:r>
          </a:p>
        </p:txBody>
      </p:sp>
      <p:sp>
        <p:nvSpPr>
          <p:cNvPr id="107523" name="Slide Number Placeholder 2"/>
          <p:cNvSpPr>
            <a:spLocks noGrp="1"/>
          </p:cNvSpPr>
          <p:nvPr>
            <p:ph type="sldNum" sz="quarter" idx="11"/>
          </p:nvPr>
        </p:nvSpPr>
        <p:spPr>
          <a:noFill/>
        </p:spPr>
        <p:txBody>
          <a:bodyPr/>
          <a:lstStyle/>
          <a:p>
            <a:fld id="{11DCDDEB-1146-4E83-8C5D-D042E15AEC25}" type="slidenum">
              <a:rPr lang="x-none" smtClean="0"/>
              <a:pPr/>
              <a:t>98</a:t>
            </a:fld>
            <a:endParaRPr lang="en-US"/>
          </a:p>
        </p:txBody>
      </p:sp>
      <p:sp>
        <p:nvSpPr>
          <p:cNvPr id="48"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D663019-9315-411C-B557-82F9281A4876}" type="slidenum">
              <a:rPr lang="x-none" sz="1400">
                <a:solidFill>
                  <a:schemeClr val="tx1"/>
                </a:solidFill>
                <a:latin typeface="Arial" pitchFamily="34" charset="0"/>
                <a:cs typeface="Arial" pitchFamily="34" charset="0"/>
              </a:rPr>
              <a:pPr>
                <a:defRPr/>
              </a:pPr>
              <a:t>98</a:t>
            </a:fld>
            <a:endParaRPr lang="en-US" sz="1400" dirty="0">
              <a:solidFill>
                <a:schemeClr val="tx1"/>
              </a:solidFill>
              <a:latin typeface="Arial" pitchFamily="34" charset="0"/>
              <a:cs typeface="Arial" pitchFamily="34" charset="0"/>
            </a:endParaRPr>
          </a:p>
        </p:txBody>
      </p:sp>
      <p:sp>
        <p:nvSpPr>
          <p:cNvPr id="107525" name="Rectangle 2"/>
          <p:cNvSpPr>
            <a:spLocks noGrp="1" noChangeArrowheads="1"/>
          </p:cNvSpPr>
          <p:nvPr>
            <p:ph type="title" idx="4294967295"/>
          </p:nvPr>
        </p:nvSpPr>
        <p:spPr/>
        <p:txBody>
          <a:bodyPr/>
          <a:lstStyle/>
          <a:p>
            <a:r>
              <a:rPr lang="en-US"/>
              <a:t>Steal this Task!</a:t>
            </a:r>
          </a:p>
        </p:txBody>
      </p:sp>
      <p:sp>
        <p:nvSpPr>
          <p:cNvPr id="107526"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07561"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62"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63"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64"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7565"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7566"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07567"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68"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69"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664592" name="Text Box 16"/>
          <p:cNvSpPr txBox="1">
            <a:spLocks noChangeArrowheads="1"/>
          </p:cNvSpPr>
          <p:nvPr/>
        </p:nvSpPr>
        <p:spPr bwMode="auto">
          <a:xfrm>
            <a:off x="5872163" y="1989138"/>
            <a:ext cx="1203325" cy="457200"/>
          </a:xfrm>
          <a:prstGeom prst="rect">
            <a:avLst/>
          </a:prstGeom>
          <a:noFill/>
          <a:ln w="38100" algn="ctr">
            <a:noFill/>
            <a:miter lim="800000"/>
            <a:headEnd/>
            <a:tailEnd/>
          </a:ln>
        </p:spPr>
        <p:txBody>
          <a:bodyPr wrap="none">
            <a:spAutoFit/>
          </a:bodyPr>
          <a:lstStyle/>
          <a:p>
            <a:pPr algn="ctr"/>
            <a:r>
              <a:rPr lang="en-US" dirty="0" err="1">
                <a:latin typeface="Arial" pitchFamily="34" charset="0"/>
              </a:rPr>
              <a:t>popTop</a:t>
            </a:r>
            <a:endParaRPr lang="en-US" dirty="0">
              <a:latin typeface="Arial" pitchFamily="34" charset="0"/>
            </a:endParaRPr>
          </a:p>
        </p:txBody>
      </p:sp>
      <p:grpSp>
        <p:nvGrpSpPr>
          <p:cNvPr id="3" name="Group 18"/>
          <p:cNvGrpSpPr>
            <a:grpSpLocks/>
          </p:cNvGrpSpPr>
          <p:nvPr/>
        </p:nvGrpSpPr>
        <p:grpSpPr bwMode="auto">
          <a:xfrm>
            <a:off x="4606925" y="4394200"/>
            <a:ext cx="779463" cy="536575"/>
            <a:chOff x="3507" y="1789"/>
            <a:chExt cx="858" cy="497"/>
          </a:xfrm>
        </p:grpSpPr>
        <p:sp>
          <p:nvSpPr>
            <p:cNvPr id="107556" name="Oval 19"/>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4" name="Group 20"/>
            <p:cNvGrpSpPr>
              <a:grpSpLocks/>
            </p:cNvGrpSpPr>
            <p:nvPr/>
          </p:nvGrpSpPr>
          <p:grpSpPr bwMode="auto">
            <a:xfrm>
              <a:off x="3758" y="2002"/>
              <a:ext cx="357" cy="76"/>
              <a:chOff x="4109" y="1226"/>
              <a:chExt cx="357" cy="76"/>
            </a:xfrm>
          </p:grpSpPr>
          <p:sp>
            <p:nvSpPr>
              <p:cNvPr id="107558" name="Freeform 2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7559" name="Freeform 2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7560" name="Freeform 2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5" name="Group 24"/>
          <p:cNvGrpSpPr>
            <a:grpSpLocks/>
          </p:cNvGrpSpPr>
          <p:nvPr/>
        </p:nvGrpSpPr>
        <p:grpSpPr bwMode="auto">
          <a:xfrm>
            <a:off x="4606925" y="3810000"/>
            <a:ext cx="779463" cy="536575"/>
            <a:chOff x="3507" y="1789"/>
            <a:chExt cx="858" cy="497"/>
          </a:xfrm>
        </p:grpSpPr>
        <p:sp>
          <p:nvSpPr>
            <p:cNvPr id="107551" name="Oval 25"/>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26"/>
            <p:cNvGrpSpPr>
              <a:grpSpLocks/>
            </p:cNvGrpSpPr>
            <p:nvPr/>
          </p:nvGrpSpPr>
          <p:grpSpPr bwMode="auto">
            <a:xfrm>
              <a:off x="3758" y="2002"/>
              <a:ext cx="357" cy="76"/>
              <a:chOff x="4109" y="1226"/>
              <a:chExt cx="357" cy="76"/>
            </a:xfrm>
          </p:grpSpPr>
          <p:sp>
            <p:nvSpPr>
              <p:cNvPr id="107553" name="Freeform 2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7554" name="Freeform 2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7555" name="Freeform 2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7" name="Group 30"/>
          <p:cNvGrpSpPr>
            <a:grpSpLocks/>
          </p:cNvGrpSpPr>
          <p:nvPr/>
        </p:nvGrpSpPr>
        <p:grpSpPr bwMode="auto">
          <a:xfrm>
            <a:off x="4606925" y="3225800"/>
            <a:ext cx="779463" cy="536575"/>
            <a:chOff x="3507" y="1789"/>
            <a:chExt cx="858" cy="497"/>
          </a:xfrm>
        </p:grpSpPr>
        <p:sp>
          <p:nvSpPr>
            <p:cNvPr id="107546" name="Oval 31"/>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2"/>
            <p:cNvGrpSpPr>
              <a:grpSpLocks/>
            </p:cNvGrpSpPr>
            <p:nvPr/>
          </p:nvGrpSpPr>
          <p:grpSpPr bwMode="auto">
            <a:xfrm>
              <a:off x="3758" y="2002"/>
              <a:ext cx="357" cy="76"/>
              <a:chOff x="4109" y="1226"/>
              <a:chExt cx="357" cy="76"/>
            </a:xfrm>
          </p:grpSpPr>
          <p:sp>
            <p:nvSpPr>
              <p:cNvPr id="107548" name="Freeform 3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07549" name="Freeform 3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07550" name="Freeform 3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38"/>
          <p:cNvGrpSpPr>
            <a:grpSpLocks/>
          </p:cNvGrpSpPr>
          <p:nvPr/>
        </p:nvGrpSpPr>
        <p:grpSpPr bwMode="auto">
          <a:xfrm>
            <a:off x="2406650" y="1795463"/>
            <a:ext cx="1206500" cy="1189037"/>
            <a:chOff x="1584" y="816"/>
            <a:chExt cx="912" cy="816"/>
          </a:xfrm>
        </p:grpSpPr>
        <p:sp>
          <p:nvSpPr>
            <p:cNvPr id="107537"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38"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39" name="Freeform 41"/>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40"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7541"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7542"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07543" name="Freeform 45"/>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44" name="Freeform 46"/>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07545" name="Freeform 47"/>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10" name="Group 52"/>
          <p:cNvGrpSpPr>
            <a:grpSpLocks/>
          </p:cNvGrpSpPr>
          <p:nvPr/>
        </p:nvGrpSpPr>
        <p:grpSpPr bwMode="auto">
          <a:xfrm>
            <a:off x="2906713" y="2157413"/>
            <a:ext cx="777875" cy="558800"/>
            <a:chOff x="1831" y="1359"/>
            <a:chExt cx="490" cy="352"/>
          </a:xfrm>
        </p:grpSpPr>
        <p:sp>
          <p:nvSpPr>
            <p:cNvPr id="107534" name="Freeform 48"/>
            <p:cNvSpPr>
              <a:spLocks/>
            </p:cNvSpPr>
            <p:nvPr/>
          </p:nvSpPr>
          <p:spPr bwMode="auto">
            <a:xfrm>
              <a:off x="1831" y="1359"/>
              <a:ext cx="490" cy="352"/>
            </a:xfrm>
            <a:custGeom>
              <a:avLst/>
              <a:gdLst>
                <a:gd name="T0" fmla="*/ 233 w 490"/>
                <a:gd name="T1" fmla="*/ 129 h 352"/>
                <a:gd name="T2" fmla="*/ 33 w 490"/>
                <a:gd name="T3" fmla="*/ 209 h 352"/>
                <a:gd name="T4" fmla="*/ 57 w 490"/>
                <a:gd name="T5" fmla="*/ 321 h 352"/>
                <a:gd name="T6" fmla="*/ 169 w 490"/>
                <a:gd name="T7" fmla="*/ 321 h 352"/>
                <a:gd name="T8" fmla="*/ 305 w 490"/>
                <a:gd name="T9" fmla="*/ 225 h 352"/>
                <a:gd name="T10" fmla="*/ 305 w 490"/>
                <a:gd name="T11" fmla="*/ 225 h 352"/>
                <a:gd name="T12" fmla="*/ 465 w 490"/>
                <a:gd name="T13" fmla="*/ 177 h 352"/>
                <a:gd name="T14" fmla="*/ 425 w 490"/>
                <a:gd name="T15" fmla="*/ 41 h 352"/>
                <a:gd name="T16" fmla="*/ 313 w 490"/>
                <a:gd name="T17" fmla="*/ 17 h 352"/>
                <a:gd name="T18" fmla="*/ 241 w 490"/>
                <a:gd name="T19" fmla="*/ 105 h 352"/>
                <a:gd name="T20" fmla="*/ 233 w 490"/>
                <a:gd name="T21" fmla="*/ 129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07535" name="Oval 49"/>
            <p:cNvSpPr>
              <a:spLocks noChangeArrowheads="1"/>
            </p:cNvSpPr>
            <p:nvPr/>
          </p:nvSpPr>
          <p:spPr bwMode="auto">
            <a:xfrm rot="-873640">
              <a:off x="1920" y="1544"/>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07536" name="Oval 50"/>
            <p:cNvSpPr>
              <a:spLocks noChangeArrowheads="1"/>
            </p:cNvSpPr>
            <p:nvPr/>
          </p:nvSpPr>
          <p:spPr bwMode="auto">
            <a:xfrm rot="9076414">
              <a:off x="2104" y="1440"/>
              <a:ext cx="144" cy="96"/>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1.48148E-6 C 0.00451 -0.07847 0.00903 -0.15671 0.00278 -0.19815 C -0.00347 -0.23958 -0.01597 -0.27315 -0.0375 -0.24815 C -0.05903 -0.22315 -0.10399 -0.07199 -0.12639 -0.04815 C -0.14878 -0.02431 -0.16059 -0.06505 -0.17222 -0.10556 " pathEditMode="relative" ptsTypes="aaaaA">
                                      <p:cBhvr>
                                        <p:cTn id="6" dur="2000" fill="hold"/>
                                        <p:tgtEl>
                                          <p:spTgt spid="7"/>
                                        </p:tgtEl>
                                        <p:attrNameLst>
                                          <p:attrName>ppt_x</p:attrName>
                                          <p:attrName>ppt_y</p:attrName>
                                        </p:attrNameLst>
                                      </p:cBhvr>
                                    </p:animMotion>
                                  </p:childTnLst>
                                </p:cTn>
                              </p:par>
                              <p:par>
                                <p:cTn id="7" presetID="3" presetClass="entr" presetSubtype="10" fill="hold" grpId="0" nodeType="withEffect">
                                  <p:stCondLst>
                                    <p:cond delay="0"/>
                                  </p:stCondLst>
                                  <p:childTnLst>
                                    <p:set>
                                      <p:cBhvr>
                                        <p:cTn id="8" dur="1" fill="hold">
                                          <p:stCondLst>
                                            <p:cond delay="0"/>
                                          </p:stCondLst>
                                        </p:cTn>
                                        <p:tgtEl>
                                          <p:spTgt spid="664592"/>
                                        </p:tgtEl>
                                        <p:attrNameLst>
                                          <p:attrName>style.visibility</p:attrName>
                                        </p:attrNameLst>
                                      </p:cBhvr>
                                      <p:to>
                                        <p:strVal val="visible"/>
                                      </p:to>
                                    </p:set>
                                    <p:animEffect transition="in" filter="blinds(horizontal)">
                                      <p:cBhvr>
                                        <p:cTn id="9" dur="500"/>
                                        <p:tgtEl>
                                          <p:spTgt spid="664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9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1"/>
          <p:cNvSpPr>
            <a:spLocks noGrp="1"/>
          </p:cNvSpPr>
          <p:nvPr>
            <p:ph type="ftr" sz="quarter" idx="10"/>
          </p:nvPr>
        </p:nvSpPr>
        <p:spPr>
          <a:noFill/>
        </p:spPr>
        <p:txBody>
          <a:bodyPr/>
          <a:lstStyle/>
          <a:p>
            <a:r>
              <a:rPr lang="en-US"/>
              <a:t>Art of Multiprocessor Programming</a:t>
            </a:r>
          </a:p>
        </p:txBody>
      </p:sp>
      <p:sp>
        <p:nvSpPr>
          <p:cNvPr id="108547" name="Slide Number Placeholder 2"/>
          <p:cNvSpPr>
            <a:spLocks noGrp="1"/>
          </p:cNvSpPr>
          <p:nvPr>
            <p:ph type="sldNum" sz="quarter" idx="11"/>
          </p:nvPr>
        </p:nvSpPr>
        <p:spPr>
          <a:noFill/>
        </p:spPr>
        <p:txBody>
          <a:bodyPr/>
          <a:lstStyle/>
          <a:p>
            <a:fld id="{7579FCE2-ECC5-433B-A47B-2CB14CEA55A7}" type="slidenum">
              <a:rPr lang="x-none" smtClean="0"/>
              <a:pPr/>
              <a:t>99</a:t>
            </a:fld>
            <a:endParaRPr lang="en-US"/>
          </a:p>
        </p:txBody>
      </p:sp>
      <p:sp>
        <p:nvSpPr>
          <p:cNvPr id="7"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77381F2-8A8D-41B6-A134-C81FACCBEEC0}" type="slidenum">
              <a:rPr lang="x-none" sz="1400">
                <a:solidFill>
                  <a:schemeClr val="tx1"/>
                </a:solidFill>
                <a:latin typeface="Arial" pitchFamily="34" charset="0"/>
                <a:cs typeface="Arial" pitchFamily="34" charset="0"/>
              </a:rPr>
              <a:pPr>
                <a:defRPr/>
              </a:pPr>
              <a:t>99</a:t>
            </a:fld>
            <a:endParaRPr lang="en-US" sz="1400" dirty="0">
              <a:solidFill>
                <a:schemeClr val="tx1"/>
              </a:solidFill>
              <a:latin typeface="Arial" pitchFamily="34" charset="0"/>
              <a:cs typeface="Arial" pitchFamily="34" charset="0"/>
            </a:endParaRPr>
          </a:p>
        </p:txBody>
      </p:sp>
      <p:sp>
        <p:nvSpPr>
          <p:cNvPr id="108549" name="Rectangle 2"/>
          <p:cNvSpPr>
            <a:spLocks noGrp="1" noChangeArrowheads="1"/>
          </p:cNvSpPr>
          <p:nvPr>
            <p:ph type="title" idx="4294967295"/>
          </p:nvPr>
        </p:nvSpPr>
        <p:spPr/>
        <p:txBody>
          <a:bodyPr/>
          <a:lstStyle/>
          <a:p>
            <a:r>
              <a:rPr lang="en-US"/>
              <a:t>Task DEQueue</a:t>
            </a:r>
            <a:endParaRPr lang="en-US" baseline="30000"/>
          </a:p>
        </p:txBody>
      </p:sp>
      <p:sp>
        <p:nvSpPr>
          <p:cNvPr id="108550" name="Rectangle 3"/>
          <p:cNvSpPr>
            <a:spLocks noGrp="1" noChangeArrowheads="1"/>
          </p:cNvSpPr>
          <p:nvPr>
            <p:ph type="body" idx="4294967295"/>
          </p:nvPr>
        </p:nvSpPr>
        <p:spPr/>
        <p:txBody>
          <a:bodyPr/>
          <a:lstStyle/>
          <a:p>
            <a:r>
              <a:rPr lang="en-US"/>
              <a:t>Methods</a:t>
            </a:r>
          </a:p>
          <a:p>
            <a:pPr lvl="1"/>
            <a:r>
              <a:rPr lang="en-US"/>
              <a:t>pushBottom</a:t>
            </a:r>
          </a:p>
          <a:p>
            <a:pPr lvl="1"/>
            <a:r>
              <a:rPr lang="en-US"/>
              <a:t>popBottom</a:t>
            </a:r>
          </a:p>
          <a:p>
            <a:pPr lvl="1"/>
            <a:r>
              <a:rPr lang="en-US"/>
              <a:t>popTop</a:t>
            </a:r>
          </a:p>
        </p:txBody>
      </p:sp>
      <p:sp>
        <p:nvSpPr>
          <p:cNvPr id="108551" name="AutoShape 4"/>
          <p:cNvSpPr>
            <a:spLocks/>
          </p:cNvSpPr>
          <p:nvPr/>
        </p:nvSpPr>
        <p:spPr bwMode="auto">
          <a:xfrm>
            <a:off x="3581400" y="2622550"/>
            <a:ext cx="393700" cy="1041400"/>
          </a:xfrm>
          <a:prstGeom prst="rightBrace">
            <a:avLst>
              <a:gd name="adj1" fmla="val 22043"/>
              <a:gd name="adj2" fmla="val 50000"/>
            </a:avLst>
          </a:prstGeom>
          <a:noFill/>
          <a:ln w="38100">
            <a:solidFill>
              <a:srgbClr val="FF0000"/>
            </a:solidFill>
            <a:round/>
            <a:headEnd/>
            <a:tailEnd/>
          </a:ln>
        </p:spPr>
        <p:txBody>
          <a:bodyPr wrap="none" anchor="ctr">
            <a:spAutoFit/>
          </a:bodyPr>
          <a:lstStyle/>
          <a:p>
            <a:pPr algn="l"/>
            <a:endParaRPr lang="en-US" b="1">
              <a:latin typeface="Arial" pitchFamily="34" charset="0"/>
            </a:endParaRPr>
          </a:p>
        </p:txBody>
      </p:sp>
      <p:sp>
        <p:nvSpPr>
          <p:cNvPr id="108552" name="Text Box 5"/>
          <p:cNvSpPr txBox="1">
            <a:spLocks noChangeArrowheads="1"/>
          </p:cNvSpPr>
          <p:nvPr/>
        </p:nvSpPr>
        <p:spPr bwMode="auto">
          <a:xfrm>
            <a:off x="3595688" y="2609850"/>
            <a:ext cx="3522662" cy="1066800"/>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Never happen concurrently</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1"/>
          <p:cNvSpPr>
            <a:spLocks noGrp="1"/>
          </p:cNvSpPr>
          <p:nvPr>
            <p:ph type="ftr" sz="quarter" idx="10"/>
          </p:nvPr>
        </p:nvSpPr>
        <p:spPr>
          <a:noFill/>
        </p:spPr>
        <p:txBody>
          <a:bodyPr/>
          <a:lstStyle/>
          <a:p>
            <a:r>
              <a:rPr lang="en-US"/>
              <a:t>Art of Multiprocessor Programming</a:t>
            </a:r>
          </a:p>
        </p:txBody>
      </p:sp>
      <p:sp>
        <p:nvSpPr>
          <p:cNvPr id="109571" name="Slide Number Placeholder 2"/>
          <p:cNvSpPr>
            <a:spLocks noGrp="1"/>
          </p:cNvSpPr>
          <p:nvPr>
            <p:ph type="sldNum" sz="quarter" idx="11"/>
          </p:nvPr>
        </p:nvSpPr>
        <p:spPr>
          <a:noFill/>
        </p:spPr>
        <p:txBody>
          <a:bodyPr/>
          <a:lstStyle/>
          <a:p>
            <a:fld id="{D596C17A-378D-4C92-A87E-624C131D8BA1}" type="slidenum">
              <a:rPr lang="x-none" smtClean="0"/>
              <a:pPr/>
              <a:t>100</a:t>
            </a:fld>
            <a:endParaRPr lang="en-US"/>
          </a:p>
        </p:txBody>
      </p:sp>
      <p:sp>
        <p:nvSpPr>
          <p:cNvPr id="7"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2E74B20-D3D2-4A99-8A6A-50B3BBA805FA}" type="slidenum">
              <a:rPr lang="x-none" sz="1400">
                <a:solidFill>
                  <a:schemeClr val="tx1"/>
                </a:solidFill>
                <a:latin typeface="Arial" pitchFamily="34" charset="0"/>
                <a:cs typeface="Arial" pitchFamily="34" charset="0"/>
              </a:rPr>
              <a:pPr>
                <a:defRPr/>
              </a:pPr>
              <a:t>100</a:t>
            </a:fld>
            <a:endParaRPr lang="en-US" sz="1400" dirty="0">
              <a:solidFill>
                <a:schemeClr val="tx1"/>
              </a:solidFill>
              <a:latin typeface="Arial" pitchFamily="34" charset="0"/>
              <a:cs typeface="Arial" pitchFamily="34" charset="0"/>
            </a:endParaRPr>
          </a:p>
        </p:txBody>
      </p:sp>
      <p:sp>
        <p:nvSpPr>
          <p:cNvPr id="109573" name="Rectangle 2"/>
          <p:cNvSpPr>
            <a:spLocks noGrp="1" noChangeArrowheads="1"/>
          </p:cNvSpPr>
          <p:nvPr>
            <p:ph type="title" idx="4294967295"/>
          </p:nvPr>
        </p:nvSpPr>
        <p:spPr/>
        <p:txBody>
          <a:bodyPr/>
          <a:lstStyle/>
          <a:p>
            <a:r>
              <a:rPr lang="en-US"/>
              <a:t>Task DEQueue</a:t>
            </a:r>
            <a:endParaRPr lang="en-US" baseline="30000"/>
          </a:p>
        </p:txBody>
      </p:sp>
      <p:sp>
        <p:nvSpPr>
          <p:cNvPr id="109574" name="Rectangle 3"/>
          <p:cNvSpPr>
            <a:spLocks noGrp="1" noChangeArrowheads="1"/>
          </p:cNvSpPr>
          <p:nvPr>
            <p:ph type="body" idx="4294967295"/>
          </p:nvPr>
        </p:nvSpPr>
        <p:spPr/>
        <p:txBody>
          <a:bodyPr/>
          <a:lstStyle/>
          <a:p>
            <a:r>
              <a:rPr lang="en-US"/>
              <a:t>Methods</a:t>
            </a:r>
          </a:p>
          <a:p>
            <a:pPr lvl="1"/>
            <a:r>
              <a:rPr lang="en-US"/>
              <a:t>pushBottom</a:t>
            </a:r>
          </a:p>
          <a:p>
            <a:pPr lvl="1"/>
            <a:r>
              <a:rPr lang="en-US"/>
              <a:t>popBottom</a:t>
            </a:r>
          </a:p>
          <a:p>
            <a:pPr lvl="1"/>
            <a:r>
              <a:rPr lang="en-US"/>
              <a:t>popTop</a:t>
            </a:r>
          </a:p>
        </p:txBody>
      </p:sp>
      <p:sp>
        <p:nvSpPr>
          <p:cNvPr id="109575" name="AutoShape 4"/>
          <p:cNvSpPr>
            <a:spLocks/>
          </p:cNvSpPr>
          <p:nvPr/>
        </p:nvSpPr>
        <p:spPr bwMode="auto">
          <a:xfrm>
            <a:off x="3581400" y="2622550"/>
            <a:ext cx="393700" cy="1041400"/>
          </a:xfrm>
          <a:prstGeom prst="rightBrace">
            <a:avLst>
              <a:gd name="adj1" fmla="val 22043"/>
              <a:gd name="adj2" fmla="val 50000"/>
            </a:avLst>
          </a:prstGeom>
          <a:noFill/>
          <a:ln w="38100">
            <a:solidFill>
              <a:srgbClr val="FF0000"/>
            </a:solidFill>
            <a:round/>
            <a:headEnd/>
            <a:tailEnd/>
          </a:ln>
        </p:spPr>
        <p:txBody>
          <a:bodyPr wrap="none" anchor="ctr">
            <a:spAutoFit/>
          </a:bodyPr>
          <a:lstStyle/>
          <a:p>
            <a:pPr algn="l"/>
            <a:endParaRPr lang="en-US" b="1">
              <a:latin typeface="Arial" pitchFamily="34" charset="0"/>
            </a:endParaRPr>
          </a:p>
        </p:txBody>
      </p:sp>
      <p:sp>
        <p:nvSpPr>
          <p:cNvPr id="109576" name="Text Box 5"/>
          <p:cNvSpPr txBox="1">
            <a:spLocks noChangeArrowheads="1"/>
          </p:cNvSpPr>
          <p:nvPr/>
        </p:nvSpPr>
        <p:spPr bwMode="auto">
          <a:xfrm>
            <a:off x="4205288" y="2381250"/>
            <a:ext cx="3522662" cy="2062103"/>
          </a:xfrm>
          <a:prstGeom prst="rect">
            <a:avLst/>
          </a:prstGeom>
          <a:noFill/>
          <a:ln w="38100" algn="ctr">
            <a:noFill/>
            <a:miter lim="800000"/>
            <a:headEnd/>
            <a:tailEnd/>
          </a:ln>
        </p:spPr>
        <p:txBody>
          <a:bodyPr>
            <a:spAutoFit/>
          </a:bodyPr>
          <a:lstStyle/>
          <a:p>
            <a:pPr algn="ctr"/>
            <a:r>
              <a:rPr lang="en-US" sz="3200" dirty="0">
                <a:solidFill>
                  <a:srgbClr val="FF0000"/>
                </a:solidFill>
                <a:latin typeface="Arial" pitchFamily="34" charset="0"/>
              </a:rPr>
              <a:t>Most common – make them fast</a:t>
            </a:r>
          </a:p>
          <a:p>
            <a:pPr algn="ctr"/>
            <a:r>
              <a:rPr lang="en-US" sz="3200" dirty="0">
                <a:solidFill>
                  <a:srgbClr val="FF0000"/>
                </a:solidFill>
                <a:latin typeface="Arial" pitchFamily="34" charset="0"/>
              </a:rPr>
              <a:t>(minimize use of CAS) </a:t>
            </a: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1"/>
          <p:cNvSpPr>
            <a:spLocks noGrp="1"/>
          </p:cNvSpPr>
          <p:nvPr>
            <p:ph type="ftr" sz="quarter" idx="10"/>
          </p:nvPr>
        </p:nvSpPr>
        <p:spPr>
          <a:noFill/>
        </p:spPr>
        <p:txBody>
          <a:bodyPr/>
          <a:lstStyle/>
          <a:p>
            <a:r>
              <a:rPr lang="en-US"/>
              <a:t>Art of Multiprocessor Programming</a:t>
            </a:r>
          </a:p>
        </p:txBody>
      </p:sp>
      <p:sp>
        <p:nvSpPr>
          <p:cNvPr id="110595" name="Slide Number Placeholder 2"/>
          <p:cNvSpPr>
            <a:spLocks noGrp="1"/>
          </p:cNvSpPr>
          <p:nvPr>
            <p:ph type="sldNum" sz="quarter" idx="11"/>
          </p:nvPr>
        </p:nvSpPr>
        <p:spPr>
          <a:noFill/>
        </p:spPr>
        <p:txBody>
          <a:bodyPr/>
          <a:lstStyle/>
          <a:p>
            <a:fld id="{BC43AB62-FB81-4923-9009-80FF5F6F9F4F}" type="slidenum">
              <a:rPr lang="x-none" smtClean="0"/>
              <a:pPr/>
              <a:t>101</a:t>
            </a:fld>
            <a:endParaRPr lang="en-US"/>
          </a:p>
        </p:txBody>
      </p:sp>
      <p:sp>
        <p:nvSpPr>
          <p:cNvPr id="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5474836-A62F-4088-BE2C-A895FAD22A31}" type="slidenum">
              <a:rPr lang="x-none" sz="1400">
                <a:solidFill>
                  <a:schemeClr val="tx1"/>
                </a:solidFill>
                <a:latin typeface="Arial" pitchFamily="34" charset="0"/>
                <a:cs typeface="Arial" pitchFamily="34" charset="0"/>
              </a:rPr>
              <a:pPr>
                <a:defRPr/>
              </a:pPr>
              <a:t>101</a:t>
            </a:fld>
            <a:endParaRPr lang="en-US" sz="1400" dirty="0">
              <a:solidFill>
                <a:schemeClr val="tx1"/>
              </a:solidFill>
              <a:latin typeface="Arial" pitchFamily="34" charset="0"/>
              <a:cs typeface="Arial" pitchFamily="34" charset="0"/>
            </a:endParaRPr>
          </a:p>
        </p:txBody>
      </p:sp>
      <p:sp>
        <p:nvSpPr>
          <p:cNvPr id="110597" name="Rectangle 2"/>
          <p:cNvSpPr>
            <a:spLocks noGrp="1" noChangeArrowheads="1"/>
          </p:cNvSpPr>
          <p:nvPr>
            <p:ph type="title" idx="4294967295"/>
          </p:nvPr>
        </p:nvSpPr>
        <p:spPr/>
        <p:txBody>
          <a:bodyPr/>
          <a:lstStyle/>
          <a:p>
            <a:r>
              <a:rPr lang="en-US"/>
              <a:t>Ideal</a:t>
            </a:r>
          </a:p>
        </p:txBody>
      </p:sp>
      <p:sp>
        <p:nvSpPr>
          <p:cNvPr id="110598" name="Rectangle 3"/>
          <p:cNvSpPr>
            <a:spLocks noGrp="1" noChangeArrowheads="1"/>
          </p:cNvSpPr>
          <p:nvPr>
            <p:ph type="body" idx="4294967295"/>
          </p:nvPr>
        </p:nvSpPr>
        <p:spPr/>
        <p:txBody>
          <a:bodyPr/>
          <a:lstStyle/>
          <a:p>
            <a:r>
              <a:rPr lang="en-US"/>
              <a:t>Wait-Free</a:t>
            </a:r>
          </a:p>
          <a:p>
            <a:r>
              <a:rPr lang="en-US"/>
              <a:t>Linearizable</a:t>
            </a:r>
          </a:p>
          <a:p>
            <a:r>
              <a:rPr lang="en-US"/>
              <a:t>Constant time</a:t>
            </a:r>
          </a:p>
        </p:txBody>
      </p:sp>
      <p:sp>
        <p:nvSpPr>
          <p:cNvPr id="666628" name="AutoShape 4"/>
          <p:cNvSpPr>
            <a:spLocks noChangeArrowheads="1"/>
          </p:cNvSpPr>
          <p:nvPr/>
        </p:nvSpPr>
        <p:spPr bwMode="auto">
          <a:xfrm>
            <a:off x="965200" y="4483100"/>
            <a:ext cx="6870700" cy="1308100"/>
          </a:xfrm>
          <a:prstGeom prst="wedgeRoundRectCallout">
            <a:avLst>
              <a:gd name="adj1" fmla="val -25764"/>
              <a:gd name="adj2" fmla="val -107523"/>
              <a:gd name="adj3" fmla="val 16667"/>
            </a:avLst>
          </a:prstGeom>
          <a:noFill/>
          <a:ln w="38100" algn="ctr">
            <a:solidFill>
              <a:srgbClr val="FF0000"/>
            </a:solidFill>
            <a:miter lim="800000"/>
            <a:headEnd/>
            <a:tailEnd/>
          </a:ln>
        </p:spPr>
        <p:txBody>
          <a:bodyPr anchor="ctr"/>
          <a:lstStyle/>
          <a:p>
            <a:pPr algn="ctr"/>
            <a:r>
              <a:rPr lang="en-US" dirty="0">
                <a:solidFill>
                  <a:srgbClr val="FF0000"/>
                </a:solidFill>
                <a:latin typeface="Arial" pitchFamily="34" charset="0"/>
              </a:rPr>
              <a:t>Fortune Cookie: “It is better to be young, rich and beautiful, than old, poor, and ugly”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6628"/>
                                        </p:tgtEl>
                                        <p:attrNameLst>
                                          <p:attrName>style.visibility</p:attrName>
                                        </p:attrNameLst>
                                      </p:cBhvr>
                                      <p:to>
                                        <p:strVal val="visible"/>
                                      </p:to>
                                    </p:set>
                                    <p:animEffect transition="in" filter="blinds(horizontal)">
                                      <p:cBhvr>
                                        <p:cTn id="7" dur="500"/>
                                        <p:tgtEl>
                                          <p:spTgt spid="66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1"/>
          <p:cNvSpPr>
            <a:spLocks noGrp="1"/>
          </p:cNvSpPr>
          <p:nvPr>
            <p:ph type="ftr" sz="quarter" idx="10"/>
          </p:nvPr>
        </p:nvSpPr>
        <p:spPr>
          <a:noFill/>
        </p:spPr>
        <p:txBody>
          <a:bodyPr/>
          <a:lstStyle/>
          <a:p>
            <a:r>
              <a:rPr lang="en-US"/>
              <a:t>Art of Multiprocessor Programming</a:t>
            </a:r>
          </a:p>
        </p:txBody>
      </p:sp>
      <p:sp>
        <p:nvSpPr>
          <p:cNvPr id="111619" name="Slide Number Placeholder 2"/>
          <p:cNvSpPr>
            <a:spLocks noGrp="1"/>
          </p:cNvSpPr>
          <p:nvPr>
            <p:ph type="sldNum" sz="quarter" idx="11"/>
          </p:nvPr>
        </p:nvSpPr>
        <p:spPr>
          <a:noFill/>
        </p:spPr>
        <p:txBody>
          <a:bodyPr/>
          <a:lstStyle/>
          <a:p>
            <a:fld id="{A70A3DC1-FAA9-4E15-B95B-4C5F7EE716A5}" type="slidenum">
              <a:rPr lang="x-none" smtClean="0"/>
              <a:pPr/>
              <a:t>102</a:t>
            </a:fld>
            <a:endParaRPr lang="en-US"/>
          </a:p>
        </p:txBody>
      </p:sp>
      <p:sp>
        <p:nvSpPr>
          <p:cNvPr id="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90EAFBC-07B1-45D6-9118-47B537404D39}" type="slidenum">
              <a:rPr lang="x-none" sz="1400">
                <a:solidFill>
                  <a:schemeClr val="tx1"/>
                </a:solidFill>
                <a:latin typeface="Arial" pitchFamily="34" charset="0"/>
                <a:cs typeface="Arial" pitchFamily="34" charset="0"/>
              </a:rPr>
              <a:pPr>
                <a:defRPr/>
              </a:pPr>
              <a:t>102</a:t>
            </a:fld>
            <a:endParaRPr lang="en-US" sz="1400" dirty="0">
              <a:solidFill>
                <a:schemeClr val="tx1"/>
              </a:solidFill>
              <a:latin typeface="Arial" pitchFamily="34" charset="0"/>
              <a:cs typeface="Arial" pitchFamily="34" charset="0"/>
            </a:endParaRPr>
          </a:p>
        </p:txBody>
      </p:sp>
      <p:sp>
        <p:nvSpPr>
          <p:cNvPr id="111621" name="Rectangle 2"/>
          <p:cNvSpPr>
            <a:spLocks noGrp="1" noChangeArrowheads="1"/>
          </p:cNvSpPr>
          <p:nvPr>
            <p:ph type="title" idx="4294967295"/>
          </p:nvPr>
        </p:nvSpPr>
        <p:spPr/>
        <p:txBody>
          <a:bodyPr/>
          <a:lstStyle/>
          <a:p>
            <a:r>
              <a:rPr lang="en-US"/>
              <a:t>Compromise</a:t>
            </a:r>
          </a:p>
        </p:txBody>
      </p:sp>
      <p:sp>
        <p:nvSpPr>
          <p:cNvPr id="111622" name="Rectangle 3"/>
          <p:cNvSpPr>
            <a:spLocks noGrp="1" noChangeArrowheads="1"/>
          </p:cNvSpPr>
          <p:nvPr>
            <p:ph type="body" idx="4294967295"/>
          </p:nvPr>
        </p:nvSpPr>
        <p:spPr/>
        <p:txBody>
          <a:bodyPr/>
          <a:lstStyle/>
          <a:p>
            <a:r>
              <a:rPr lang="en-US" dirty="0"/>
              <a:t>Method </a:t>
            </a:r>
            <a:r>
              <a:rPr lang="en-US" dirty="0" err="1">
                <a:solidFill>
                  <a:schemeClr val="tx1"/>
                </a:solidFill>
              </a:rPr>
              <a:t>popTop</a:t>
            </a:r>
            <a:r>
              <a:rPr lang="en-US" dirty="0"/>
              <a:t> may fail if</a:t>
            </a:r>
          </a:p>
          <a:p>
            <a:pPr lvl="1"/>
            <a:r>
              <a:rPr lang="en-US" dirty="0"/>
              <a:t>Concurrent </a:t>
            </a:r>
            <a:r>
              <a:rPr lang="en-US" dirty="0" err="1">
                <a:solidFill>
                  <a:schemeClr val="tx1"/>
                </a:solidFill>
              </a:rPr>
              <a:t>popTop</a:t>
            </a:r>
            <a:r>
              <a:rPr lang="en-US" dirty="0"/>
              <a:t> succeeds, or a </a:t>
            </a:r>
          </a:p>
          <a:p>
            <a:pPr lvl="1"/>
            <a:r>
              <a:rPr lang="en-US" dirty="0"/>
              <a:t>Concurrent </a:t>
            </a:r>
            <a:r>
              <a:rPr lang="en-US" dirty="0" err="1">
                <a:solidFill>
                  <a:schemeClr val="tx1"/>
                </a:solidFill>
              </a:rPr>
              <a:t>popBottom</a:t>
            </a:r>
            <a:r>
              <a:rPr lang="en-US" dirty="0"/>
              <a:t> takes last task</a:t>
            </a:r>
          </a:p>
        </p:txBody>
      </p:sp>
      <p:sp>
        <p:nvSpPr>
          <p:cNvPr id="667652" name="AutoShape 4"/>
          <p:cNvSpPr>
            <a:spLocks noChangeArrowheads="1"/>
          </p:cNvSpPr>
          <p:nvPr/>
        </p:nvSpPr>
        <p:spPr bwMode="auto">
          <a:xfrm>
            <a:off x="2895600" y="4140200"/>
            <a:ext cx="2400300" cy="965200"/>
          </a:xfrm>
          <a:prstGeom prst="wedgeRoundRectCallout">
            <a:avLst>
              <a:gd name="adj1" fmla="val 7606"/>
              <a:gd name="adj2" fmla="val -108880"/>
              <a:gd name="adj3" fmla="val 16667"/>
            </a:avLst>
          </a:prstGeom>
          <a:noFill/>
          <a:ln w="38100" algn="ctr">
            <a:solidFill>
              <a:srgbClr val="FF0000"/>
            </a:solidFill>
            <a:miter lim="800000"/>
            <a:headEnd/>
            <a:tailEnd/>
          </a:ln>
        </p:spPr>
        <p:txBody>
          <a:bodyPr/>
          <a:lstStyle/>
          <a:p>
            <a:pPr marL="342900" indent="-342900" algn="ctr">
              <a:spcBef>
                <a:spcPct val="20000"/>
              </a:spcBef>
            </a:pPr>
            <a:r>
              <a:rPr lang="en-US" b="1" dirty="0">
                <a:solidFill>
                  <a:srgbClr val="FF0000"/>
                </a:solidFill>
                <a:latin typeface="Arial" pitchFamily="34" charset="0"/>
              </a:rPr>
              <a:t>Blame the victim!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7652"/>
                                        </p:tgtEl>
                                        <p:attrNameLst>
                                          <p:attrName>style.visibility</p:attrName>
                                        </p:attrNameLst>
                                      </p:cBhvr>
                                      <p:to>
                                        <p:strVal val="visible"/>
                                      </p:to>
                                    </p:set>
                                    <p:animEffect transition="in" filter="blinds(horizontal)">
                                      <p:cBhvr>
                                        <p:cTn id="7" dur="500"/>
                                        <p:tgtEl>
                                          <p:spTgt spid="66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1"/>
          <p:cNvSpPr>
            <a:spLocks noGrp="1"/>
          </p:cNvSpPr>
          <p:nvPr>
            <p:ph type="ftr" sz="quarter" idx="10"/>
          </p:nvPr>
        </p:nvSpPr>
        <p:spPr>
          <a:noFill/>
        </p:spPr>
        <p:txBody>
          <a:bodyPr/>
          <a:lstStyle/>
          <a:p>
            <a:r>
              <a:rPr lang="en-US"/>
              <a:t>Art of Multiprocessor Programming</a:t>
            </a:r>
          </a:p>
        </p:txBody>
      </p:sp>
      <p:sp>
        <p:nvSpPr>
          <p:cNvPr id="112643" name="Slide Number Placeholder 2"/>
          <p:cNvSpPr>
            <a:spLocks noGrp="1"/>
          </p:cNvSpPr>
          <p:nvPr>
            <p:ph type="sldNum" sz="quarter" idx="11"/>
          </p:nvPr>
        </p:nvSpPr>
        <p:spPr>
          <a:noFill/>
        </p:spPr>
        <p:txBody>
          <a:bodyPr/>
          <a:lstStyle/>
          <a:p>
            <a:fld id="{2F35F71D-DD9C-44AD-BFDD-587A42D29C32}" type="slidenum">
              <a:rPr lang="x-none" smtClean="0"/>
              <a:pPr/>
              <a:t>103</a:t>
            </a:fld>
            <a:endParaRPr lang="en-US"/>
          </a:p>
        </p:txBody>
      </p:sp>
      <p:sp>
        <p:nvSpPr>
          <p:cNvPr id="58"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76E6575-38E6-4DEA-822D-AEF45DC9FC69}" type="slidenum">
              <a:rPr lang="x-none" sz="1400">
                <a:solidFill>
                  <a:schemeClr val="tx1"/>
                </a:solidFill>
                <a:latin typeface="Arial" pitchFamily="34" charset="0"/>
                <a:cs typeface="Arial" pitchFamily="34" charset="0"/>
              </a:rPr>
              <a:pPr>
                <a:defRPr/>
              </a:pPr>
              <a:t>103</a:t>
            </a:fld>
            <a:endParaRPr lang="en-US" sz="1400" dirty="0">
              <a:solidFill>
                <a:schemeClr val="tx1"/>
              </a:solidFill>
              <a:latin typeface="Arial" pitchFamily="34" charset="0"/>
              <a:cs typeface="Arial" pitchFamily="34" charset="0"/>
            </a:endParaRPr>
          </a:p>
        </p:txBody>
      </p:sp>
      <p:sp>
        <p:nvSpPr>
          <p:cNvPr id="112645" name="Rectangle 2"/>
          <p:cNvSpPr>
            <a:spLocks noGrp="1" noChangeArrowheads="1"/>
          </p:cNvSpPr>
          <p:nvPr>
            <p:ph type="title" idx="4294967295"/>
          </p:nvPr>
        </p:nvSpPr>
        <p:spPr/>
        <p:txBody>
          <a:bodyPr/>
          <a:lstStyle/>
          <a:p>
            <a:r>
              <a:rPr lang="en-US"/>
              <a:t>Dreaded ABA Problem</a:t>
            </a:r>
          </a:p>
        </p:txBody>
      </p:sp>
      <p:sp>
        <p:nvSpPr>
          <p:cNvPr id="112646"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2691"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2"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3"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4"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2695"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2696"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2697"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8"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9"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2682"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83"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84"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85"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2686"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2687"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2688"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89"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2690"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2649"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2650"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2651"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2652"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sp>
        <p:nvSpPr>
          <p:cNvPr id="826396" name="Freeform 28"/>
          <p:cNvSpPr>
            <a:spLocks/>
          </p:cNvSpPr>
          <p:nvPr/>
        </p:nvSpPr>
        <p:spPr bwMode="auto">
          <a:xfrm>
            <a:off x="2171700" y="32893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grpSp>
        <p:nvGrpSpPr>
          <p:cNvPr id="4" name="Group 29"/>
          <p:cNvGrpSpPr>
            <a:grpSpLocks/>
          </p:cNvGrpSpPr>
          <p:nvPr/>
        </p:nvGrpSpPr>
        <p:grpSpPr bwMode="auto">
          <a:xfrm>
            <a:off x="3397250" y="546100"/>
            <a:ext cx="2247900" cy="1320800"/>
            <a:chOff x="2140" y="344"/>
            <a:chExt cx="1416" cy="832"/>
          </a:xfrm>
        </p:grpSpPr>
        <p:sp>
          <p:nvSpPr>
            <p:cNvPr id="112675" name="AutoShape 30"/>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5" name="Group 31"/>
            <p:cNvGrpSpPr>
              <a:grpSpLocks/>
            </p:cNvGrpSpPr>
            <p:nvPr/>
          </p:nvGrpSpPr>
          <p:grpSpPr bwMode="auto">
            <a:xfrm>
              <a:off x="2602" y="576"/>
              <a:ext cx="491" cy="338"/>
              <a:chOff x="3507" y="1789"/>
              <a:chExt cx="858" cy="497"/>
            </a:xfrm>
          </p:grpSpPr>
          <p:sp>
            <p:nvSpPr>
              <p:cNvPr id="112677" name="Oval 32"/>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33"/>
              <p:cNvGrpSpPr>
                <a:grpSpLocks/>
              </p:cNvGrpSpPr>
              <p:nvPr/>
            </p:nvGrpSpPr>
            <p:grpSpPr bwMode="auto">
              <a:xfrm>
                <a:off x="3758" y="2002"/>
                <a:ext cx="357" cy="76"/>
                <a:chOff x="4109" y="1226"/>
                <a:chExt cx="357" cy="76"/>
              </a:xfrm>
            </p:grpSpPr>
            <p:sp>
              <p:nvSpPr>
                <p:cNvPr id="112679" name="Freeform 3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2680" name="Freeform 3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2681" name="Freeform 3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grpSp>
        <p:nvGrpSpPr>
          <p:cNvPr id="7" name="Group 37"/>
          <p:cNvGrpSpPr>
            <a:grpSpLocks/>
          </p:cNvGrpSpPr>
          <p:nvPr/>
        </p:nvGrpSpPr>
        <p:grpSpPr bwMode="auto">
          <a:xfrm>
            <a:off x="4606925" y="4394200"/>
            <a:ext cx="779463" cy="536575"/>
            <a:chOff x="3507" y="1789"/>
            <a:chExt cx="858" cy="497"/>
          </a:xfrm>
        </p:grpSpPr>
        <p:sp>
          <p:nvSpPr>
            <p:cNvPr id="112670" name="Oval 38"/>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9"/>
            <p:cNvGrpSpPr>
              <a:grpSpLocks/>
            </p:cNvGrpSpPr>
            <p:nvPr/>
          </p:nvGrpSpPr>
          <p:grpSpPr bwMode="auto">
            <a:xfrm>
              <a:off x="3758" y="2002"/>
              <a:ext cx="357" cy="76"/>
              <a:chOff x="4109" y="1226"/>
              <a:chExt cx="357" cy="76"/>
            </a:xfrm>
          </p:grpSpPr>
          <p:sp>
            <p:nvSpPr>
              <p:cNvPr id="112672" name="Freeform 4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2673" name="Freeform 4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2674" name="Freeform 4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43"/>
          <p:cNvGrpSpPr>
            <a:grpSpLocks/>
          </p:cNvGrpSpPr>
          <p:nvPr/>
        </p:nvGrpSpPr>
        <p:grpSpPr bwMode="auto">
          <a:xfrm>
            <a:off x="4606925" y="3810000"/>
            <a:ext cx="779463" cy="536575"/>
            <a:chOff x="3507" y="1789"/>
            <a:chExt cx="858" cy="497"/>
          </a:xfrm>
        </p:grpSpPr>
        <p:sp>
          <p:nvSpPr>
            <p:cNvPr id="112665" name="Oval 44"/>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45"/>
            <p:cNvGrpSpPr>
              <a:grpSpLocks/>
            </p:cNvGrpSpPr>
            <p:nvPr/>
          </p:nvGrpSpPr>
          <p:grpSpPr bwMode="auto">
            <a:xfrm>
              <a:off x="3758" y="2002"/>
              <a:ext cx="357" cy="76"/>
              <a:chOff x="4109" y="1226"/>
              <a:chExt cx="357" cy="76"/>
            </a:xfrm>
          </p:grpSpPr>
          <p:sp>
            <p:nvSpPr>
              <p:cNvPr id="112667" name="Freeform 4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2668" name="Freeform 4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2669" name="Freeform 4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1" name="Group 49"/>
          <p:cNvGrpSpPr>
            <a:grpSpLocks/>
          </p:cNvGrpSpPr>
          <p:nvPr/>
        </p:nvGrpSpPr>
        <p:grpSpPr bwMode="auto">
          <a:xfrm>
            <a:off x="4606925" y="3225800"/>
            <a:ext cx="779463" cy="536575"/>
            <a:chOff x="3507" y="1789"/>
            <a:chExt cx="858" cy="497"/>
          </a:xfrm>
        </p:grpSpPr>
        <p:sp>
          <p:nvSpPr>
            <p:cNvPr id="112660" name="Oval 5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2" name="Group 51"/>
            <p:cNvGrpSpPr>
              <a:grpSpLocks/>
            </p:cNvGrpSpPr>
            <p:nvPr/>
          </p:nvGrpSpPr>
          <p:grpSpPr bwMode="auto">
            <a:xfrm>
              <a:off x="3758" y="2002"/>
              <a:ext cx="357" cy="76"/>
              <a:chOff x="4109" y="1226"/>
              <a:chExt cx="357" cy="76"/>
            </a:xfrm>
          </p:grpSpPr>
          <p:sp>
            <p:nvSpPr>
              <p:cNvPr id="112662" name="Freeform 5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2663" name="Freeform 5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2664" name="Freeform 5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826423" name="Freeform 55"/>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826424" name="AutoShape 56"/>
          <p:cNvSpPr>
            <a:spLocks noChangeArrowheads="1"/>
          </p:cNvSpPr>
          <p:nvPr/>
        </p:nvSpPr>
        <p:spPr bwMode="auto">
          <a:xfrm>
            <a:off x="863600" y="2632075"/>
            <a:ext cx="1492250" cy="1325563"/>
          </a:xfrm>
          <a:prstGeom prst="irregularSeal1">
            <a:avLst/>
          </a:prstGeom>
          <a:solidFill>
            <a:srgbClr val="FFFF00"/>
          </a:solidFill>
          <a:ln w="38100" algn="ctr">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26424"/>
                                        </p:tgtEl>
                                        <p:attrNameLst>
                                          <p:attrName>style.visibility</p:attrName>
                                        </p:attrNameLst>
                                      </p:cBhvr>
                                      <p:to>
                                        <p:strVal val="visible"/>
                                      </p:to>
                                    </p:set>
                                    <p:animEffect transition="in" filter="blinds(horizontal)">
                                      <p:cBhvr>
                                        <p:cTn id="11" dur="500"/>
                                        <p:tgtEl>
                                          <p:spTgt spid="826424"/>
                                        </p:tgtEl>
                                      </p:cBhvr>
                                    </p:animEffect>
                                  </p:childTnLst>
                                </p:cTn>
                              </p:par>
                            </p:childTnLst>
                          </p:cTn>
                        </p:par>
                        <p:par>
                          <p:cTn id="12" fill="hold">
                            <p:stCondLst>
                              <p:cond delay="500"/>
                            </p:stCondLst>
                            <p:childTnLst>
                              <p:par>
                                <p:cTn id="13" presetID="3" presetClass="exit" presetSubtype="10" fill="hold" grpId="0" nodeType="afterEffect">
                                  <p:stCondLst>
                                    <p:cond delay="0"/>
                                  </p:stCondLst>
                                  <p:childTnLst>
                                    <p:animEffect transition="out" filter="blinds(horizontal)">
                                      <p:cBhvr>
                                        <p:cTn id="14" dur="500"/>
                                        <p:tgtEl>
                                          <p:spTgt spid="826396"/>
                                        </p:tgtEl>
                                      </p:cBhvr>
                                    </p:animEffect>
                                    <p:set>
                                      <p:cBhvr>
                                        <p:cTn id="15" dur="1" fill="hold">
                                          <p:stCondLst>
                                            <p:cond delay="499"/>
                                          </p:stCondLst>
                                        </p:cTn>
                                        <p:tgtEl>
                                          <p:spTgt spid="826396"/>
                                        </p:tgtEl>
                                        <p:attrNameLst>
                                          <p:attrName>style.visibility</p:attrName>
                                        </p:attrNameLst>
                                      </p:cBhvr>
                                      <p:to>
                                        <p:strVal val="hidden"/>
                                      </p:to>
                                    </p:set>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826423"/>
                                        </p:tgtEl>
                                        <p:attrNameLst>
                                          <p:attrName>style.visibility</p:attrName>
                                        </p:attrNameLst>
                                      </p:cBhvr>
                                      <p:to>
                                        <p:strVal val="visible"/>
                                      </p:to>
                                    </p:set>
                                    <p:animEffect transition="in" filter="fade">
                                      <p:cBhvr>
                                        <p:cTn id="19" dur="2000"/>
                                        <p:tgtEl>
                                          <p:spTgt spid="826423"/>
                                        </p:tgtEl>
                                      </p:cBhvr>
                                    </p:animEffect>
                                  </p:childTnLst>
                                </p:cTn>
                              </p:par>
                            </p:childTnLst>
                          </p:cTn>
                        </p:par>
                        <p:par>
                          <p:cTn id="20" fill="hold">
                            <p:stCondLst>
                              <p:cond delay="3000"/>
                            </p:stCondLst>
                            <p:childTnLst>
                              <p:par>
                                <p:cTn id="21" presetID="3" presetClass="exit" presetSubtype="10" fill="hold" nodeType="afterEffect">
                                  <p:stCondLst>
                                    <p:cond delay="0"/>
                                  </p:stCondLst>
                                  <p:childTnLst>
                                    <p:animEffect transition="out" filter="blinds(horizontal)">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96" grpId="0" animBg="1"/>
      <p:bldP spid="826423" grpId="0" animBg="1"/>
      <p:bldP spid="82642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1"/>
          <p:cNvSpPr>
            <a:spLocks noGrp="1"/>
          </p:cNvSpPr>
          <p:nvPr>
            <p:ph type="ftr" sz="quarter" idx="10"/>
          </p:nvPr>
        </p:nvSpPr>
        <p:spPr>
          <a:noFill/>
        </p:spPr>
        <p:txBody>
          <a:bodyPr/>
          <a:lstStyle/>
          <a:p>
            <a:r>
              <a:rPr lang="en-US"/>
              <a:t>Art of Multiprocessor Programming</a:t>
            </a:r>
          </a:p>
        </p:txBody>
      </p:sp>
      <p:sp>
        <p:nvSpPr>
          <p:cNvPr id="113667" name="Slide Number Placeholder 2"/>
          <p:cNvSpPr>
            <a:spLocks noGrp="1"/>
          </p:cNvSpPr>
          <p:nvPr>
            <p:ph type="sldNum" sz="quarter" idx="11"/>
          </p:nvPr>
        </p:nvSpPr>
        <p:spPr>
          <a:noFill/>
        </p:spPr>
        <p:txBody>
          <a:bodyPr/>
          <a:lstStyle/>
          <a:p>
            <a:fld id="{388CB7E2-9464-436E-8E13-294B2D1C1DDB}" type="slidenum">
              <a:rPr lang="x-none" smtClean="0"/>
              <a:pPr/>
              <a:t>104</a:t>
            </a:fld>
            <a:endParaRPr lang="en-US"/>
          </a:p>
        </p:txBody>
      </p:sp>
      <p:sp>
        <p:nvSpPr>
          <p:cNvPr id="5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2FDE473-382E-4C04-9088-911D84D0510F}" type="slidenum">
              <a:rPr lang="x-none" sz="1400">
                <a:solidFill>
                  <a:schemeClr val="tx1"/>
                </a:solidFill>
                <a:latin typeface="Arial" pitchFamily="34" charset="0"/>
                <a:cs typeface="Arial" pitchFamily="34" charset="0"/>
              </a:rPr>
              <a:pPr>
                <a:defRPr/>
              </a:pPr>
              <a:t>104</a:t>
            </a:fld>
            <a:endParaRPr lang="en-US" sz="1400" dirty="0">
              <a:solidFill>
                <a:schemeClr val="tx1"/>
              </a:solidFill>
              <a:latin typeface="Arial" pitchFamily="34" charset="0"/>
              <a:cs typeface="Arial" pitchFamily="34" charset="0"/>
            </a:endParaRPr>
          </a:p>
        </p:txBody>
      </p:sp>
      <p:sp>
        <p:nvSpPr>
          <p:cNvPr id="113669" name="Rectangle 2"/>
          <p:cNvSpPr>
            <a:spLocks noGrp="1" noChangeArrowheads="1"/>
          </p:cNvSpPr>
          <p:nvPr>
            <p:ph type="title" idx="4294967295"/>
          </p:nvPr>
        </p:nvSpPr>
        <p:spPr/>
        <p:txBody>
          <a:bodyPr/>
          <a:lstStyle/>
          <a:p>
            <a:r>
              <a:rPr lang="en-US"/>
              <a:t>Dreaded ABA Problem</a:t>
            </a:r>
          </a:p>
        </p:txBody>
      </p:sp>
      <p:sp>
        <p:nvSpPr>
          <p:cNvPr id="113670"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3714"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15"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16"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17"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3718"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3719"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3720"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21"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22"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3705"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06"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07"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08"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3709"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3710"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3711"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12"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3713"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3673"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3674"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3675"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3676"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sp>
        <p:nvSpPr>
          <p:cNvPr id="1008668" name="Freeform 28"/>
          <p:cNvSpPr>
            <a:spLocks/>
          </p:cNvSpPr>
          <p:nvPr/>
        </p:nvSpPr>
        <p:spPr bwMode="auto">
          <a:xfrm>
            <a:off x="2171700" y="32893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grpSp>
        <p:nvGrpSpPr>
          <p:cNvPr id="4" name="Group 29"/>
          <p:cNvGrpSpPr>
            <a:grpSpLocks/>
          </p:cNvGrpSpPr>
          <p:nvPr/>
        </p:nvGrpSpPr>
        <p:grpSpPr bwMode="auto">
          <a:xfrm>
            <a:off x="3397250" y="546100"/>
            <a:ext cx="2247900" cy="1320800"/>
            <a:chOff x="2140" y="344"/>
            <a:chExt cx="1416" cy="832"/>
          </a:xfrm>
        </p:grpSpPr>
        <p:sp>
          <p:nvSpPr>
            <p:cNvPr id="113698" name="AutoShape 30"/>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5" name="Group 31"/>
            <p:cNvGrpSpPr>
              <a:grpSpLocks/>
            </p:cNvGrpSpPr>
            <p:nvPr/>
          </p:nvGrpSpPr>
          <p:grpSpPr bwMode="auto">
            <a:xfrm>
              <a:off x="2602" y="576"/>
              <a:ext cx="491" cy="338"/>
              <a:chOff x="3507" y="1789"/>
              <a:chExt cx="858" cy="497"/>
            </a:xfrm>
          </p:grpSpPr>
          <p:sp>
            <p:nvSpPr>
              <p:cNvPr id="113700" name="Oval 32"/>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6" name="Group 33"/>
              <p:cNvGrpSpPr>
                <a:grpSpLocks/>
              </p:cNvGrpSpPr>
              <p:nvPr/>
            </p:nvGrpSpPr>
            <p:grpSpPr bwMode="auto">
              <a:xfrm>
                <a:off x="3758" y="2002"/>
                <a:ext cx="357" cy="76"/>
                <a:chOff x="4109" y="1226"/>
                <a:chExt cx="357" cy="76"/>
              </a:xfrm>
            </p:grpSpPr>
            <p:sp>
              <p:nvSpPr>
                <p:cNvPr id="113702" name="Freeform 3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3703" name="Freeform 3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3704" name="Freeform 3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grpSp>
        <p:nvGrpSpPr>
          <p:cNvPr id="7" name="Group 37"/>
          <p:cNvGrpSpPr>
            <a:grpSpLocks/>
          </p:cNvGrpSpPr>
          <p:nvPr/>
        </p:nvGrpSpPr>
        <p:grpSpPr bwMode="auto">
          <a:xfrm>
            <a:off x="4606925" y="4394200"/>
            <a:ext cx="779463" cy="536575"/>
            <a:chOff x="3507" y="1789"/>
            <a:chExt cx="858" cy="497"/>
          </a:xfrm>
        </p:grpSpPr>
        <p:sp>
          <p:nvSpPr>
            <p:cNvPr id="113693" name="Oval 38"/>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9"/>
            <p:cNvGrpSpPr>
              <a:grpSpLocks/>
            </p:cNvGrpSpPr>
            <p:nvPr/>
          </p:nvGrpSpPr>
          <p:grpSpPr bwMode="auto">
            <a:xfrm>
              <a:off x="3758" y="2002"/>
              <a:ext cx="357" cy="76"/>
              <a:chOff x="4109" y="1226"/>
              <a:chExt cx="357" cy="76"/>
            </a:xfrm>
          </p:grpSpPr>
          <p:sp>
            <p:nvSpPr>
              <p:cNvPr id="113695" name="Freeform 4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3696" name="Freeform 4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3697" name="Freeform 4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9" name="Group 43"/>
          <p:cNvGrpSpPr>
            <a:grpSpLocks/>
          </p:cNvGrpSpPr>
          <p:nvPr/>
        </p:nvGrpSpPr>
        <p:grpSpPr bwMode="auto">
          <a:xfrm>
            <a:off x="4606925" y="3810000"/>
            <a:ext cx="779463" cy="536575"/>
            <a:chOff x="3507" y="1789"/>
            <a:chExt cx="858" cy="497"/>
          </a:xfrm>
        </p:grpSpPr>
        <p:sp>
          <p:nvSpPr>
            <p:cNvPr id="113688" name="Oval 44"/>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45"/>
            <p:cNvGrpSpPr>
              <a:grpSpLocks/>
            </p:cNvGrpSpPr>
            <p:nvPr/>
          </p:nvGrpSpPr>
          <p:grpSpPr bwMode="auto">
            <a:xfrm>
              <a:off x="3758" y="2002"/>
              <a:ext cx="357" cy="76"/>
              <a:chOff x="4109" y="1226"/>
              <a:chExt cx="357" cy="76"/>
            </a:xfrm>
          </p:grpSpPr>
          <p:sp>
            <p:nvSpPr>
              <p:cNvPr id="113690" name="Freeform 4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3691" name="Freeform 4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3692" name="Freeform 4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1" name="Group 49"/>
          <p:cNvGrpSpPr>
            <a:grpSpLocks/>
          </p:cNvGrpSpPr>
          <p:nvPr/>
        </p:nvGrpSpPr>
        <p:grpSpPr bwMode="auto">
          <a:xfrm>
            <a:off x="4606925" y="3225800"/>
            <a:ext cx="779463" cy="536575"/>
            <a:chOff x="3507" y="1789"/>
            <a:chExt cx="858" cy="497"/>
          </a:xfrm>
        </p:grpSpPr>
        <p:sp>
          <p:nvSpPr>
            <p:cNvPr id="113683" name="Oval 5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2" name="Group 51"/>
            <p:cNvGrpSpPr>
              <a:grpSpLocks/>
            </p:cNvGrpSpPr>
            <p:nvPr/>
          </p:nvGrpSpPr>
          <p:grpSpPr bwMode="auto">
            <a:xfrm>
              <a:off x="3758" y="2002"/>
              <a:ext cx="357" cy="76"/>
              <a:chOff x="4109" y="1226"/>
              <a:chExt cx="357" cy="76"/>
            </a:xfrm>
          </p:grpSpPr>
          <p:sp>
            <p:nvSpPr>
              <p:cNvPr id="113685" name="Freeform 5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3686" name="Freeform 5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3687" name="Freeform 5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008695" name="Freeform 55"/>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0" presetClass="path" presetSubtype="0" accel="50000" decel="50000" fill="hold" nodeType="withEffect">
                                  <p:stCondLst>
                                    <p:cond delay="0"/>
                                  </p:stCondLst>
                                  <p:childTnLst>
                                    <p:animMotion origin="layout" path="M 3.05556E-6 -3.7037E-7 C 0.01441 0.06898 0.02899 0.13796 -0.00555 0.16852 C -0.0401 0.19908 -0.12361 0.19121 -0.20694 0.18333 " pathEditMode="relative" ptsTypes="aaA">
                                      <p:cBhvr>
                                        <p:cTn id="9" dur="2000" fill="hold"/>
                                        <p:tgtEl>
                                          <p:spTgt spid="7"/>
                                        </p:tgtEl>
                                        <p:attrNameLst>
                                          <p:attrName>ppt_x</p:attrName>
                                          <p:attrName>ppt_y</p:attrName>
                                        </p:attrNameLst>
                                      </p:cBhvr>
                                    </p:animMotion>
                                  </p:childTnLst>
                                </p:cTn>
                              </p:par>
                              <p:par>
                                <p:cTn id="10" presetID="0" presetClass="path" presetSubtype="0" accel="50000" decel="50000" fill="hold" nodeType="withEffect">
                                  <p:stCondLst>
                                    <p:cond delay="0"/>
                                  </p:stCondLst>
                                  <p:childTnLst>
                                    <p:animMotion origin="layout" path="M 0.0 0.0 L -0.00139 0.13519 " pathEditMode="relative" ptsTypes="AA">
                                      <p:cBhvr>
                                        <p:cTn id="11" dur="2000" fill="hold"/>
                                        <p:tgtEl>
                                          <p:spTgt spid="11"/>
                                        </p:tgtEl>
                                        <p:attrNameLst>
                                          <p:attrName>ppt_x</p:attrName>
                                          <p:attrName>ppt_y</p:attrName>
                                        </p:attrNameLst>
                                      </p:cBhvr>
                                    </p:animMotion>
                                  </p:childTnLst>
                                </p:cTn>
                              </p:par>
                              <p:par>
                                <p:cTn id="12" presetID="0" presetClass="path" presetSubtype="0" accel="50000" decel="50000" fill="hold" nodeType="withEffect">
                                  <p:stCondLst>
                                    <p:cond delay="0"/>
                                  </p:stCondLst>
                                  <p:childTnLst>
                                    <p:animMotion origin="layout" path="M 0.0 0.0 L -0.00139 0.13519 " pathEditMode="relative" ptsTypes="AA">
                                      <p:cBhvr>
                                        <p:cTn id="13" dur="2000" fill="hold"/>
                                        <p:tgtEl>
                                          <p:spTgt spid="9"/>
                                        </p:tgtEl>
                                        <p:attrNameLst>
                                          <p:attrName>ppt_x</p:attrName>
                                          <p:attrName>ppt_y</p:attrName>
                                        </p:attrNameLst>
                                      </p:cBhvr>
                                    </p:animMotion>
                                  </p:childTnLst>
                                </p:cTn>
                              </p:par>
                            </p:childTnLst>
                          </p:cTn>
                        </p:par>
                        <p:par>
                          <p:cTn id="14" fill="hold">
                            <p:stCondLst>
                              <p:cond delay="2000"/>
                            </p:stCondLst>
                            <p:childTnLst>
                              <p:par>
                                <p:cTn id="15" presetID="3" presetClass="exit" presetSubtype="10" fill="hold" nodeType="afterEffect">
                                  <p:stCondLst>
                                    <p:cond delay="0"/>
                                  </p:stCondLst>
                                  <p:childTnLst>
                                    <p:animEffect transition="out" filter="blinds(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par>
                          <p:cTn id="18" fill="hold">
                            <p:stCondLst>
                              <p:cond delay="2500"/>
                            </p:stCondLst>
                            <p:childTnLst>
                              <p:par>
                                <p:cTn id="19" presetID="3" presetClass="exit" presetSubtype="10" fill="hold" grpId="0" nodeType="afterEffect">
                                  <p:stCondLst>
                                    <p:cond delay="0"/>
                                  </p:stCondLst>
                                  <p:childTnLst>
                                    <p:animEffect transition="out" filter="blinds(horizontal)">
                                      <p:cBhvr>
                                        <p:cTn id="20" dur="500"/>
                                        <p:tgtEl>
                                          <p:spTgt spid="1008668"/>
                                        </p:tgtEl>
                                      </p:cBhvr>
                                    </p:animEffect>
                                    <p:set>
                                      <p:cBhvr>
                                        <p:cTn id="21" dur="1" fill="hold">
                                          <p:stCondLst>
                                            <p:cond delay="499"/>
                                          </p:stCondLst>
                                        </p:cTn>
                                        <p:tgtEl>
                                          <p:spTgt spid="1008668"/>
                                        </p:tgtEl>
                                        <p:attrNameLst>
                                          <p:attrName>style.visibility</p:attrName>
                                        </p:attrNameLst>
                                      </p:cBhvr>
                                      <p:to>
                                        <p:strVal val="hidden"/>
                                      </p:to>
                                    </p:set>
                                  </p:childTnLst>
                                </p:cTn>
                              </p:par>
                            </p:childTnLst>
                          </p:cTn>
                        </p:par>
                        <p:par>
                          <p:cTn id="22" fill="hold">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1008695"/>
                                        </p:tgtEl>
                                        <p:attrNameLst>
                                          <p:attrName>style.visibility</p:attrName>
                                        </p:attrNameLst>
                                      </p:cBhvr>
                                      <p:to>
                                        <p:strVal val="visible"/>
                                      </p:to>
                                    </p:set>
                                    <p:animEffect transition="in" filter="fade">
                                      <p:cBhvr>
                                        <p:cTn id="25" dur="2000"/>
                                        <p:tgtEl>
                                          <p:spTgt spid="1008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8668" grpId="0" animBg="1"/>
      <p:bldP spid="100869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1"/>
          <p:cNvSpPr>
            <a:spLocks noGrp="1"/>
          </p:cNvSpPr>
          <p:nvPr>
            <p:ph type="ftr" sz="quarter" idx="10"/>
          </p:nvPr>
        </p:nvSpPr>
        <p:spPr>
          <a:noFill/>
        </p:spPr>
        <p:txBody>
          <a:bodyPr/>
          <a:lstStyle/>
          <a:p>
            <a:r>
              <a:rPr lang="en-US"/>
              <a:t>Art of Multiprocessor Programming</a:t>
            </a:r>
          </a:p>
        </p:txBody>
      </p:sp>
      <p:sp>
        <p:nvSpPr>
          <p:cNvPr id="114691" name="Slide Number Placeholder 2"/>
          <p:cNvSpPr>
            <a:spLocks noGrp="1"/>
          </p:cNvSpPr>
          <p:nvPr>
            <p:ph type="sldNum" sz="quarter" idx="11"/>
          </p:nvPr>
        </p:nvSpPr>
        <p:spPr>
          <a:noFill/>
        </p:spPr>
        <p:txBody>
          <a:bodyPr/>
          <a:lstStyle/>
          <a:p>
            <a:fld id="{568EDBA4-1C8F-467D-A53C-6C350BD46DA0}" type="slidenum">
              <a:rPr lang="x-none" smtClean="0"/>
              <a:pPr/>
              <a:t>105</a:t>
            </a:fld>
            <a:endParaRPr lang="en-US"/>
          </a:p>
        </p:txBody>
      </p:sp>
      <p:sp>
        <p:nvSpPr>
          <p:cNvPr id="51"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CAF6E58-8199-402F-B370-4A683B5D7F5E}" type="slidenum">
              <a:rPr lang="x-none" sz="1400">
                <a:solidFill>
                  <a:schemeClr val="tx1"/>
                </a:solidFill>
                <a:latin typeface="Arial" pitchFamily="34" charset="0"/>
                <a:cs typeface="Arial" pitchFamily="34" charset="0"/>
              </a:rPr>
              <a:pPr>
                <a:defRPr/>
              </a:pPr>
              <a:t>105</a:t>
            </a:fld>
            <a:endParaRPr lang="en-US" sz="1400" dirty="0">
              <a:solidFill>
                <a:schemeClr val="tx1"/>
              </a:solidFill>
              <a:latin typeface="Arial" pitchFamily="34" charset="0"/>
              <a:cs typeface="Arial" pitchFamily="34" charset="0"/>
            </a:endParaRPr>
          </a:p>
        </p:txBody>
      </p:sp>
      <p:sp>
        <p:nvSpPr>
          <p:cNvPr id="114693" name="Rectangle 2"/>
          <p:cNvSpPr>
            <a:spLocks noGrp="1" noChangeArrowheads="1"/>
          </p:cNvSpPr>
          <p:nvPr>
            <p:ph type="title" idx="4294967295"/>
          </p:nvPr>
        </p:nvSpPr>
        <p:spPr/>
        <p:txBody>
          <a:bodyPr/>
          <a:lstStyle/>
          <a:p>
            <a:r>
              <a:rPr lang="en-US"/>
              <a:t>Dreaded ABA Problem</a:t>
            </a:r>
          </a:p>
        </p:txBody>
      </p:sp>
      <p:sp>
        <p:nvSpPr>
          <p:cNvPr id="114694"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4732"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3"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4"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5"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4736"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4737"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4738"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9"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40"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4723"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24"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25"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26"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4727"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4728"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4729"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0"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4731"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4697"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4698"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4699"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4700"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nvGrpSpPr>
          <p:cNvPr id="4" name="Group 29"/>
          <p:cNvGrpSpPr>
            <a:grpSpLocks/>
          </p:cNvGrpSpPr>
          <p:nvPr/>
        </p:nvGrpSpPr>
        <p:grpSpPr bwMode="auto">
          <a:xfrm>
            <a:off x="4606925" y="4686300"/>
            <a:ext cx="779463" cy="536575"/>
            <a:chOff x="3507" y="1789"/>
            <a:chExt cx="858" cy="497"/>
          </a:xfrm>
        </p:grpSpPr>
        <p:sp>
          <p:nvSpPr>
            <p:cNvPr id="114718" name="Oval 30"/>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1"/>
            <p:cNvGrpSpPr>
              <a:grpSpLocks/>
            </p:cNvGrpSpPr>
            <p:nvPr/>
          </p:nvGrpSpPr>
          <p:grpSpPr bwMode="auto">
            <a:xfrm>
              <a:off x="3758" y="2002"/>
              <a:ext cx="357" cy="76"/>
              <a:chOff x="4109" y="1226"/>
              <a:chExt cx="357" cy="76"/>
            </a:xfrm>
          </p:grpSpPr>
          <p:sp>
            <p:nvSpPr>
              <p:cNvPr id="114720" name="Freeform 3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4721" name="Freeform 3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4722" name="Freeform 3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5"/>
          <p:cNvGrpSpPr>
            <a:grpSpLocks/>
          </p:cNvGrpSpPr>
          <p:nvPr/>
        </p:nvGrpSpPr>
        <p:grpSpPr bwMode="auto">
          <a:xfrm>
            <a:off x="4606925" y="4102100"/>
            <a:ext cx="779463" cy="536575"/>
            <a:chOff x="3507" y="1789"/>
            <a:chExt cx="858" cy="497"/>
          </a:xfrm>
        </p:grpSpPr>
        <p:sp>
          <p:nvSpPr>
            <p:cNvPr id="114713" name="Oval 36"/>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37"/>
            <p:cNvGrpSpPr>
              <a:grpSpLocks/>
            </p:cNvGrpSpPr>
            <p:nvPr/>
          </p:nvGrpSpPr>
          <p:grpSpPr bwMode="auto">
            <a:xfrm>
              <a:off x="3758" y="2002"/>
              <a:ext cx="357" cy="76"/>
              <a:chOff x="4109" y="1226"/>
              <a:chExt cx="357" cy="76"/>
            </a:xfrm>
          </p:grpSpPr>
          <p:sp>
            <p:nvSpPr>
              <p:cNvPr id="114715" name="Freeform 3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4716" name="Freeform 3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4717" name="Freeform 4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41"/>
          <p:cNvGrpSpPr>
            <a:grpSpLocks/>
          </p:cNvGrpSpPr>
          <p:nvPr/>
        </p:nvGrpSpPr>
        <p:grpSpPr bwMode="auto">
          <a:xfrm>
            <a:off x="3397250" y="546100"/>
            <a:ext cx="2247900" cy="1320800"/>
            <a:chOff x="2140" y="344"/>
            <a:chExt cx="1416" cy="832"/>
          </a:xfrm>
        </p:grpSpPr>
        <p:sp>
          <p:nvSpPr>
            <p:cNvPr id="114706" name="AutoShape 42"/>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9" name="Group 43"/>
            <p:cNvGrpSpPr>
              <a:grpSpLocks/>
            </p:cNvGrpSpPr>
            <p:nvPr/>
          </p:nvGrpSpPr>
          <p:grpSpPr bwMode="auto">
            <a:xfrm>
              <a:off x="2602" y="576"/>
              <a:ext cx="491" cy="338"/>
              <a:chOff x="3507" y="1789"/>
              <a:chExt cx="858" cy="497"/>
            </a:xfrm>
          </p:grpSpPr>
          <p:sp>
            <p:nvSpPr>
              <p:cNvPr id="114708" name="Oval 4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45"/>
              <p:cNvGrpSpPr>
                <a:grpSpLocks/>
              </p:cNvGrpSpPr>
              <p:nvPr/>
            </p:nvGrpSpPr>
            <p:grpSpPr bwMode="auto">
              <a:xfrm>
                <a:off x="3758" y="2002"/>
                <a:ext cx="357" cy="76"/>
                <a:chOff x="4109" y="1226"/>
                <a:chExt cx="357" cy="76"/>
              </a:xfrm>
            </p:grpSpPr>
            <p:sp>
              <p:nvSpPr>
                <p:cNvPr id="114710" name="Freeform 4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4711" name="Freeform 4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4712" name="Freeform 4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827441" name="Freeform 49"/>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827442" name="Freeform 50"/>
          <p:cNvSpPr>
            <a:spLocks/>
          </p:cNvSpPr>
          <p:nvPr/>
        </p:nvSpPr>
        <p:spPr bwMode="auto">
          <a:xfrm>
            <a:off x="1841500" y="3467100"/>
            <a:ext cx="2590800" cy="1536700"/>
          </a:xfrm>
          <a:custGeom>
            <a:avLst/>
            <a:gdLst>
              <a:gd name="T0" fmla="*/ 0 w 1632"/>
              <a:gd name="T1" fmla="*/ 0 h 968"/>
              <a:gd name="T2" fmla="*/ 2147483647 w 1632"/>
              <a:gd name="T3" fmla="*/ 2147483647 h 968"/>
              <a:gd name="T4" fmla="*/ 2147483647 w 1632"/>
              <a:gd name="T5" fmla="*/ 2147483647 h 968"/>
              <a:gd name="T6" fmla="*/ 0 60000 65536"/>
              <a:gd name="T7" fmla="*/ 0 60000 65536"/>
              <a:gd name="T8" fmla="*/ 0 60000 65536"/>
              <a:gd name="T9" fmla="*/ 0 w 1632"/>
              <a:gd name="T10" fmla="*/ 0 h 968"/>
              <a:gd name="T11" fmla="*/ 1632 w 1632"/>
              <a:gd name="T12" fmla="*/ 968 h 968"/>
            </a:gdLst>
            <a:ahLst/>
            <a:cxnLst>
              <a:cxn ang="T6">
                <a:pos x="T0" y="T1"/>
              </a:cxn>
              <a:cxn ang="T7">
                <a:pos x="T2" y="T3"/>
              </a:cxn>
              <a:cxn ang="T8">
                <a:pos x="T4" y="T5"/>
              </a:cxn>
            </a:cxnLst>
            <a:rect l="T9" t="T10" r="T11" b="T12"/>
            <a:pathLst>
              <a:path w="1632" h="968">
                <a:moveTo>
                  <a:pt x="0" y="0"/>
                </a:moveTo>
                <a:cubicBezTo>
                  <a:pt x="64" y="324"/>
                  <a:pt x="128" y="648"/>
                  <a:pt x="400" y="808"/>
                </a:cubicBezTo>
                <a:cubicBezTo>
                  <a:pt x="672" y="968"/>
                  <a:pt x="1152" y="964"/>
                  <a:pt x="1632" y="960"/>
                </a:cubicBezTo>
              </a:path>
            </a:pathLst>
          </a:custGeom>
          <a:noFill/>
          <a:ln w="76200">
            <a:solidFill>
              <a:schemeClr val="tx1"/>
            </a:solidFill>
            <a:round/>
            <a:headEnd/>
            <a:tailEnd type="triangle" w="med" len="med"/>
          </a:ln>
        </p:spPr>
        <p:txBody>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125 -3.7037E-6 C 0.00243 0.0544 0.01737 0.10903 -0.01388 0.13334 C -0.04513 0.15764 -0.12257 0.15186 -0.2 0.1463 " pathEditMode="relative" rAng="0" ptsTypes="aaA">
                                      <p:cBhvr>
                                        <p:cTn id="6" dur="2000" fill="hold"/>
                                        <p:tgtEl>
                                          <p:spTgt spid="4"/>
                                        </p:tgtEl>
                                        <p:attrNameLst>
                                          <p:attrName>ppt_x</p:attrName>
                                          <p:attrName>ppt_y</p:attrName>
                                        </p:attrNameLst>
                                      </p:cBhvr>
                                      <p:rCtr x="-7900" y="7900"/>
                                    </p:animMotion>
                                  </p:childTnLst>
                                </p:cTn>
                              </p:par>
                              <p:par>
                                <p:cTn id="7" presetID="0" presetClass="path" presetSubtype="0" accel="50000" decel="50000" fill="hold" nodeType="withEffect">
                                  <p:stCondLst>
                                    <p:cond delay="0"/>
                                  </p:stCondLst>
                                  <p:childTnLst>
                                    <p:animMotion origin="layout" path="M 3.05556E-6 1.48148E-6 L 3.05556E-6 0.08518 " pathEditMode="relative" ptsTypes="AA">
                                      <p:cBhvr>
                                        <p:cTn id="8" dur="2000" fill="hold"/>
                                        <p:tgtEl>
                                          <p:spTgt spid="6"/>
                                        </p:tgtEl>
                                        <p:attrNameLst>
                                          <p:attrName>ppt_x</p:attrName>
                                          <p:attrName>ppt_y</p:attrName>
                                        </p:attrNameLst>
                                      </p:cBhvr>
                                    </p:animMotion>
                                  </p:childTnLst>
                                </p:cTn>
                              </p:par>
                            </p:childTnLst>
                          </p:cTn>
                        </p:par>
                        <p:par>
                          <p:cTn id="9" fill="hold">
                            <p:stCondLst>
                              <p:cond delay="2000"/>
                            </p:stCondLst>
                            <p:childTnLst>
                              <p:par>
                                <p:cTn id="10" presetID="3" presetClass="exit" presetSubtype="10" fill="hold" nodeType="afterEffect">
                                  <p:stCondLst>
                                    <p:cond delay="0"/>
                                  </p:stCondLst>
                                  <p:childTnLst>
                                    <p:animEffect transition="out" filter="blinds(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par>
                          <p:cTn id="13" fill="hold">
                            <p:stCondLst>
                              <p:cond delay="2500"/>
                            </p:stCondLst>
                            <p:childTnLst>
                              <p:par>
                                <p:cTn id="14" presetID="3" presetClass="exit" presetSubtype="10" fill="hold" grpId="0" nodeType="afterEffect">
                                  <p:stCondLst>
                                    <p:cond delay="0"/>
                                  </p:stCondLst>
                                  <p:childTnLst>
                                    <p:animEffect transition="out" filter="blinds(horizontal)">
                                      <p:cBhvr>
                                        <p:cTn id="15" dur="500"/>
                                        <p:tgtEl>
                                          <p:spTgt spid="827441"/>
                                        </p:tgtEl>
                                      </p:cBhvr>
                                    </p:animEffect>
                                    <p:set>
                                      <p:cBhvr>
                                        <p:cTn id="16" dur="1" fill="hold">
                                          <p:stCondLst>
                                            <p:cond delay="499"/>
                                          </p:stCondLst>
                                        </p:cTn>
                                        <p:tgtEl>
                                          <p:spTgt spid="827441"/>
                                        </p:tgtEl>
                                        <p:attrNameLst>
                                          <p:attrName>style.visibility</p:attrName>
                                        </p:attrNameLst>
                                      </p:cBhvr>
                                      <p:to>
                                        <p:strVal val="hidden"/>
                                      </p:to>
                                    </p:set>
                                  </p:childTnLst>
                                </p:cTn>
                              </p:par>
                              <p:par>
                                <p:cTn id="17" presetID="3" presetClass="entr" presetSubtype="10" fill="hold" grpId="0" nodeType="withEffect">
                                  <p:stCondLst>
                                    <p:cond delay="0"/>
                                  </p:stCondLst>
                                  <p:childTnLst>
                                    <p:set>
                                      <p:cBhvr>
                                        <p:cTn id="18" dur="1" fill="hold">
                                          <p:stCondLst>
                                            <p:cond delay="0"/>
                                          </p:stCondLst>
                                        </p:cTn>
                                        <p:tgtEl>
                                          <p:spTgt spid="827442"/>
                                        </p:tgtEl>
                                        <p:attrNameLst>
                                          <p:attrName>style.visibility</p:attrName>
                                        </p:attrNameLst>
                                      </p:cBhvr>
                                      <p:to>
                                        <p:strVal val="visible"/>
                                      </p:to>
                                    </p:set>
                                    <p:animEffect transition="in" filter="blinds(horizontal)">
                                      <p:cBhvr>
                                        <p:cTn id="19" dur="500"/>
                                        <p:tgtEl>
                                          <p:spTgt spid="827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41" grpId="0" animBg="1"/>
      <p:bldP spid="82744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1"/>
          <p:cNvSpPr>
            <a:spLocks noGrp="1"/>
          </p:cNvSpPr>
          <p:nvPr>
            <p:ph type="ftr" sz="quarter" idx="10"/>
          </p:nvPr>
        </p:nvSpPr>
        <p:spPr>
          <a:noFill/>
        </p:spPr>
        <p:txBody>
          <a:bodyPr/>
          <a:lstStyle/>
          <a:p>
            <a:r>
              <a:rPr lang="en-US"/>
              <a:t>Art of Multiprocessor Programming</a:t>
            </a:r>
          </a:p>
        </p:txBody>
      </p:sp>
      <p:sp>
        <p:nvSpPr>
          <p:cNvPr id="115715" name="Slide Number Placeholder 2"/>
          <p:cNvSpPr>
            <a:spLocks noGrp="1"/>
          </p:cNvSpPr>
          <p:nvPr>
            <p:ph type="sldNum" sz="quarter" idx="11"/>
          </p:nvPr>
        </p:nvSpPr>
        <p:spPr>
          <a:noFill/>
        </p:spPr>
        <p:txBody>
          <a:bodyPr/>
          <a:lstStyle/>
          <a:p>
            <a:fld id="{464FC05D-EE9A-4F8A-A929-2933690A6567}" type="slidenum">
              <a:rPr lang="x-none" smtClean="0"/>
              <a:pPr/>
              <a:t>106</a:t>
            </a:fld>
            <a:endParaRPr lang="en-US"/>
          </a:p>
        </p:txBody>
      </p:sp>
      <p:sp>
        <p:nvSpPr>
          <p:cNvPr id="44"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8343B41-1FF1-4B1A-B954-FACA142F94F9}" type="slidenum">
              <a:rPr lang="x-none" sz="1400">
                <a:solidFill>
                  <a:schemeClr val="tx1"/>
                </a:solidFill>
                <a:latin typeface="Arial" pitchFamily="34" charset="0"/>
                <a:cs typeface="Arial" pitchFamily="34" charset="0"/>
              </a:rPr>
              <a:pPr>
                <a:defRPr/>
              </a:pPr>
              <a:t>106</a:t>
            </a:fld>
            <a:endParaRPr lang="en-US" sz="1400" dirty="0">
              <a:solidFill>
                <a:schemeClr val="tx1"/>
              </a:solidFill>
              <a:latin typeface="Arial" pitchFamily="34" charset="0"/>
              <a:cs typeface="Arial" pitchFamily="34" charset="0"/>
            </a:endParaRPr>
          </a:p>
        </p:txBody>
      </p:sp>
      <p:sp>
        <p:nvSpPr>
          <p:cNvPr id="115717" name="Rectangle 2"/>
          <p:cNvSpPr>
            <a:spLocks noGrp="1" noChangeArrowheads="1"/>
          </p:cNvSpPr>
          <p:nvPr>
            <p:ph type="title" idx="4294967295"/>
          </p:nvPr>
        </p:nvSpPr>
        <p:spPr/>
        <p:txBody>
          <a:bodyPr/>
          <a:lstStyle/>
          <a:p>
            <a:r>
              <a:rPr lang="en-US"/>
              <a:t>Dreaded ABA Problem</a:t>
            </a:r>
          </a:p>
        </p:txBody>
      </p:sp>
      <p:sp>
        <p:nvSpPr>
          <p:cNvPr id="115718"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5749"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50"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51"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52"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5753"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5754"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5755"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56"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57"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5740"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41"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42"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43"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5744"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5745"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5746"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47"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5748"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5721"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5722"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5723"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5724"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nvGrpSpPr>
          <p:cNvPr id="4" name="Group 29"/>
          <p:cNvGrpSpPr>
            <a:grpSpLocks/>
          </p:cNvGrpSpPr>
          <p:nvPr/>
        </p:nvGrpSpPr>
        <p:grpSpPr bwMode="auto">
          <a:xfrm>
            <a:off x="4606925" y="4686300"/>
            <a:ext cx="779463" cy="536575"/>
            <a:chOff x="3507" y="1789"/>
            <a:chExt cx="858" cy="497"/>
          </a:xfrm>
        </p:grpSpPr>
        <p:sp>
          <p:nvSpPr>
            <p:cNvPr id="115735" name="Oval 3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1"/>
            <p:cNvGrpSpPr>
              <a:grpSpLocks/>
            </p:cNvGrpSpPr>
            <p:nvPr/>
          </p:nvGrpSpPr>
          <p:grpSpPr bwMode="auto">
            <a:xfrm>
              <a:off x="3758" y="2002"/>
              <a:ext cx="357" cy="76"/>
              <a:chOff x="4109" y="1226"/>
              <a:chExt cx="357" cy="76"/>
            </a:xfrm>
          </p:grpSpPr>
          <p:sp>
            <p:nvSpPr>
              <p:cNvPr id="115737" name="Freeform 3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5738" name="Freeform 3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5739" name="Freeform 3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5"/>
          <p:cNvGrpSpPr>
            <a:grpSpLocks/>
          </p:cNvGrpSpPr>
          <p:nvPr/>
        </p:nvGrpSpPr>
        <p:grpSpPr bwMode="auto">
          <a:xfrm>
            <a:off x="3397250" y="546100"/>
            <a:ext cx="2247900" cy="1320800"/>
            <a:chOff x="2140" y="344"/>
            <a:chExt cx="1416" cy="832"/>
          </a:xfrm>
        </p:grpSpPr>
        <p:sp>
          <p:nvSpPr>
            <p:cNvPr id="115728" name="AutoShape 36"/>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7" name="Group 37"/>
            <p:cNvGrpSpPr>
              <a:grpSpLocks/>
            </p:cNvGrpSpPr>
            <p:nvPr/>
          </p:nvGrpSpPr>
          <p:grpSpPr bwMode="auto">
            <a:xfrm>
              <a:off x="2602" y="576"/>
              <a:ext cx="491" cy="338"/>
              <a:chOff x="3507" y="1789"/>
              <a:chExt cx="858" cy="497"/>
            </a:xfrm>
          </p:grpSpPr>
          <p:sp>
            <p:nvSpPr>
              <p:cNvPr id="115730" name="Oval 38"/>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9"/>
              <p:cNvGrpSpPr>
                <a:grpSpLocks/>
              </p:cNvGrpSpPr>
              <p:nvPr/>
            </p:nvGrpSpPr>
            <p:grpSpPr bwMode="auto">
              <a:xfrm>
                <a:off x="3758" y="2002"/>
                <a:ext cx="357" cy="76"/>
                <a:chOff x="4109" y="1226"/>
                <a:chExt cx="357" cy="76"/>
              </a:xfrm>
            </p:grpSpPr>
            <p:sp>
              <p:nvSpPr>
                <p:cNvPr id="115732" name="Freeform 4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5733" name="Freeform 4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5734" name="Freeform 4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828459" name="Freeform 43"/>
          <p:cNvSpPr>
            <a:spLocks/>
          </p:cNvSpPr>
          <p:nvPr/>
        </p:nvSpPr>
        <p:spPr bwMode="auto">
          <a:xfrm>
            <a:off x="1841500" y="3467100"/>
            <a:ext cx="2590800" cy="1536700"/>
          </a:xfrm>
          <a:custGeom>
            <a:avLst/>
            <a:gdLst>
              <a:gd name="T0" fmla="*/ 0 w 1632"/>
              <a:gd name="T1" fmla="*/ 0 h 968"/>
              <a:gd name="T2" fmla="*/ 2147483647 w 1632"/>
              <a:gd name="T3" fmla="*/ 2147483647 h 968"/>
              <a:gd name="T4" fmla="*/ 2147483647 w 1632"/>
              <a:gd name="T5" fmla="*/ 2147483647 h 968"/>
              <a:gd name="T6" fmla="*/ 0 60000 65536"/>
              <a:gd name="T7" fmla="*/ 0 60000 65536"/>
              <a:gd name="T8" fmla="*/ 0 60000 65536"/>
              <a:gd name="T9" fmla="*/ 0 w 1632"/>
              <a:gd name="T10" fmla="*/ 0 h 968"/>
              <a:gd name="T11" fmla="*/ 1632 w 1632"/>
              <a:gd name="T12" fmla="*/ 968 h 968"/>
            </a:gdLst>
            <a:ahLst/>
            <a:cxnLst>
              <a:cxn ang="T6">
                <a:pos x="T0" y="T1"/>
              </a:cxn>
              <a:cxn ang="T7">
                <a:pos x="T2" y="T3"/>
              </a:cxn>
              <a:cxn ang="T8">
                <a:pos x="T4" y="T5"/>
              </a:cxn>
            </a:cxnLst>
            <a:rect l="T9" t="T10" r="T11" b="T12"/>
            <a:pathLst>
              <a:path w="1632" h="968">
                <a:moveTo>
                  <a:pt x="0" y="0"/>
                </a:moveTo>
                <a:cubicBezTo>
                  <a:pt x="64" y="324"/>
                  <a:pt x="128" y="648"/>
                  <a:pt x="400" y="808"/>
                </a:cubicBezTo>
                <a:cubicBezTo>
                  <a:pt x="672" y="968"/>
                  <a:pt x="1152" y="964"/>
                  <a:pt x="1632" y="960"/>
                </a:cubicBezTo>
              </a:path>
            </a:pathLst>
          </a:custGeom>
          <a:noFill/>
          <a:ln w="76200">
            <a:solidFill>
              <a:schemeClr val="tx1"/>
            </a:solidFill>
            <a:round/>
            <a:headEnd/>
            <a:tailEnd type="triangle" w="med" len="med"/>
          </a:ln>
        </p:spPr>
        <p:txBody>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4.16667E-6 4.07407E-6 C 4.16667E-6 0.06343 0.00017 0.12708 -0.03472 0.15 C -0.06962 0.17292 -0.13976 0.15486 -0.20972 0.13704 " pathEditMode="relative" ptsTypes="aaA">
                                      <p:cBhvr>
                                        <p:cTn id="6" dur="2000" fill="hold"/>
                                        <p:tgtEl>
                                          <p:spTgt spid="4"/>
                                        </p:tgtEl>
                                        <p:attrNameLst>
                                          <p:attrName>ppt_x</p:attrName>
                                          <p:attrName>ppt_y</p:attrName>
                                        </p:attrNameLst>
                                      </p:cBhvr>
                                    </p:animMotion>
                                  </p:childTnLst>
                                </p:cTn>
                              </p:par>
                            </p:childTnLst>
                          </p:cTn>
                        </p:par>
                        <p:par>
                          <p:cTn id="7" fill="hold">
                            <p:stCondLst>
                              <p:cond delay="2000"/>
                            </p:stCondLst>
                            <p:childTnLst>
                              <p:par>
                                <p:cTn id="8" presetID="3" presetClass="exit" presetSubtype="10" fill="hold" nodeType="afterEffect">
                                  <p:stCondLst>
                                    <p:cond delay="0"/>
                                  </p:stCondLst>
                                  <p:childTnLst>
                                    <p:animEffect transition="out" filter="blinds(horizontal)">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par>
                          <p:cTn id="11" fill="hold">
                            <p:stCondLst>
                              <p:cond delay="2500"/>
                            </p:stCondLst>
                            <p:childTnLst>
                              <p:par>
                                <p:cTn id="12" presetID="3" presetClass="exit" presetSubtype="10" fill="hold" grpId="0" nodeType="afterEffect">
                                  <p:stCondLst>
                                    <p:cond delay="0"/>
                                  </p:stCondLst>
                                  <p:childTnLst>
                                    <p:animEffect transition="out" filter="blinds(horizontal)">
                                      <p:cBhvr>
                                        <p:cTn id="13" dur="500"/>
                                        <p:tgtEl>
                                          <p:spTgt spid="828459"/>
                                        </p:tgtEl>
                                      </p:cBhvr>
                                    </p:animEffect>
                                    <p:set>
                                      <p:cBhvr>
                                        <p:cTn id="14" dur="1" fill="hold">
                                          <p:stCondLst>
                                            <p:cond delay="499"/>
                                          </p:stCondLst>
                                        </p:cTn>
                                        <p:tgtEl>
                                          <p:spTgt spid="8284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5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1"/>
          <p:cNvSpPr>
            <a:spLocks noGrp="1"/>
          </p:cNvSpPr>
          <p:nvPr>
            <p:ph type="ftr" sz="quarter" idx="10"/>
          </p:nvPr>
        </p:nvSpPr>
        <p:spPr>
          <a:noFill/>
        </p:spPr>
        <p:txBody>
          <a:bodyPr/>
          <a:lstStyle/>
          <a:p>
            <a:r>
              <a:rPr lang="en-US"/>
              <a:t>Art of Multiprocessor Programming</a:t>
            </a:r>
          </a:p>
        </p:txBody>
      </p:sp>
      <p:sp>
        <p:nvSpPr>
          <p:cNvPr id="116739" name="Slide Number Placeholder 2"/>
          <p:cNvSpPr>
            <a:spLocks noGrp="1"/>
          </p:cNvSpPr>
          <p:nvPr>
            <p:ph type="sldNum" sz="quarter" idx="11"/>
          </p:nvPr>
        </p:nvSpPr>
        <p:spPr>
          <a:noFill/>
        </p:spPr>
        <p:txBody>
          <a:bodyPr/>
          <a:lstStyle/>
          <a:p>
            <a:fld id="{D350A0E9-F7F0-49ED-A355-874E7AFBEE29}" type="slidenum">
              <a:rPr lang="x-none" smtClean="0"/>
              <a:pPr/>
              <a:t>107</a:t>
            </a:fld>
            <a:endParaRPr lang="en-US"/>
          </a:p>
        </p:txBody>
      </p:sp>
      <p:sp>
        <p:nvSpPr>
          <p:cNvPr id="44"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A865EFC5-6EF2-4ED7-BA22-DD0EA8256AB5}" type="slidenum">
              <a:rPr lang="x-none" sz="1400">
                <a:solidFill>
                  <a:schemeClr val="tx1"/>
                </a:solidFill>
                <a:latin typeface="Arial" pitchFamily="34" charset="0"/>
                <a:cs typeface="Arial" pitchFamily="34" charset="0"/>
              </a:rPr>
              <a:pPr>
                <a:defRPr/>
              </a:pPr>
              <a:t>107</a:t>
            </a:fld>
            <a:endParaRPr lang="en-US" sz="1400" dirty="0">
              <a:solidFill>
                <a:schemeClr val="tx1"/>
              </a:solidFill>
              <a:latin typeface="Arial" pitchFamily="34" charset="0"/>
              <a:cs typeface="Arial" pitchFamily="34" charset="0"/>
            </a:endParaRPr>
          </a:p>
        </p:txBody>
      </p:sp>
      <p:sp>
        <p:nvSpPr>
          <p:cNvPr id="116741" name="Rectangle 2"/>
          <p:cNvSpPr>
            <a:spLocks noGrp="1" noChangeArrowheads="1"/>
          </p:cNvSpPr>
          <p:nvPr>
            <p:ph type="title" idx="4294967295"/>
          </p:nvPr>
        </p:nvSpPr>
        <p:spPr/>
        <p:txBody>
          <a:bodyPr/>
          <a:lstStyle/>
          <a:p>
            <a:r>
              <a:rPr lang="en-US"/>
              <a:t>Dreaded ABA Problem</a:t>
            </a:r>
          </a:p>
        </p:txBody>
      </p:sp>
      <p:sp>
        <p:nvSpPr>
          <p:cNvPr id="116742"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6773"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74"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75"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76"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6777"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6778"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6779"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80"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81"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6764"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65"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66"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67"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6768"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6769"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6770"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71"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6772"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6745"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6746"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6747"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6748"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nvGrpSpPr>
          <p:cNvPr id="4" name="Group 29"/>
          <p:cNvGrpSpPr>
            <a:grpSpLocks/>
          </p:cNvGrpSpPr>
          <p:nvPr/>
        </p:nvGrpSpPr>
        <p:grpSpPr bwMode="auto">
          <a:xfrm>
            <a:off x="2714625" y="5702300"/>
            <a:ext cx="779463" cy="536575"/>
            <a:chOff x="3507" y="1789"/>
            <a:chExt cx="858" cy="497"/>
          </a:xfrm>
        </p:grpSpPr>
        <p:sp>
          <p:nvSpPr>
            <p:cNvPr id="116759" name="Oval 30"/>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1"/>
            <p:cNvGrpSpPr>
              <a:grpSpLocks/>
            </p:cNvGrpSpPr>
            <p:nvPr/>
          </p:nvGrpSpPr>
          <p:grpSpPr bwMode="auto">
            <a:xfrm>
              <a:off x="3758" y="2002"/>
              <a:ext cx="357" cy="76"/>
              <a:chOff x="4109" y="1226"/>
              <a:chExt cx="357" cy="76"/>
            </a:xfrm>
          </p:grpSpPr>
          <p:sp>
            <p:nvSpPr>
              <p:cNvPr id="116761" name="Freeform 3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6762" name="Freeform 3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6763" name="Freeform 3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5"/>
          <p:cNvGrpSpPr>
            <a:grpSpLocks/>
          </p:cNvGrpSpPr>
          <p:nvPr/>
        </p:nvGrpSpPr>
        <p:grpSpPr bwMode="auto">
          <a:xfrm>
            <a:off x="3397250" y="546100"/>
            <a:ext cx="2247900" cy="1320800"/>
            <a:chOff x="2140" y="344"/>
            <a:chExt cx="1416" cy="832"/>
          </a:xfrm>
        </p:grpSpPr>
        <p:sp>
          <p:nvSpPr>
            <p:cNvPr id="116752" name="AutoShape 36"/>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7" name="Group 37"/>
            <p:cNvGrpSpPr>
              <a:grpSpLocks/>
            </p:cNvGrpSpPr>
            <p:nvPr/>
          </p:nvGrpSpPr>
          <p:grpSpPr bwMode="auto">
            <a:xfrm>
              <a:off x="2602" y="576"/>
              <a:ext cx="491" cy="338"/>
              <a:chOff x="3507" y="1789"/>
              <a:chExt cx="858" cy="497"/>
            </a:xfrm>
          </p:grpSpPr>
          <p:sp>
            <p:nvSpPr>
              <p:cNvPr id="116754" name="Oval 38"/>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9"/>
              <p:cNvGrpSpPr>
                <a:grpSpLocks/>
              </p:cNvGrpSpPr>
              <p:nvPr/>
            </p:nvGrpSpPr>
            <p:grpSpPr bwMode="auto">
              <a:xfrm>
                <a:off x="3758" y="2002"/>
                <a:ext cx="357" cy="76"/>
                <a:chOff x="4109" y="1226"/>
                <a:chExt cx="357" cy="76"/>
              </a:xfrm>
            </p:grpSpPr>
            <p:sp>
              <p:nvSpPr>
                <p:cNvPr id="116756" name="Freeform 4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6757" name="Freeform 4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6758" name="Freeform 4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829483" name="Freeform 43"/>
          <p:cNvSpPr>
            <a:spLocks/>
          </p:cNvSpPr>
          <p:nvPr/>
        </p:nvSpPr>
        <p:spPr bwMode="auto">
          <a:xfrm>
            <a:off x="1841500" y="3467100"/>
            <a:ext cx="2590800" cy="1536700"/>
          </a:xfrm>
          <a:custGeom>
            <a:avLst/>
            <a:gdLst>
              <a:gd name="T0" fmla="*/ 0 w 1632"/>
              <a:gd name="T1" fmla="*/ 0 h 968"/>
              <a:gd name="T2" fmla="*/ 2147483647 w 1632"/>
              <a:gd name="T3" fmla="*/ 2147483647 h 968"/>
              <a:gd name="T4" fmla="*/ 2147483647 w 1632"/>
              <a:gd name="T5" fmla="*/ 2147483647 h 968"/>
              <a:gd name="T6" fmla="*/ 0 60000 65536"/>
              <a:gd name="T7" fmla="*/ 0 60000 65536"/>
              <a:gd name="T8" fmla="*/ 0 60000 65536"/>
              <a:gd name="T9" fmla="*/ 0 w 1632"/>
              <a:gd name="T10" fmla="*/ 0 h 968"/>
              <a:gd name="T11" fmla="*/ 1632 w 1632"/>
              <a:gd name="T12" fmla="*/ 968 h 968"/>
            </a:gdLst>
            <a:ahLst/>
            <a:cxnLst>
              <a:cxn ang="T6">
                <a:pos x="T0" y="T1"/>
              </a:cxn>
              <a:cxn ang="T7">
                <a:pos x="T2" y="T3"/>
              </a:cxn>
              <a:cxn ang="T8">
                <a:pos x="T4" y="T5"/>
              </a:cxn>
            </a:cxnLst>
            <a:rect l="T9" t="T10" r="T11" b="T12"/>
            <a:pathLst>
              <a:path w="1632" h="968">
                <a:moveTo>
                  <a:pt x="0" y="0"/>
                </a:moveTo>
                <a:cubicBezTo>
                  <a:pt x="64" y="324"/>
                  <a:pt x="128" y="648"/>
                  <a:pt x="400" y="808"/>
                </a:cubicBezTo>
                <a:cubicBezTo>
                  <a:pt x="672" y="968"/>
                  <a:pt x="1152" y="964"/>
                  <a:pt x="1632" y="960"/>
                </a:cubicBezTo>
              </a:path>
            </a:pathLst>
          </a:custGeom>
          <a:noFill/>
          <a:ln w="76200">
            <a:solidFill>
              <a:schemeClr val="tx1"/>
            </a:solidFill>
            <a:round/>
            <a:headEnd/>
            <a:tailEnd type="triangle" w="med" len="med"/>
          </a:ln>
        </p:spPr>
        <p:txBody>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2.77778E-7 -0.0037 C 0.07517 0.01644 0.15052 0.03681 0.18472 0.0125 C 0.21892 -0.01157 0.20208 -0.12153 0.20556 -0.14815 " pathEditMode="relative" rAng="0" ptsTypes="aaA">
                                      <p:cBhvr>
                                        <p:cTn id="10" dur="2000" fill="hold"/>
                                        <p:tgtEl>
                                          <p:spTgt spid="4"/>
                                        </p:tgtEl>
                                        <p:attrNameLst>
                                          <p:attrName>ppt_x</p:attrName>
                                          <p:attrName>ppt_y</p:attrName>
                                        </p:attrNameLst>
                                      </p:cBhvr>
                                      <p:rCtr x="10900" y="-5200"/>
                                    </p:animMotion>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829483"/>
                                        </p:tgtEl>
                                        <p:attrNameLst>
                                          <p:attrName>style.visibility</p:attrName>
                                        </p:attrNameLst>
                                      </p:cBhvr>
                                      <p:to>
                                        <p:strVal val="visible"/>
                                      </p:to>
                                    </p:set>
                                    <p:animEffect transition="in" filter="blinds(horizontal)">
                                      <p:cBhvr>
                                        <p:cTn id="14" dur="500"/>
                                        <p:tgtEl>
                                          <p:spTgt spid="829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1"/>
          <p:cNvSpPr>
            <a:spLocks noGrp="1"/>
          </p:cNvSpPr>
          <p:nvPr>
            <p:ph type="ftr" sz="quarter" idx="10"/>
          </p:nvPr>
        </p:nvSpPr>
        <p:spPr>
          <a:noFill/>
        </p:spPr>
        <p:txBody>
          <a:bodyPr/>
          <a:lstStyle/>
          <a:p>
            <a:r>
              <a:rPr lang="en-US"/>
              <a:t>Art of Multiprocessor Programming</a:t>
            </a:r>
          </a:p>
        </p:txBody>
      </p:sp>
      <p:sp>
        <p:nvSpPr>
          <p:cNvPr id="117763" name="Slide Number Placeholder 2"/>
          <p:cNvSpPr>
            <a:spLocks noGrp="1"/>
          </p:cNvSpPr>
          <p:nvPr>
            <p:ph type="sldNum" sz="quarter" idx="11"/>
          </p:nvPr>
        </p:nvSpPr>
        <p:spPr>
          <a:noFill/>
        </p:spPr>
        <p:txBody>
          <a:bodyPr/>
          <a:lstStyle/>
          <a:p>
            <a:fld id="{9295A2BA-254A-4F02-82EF-0B061DB67409}" type="slidenum">
              <a:rPr lang="x-none" smtClean="0"/>
              <a:pPr/>
              <a:t>108</a:t>
            </a:fld>
            <a:endParaRPr lang="en-US"/>
          </a:p>
        </p:txBody>
      </p:sp>
      <p:sp>
        <p:nvSpPr>
          <p:cNvPr id="51"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2E61F59-C7A5-4411-96D8-E6384162B92B}" type="slidenum">
              <a:rPr lang="x-none" sz="1400">
                <a:solidFill>
                  <a:schemeClr val="tx1"/>
                </a:solidFill>
                <a:latin typeface="Arial" pitchFamily="34" charset="0"/>
                <a:cs typeface="Arial" pitchFamily="34" charset="0"/>
              </a:rPr>
              <a:pPr>
                <a:defRPr/>
              </a:pPr>
              <a:t>108</a:t>
            </a:fld>
            <a:endParaRPr lang="en-US" sz="1400" dirty="0">
              <a:solidFill>
                <a:schemeClr val="tx1"/>
              </a:solidFill>
              <a:latin typeface="Arial" pitchFamily="34" charset="0"/>
              <a:cs typeface="Arial" pitchFamily="34" charset="0"/>
            </a:endParaRPr>
          </a:p>
        </p:txBody>
      </p:sp>
      <p:sp>
        <p:nvSpPr>
          <p:cNvPr id="117765" name="Rectangle 2"/>
          <p:cNvSpPr>
            <a:spLocks noGrp="1" noChangeArrowheads="1"/>
          </p:cNvSpPr>
          <p:nvPr>
            <p:ph type="title" idx="4294967295"/>
          </p:nvPr>
        </p:nvSpPr>
        <p:spPr/>
        <p:txBody>
          <a:bodyPr/>
          <a:lstStyle/>
          <a:p>
            <a:r>
              <a:rPr lang="en-US"/>
              <a:t>Dreaded ABA Problem</a:t>
            </a:r>
          </a:p>
        </p:txBody>
      </p:sp>
      <p:sp>
        <p:nvSpPr>
          <p:cNvPr id="117766"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7804"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05"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06"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07"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7808"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7809"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7810"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11"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12"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7795"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796"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797"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798"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7799"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7800"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7801"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02"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7803"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7769"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7770"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7771"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7772"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nvGrpSpPr>
          <p:cNvPr id="4" name="Group 29"/>
          <p:cNvGrpSpPr>
            <a:grpSpLocks/>
          </p:cNvGrpSpPr>
          <p:nvPr/>
        </p:nvGrpSpPr>
        <p:grpSpPr bwMode="auto">
          <a:xfrm>
            <a:off x="2714625" y="5702300"/>
            <a:ext cx="779463" cy="536575"/>
            <a:chOff x="3507" y="1789"/>
            <a:chExt cx="858" cy="497"/>
          </a:xfrm>
        </p:grpSpPr>
        <p:sp>
          <p:nvSpPr>
            <p:cNvPr id="117790" name="Oval 30"/>
            <p:cNvSpPr>
              <a:spLocks noChangeArrowheads="1"/>
            </p:cNvSpPr>
            <p:nvPr/>
          </p:nvSpPr>
          <p:spPr bwMode="auto">
            <a:xfrm>
              <a:off x="3507" y="1789"/>
              <a:ext cx="858" cy="497"/>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1"/>
            <p:cNvGrpSpPr>
              <a:grpSpLocks/>
            </p:cNvGrpSpPr>
            <p:nvPr/>
          </p:nvGrpSpPr>
          <p:grpSpPr bwMode="auto">
            <a:xfrm>
              <a:off x="3758" y="2002"/>
              <a:ext cx="357" cy="76"/>
              <a:chOff x="4109" y="1226"/>
              <a:chExt cx="357" cy="76"/>
            </a:xfrm>
          </p:grpSpPr>
          <p:sp>
            <p:nvSpPr>
              <p:cNvPr id="117792" name="Freeform 3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7793" name="Freeform 3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7794" name="Freeform 3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5"/>
          <p:cNvGrpSpPr>
            <a:grpSpLocks/>
          </p:cNvGrpSpPr>
          <p:nvPr/>
        </p:nvGrpSpPr>
        <p:grpSpPr bwMode="auto">
          <a:xfrm>
            <a:off x="4584700" y="4711700"/>
            <a:ext cx="779463" cy="536575"/>
            <a:chOff x="3507" y="1789"/>
            <a:chExt cx="858" cy="497"/>
          </a:xfrm>
        </p:grpSpPr>
        <p:sp>
          <p:nvSpPr>
            <p:cNvPr id="117785" name="Oval 36"/>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37"/>
            <p:cNvGrpSpPr>
              <a:grpSpLocks/>
            </p:cNvGrpSpPr>
            <p:nvPr/>
          </p:nvGrpSpPr>
          <p:grpSpPr bwMode="auto">
            <a:xfrm>
              <a:off x="3758" y="2002"/>
              <a:ext cx="357" cy="76"/>
              <a:chOff x="4109" y="1226"/>
              <a:chExt cx="357" cy="76"/>
            </a:xfrm>
          </p:grpSpPr>
          <p:sp>
            <p:nvSpPr>
              <p:cNvPr id="117787" name="Freeform 3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7788" name="Freeform 3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7789" name="Freeform 4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41"/>
          <p:cNvGrpSpPr>
            <a:grpSpLocks/>
          </p:cNvGrpSpPr>
          <p:nvPr/>
        </p:nvGrpSpPr>
        <p:grpSpPr bwMode="auto">
          <a:xfrm>
            <a:off x="3397250" y="546100"/>
            <a:ext cx="2247900" cy="1320800"/>
            <a:chOff x="2140" y="344"/>
            <a:chExt cx="1416" cy="832"/>
          </a:xfrm>
        </p:grpSpPr>
        <p:sp>
          <p:nvSpPr>
            <p:cNvPr id="117778" name="AutoShape 42"/>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9" name="Group 43"/>
            <p:cNvGrpSpPr>
              <a:grpSpLocks/>
            </p:cNvGrpSpPr>
            <p:nvPr/>
          </p:nvGrpSpPr>
          <p:grpSpPr bwMode="auto">
            <a:xfrm>
              <a:off x="2602" y="576"/>
              <a:ext cx="491" cy="338"/>
              <a:chOff x="3507" y="1789"/>
              <a:chExt cx="858" cy="497"/>
            </a:xfrm>
          </p:grpSpPr>
          <p:sp>
            <p:nvSpPr>
              <p:cNvPr id="117780" name="Oval 44"/>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0" name="Group 45"/>
              <p:cNvGrpSpPr>
                <a:grpSpLocks/>
              </p:cNvGrpSpPr>
              <p:nvPr/>
            </p:nvGrpSpPr>
            <p:grpSpPr bwMode="auto">
              <a:xfrm>
                <a:off x="3758" y="2002"/>
                <a:ext cx="357" cy="76"/>
                <a:chOff x="4109" y="1226"/>
                <a:chExt cx="357" cy="76"/>
              </a:xfrm>
            </p:grpSpPr>
            <p:sp>
              <p:nvSpPr>
                <p:cNvPr id="117782" name="Freeform 4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7783" name="Freeform 4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7784" name="Freeform 4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830513" name="Freeform 49"/>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830514" name="Freeform 50"/>
          <p:cNvSpPr>
            <a:spLocks/>
          </p:cNvSpPr>
          <p:nvPr/>
        </p:nvSpPr>
        <p:spPr bwMode="auto">
          <a:xfrm>
            <a:off x="1841500" y="3467100"/>
            <a:ext cx="2590800" cy="1536700"/>
          </a:xfrm>
          <a:custGeom>
            <a:avLst/>
            <a:gdLst>
              <a:gd name="T0" fmla="*/ 0 w 1632"/>
              <a:gd name="T1" fmla="*/ 0 h 968"/>
              <a:gd name="T2" fmla="*/ 2147483647 w 1632"/>
              <a:gd name="T3" fmla="*/ 2147483647 h 968"/>
              <a:gd name="T4" fmla="*/ 2147483647 w 1632"/>
              <a:gd name="T5" fmla="*/ 2147483647 h 968"/>
              <a:gd name="T6" fmla="*/ 0 60000 65536"/>
              <a:gd name="T7" fmla="*/ 0 60000 65536"/>
              <a:gd name="T8" fmla="*/ 0 60000 65536"/>
              <a:gd name="T9" fmla="*/ 0 w 1632"/>
              <a:gd name="T10" fmla="*/ 0 h 968"/>
              <a:gd name="T11" fmla="*/ 1632 w 1632"/>
              <a:gd name="T12" fmla="*/ 968 h 968"/>
            </a:gdLst>
            <a:ahLst/>
            <a:cxnLst>
              <a:cxn ang="T6">
                <a:pos x="T0" y="T1"/>
              </a:cxn>
              <a:cxn ang="T7">
                <a:pos x="T2" y="T3"/>
              </a:cxn>
              <a:cxn ang="T8">
                <a:pos x="T4" y="T5"/>
              </a:cxn>
            </a:cxnLst>
            <a:rect l="T9" t="T10" r="T11" b="T12"/>
            <a:pathLst>
              <a:path w="1632" h="968">
                <a:moveTo>
                  <a:pt x="0" y="0"/>
                </a:moveTo>
                <a:cubicBezTo>
                  <a:pt x="64" y="324"/>
                  <a:pt x="128" y="648"/>
                  <a:pt x="400" y="808"/>
                </a:cubicBezTo>
                <a:cubicBezTo>
                  <a:pt x="672" y="968"/>
                  <a:pt x="1152" y="964"/>
                  <a:pt x="1632" y="960"/>
                </a:cubicBezTo>
              </a:path>
            </a:pathLst>
          </a:custGeom>
          <a:noFill/>
          <a:ln w="76200">
            <a:solidFill>
              <a:schemeClr val="tx1"/>
            </a:solidFill>
            <a:round/>
            <a:headEnd/>
            <a:tailEnd type="triangle" w="med" len="med"/>
          </a:ln>
        </p:spPr>
        <p:txBody>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0.00104 -0.0037 L -0.00035 -0.09444 " pathEditMode="relative" rAng="0" ptsTypes="AA">
                                      <p:cBhvr>
                                        <p:cTn id="10" dur="2000" fill="hold"/>
                                        <p:tgtEl>
                                          <p:spTgt spid="6"/>
                                        </p:tgtEl>
                                        <p:attrNameLst>
                                          <p:attrName>ppt_x</p:attrName>
                                          <p:attrName>ppt_y</p:attrName>
                                        </p:attrNameLst>
                                      </p:cBhvr>
                                      <p:rCtr x="-100" y="-4500"/>
                                    </p:animMotion>
                                  </p:childTnLst>
                                </p:cTn>
                              </p:par>
                              <p:par>
                                <p:cTn id="11" presetID="0" presetClass="path" presetSubtype="0" accel="50000" decel="50000" fill="hold" nodeType="withEffect">
                                  <p:stCondLst>
                                    <p:cond delay="0"/>
                                  </p:stCondLst>
                                  <p:childTnLst>
                                    <p:animMotion origin="layout" path="M 2.77778E-7 -0.0037 C 0.07517 0.01644 0.15052 0.03681 0.18472 0.0125 C 0.21892 -0.01157 0.20208 -0.12153 0.20556 -0.14815 " pathEditMode="relative" rAng="0" ptsTypes="aaA">
                                      <p:cBhvr>
                                        <p:cTn id="12" dur="2000" fill="hold"/>
                                        <p:tgtEl>
                                          <p:spTgt spid="4"/>
                                        </p:tgtEl>
                                        <p:attrNameLst>
                                          <p:attrName>ppt_x</p:attrName>
                                          <p:attrName>ppt_y</p:attrName>
                                        </p:attrNameLst>
                                      </p:cBhvr>
                                      <p:rCtr x="10900" y="-5200"/>
                                    </p:animMotion>
                                  </p:childTnLst>
                                </p:cTn>
                              </p:par>
                            </p:childTnLst>
                          </p:cTn>
                        </p:par>
                        <p:par>
                          <p:cTn id="13" fill="hold">
                            <p:stCondLst>
                              <p:cond delay="2500"/>
                            </p:stCondLst>
                            <p:childTnLst>
                              <p:par>
                                <p:cTn id="14" presetID="3" presetClass="exit" presetSubtype="10" fill="hold" grpId="0" nodeType="afterEffect">
                                  <p:stCondLst>
                                    <p:cond delay="0"/>
                                  </p:stCondLst>
                                  <p:childTnLst>
                                    <p:animEffect transition="out" filter="blinds(horizontal)">
                                      <p:cBhvr>
                                        <p:cTn id="15" dur="500"/>
                                        <p:tgtEl>
                                          <p:spTgt spid="830514"/>
                                        </p:tgtEl>
                                      </p:cBhvr>
                                    </p:animEffect>
                                    <p:set>
                                      <p:cBhvr>
                                        <p:cTn id="16" dur="1" fill="hold">
                                          <p:stCondLst>
                                            <p:cond delay="499"/>
                                          </p:stCondLst>
                                        </p:cTn>
                                        <p:tgtEl>
                                          <p:spTgt spid="830514"/>
                                        </p:tgtEl>
                                        <p:attrNameLst>
                                          <p:attrName>style.visibility</p:attrName>
                                        </p:attrNameLst>
                                      </p:cBhvr>
                                      <p:to>
                                        <p:strVal val="hidden"/>
                                      </p:to>
                                    </p:set>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830513"/>
                                        </p:tgtEl>
                                        <p:attrNameLst>
                                          <p:attrName>style.visibility</p:attrName>
                                        </p:attrNameLst>
                                      </p:cBhvr>
                                      <p:to>
                                        <p:strVal val="visible"/>
                                      </p:to>
                                    </p:set>
                                    <p:animEffect transition="in" filter="blinds(horizontal)">
                                      <p:cBhvr>
                                        <p:cTn id="20" dur="500"/>
                                        <p:tgtEl>
                                          <p:spTgt spid="830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513" grpId="0" animBg="1"/>
      <p:bldP spid="83051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1"/>
          <p:cNvSpPr>
            <a:spLocks noGrp="1"/>
          </p:cNvSpPr>
          <p:nvPr>
            <p:ph type="ftr" sz="quarter" idx="10"/>
          </p:nvPr>
        </p:nvSpPr>
        <p:spPr>
          <a:noFill/>
        </p:spPr>
        <p:txBody>
          <a:bodyPr/>
          <a:lstStyle/>
          <a:p>
            <a:r>
              <a:rPr lang="en-US"/>
              <a:t>Art of Multiprocessor Programming</a:t>
            </a:r>
          </a:p>
        </p:txBody>
      </p:sp>
      <p:sp>
        <p:nvSpPr>
          <p:cNvPr id="118787" name="Slide Number Placeholder 2"/>
          <p:cNvSpPr>
            <a:spLocks noGrp="1"/>
          </p:cNvSpPr>
          <p:nvPr>
            <p:ph type="sldNum" sz="quarter" idx="11"/>
          </p:nvPr>
        </p:nvSpPr>
        <p:spPr>
          <a:noFill/>
        </p:spPr>
        <p:txBody>
          <a:bodyPr/>
          <a:lstStyle/>
          <a:p>
            <a:fld id="{F69AF301-EA93-4C06-9418-3EC21F667B05}" type="slidenum">
              <a:rPr lang="x-none" smtClean="0"/>
              <a:pPr/>
              <a:t>109</a:t>
            </a:fld>
            <a:endParaRPr lang="en-US"/>
          </a:p>
        </p:txBody>
      </p:sp>
      <p:sp>
        <p:nvSpPr>
          <p:cNvPr id="5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1B51CA4-1A6A-43FB-9CF1-5AB86AFBF6D5}" type="slidenum">
              <a:rPr lang="x-none" sz="1400">
                <a:solidFill>
                  <a:schemeClr val="tx1"/>
                </a:solidFill>
                <a:latin typeface="Arial" pitchFamily="34" charset="0"/>
                <a:cs typeface="Arial" pitchFamily="34" charset="0"/>
              </a:rPr>
              <a:pPr>
                <a:defRPr/>
              </a:pPr>
              <a:t>109</a:t>
            </a:fld>
            <a:endParaRPr lang="en-US" sz="1400" dirty="0">
              <a:solidFill>
                <a:schemeClr val="tx1"/>
              </a:solidFill>
              <a:latin typeface="Arial" pitchFamily="34" charset="0"/>
              <a:cs typeface="Arial" pitchFamily="34" charset="0"/>
            </a:endParaRPr>
          </a:p>
        </p:txBody>
      </p:sp>
      <p:sp>
        <p:nvSpPr>
          <p:cNvPr id="118789" name="Rectangle 2"/>
          <p:cNvSpPr>
            <a:spLocks noGrp="1" noChangeArrowheads="1"/>
          </p:cNvSpPr>
          <p:nvPr>
            <p:ph type="title" idx="4294967295"/>
          </p:nvPr>
        </p:nvSpPr>
        <p:spPr/>
        <p:txBody>
          <a:bodyPr/>
          <a:lstStyle/>
          <a:p>
            <a:r>
              <a:rPr lang="en-US"/>
              <a:t>Dreaded ABA Problem</a:t>
            </a:r>
          </a:p>
        </p:txBody>
      </p:sp>
      <p:sp>
        <p:nvSpPr>
          <p:cNvPr id="118790" name="Rectangle 3"/>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4"/>
          <p:cNvGrpSpPr>
            <a:grpSpLocks/>
          </p:cNvGrpSpPr>
          <p:nvPr/>
        </p:nvGrpSpPr>
        <p:grpSpPr bwMode="auto">
          <a:xfrm>
            <a:off x="2012950" y="4919663"/>
            <a:ext cx="1206500" cy="1189037"/>
            <a:chOff x="1584" y="816"/>
            <a:chExt cx="912" cy="816"/>
          </a:xfrm>
        </p:grpSpPr>
        <p:sp>
          <p:nvSpPr>
            <p:cNvPr id="118834" name="Freeform 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35" name="Freeform 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36" name="Freeform 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37" name="Freeform 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8838" name="Freeform 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8839" name="Freeform 1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8840" name="Freeform 1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41" name="Freeform 1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42" name="Freeform 1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4"/>
          <p:cNvGrpSpPr>
            <a:grpSpLocks/>
          </p:cNvGrpSpPr>
          <p:nvPr/>
        </p:nvGrpSpPr>
        <p:grpSpPr bwMode="auto">
          <a:xfrm>
            <a:off x="2406650" y="1795463"/>
            <a:ext cx="1206500" cy="1189037"/>
            <a:chOff x="1584" y="816"/>
            <a:chExt cx="912" cy="816"/>
          </a:xfrm>
        </p:grpSpPr>
        <p:sp>
          <p:nvSpPr>
            <p:cNvPr id="118825" name="Freeform 1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26" name="Freeform 1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27" name="Freeform 17"/>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28" name="Freeform 1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8829" name="Freeform 1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8830" name="Freeform 2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8831" name="Freeform 21"/>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32" name="Freeform 22"/>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8833" name="Freeform 23"/>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8793" name="Freeform 24"/>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8794" name="Oval 25"/>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8795" name="Oval 26"/>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8796" name="Rectangle 27"/>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nvGrpSpPr>
          <p:cNvPr id="4" name="Group 29"/>
          <p:cNvGrpSpPr>
            <a:grpSpLocks/>
          </p:cNvGrpSpPr>
          <p:nvPr/>
        </p:nvGrpSpPr>
        <p:grpSpPr bwMode="auto">
          <a:xfrm>
            <a:off x="4584700" y="4699000"/>
            <a:ext cx="779463" cy="536575"/>
            <a:chOff x="3507" y="1789"/>
            <a:chExt cx="858" cy="497"/>
          </a:xfrm>
        </p:grpSpPr>
        <p:sp>
          <p:nvSpPr>
            <p:cNvPr id="118820" name="Oval 30"/>
            <p:cNvSpPr>
              <a:spLocks noChangeArrowheads="1"/>
            </p:cNvSpPr>
            <p:nvPr/>
          </p:nvSpPr>
          <p:spPr bwMode="auto">
            <a:xfrm>
              <a:off x="3507" y="1789"/>
              <a:ext cx="858" cy="497"/>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1"/>
            <p:cNvGrpSpPr>
              <a:grpSpLocks/>
            </p:cNvGrpSpPr>
            <p:nvPr/>
          </p:nvGrpSpPr>
          <p:grpSpPr bwMode="auto">
            <a:xfrm>
              <a:off x="3758" y="2002"/>
              <a:ext cx="357" cy="76"/>
              <a:chOff x="4109" y="1226"/>
              <a:chExt cx="357" cy="76"/>
            </a:xfrm>
          </p:grpSpPr>
          <p:sp>
            <p:nvSpPr>
              <p:cNvPr id="118822" name="Freeform 3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8823" name="Freeform 3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8824" name="Freeform 3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5"/>
          <p:cNvGrpSpPr>
            <a:grpSpLocks/>
          </p:cNvGrpSpPr>
          <p:nvPr/>
        </p:nvGrpSpPr>
        <p:grpSpPr bwMode="auto">
          <a:xfrm>
            <a:off x="2946400" y="5689600"/>
            <a:ext cx="779463" cy="536575"/>
            <a:chOff x="3507" y="1789"/>
            <a:chExt cx="858" cy="497"/>
          </a:xfrm>
        </p:grpSpPr>
        <p:sp>
          <p:nvSpPr>
            <p:cNvPr id="118815" name="Oval 36"/>
            <p:cNvSpPr>
              <a:spLocks noChangeArrowheads="1"/>
            </p:cNvSpPr>
            <p:nvPr/>
          </p:nvSpPr>
          <p:spPr bwMode="auto">
            <a:xfrm>
              <a:off x="3507" y="1789"/>
              <a:ext cx="858" cy="497"/>
            </a:xfrm>
            <a:prstGeom prst="ellipse">
              <a:avLst/>
            </a:prstGeom>
            <a:solidFill>
              <a:srgbClr val="CC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37"/>
            <p:cNvGrpSpPr>
              <a:grpSpLocks/>
            </p:cNvGrpSpPr>
            <p:nvPr/>
          </p:nvGrpSpPr>
          <p:grpSpPr bwMode="auto">
            <a:xfrm>
              <a:off x="3758" y="2002"/>
              <a:ext cx="357" cy="76"/>
              <a:chOff x="4109" y="1226"/>
              <a:chExt cx="357" cy="76"/>
            </a:xfrm>
          </p:grpSpPr>
          <p:sp>
            <p:nvSpPr>
              <p:cNvPr id="118817" name="Freeform 3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8818" name="Freeform 3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8819" name="Freeform 4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41"/>
          <p:cNvGrpSpPr>
            <a:grpSpLocks/>
          </p:cNvGrpSpPr>
          <p:nvPr/>
        </p:nvGrpSpPr>
        <p:grpSpPr bwMode="auto">
          <a:xfrm>
            <a:off x="4597400" y="4051300"/>
            <a:ext cx="779463" cy="536575"/>
            <a:chOff x="3507" y="1789"/>
            <a:chExt cx="858" cy="497"/>
          </a:xfrm>
        </p:grpSpPr>
        <p:sp>
          <p:nvSpPr>
            <p:cNvPr id="118810" name="Oval 42"/>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43"/>
            <p:cNvGrpSpPr>
              <a:grpSpLocks/>
            </p:cNvGrpSpPr>
            <p:nvPr/>
          </p:nvGrpSpPr>
          <p:grpSpPr bwMode="auto">
            <a:xfrm>
              <a:off x="3758" y="2002"/>
              <a:ext cx="357" cy="76"/>
              <a:chOff x="4109" y="1226"/>
              <a:chExt cx="357" cy="76"/>
            </a:xfrm>
          </p:grpSpPr>
          <p:sp>
            <p:nvSpPr>
              <p:cNvPr id="118812" name="Freeform 4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8813" name="Freeform 4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8814" name="Freeform 4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 name="Group 47"/>
          <p:cNvGrpSpPr>
            <a:grpSpLocks/>
          </p:cNvGrpSpPr>
          <p:nvPr/>
        </p:nvGrpSpPr>
        <p:grpSpPr bwMode="auto">
          <a:xfrm>
            <a:off x="3397250" y="546100"/>
            <a:ext cx="2247900" cy="1320800"/>
            <a:chOff x="2140" y="344"/>
            <a:chExt cx="1416" cy="832"/>
          </a:xfrm>
        </p:grpSpPr>
        <p:sp>
          <p:nvSpPr>
            <p:cNvPr id="118803" name="AutoShape 48"/>
            <p:cNvSpPr>
              <a:spLocks noChangeArrowheads="1"/>
            </p:cNvSpPr>
            <p:nvPr/>
          </p:nvSpPr>
          <p:spPr bwMode="auto">
            <a:xfrm>
              <a:off x="2140" y="344"/>
              <a:ext cx="1416" cy="832"/>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11" name="Group 49"/>
            <p:cNvGrpSpPr>
              <a:grpSpLocks/>
            </p:cNvGrpSpPr>
            <p:nvPr/>
          </p:nvGrpSpPr>
          <p:grpSpPr bwMode="auto">
            <a:xfrm>
              <a:off x="2602" y="576"/>
              <a:ext cx="491" cy="338"/>
              <a:chOff x="3507" y="1789"/>
              <a:chExt cx="858" cy="497"/>
            </a:xfrm>
          </p:grpSpPr>
          <p:sp>
            <p:nvSpPr>
              <p:cNvPr id="118805" name="Oval 5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2" name="Group 51"/>
              <p:cNvGrpSpPr>
                <a:grpSpLocks/>
              </p:cNvGrpSpPr>
              <p:nvPr/>
            </p:nvGrpSpPr>
            <p:grpSpPr bwMode="auto">
              <a:xfrm>
                <a:off x="3758" y="2002"/>
                <a:ext cx="357" cy="76"/>
                <a:chOff x="4109" y="1226"/>
                <a:chExt cx="357" cy="76"/>
              </a:xfrm>
            </p:grpSpPr>
            <p:sp>
              <p:nvSpPr>
                <p:cNvPr id="118807" name="Freeform 5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8808" name="Freeform 5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8809" name="Freeform 5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sp>
        <p:nvSpPr>
          <p:cNvPr id="831545" name="Freeform 57"/>
          <p:cNvSpPr>
            <a:spLocks/>
          </p:cNvSpPr>
          <p:nvPr/>
        </p:nvSpPr>
        <p:spPr bwMode="auto">
          <a:xfrm>
            <a:off x="2171700" y="32893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831546" name="Freeform 58"/>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0191 -0.00023 C 0.08038 -0.00139 0.39861 0.04722 0.47291 -0.00926 C 0.54722 -0.06574 0.46805 -0.32292 0.44791 -0.33889 C 0.42777 -0.35486 0.32552 -0.15 0.35208 -0.10556 C 0.37864 -0.06111 0.58003 -0.05833 0.60764 -0.07222 C 0.63524 -0.08611 0.5783 -0.19931 0.51736 -0.18889 C 0.45642 -0.17847 0.29861 -0.01713 0.24236 -0.00926 C 0.18611 -0.00139 0.19271 -0.11343 0.17968 -0.14097 " pathEditMode="relative" rAng="0" ptsTypes="aaaaaaaa">
                                      <p:cBhvr>
                                        <p:cTn id="6" dur="2000" fill="hold"/>
                                        <p:tgtEl>
                                          <p:spTgt spid="6"/>
                                        </p:tgtEl>
                                        <p:attrNameLst>
                                          <p:attrName>ppt_x</p:attrName>
                                          <p:attrName>ppt_y</p:attrName>
                                        </p:attrNameLst>
                                      </p:cBhvr>
                                      <p:rCtr x="31700" y="-15400"/>
                                    </p:animMotion>
                                  </p:childTnLst>
                                </p:cTn>
                              </p:par>
                              <p:par>
                                <p:cTn id="7" presetID="0" presetClass="path" presetSubtype="0" accel="50000" decel="50000" fill="hold" nodeType="withEffect">
                                  <p:stCondLst>
                                    <p:cond delay="0"/>
                                  </p:stCondLst>
                                  <p:childTnLst>
                                    <p:animMotion origin="layout" path="M 0.0 0.0 L 0.0 -0.09815 " pathEditMode="relative" ptsTypes="AA">
                                      <p:cBhvr>
                                        <p:cTn id="8" dur="2000" fill="hold"/>
                                        <p:tgtEl>
                                          <p:spTgt spid="4"/>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0 0.0 L 0.0 -0.09815 " pathEditMode="relative" ptsTypes="AA">
                                      <p:cBhvr>
                                        <p:cTn id="10" dur="2000" fill="hold"/>
                                        <p:tgtEl>
                                          <p:spTgt spid="8"/>
                                        </p:tgtEl>
                                        <p:attrNameLst>
                                          <p:attrName>ppt_x</p:attrName>
                                          <p:attrName>ppt_y</p:attrName>
                                        </p:attrNameLst>
                                      </p:cBhvr>
                                    </p:animMotion>
                                  </p:childTnLst>
                                </p:cTn>
                              </p:par>
                            </p:childTnLst>
                          </p:cTn>
                        </p:par>
                        <p:par>
                          <p:cTn id="11" fill="hold">
                            <p:stCondLst>
                              <p:cond delay="2000"/>
                            </p:stCondLst>
                            <p:childTnLst>
                              <p:par>
                                <p:cTn id="12" presetID="3" presetClass="exit" presetSubtype="10" fill="hold" grpId="0" nodeType="afterEffect">
                                  <p:stCondLst>
                                    <p:cond delay="0"/>
                                  </p:stCondLst>
                                  <p:childTnLst>
                                    <p:animEffect transition="out" filter="blinds(horizontal)">
                                      <p:cBhvr>
                                        <p:cTn id="13" dur="500"/>
                                        <p:tgtEl>
                                          <p:spTgt spid="831546"/>
                                        </p:tgtEl>
                                      </p:cBhvr>
                                    </p:animEffect>
                                    <p:set>
                                      <p:cBhvr>
                                        <p:cTn id="14" dur="1" fill="hold">
                                          <p:stCondLst>
                                            <p:cond delay="499"/>
                                          </p:stCondLst>
                                        </p:cTn>
                                        <p:tgtEl>
                                          <p:spTgt spid="831546"/>
                                        </p:tgtEl>
                                        <p:attrNameLst>
                                          <p:attrName>style.visibility</p:attrName>
                                        </p:attrNameLst>
                                      </p:cBhvr>
                                      <p:to>
                                        <p:strVal val="hidden"/>
                                      </p:to>
                                    </p:set>
                                  </p:childTnLst>
                                </p:cTn>
                              </p:par>
                            </p:childTnLst>
                          </p:cTn>
                        </p:par>
                        <p:par>
                          <p:cTn id="15" fill="hold">
                            <p:stCondLst>
                              <p:cond delay="2500"/>
                            </p:stCondLst>
                            <p:childTnLst>
                              <p:par>
                                <p:cTn id="16" presetID="3" presetClass="entr" presetSubtype="10" fill="hold" grpId="0" nodeType="afterEffect">
                                  <p:stCondLst>
                                    <p:cond delay="0"/>
                                  </p:stCondLst>
                                  <p:childTnLst>
                                    <p:set>
                                      <p:cBhvr>
                                        <p:cTn id="17" dur="1" fill="hold">
                                          <p:stCondLst>
                                            <p:cond delay="0"/>
                                          </p:stCondLst>
                                        </p:cTn>
                                        <p:tgtEl>
                                          <p:spTgt spid="831545"/>
                                        </p:tgtEl>
                                        <p:attrNameLst>
                                          <p:attrName>style.visibility</p:attrName>
                                        </p:attrNameLst>
                                      </p:cBhvr>
                                      <p:to>
                                        <p:strVal val="visible"/>
                                      </p:to>
                                    </p:set>
                                    <p:animEffect transition="in" filter="blinds(horizontal)">
                                      <p:cBhvr>
                                        <p:cTn id="18" dur="500"/>
                                        <p:tgtEl>
                                          <p:spTgt spid="831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545" grpId="0" animBg="1"/>
      <p:bldP spid="83154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Footer Placeholder 1"/>
          <p:cNvSpPr>
            <a:spLocks noGrp="1"/>
          </p:cNvSpPr>
          <p:nvPr>
            <p:ph type="ftr" sz="quarter" idx="10"/>
          </p:nvPr>
        </p:nvSpPr>
        <p:spPr>
          <a:noFill/>
        </p:spPr>
        <p:txBody>
          <a:bodyPr/>
          <a:lstStyle/>
          <a:p>
            <a:r>
              <a:rPr lang="en-US"/>
              <a:t>Art of Multiprocessor Programming</a:t>
            </a:r>
          </a:p>
        </p:txBody>
      </p:sp>
      <p:sp>
        <p:nvSpPr>
          <p:cNvPr id="119811" name="Slide Number Placeholder 2"/>
          <p:cNvSpPr>
            <a:spLocks noGrp="1"/>
          </p:cNvSpPr>
          <p:nvPr>
            <p:ph type="sldNum" sz="quarter" idx="11"/>
          </p:nvPr>
        </p:nvSpPr>
        <p:spPr>
          <a:noFill/>
        </p:spPr>
        <p:txBody>
          <a:bodyPr/>
          <a:lstStyle/>
          <a:p>
            <a:fld id="{67F7CC4E-6878-4F64-B787-7FC107FE00B8}" type="slidenum">
              <a:rPr lang="x-none" smtClean="0"/>
              <a:pPr/>
              <a:t>110</a:t>
            </a:fld>
            <a:endParaRPr lang="en-US"/>
          </a:p>
        </p:txBody>
      </p:sp>
      <p:sp>
        <p:nvSpPr>
          <p:cNvPr id="59"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029FD5A-CC5C-46D1-965E-CC214B1DB499}" type="slidenum">
              <a:rPr lang="x-none" sz="1400">
                <a:solidFill>
                  <a:schemeClr val="tx1"/>
                </a:solidFill>
                <a:latin typeface="Arial" pitchFamily="34" charset="0"/>
                <a:cs typeface="Arial" pitchFamily="34" charset="0"/>
              </a:rPr>
              <a:pPr>
                <a:defRPr/>
              </a:pPr>
              <a:t>110</a:t>
            </a:fld>
            <a:endParaRPr lang="en-US" sz="1400" dirty="0">
              <a:solidFill>
                <a:schemeClr val="tx1"/>
              </a:solidFill>
              <a:latin typeface="Arial" pitchFamily="34" charset="0"/>
              <a:cs typeface="Arial" pitchFamily="34" charset="0"/>
            </a:endParaRPr>
          </a:p>
        </p:txBody>
      </p:sp>
      <p:sp>
        <p:nvSpPr>
          <p:cNvPr id="832514" name="Freeform 2"/>
          <p:cNvSpPr>
            <a:spLocks/>
          </p:cNvSpPr>
          <p:nvPr/>
        </p:nvSpPr>
        <p:spPr bwMode="auto">
          <a:xfrm>
            <a:off x="1816100" y="3390900"/>
            <a:ext cx="2870200" cy="1104900"/>
          </a:xfrm>
          <a:custGeom>
            <a:avLst/>
            <a:gdLst>
              <a:gd name="T0" fmla="*/ 0 w 1808"/>
              <a:gd name="T1" fmla="*/ 0 h 696"/>
              <a:gd name="T2" fmla="*/ 2147483647 w 1808"/>
              <a:gd name="T3" fmla="*/ 2147483647 h 696"/>
              <a:gd name="T4" fmla="*/ 2147483647 w 1808"/>
              <a:gd name="T5" fmla="*/ 2147483647 h 696"/>
              <a:gd name="T6" fmla="*/ 0 60000 65536"/>
              <a:gd name="T7" fmla="*/ 0 60000 65536"/>
              <a:gd name="T8" fmla="*/ 0 60000 65536"/>
              <a:gd name="T9" fmla="*/ 0 w 1808"/>
              <a:gd name="T10" fmla="*/ 0 h 696"/>
              <a:gd name="T11" fmla="*/ 1808 w 1808"/>
              <a:gd name="T12" fmla="*/ 696 h 696"/>
            </a:gdLst>
            <a:ahLst/>
            <a:cxnLst>
              <a:cxn ang="T6">
                <a:pos x="T0" y="T1"/>
              </a:cxn>
              <a:cxn ang="T7">
                <a:pos x="T2" y="T3"/>
              </a:cxn>
              <a:cxn ang="T8">
                <a:pos x="T4" y="T5"/>
              </a:cxn>
            </a:cxnLst>
            <a:rect l="T9" t="T10" r="T11" b="T12"/>
            <a:pathLst>
              <a:path w="1808" h="696">
                <a:moveTo>
                  <a:pt x="0" y="0"/>
                </a:moveTo>
                <a:cubicBezTo>
                  <a:pt x="131" y="99"/>
                  <a:pt x="483" y="504"/>
                  <a:pt x="784" y="600"/>
                </a:cubicBezTo>
                <a:cubicBezTo>
                  <a:pt x="1085" y="696"/>
                  <a:pt x="1422" y="601"/>
                  <a:pt x="1808" y="576"/>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19814" name="Rectangle 3"/>
          <p:cNvSpPr>
            <a:spLocks noGrp="1" noChangeArrowheads="1"/>
          </p:cNvSpPr>
          <p:nvPr>
            <p:ph type="title" idx="4294967295"/>
          </p:nvPr>
        </p:nvSpPr>
        <p:spPr/>
        <p:txBody>
          <a:bodyPr/>
          <a:lstStyle/>
          <a:p>
            <a:r>
              <a:rPr lang="en-US"/>
              <a:t>Dreaded ABA Problem</a:t>
            </a:r>
          </a:p>
        </p:txBody>
      </p:sp>
      <p:sp>
        <p:nvSpPr>
          <p:cNvPr id="119815" name="Rectangle 4"/>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5"/>
          <p:cNvGrpSpPr>
            <a:grpSpLocks/>
          </p:cNvGrpSpPr>
          <p:nvPr/>
        </p:nvGrpSpPr>
        <p:grpSpPr bwMode="auto">
          <a:xfrm>
            <a:off x="2012950" y="4919663"/>
            <a:ext cx="1206500" cy="1189037"/>
            <a:chOff x="1584" y="816"/>
            <a:chExt cx="912" cy="816"/>
          </a:xfrm>
        </p:grpSpPr>
        <p:sp>
          <p:nvSpPr>
            <p:cNvPr id="119860" name="Freeform 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61" name="Freeform 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62" name="Freeform 8"/>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63" name="Freeform 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9864" name="Freeform 1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9865" name="Freeform 1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sp>
          <p:nvSpPr>
            <p:cNvPr id="119866" name="Freeform 12"/>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67" name="Freeform 13"/>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68" name="Freeform 14"/>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5"/>
          <p:cNvGrpSpPr>
            <a:grpSpLocks/>
          </p:cNvGrpSpPr>
          <p:nvPr/>
        </p:nvGrpSpPr>
        <p:grpSpPr bwMode="auto">
          <a:xfrm>
            <a:off x="2406650" y="1795463"/>
            <a:ext cx="1206500" cy="1189037"/>
            <a:chOff x="1584" y="816"/>
            <a:chExt cx="912" cy="816"/>
          </a:xfrm>
        </p:grpSpPr>
        <p:sp>
          <p:nvSpPr>
            <p:cNvPr id="119851" name="Freeform 1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52" name="Freeform 1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53" name="Freeform 18"/>
            <p:cNvSpPr>
              <a:spLocks/>
            </p:cNvSpPr>
            <p:nvPr/>
          </p:nvSpPr>
          <p:spPr bwMode="auto">
            <a:xfrm>
              <a:off x="1920" y="816"/>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54" name="Freeform 1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9855" name="Freeform 2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9856" name="Freeform 2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19857" name="Freeform 22"/>
            <p:cNvSpPr>
              <a:spLocks/>
            </p:cNvSpPr>
            <p:nvPr/>
          </p:nvSpPr>
          <p:spPr bwMode="auto">
            <a:xfrm>
              <a:off x="1920" y="1296"/>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58" name="Freeform 23"/>
            <p:cNvSpPr>
              <a:spLocks/>
            </p:cNvSpPr>
            <p:nvPr/>
          </p:nvSpPr>
          <p:spPr bwMode="auto">
            <a:xfrm>
              <a:off x="1728" y="1152"/>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19859" name="Freeform 24"/>
            <p:cNvSpPr>
              <a:spLocks/>
            </p:cNvSpPr>
            <p:nvPr/>
          </p:nvSpPr>
          <p:spPr bwMode="auto">
            <a:xfrm>
              <a:off x="1584" y="1008"/>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19818" name="Freeform 25"/>
          <p:cNvSpPr>
            <a:spLocks/>
          </p:cNvSpPr>
          <p:nvPr/>
        </p:nvSpPr>
        <p:spPr bwMode="auto">
          <a:xfrm>
            <a:off x="2906713" y="2157413"/>
            <a:ext cx="777875" cy="558800"/>
          </a:xfrm>
          <a:custGeom>
            <a:avLst/>
            <a:gdLst>
              <a:gd name="T0" fmla="*/ 2147483647 w 490"/>
              <a:gd name="T1" fmla="*/ 2147483647 h 352"/>
              <a:gd name="T2" fmla="*/ 2147483647 w 490"/>
              <a:gd name="T3" fmla="*/ 2147483647 h 352"/>
              <a:gd name="T4" fmla="*/ 2147483647 w 490"/>
              <a:gd name="T5" fmla="*/ 2147483647 h 352"/>
              <a:gd name="T6" fmla="*/ 2147483647 w 490"/>
              <a:gd name="T7" fmla="*/ 2147483647 h 352"/>
              <a:gd name="T8" fmla="*/ 2147483647 w 490"/>
              <a:gd name="T9" fmla="*/ 2147483647 h 352"/>
              <a:gd name="T10" fmla="*/ 2147483647 w 490"/>
              <a:gd name="T11" fmla="*/ 2147483647 h 352"/>
              <a:gd name="T12" fmla="*/ 2147483647 w 490"/>
              <a:gd name="T13" fmla="*/ 2147483647 h 352"/>
              <a:gd name="T14" fmla="*/ 2147483647 w 490"/>
              <a:gd name="T15" fmla="*/ 2147483647 h 352"/>
              <a:gd name="T16" fmla="*/ 2147483647 w 490"/>
              <a:gd name="T17" fmla="*/ 2147483647 h 352"/>
              <a:gd name="T18" fmla="*/ 2147483647 w 490"/>
              <a:gd name="T19" fmla="*/ 2147483647 h 352"/>
              <a:gd name="T20" fmla="*/ 2147483647 w 490"/>
              <a:gd name="T21" fmla="*/ 2147483647 h 3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0"/>
              <a:gd name="T34" fmla="*/ 0 h 352"/>
              <a:gd name="T35" fmla="*/ 490 w 490"/>
              <a:gd name="T36" fmla="*/ 352 h 3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0" h="352">
                <a:moveTo>
                  <a:pt x="233" y="129"/>
                </a:moveTo>
                <a:cubicBezTo>
                  <a:pt x="189" y="144"/>
                  <a:pt x="79" y="167"/>
                  <a:pt x="33" y="209"/>
                </a:cubicBezTo>
                <a:cubicBezTo>
                  <a:pt x="0" y="244"/>
                  <a:pt x="24" y="290"/>
                  <a:pt x="57" y="321"/>
                </a:cubicBezTo>
                <a:cubicBezTo>
                  <a:pt x="90" y="352"/>
                  <a:pt x="169" y="321"/>
                  <a:pt x="169" y="321"/>
                </a:cubicBezTo>
                <a:cubicBezTo>
                  <a:pt x="169" y="321"/>
                  <a:pt x="305" y="225"/>
                  <a:pt x="305" y="225"/>
                </a:cubicBezTo>
                <a:cubicBezTo>
                  <a:pt x="305" y="225"/>
                  <a:pt x="305" y="225"/>
                  <a:pt x="305" y="225"/>
                </a:cubicBezTo>
                <a:cubicBezTo>
                  <a:pt x="305" y="225"/>
                  <a:pt x="440" y="208"/>
                  <a:pt x="465" y="177"/>
                </a:cubicBezTo>
                <a:cubicBezTo>
                  <a:pt x="490" y="146"/>
                  <a:pt x="454" y="78"/>
                  <a:pt x="425" y="41"/>
                </a:cubicBezTo>
                <a:cubicBezTo>
                  <a:pt x="388" y="1"/>
                  <a:pt x="354" y="0"/>
                  <a:pt x="313" y="17"/>
                </a:cubicBezTo>
                <a:cubicBezTo>
                  <a:pt x="272" y="34"/>
                  <a:pt x="254" y="86"/>
                  <a:pt x="241" y="105"/>
                </a:cubicBezTo>
                <a:cubicBezTo>
                  <a:pt x="228" y="124"/>
                  <a:pt x="277" y="114"/>
                  <a:pt x="233" y="129"/>
                </a:cubicBezTo>
                <a:close/>
              </a:path>
            </a:pathLst>
          </a:custGeom>
          <a:solidFill>
            <a:schemeClr val="tx1"/>
          </a:solidFill>
          <a:ln w="38100">
            <a:solidFill>
              <a:schemeClr val="tx1"/>
            </a:solidFill>
            <a:round/>
            <a:headEnd/>
            <a:tailEnd/>
          </a:ln>
        </p:spPr>
        <p:txBody>
          <a:bodyPr wrap="none" anchor="ctr">
            <a:spAutoFit/>
          </a:bodyPr>
          <a:lstStyle/>
          <a:p>
            <a:pPr algn="l"/>
            <a:endParaRPr lang="en-US" b="1">
              <a:latin typeface="Arial" pitchFamily="34" charset="0"/>
            </a:endParaRPr>
          </a:p>
        </p:txBody>
      </p:sp>
      <p:sp>
        <p:nvSpPr>
          <p:cNvPr id="119819" name="Oval 26"/>
          <p:cNvSpPr>
            <a:spLocks noChangeArrowheads="1"/>
          </p:cNvSpPr>
          <p:nvPr/>
        </p:nvSpPr>
        <p:spPr bwMode="auto">
          <a:xfrm rot="-873640">
            <a:off x="3048000" y="24511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9820" name="Oval 27"/>
          <p:cNvSpPr>
            <a:spLocks noChangeArrowheads="1"/>
          </p:cNvSpPr>
          <p:nvPr/>
        </p:nvSpPr>
        <p:spPr bwMode="auto">
          <a:xfrm rot="9076414">
            <a:off x="3340100" y="2286000"/>
            <a:ext cx="228600" cy="152400"/>
          </a:xfrm>
          <a:prstGeom prst="ellipse">
            <a:avLst/>
          </a:prstGeom>
          <a:solidFill>
            <a:schemeClr val="bg1"/>
          </a:solidFill>
          <a:ln w="38100" algn="ctr">
            <a:solidFill>
              <a:schemeClr val="tx1"/>
            </a:solidFill>
            <a:round/>
            <a:headEnd/>
            <a:tailEnd/>
          </a:ln>
        </p:spPr>
        <p:txBody>
          <a:bodyPr anchor="ctr">
            <a:spAutoFit/>
          </a:bodyPr>
          <a:lstStyle/>
          <a:p>
            <a:pPr algn="l"/>
            <a:endParaRPr lang="en-US" b="1">
              <a:latin typeface="Arial" pitchFamily="34" charset="0"/>
            </a:endParaRPr>
          </a:p>
        </p:txBody>
      </p:sp>
      <p:sp>
        <p:nvSpPr>
          <p:cNvPr id="119821" name="Rectangle 28"/>
          <p:cNvSpPr>
            <a:spLocks noChangeArrowheads="1"/>
          </p:cNvSpPr>
          <p:nvPr/>
        </p:nvSpPr>
        <p:spPr bwMode="auto">
          <a:xfrm>
            <a:off x="1089025" y="3089245"/>
            <a:ext cx="1093788"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sp>
        <p:nvSpPr>
          <p:cNvPr id="832541" name="Freeform 29"/>
          <p:cNvSpPr>
            <a:spLocks/>
          </p:cNvSpPr>
          <p:nvPr/>
        </p:nvSpPr>
        <p:spPr bwMode="auto">
          <a:xfrm>
            <a:off x="2171700" y="32893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grpSp>
        <p:nvGrpSpPr>
          <p:cNvPr id="4" name="Group 30"/>
          <p:cNvGrpSpPr>
            <a:grpSpLocks/>
          </p:cNvGrpSpPr>
          <p:nvPr/>
        </p:nvGrpSpPr>
        <p:grpSpPr bwMode="auto">
          <a:xfrm>
            <a:off x="4584700" y="4699000"/>
            <a:ext cx="779463" cy="536575"/>
            <a:chOff x="3507" y="1789"/>
            <a:chExt cx="858" cy="497"/>
          </a:xfrm>
        </p:grpSpPr>
        <p:sp>
          <p:nvSpPr>
            <p:cNvPr id="119846" name="Oval 31"/>
            <p:cNvSpPr>
              <a:spLocks noChangeArrowheads="1"/>
            </p:cNvSpPr>
            <p:nvPr/>
          </p:nvSpPr>
          <p:spPr bwMode="auto">
            <a:xfrm>
              <a:off x="3507" y="1789"/>
              <a:ext cx="858" cy="497"/>
            </a:xfrm>
            <a:prstGeom prst="ellipse">
              <a:avLst/>
            </a:prstGeom>
            <a:solidFill>
              <a:srgbClr val="CC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32"/>
            <p:cNvGrpSpPr>
              <a:grpSpLocks/>
            </p:cNvGrpSpPr>
            <p:nvPr/>
          </p:nvGrpSpPr>
          <p:grpSpPr bwMode="auto">
            <a:xfrm>
              <a:off x="3758" y="2002"/>
              <a:ext cx="357" cy="76"/>
              <a:chOff x="4109" y="1226"/>
              <a:chExt cx="357" cy="76"/>
            </a:xfrm>
          </p:grpSpPr>
          <p:sp>
            <p:nvSpPr>
              <p:cNvPr id="119848" name="Freeform 3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9849" name="Freeform 3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9850" name="Freeform 3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36"/>
          <p:cNvGrpSpPr>
            <a:grpSpLocks/>
          </p:cNvGrpSpPr>
          <p:nvPr/>
        </p:nvGrpSpPr>
        <p:grpSpPr bwMode="auto">
          <a:xfrm>
            <a:off x="4597400" y="4051300"/>
            <a:ext cx="779463" cy="536575"/>
            <a:chOff x="3507" y="1789"/>
            <a:chExt cx="858" cy="497"/>
          </a:xfrm>
        </p:grpSpPr>
        <p:sp>
          <p:nvSpPr>
            <p:cNvPr id="119841" name="Oval 37"/>
            <p:cNvSpPr>
              <a:spLocks noChangeArrowheads="1"/>
            </p:cNvSpPr>
            <p:nvPr/>
          </p:nvSpPr>
          <p:spPr bwMode="auto">
            <a:xfrm>
              <a:off x="3507" y="1789"/>
              <a:ext cx="858" cy="497"/>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38"/>
            <p:cNvGrpSpPr>
              <a:grpSpLocks/>
            </p:cNvGrpSpPr>
            <p:nvPr/>
          </p:nvGrpSpPr>
          <p:grpSpPr bwMode="auto">
            <a:xfrm>
              <a:off x="3758" y="2002"/>
              <a:ext cx="357" cy="76"/>
              <a:chOff x="4109" y="1226"/>
              <a:chExt cx="357" cy="76"/>
            </a:xfrm>
          </p:grpSpPr>
          <p:sp>
            <p:nvSpPr>
              <p:cNvPr id="119843" name="Freeform 3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9844" name="Freeform 4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9845" name="Freeform 4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42"/>
          <p:cNvGrpSpPr>
            <a:grpSpLocks/>
          </p:cNvGrpSpPr>
          <p:nvPr/>
        </p:nvGrpSpPr>
        <p:grpSpPr bwMode="auto">
          <a:xfrm>
            <a:off x="4597400" y="3403600"/>
            <a:ext cx="779463" cy="536575"/>
            <a:chOff x="3507" y="1789"/>
            <a:chExt cx="858" cy="497"/>
          </a:xfrm>
        </p:grpSpPr>
        <p:sp>
          <p:nvSpPr>
            <p:cNvPr id="119836" name="Oval 43"/>
            <p:cNvSpPr>
              <a:spLocks noChangeArrowheads="1"/>
            </p:cNvSpPr>
            <p:nvPr/>
          </p:nvSpPr>
          <p:spPr bwMode="auto">
            <a:xfrm>
              <a:off x="3507" y="1789"/>
              <a:ext cx="858" cy="497"/>
            </a:xfrm>
            <a:prstGeom prst="ellipse">
              <a:avLst/>
            </a:prstGeom>
            <a:solidFill>
              <a:srgbClr val="FF99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44"/>
            <p:cNvGrpSpPr>
              <a:grpSpLocks/>
            </p:cNvGrpSpPr>
            <p:nvPr/>
          </p:nvGrpSpPr>
          <p:grpSpPr bwMode="auto">
            <a:xfrm>
              <a:off x="3758" y="2002"/>
              <a:ext cx="357" cy="76"/>
              <a:chOff x="4109" y="1226"/>
              <a:chExt cx="357" cy="76"/>
            </a:xfrm>
          </p:grpSpPr>
          <p:sp>
            <p:nvSpPr>
              <p:cNvPr id="119838" name="Freeform 4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9839" name="Freeform 4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9840" name="Freeform 4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19826" name="AutoShape 48"/>
          <p:cNvSpPr>
            <a:spLocks noChangeArrowheads="1"/>
          </p:cNvSpPr>
          <p:nvPr/>
        </p:nvSpPr>
        <p:spPr bwMode="auto">
          <a:xfrm>
            <a:off x="3397250" y="546100"/>
            <a:ext cx="2247900" cy="1320800"/>
          </a:xfrm>
          <a:prstGeom prst="cloudCallout">
            <a:avLst>
              <a:gd name="adj1" fmla="val -33264"/>
              <a:gd name="adj2" fmla="val 72838"/>
            </a:avLst>
          </a:prstGeom>
          <a:solidFill>
            <a:schemeClr val="bg1">
              <a:alpha val="79999"/>
            </a:schemeClr>
          </a:solidFill>
          <a:ln w="38100">
            <a:solidFill>
              <a:srgbClr val="FF0000"/>
            </a:solidFill>
            <a:round/>
            <a:headEnd/>
            <a:tailEnd/>
          </a:ln>
        </p:spPr>
        <p:txBody>
          <a:bodyPr/>
          <a:lstStyle/>
          <a:p>
            <a:pPr marL="342900" indent="-342900" algn="ctr">
              <a:spcBef>
                <a:spcPct val="20000"/>
              </a:spcBef>
            </a:pPr>
            <a:endParaRPr lang="en-US" b="1" dirty="0">
              <a:solidFill>
                <a:srgbClr val="FF0000"/>
              </a:solidFill>
              <a:latin typeface="Arial" pitchFamily="34" charset="0"/>
            </a:endParaRPr>
          </a:p>
        </p:txBody>
      </p:sp>
      <p:grpSp>
        <p:nvGrpSpPr>
          <p:cNvPr id="10" name="Group 49"/>
          <p:cNvGrpSpPr>
            <a:grpSpLocks/>
          </p:cNvGrpSpPr>
          <p:nvPr/>
        </p:nvGrpSpPr>
        <p:grpSpPr bwMode="auto">
          <a:xfrm>
            <a:off x="4130675" y="914400"/>
            <a:ext cx="779463" cy="536575"/>
            <a:chOff x="3507" y="1789"/>
            <a:chExt cx="858" cy="497"/>
          </a:xfrm>
        </p:grpSpPr>
        <p:sp>
          <p:nvSpPr>
            <p:cNvPr id="119831" name="Oval 5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51"/>
            <p:cNvGrpSpPr>
              <a:grpSpLocks/>
            </p:cNvGrpSpPr>
            <p:nvPr/>
          </p:nvGrpSpPr>
          <p:grpSpPr bwMode="auto">
            <a:xfrm>
              <a:off x="3758" y="2002"/>
              <a:ext cx="357" cy="76"/>
              <a:chOff x="4109" y="1226"/>
              <a:chExt cx="357" cy="76"/>
            </a:xfrm>
          </p:grpSpPr>
          <p:sp>
            <p:nvSpPr>
              <p:cNvPr id="119833" name="Freeform 5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19834" name="Freeform 5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19835" name="Freeform 5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832567" name="AutoShape 55"/>
          <p:cNvSpPr>
            <a:spLocks noChangeArrowheads="1"/>
          </p:cNvSpPr>
          <p:nvPr/>
        </p:nvSpPr>
        <p:spPr bwMode="auto">
          <a:xfrm>
            <a:off x="863600" y="2632075"/>
            <a:ext cx="1492250" cy="1325563"/>
          </a:xfrm>
          <a:prstGeom prst="irregularSeal1">
            <a:avLst/>
          </a:prstGeom>
          <a:solidFill>
            <a:srgbClr val="FFFF00"/>
          </a:solidFill>
          <a:ln w="38100" algn="ctr">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
        <p:nvSpPr>
          <p:cNvPr id="832568" name="Text Box 56"/>
          <p:cNvSpPr txBox="1">
            <a:spLocks noChangeArrowheads="1"/>
          </p:cNvSpPr>
          <p:nvPr/>
        </p:nvSpPr>
        <p:spPr bwMode="auto">
          <a:xfrm>
            <a:off x="6092825" y="3606800"/>
            <a:ext cx="1976438"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chemeClr val="accent2"/>
                </a:solidFill>
                <a:latin typeface="Arial" pitchFamily="34" charset="0"/>
              </a:rPr>
              <a:t>Uh-Oh …</a:t>
            </a:r>
          </a:p>
        </p:txBody>
      </p:sp>
      <p:sp>
        <p:nvSpPr>
          <p:cNvPr id="832569" name="Text Box 57"/>
          <p:cNvSpPr txBox="1">
            <a:spLocks noChangeArrowheads="1"/>
          </p:cNvSpPr>
          <p:nvPr/>
        </p:nvSpPr>
        <p:spPr bwMode="auto">
          <a:xfrm>
            <a:off x="4797753" y="871538"/>
            <a:ext cx="818494" cy="461665"/>
          </a:xfrm>
          <a:prstGeom prst="rect">
            <a:avLst/>
          </a:prstGeom>
          <a:noFill/>
          <a:ln w="38100" algn="ctr">
            <a:noFill/>
            <a:miter lim="800000"/>
            <a:headEnd/>
            <a:tailEnd/>
          </a:ln>
        </p:spPr>
        <p:txBody>
          <a:bodyPr wrap="none">
            <a:spAutoFit/>
          </a:bodyPr>
          <a:lstStyle/>
          <a:p>
            <a:pPr marL="342900" indent="-342900" algn="ctr">
              <a:spcBef>
                <a:spcPct val="20000"/>
              </a:spcBef>
            </a:pPr>
            <a:r>
              <a:rPr lang="en-US" b="1" dirty="0">
                <a:solidFill>
                  <a:schemeClr val="accent2"/>
                </a:solidFill>
                <a:latin typeface="Arial" pitchFamily="34" charset="0"/>
              </a:rPr>
              <a:t>Yes!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2567"/>
                                        </p:tgtEl>
                                        <p:attrNameLst>
                                          <p:attrName>style.visibility</p:attrName>
                                        </p:attrNameLst>
                                      </p:cBhvr>
                                      <p:to>
                                        <p:strVal val="visible"/>
                                      </p:to>
                                    </p:set>
                                    <p:animEffect transition="in" filter="blinds(horizontal)">
                                      <p:cBhvr>
                                        <p:cTn id="7" dur="500"/>
                                        <p:tgtEl>
                                          <p:spTgt spid="832567"/>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2000"/>
                                        <p:tgtEl>
                                          <p:spTgt spid="832541"/>
                                        </p:tgtEl>
                                      </p:cBhvr>
                                    </p:animEffect>
                                    <p:set>
                                      <p:cBhvr>
                                        <p:cTn id="11" dur="1" fill="hold">
                                          <p:stCondLst>
                                            <p:cond delay="1999"/>
                                          </p:stCondLst>
                                        </p:cTn>
                                        <p:tgtEl>
                                          <p:spTgt spid="832541"/>
                                        </p:tgtEl>
                                        <p:attrNameLst>
                                          <p:attrName>style.visibility</p:attrName>
                                        </p:attrNameLst>
                                      </p:cBhvr>
                                      <p:to>
                                        <p:strVal val="hidden"/>
                                      </p:to>
                                    </p:set>
                                  </p:childTnLst>
                                </p:cTn>
                              </p:par>
                            </p:childTnLst>
                          </p:cTn>
                        </p:par>
                        <p:par>
                          <p:cTn id="12" fill="hold">
                            <p:stCondLst>
                              <p:cond delay="2500"/>
                            </p:stCondLst>
                            <p:childTnLst>
                              <p:par>
                                <p:cTn id="13" presetID="10" presetClass="entr" presetSubtype="0" fill="hold" grpId="0" nodeType="afterEffect">
                                  <p:stCondLst>
                                    <p:cond delay="0"/>
                                  </p:stCondLst>
                                  <p:childTnLst>
                                    <p:set>
                                      <p:cBhvr>
                                        <p:cTn id="14" dur="1" fill="hold">
                                          <p:stCondLst>
                                            <p:cond delay="0"/>
                                          </p:stCondLst>
                                        </p:cTn>
                                        <p:tgtEl>
                                          <p:spTgt spid="832514"/>
                                        </p:tgtEl>
                                        <p:attrNameLst>
                                          <p:attrName>style.visibility</p:attrName>
                                        </p:attrNameLst>
                                      </p:cBhvr>
                                      <p:to>
                                        <p:strVal val="visible"/>
                                      </p:to>
                                    </p:set>
                                    <p:animEffect transition="in" filter="fade">
                                      <p:cBhvr>
                                        <p:cTn id="15" dur="2000"/>
                                        <p:tgtEl>
                                          <p:spTgt spid="832514"/>
                                        </p:tgtEl>
                                      </p:cBhvr>
                                    </p:animEffect>
                                  </p:childTnLst>
                                </p:cTn>
                              </p:par>
                            </p:childTnLst>
                          </p:cTn>
                        </p:par>
                        <p:par>
                          <p:cTn id="16" fill="hold">
                            <p:stCondLst>
                              <p:cond delay="4500"/>
                            </p:stCondLst>
                            <p:childTnLst>
                              <p:par>
                                <p:cTn id="17" presetID="3" presetClass="entr" presetSubtype="10" fill="hold" grpId="0" nodeType="afterEffect">
                                  <p:stCondLst>
                                    <p:cond delay="0"/>
                                  </p:stCondLst>
                                  <p:childTnLst>
                                    <p:set>
                                      <p:cBhvr>
                                        <p:cTn id="18" dur="1" fill="hold">
                                          <p:stCondLst>
                                            <p:cond delay="0"/>
                                          </p:stCondLst>
                                        </p:cTn>
                                        <p:tgtEl>
                                          <p:spTgt spid="832569"/>
                                        </p:tgtEl>
                                        <p:attrNameLst>
                                          <p:attrName>style.visibility</p:attrName>
                                        </p:attrNameLst>
                                      </p:cBhvr>
                                      <p:to>
                                        <p:strVal val="visible"/>
                                      </p:to>
                                    </p:set>
                                    <p:animEffect transition="in" filter="blinds(horizontal)">
                                      <p:cBhvr>
                                        <p:cTn id="19" dur="500"/>
                                        <p:tgtEl>
                                          <p:spTgt spid="832569"/>
                                        </p:tgtEl>
                                      </p:cBhvr>
                                    </p:animEffect>
                                  </p:childTnLst>
                                </p:cTn>
                              </p:par>
                            </p:childTnLst>
                          </p:cTn>
                        </p:par>
                        <p:par>
                          <p:cTn id="20" fill="hold">
                            <p:stCondLst>
                              <p:cond delay="5000"/>
                            </p:stCondLst>
                            <p:childTnLst>
                              <p:par>
                                <p:cTn id="21" presetID="3" presetClass="entr" presetSubtype="10" fill="hold" grpId="0" nodeType="afterEffect">
                                  <p:stCondLst>
                                    <p:cond delay="0"/>
                                  </p:stCondLst>
                                  <p:childTnLst>
                                    <p:set>
                                      <p:cBhvr>
                                        <p:cTn id="22" dur="1" fill="hold">
                                          <p:stCondLst>
                                            <p:cond delay="0"/>
                                          </p:stCondLst>
                                        </p:cTn>
                                        <p:tgtEl>
                                          <p:spTgt spid="832568"/>
                                        </p:tgtEl>
                                        <p:attrNameLst>
                                          <p:attrName>style.visibility</p:attrName>
                                        </p:attrNameLst>
                                      </p:cBhvr>
                                      <p:to>
                                        <p:strVal val="visible"/>
                                      </p:to>
                                    </p:set>
                                    <p:animEffect transition="in" filter="blinds(horizontal)">
                                      <p:cBhvr>
                                        <p:cTn id="23" dur="500"/>
                                        <p:tgtEl>
                                          <p:spTgt spid="832568"/>
                                        </p:tgtEl>
                                      </p:cBhvr>
                                    </p:animEffect>
                                  </p:childTnLst>
                                </p:cTn>
                              </p:par>
                            </p:childTnLst>
                          </p:cTn>
                        </p:par>
                        <p:par>
                          <p:cTn id="24" fill="hold">
                            <p:stCondLst>
                              <p:cond delay="5500"/>
                            </p:stCondLst>
                            <p:childTnLst>
                              <p:par>
                                <p:cTn id="25" presetID="3" presetClass="exit" presetSubtype="10" fill="hold" nodeType="afterEffect">
                                  <p:stCondLst>
                                    <p:cond delay="0"/>
                                  </p:stCondLst>
                                  <p:childTnLst>
                                    <p:animEffect transition="out" filter="blinds(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4" grpId="0" animBg="1"/>
      <p:bldP spid="832541" grpId="0" animBg="1"/>
      <p:bldP spid="832567" grpId="0" animBg="1"/>
      <p:bldP spid="832568" grpId="0"/>
      <p:bldP spid="832569"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1"/>
          <p:cNvSpPr>
            <a:spLocks noGrp="1"/>
          </p:cNvSpPr>
          <p:nvPr>
            <p:ph type="ftr" sz="quarter" idx="10"/>
          </p:nvPr>
        </p:nvSpPr>
        <p:spPr>
          <a:noFill/>
        </p:spPr>
        <p:txBody>
          <a:bodyPr/>
          <a:lstStyle/>
          <a:p>
            <a:r>
              <a:rPr lang="en-US"/>
              <a:t>Art of Multiprocessor Programming</a:t>
            </a:r>
          </a:p>
        </p:txBody>
      </p:sp>
      <p:sp>
        <p:nvSpPr>
          <p:cNvPr id="120835" name="Slide Number Placeholder 2"/>
          <p:cNvSpPr>
            <a:spLocks noGrp="1"/>
          </p:cNvSpPr>
          <p:nvPr>
            <p:ph type="sldNum" sz="quarter" idx="11"/>
          </p:nvPr>
        </p:nvSpPr>
        <p:spPr>
          <a:noFill/>
        </p:spPr>
        <p:txBody>
          <a:bodyPr/>
          <a:lstStyle/>
          <a:p>
            <a:fld id="{1F2C79E1-C9AB-4E58-A168-F94A1DD8D4E2}" type="slidenum">
              <a:rPr lang="x-none" smtClean="0"/>
              <a:pPr/>
              <a:t>111</a:t>
            </a:fld>
            <a:endParaRPr lang="en-US"/>
          </a:p>
        </p:txBody>
      </p:sp>
      <p:sp>
        <p:nvSpPr>
          <p:cNvPr id="33"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50222AE-2809-4B12-9828-8D45CF2CB250}" type="slidenum">
              <a:rPr lang="x-none" sz="1400">
                <a:solidFill>
                  <a:schemeClr val="tx1"/>
                </a:solidFill>
                <a:latin typeface="Arial" pitchFamily="34" charset="0"/>
                <a:cs typeface="Arial" pitchFamily="34" charset="0"/>
              </a:rPr>
              <a:pPr>
                <a:defRPr/>
              </a:pPr>
              <a:t>111</a:t>
            </a:fld>
            <a:endParaRPr lang="en-US" sz="1400" dirty="0">
              <a:solidFill>
                <a:schemeClr val="tx1"/>
              </a:solidFill>
              <a:latin typeface="Arial" pitchFamily="34" charset="0"/>
              <a:cs typeface="Arial" pitchFamily="34" charset="0"/>
            </a:endParaRPr>
          </a:p>
        </p:txBody>
      </p:sp>
      <p:sp>
        <p:nvSpPr>
          <p:cNvPr id="120837" name="Rectangle 2"/>
          <p:cNvSpPr>
            <a:spLocks noGrp="1" noChangeArrowheads="1"/>
          </p:cNvSpPr>
          <p:nvPr>
            <p:ph type="title" idx="4294967295"/>
          </p:nvPr>
        </p:nvSpPr>
        <p:spPr/>
        <p:txBody>
          <a:bodyPr/>
          <a:lstStyle/>
          <a:p>
            <a:r>
              <a:rPr lang="en-US"/>
              <a:t>Fix for Dreaded ABA</a:t>
            </a:r>
          </a:p>
        </p:txBody>
      </p:sp>
      <p:sp>
        <p:nvSpPr>
          <p:cNvPr id="120838" name="Rectangle 4"/>
          <p:cNvSpPr>
            <a:spLocks noChangeArrowheads="1"/>
          </p:cNvSpPr>
          <p:nvPr/>
        </p:nvSpPr>
        <p:spPr bwMode="auto">
          <a:xfrm>
            <a:off x="4521200" y="2286000"/>
            <a:ext cx="952500" cy="3048000"/>
          </a:xfrm>
          <a:prstGeom prst="rect">
            <a:avLst/>
          </a:prstGeom>
          <a:no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5"/>
          <p:cNvGrpSpPr>
            <a:grpSpLocks/>
          </p:cNvGrpSpPr>
          <p:nvPr/>
        </p:nvGrpSpPr>
        <p:grpSpPr bwMode="auto">
          <a:xfrm>
            <a:off x="4606925" y="4394200"/>
            <a:ext cx="779463" cy="536575"/>
            <a:chOff x="3507" y="1789"/>
            <a:chExt cx="858" cy="497"/>
          </a:xfrm>
        </p:grpSpPr>
        <p:sp>
          <p:nvSpPr>
            <p:cNvPr id="120862" name="Oval 6"/>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7"/>
            <p:cNvGrpSpPr>
              <a:grpSpLocks/>
            </p:cNvGrpSpPr>
            <p:nvPr/>
          </p:nvGrpSpPr>
          <p:grpSpPr bwMode="auto">
            <a:xfrm>
              <a:off x="3758" y="2002"/>
              <a:ext cx="357" cy="76"/>
              <a:chOff x="4109" y="1226"/>
              <a:chExt cx="357" cy="76"/>
            </a:xfrm>
          </p:grpSpPr>
          <p:sp>
            <p:nvSpPr>
              <p:cNvPr id="120864" name="Freeform 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20865" name="Freeform 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0866" name="Freeform 1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1"/>
          <p:cNvGrpSpPr>
            <a:grpSpLocks/>
          </p:cNvGrpSpPr>
          <p:nvPr/>
        </p:nvGrpSpPr>
        <p:grpSpPr bwMode="auto">
          <a:xfrm>
            <a:off x="4606925" y="3810000"/>
            <a:ext cx="779463" cy="536575"/>
            <a:chOff x="3507" y="1789"/>
            <a:chExt cx="858" cy="497"/>
          </a:xfrm>
        </p:grpSpPr>
        <p:sp>
          <p:nvSpPr>
            <p:cNvPr id="120857" name="Oval 12"/>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13"/>
            <p:cNvGrpSpPr>
              <a:grpSpLocks/>
            </p:cNvGrpSpPr>
            <p:nvPr/>
          </p:nvGrpSpPr>
          <p:grpSpPr bwMode="auto">
            <a:xfrm>
              <a:off x="3758" y="2002"/>
              <a:ext cx="357" cy="76"/>
              <a:chOff x="4109" y="1226"/>
              <a:chExt cx="357" cy="76"/>
            </a:xfrm>
          </p:grpSpPr>
          <p:sp>
            <p:nvSpPr>
              <p:cNvPr id="120859" name="Freeform 14"/>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20860" name="Freeform 15"/>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0861" name="Freeform 16"/>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17"/>
          <p:cNvGrpSpPr>
            <a:grpSpLocks/>
          </p:cNvGrpSpPr>
          <p:nvPr/>
        </p:nvGrpSpPr>
        <p:grpSpPr bwMode="auto">
          <a:xfrm>
            <a:off x="4606925" y="3225800"/>
            <a:ext cx="779463" cy="536575"/>
            <a:chOff x="3507" y="1789"/>
            <a:chExt cx="858" cy="497"/>
          </a:xfrm>
        </p:grpSpPr>
        <p:sp>
          <p:nvSpPr>
            <p:cNvPr id="120852" name="Oval 18"/>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19"/>
            <p:cNvGrpSpPr>
              <a:grpSpLocks/>
            </p:cNvGrpSpPr>
            <p:nvPr/>
          </p:nvGrpSpPr>
          <p:grpSpPr bwMode="auto">
            <a:xfrm>
              <a:off x="3758" y="2002"/>
              <a:ext cx="357" cy="76"/>
              <a:chOff x="4109" y="1226"/>
              <a:chExt cx="357" cy="76"/>
            </a:xfrm>
          </p:grpSpPr>
          <p:sp>
            <p:nvSpPr>
              <p:cNvPr id="120854" name="Freeform 2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20855" name="Freeform 2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0856" name="Freeform 2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26"/>
          <p:cNvGrpSpPr>
            <a:grpSpLocks/>
          </p:cNvGrpSpPr>
          <p:nvPr/>
        </p:nvGrpSpPr>
        <p:grpSpPr bwMode="auto">
          <a:xfrm>
            <a:off x="925513" y="2492375"/>
            <a:ext cx="1104900" cy="844550"/>
            <a:chOff x="502" y="2154"/>
            <a:chExt cx="696" cy="532"/>
          </a:xfrm>
        </p:grpSpPr>
        <p:sp>
          <p:nvSpPr>
            <p:cNvPr id="120850" name="Rectangle 23"/>
            <p:cNvSpPr>
              <a:spLocks noChangeArrowheads="1"/>
            </p:cNvSpPr>
            <p:nvPr/>
          </p:nvSpPr>
          <p:spPr bwMode="auto">
            <a:xfrm>
              <a:off x="502" y="2154"/>
              <a:ext cx="694" cy="252"/>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stamp</a:t>
              </a:r>
            </a:p>
          </p:txBody>
        </p:sp>
        <p:sp>
          <p:nvSpPr>
            <p:cNvPr id="120851" name="Rectangle 24"/>
            <p:cNvSpPr>
              <a:spLocks noChangeArrowheads="1"/>
            </p:cNvSpPr>
            <p:nvPr/>
          </p:nvSpPr>
          <p:spPr bwMode="auto">
            <a:xfrm>
              <a:off x="509" y="2434"/>
              <a:ext cx="689" cy="252"/>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top</a:t>
              </a:r>
            </a:p>
          </p:txBody>
        </p:sp>
      </p:grpSp>
      <p:sp>
        <p:nvSpPr>
          <p:cNvPr id="120843" name="Rectangle 25"/>
          <p:cNvSpPr>
            <a:spLocks noChangeArrowheads="1"/>
          </p:cNvSpPr>
          <p:nvPr/>
        </p:nvSpPr>
        <p:spPr bwMode="auto">
          <a:xfrm>
            <a:off x="928688" y="4651345"/>
            <a:ext cx="1125537" cy="400110"/>
          </a:xfrm>
          <a:prstGeom prst="rect">
            <a:avLst/>
          </a:prstGeom>
          <a:noFill/>
          <a:ln w="38100" algn="ctr">
            <a:solidFill>
              <a:schemeClr val="tx1"/>
            </a:solidFill>
            <a:miter lim="800000"/>
            <a:headEnd/>
            <a:tailEnd/>
          </a:ln>
        </p:spPr>
        <p:txBody>
          <a:bodyPr anchor="ctr">
            <a:spAutoFit/>
          </a:bodyPr>
          <a:lstStyle/>
          <a:p>
            <a:pPr algn="ctr"/>
            <a:r>
              <a:rPr lang="en-US" sz="2000" dirty="0">
                <a:latin typeface="Arial" pitchFamily="34" charset="0"/>
              </a:rPr>
              <a:t>bottom</a:t>
            </a:r>
          </a:p>
        </p:txBody>
      </p:sp>
      <p:sp>
        <p:nvSpPr>
          <p:cNvPr id="120844" name="Line 27"/>
          <p:cNvSpPr>
            <a:spLocks noChangeShapeType="1"/>
          </p:cNvSpPr>
          <p:nvPr/>
        </p:nvSpPr>
        <p:spPr bwMode="auto">
          <a:xfrm>
            <a:off x="4521200" y="3187700"/>
            <a:ext cx="9525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0845" name="Line 28"/>
          <p:cNvSpPr>
            <a:spLocks noChangeShapeType="1"/>
          </p:cNvSpPr>
          <p:nvPr/>
        </p:nvSpPr>
        <p:spPr bwMode="auto">
          <a:xfrm>
            <a:off x="4508500" y="3784600"/>
            <a:ext cx="9525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0846" name="Line 29"/>
          <p:cNvSpPr>
            <a:spLocks noChangeShapeType="1"/>
          </p:cNvSpPr>
          <p:nvPr/>
        </p:nvSpPr>
        <p:spPr bwMode="auto">
          <a:xfrm>
            <a:off x="4495800" y="4381500"/>
            <a:ext cx="9525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0847" name="Line 30"/>
          <p:cNvSpPr>
            <a:spLocks noChangeShapeType="1"/>
          </p:cNvSpPr>
          <p:nvPr/>
        </p:nvSpPr>
        <p:spPr bwMode="auto">
          <a:xfrm>
            <a:off x="4483100" y="4978400"/>
            <a:ext cx="9525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0848" name="Freeform 31"/>
          <p:cNvSpPr>
            <a:spLocks/>
          </p:cNvSpPr>
          <p:nvPr/>
        </p:nvSpPr>
        <p:spPr bwMode="auto">
          <a:xfrm>
            <a:off x="2044700" y="48514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20849" name="Freeform 32"/>
          <p:cNvSpPr>
            <a:spLocks/>
          </p:cNvSpPr>
          <p:nvPr/>
        </p:nvSpPr>
        <p:spPr bwMode="auto">
          <a:xfrm>
            <a:off x="2019300" y="3136900"/>
            <a:ext cx="2413000"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1.48148E-6 C 0.00451 -0.07847 0.00903 -0.15671 0.00278 -0.19815 C -0.00347 -0.23958 -0.01597 -0.27315 -0.0375 -0.24815 C -0.05903 -0.22315 -0.10399 -0.07199 -0.12639 -0.04815 C -0.14878 -0.02431 -0.16059 -0.06505 -0.17222 -0.10556 " pathEditMode="relative" ptsTypes="aaaaA">
                                      <p:cBhvr>
                                        <p:cTn id="6" dur="2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1"/>
          <p:cNvSpPr>
            <a:spLocks noGrp="1"/>
          </p:cNvSpPr>
          <p:nvPr>
            <p:ph type="ftr" sz="quarter" idx="10"/>
          </p:nvPr>
        </p:nvSpPr>
        <p:spPr>
          <a:noFill/>
        </p:spPr>
        <p:txBody>
          <a:bodyPr/>
          <a:lstStyle/>
          <a:p>
            <a:r>
              <a:rPr lang="en-US"/>
              <a:t>Art of Multiprocessor Programming</a:t>
            </a:r>
          </a:p>
        </p:txBody>
      </p:sp>
      <p:sp>
        <p:nvSpPr>
          <p:cNvPr id="121859" name="Slide Number Placeholder 2"/>
          <p:cNvSpPr>
            <a:spLocks noGrp="1"/>
          </p:cNvSpPr>
          <p:nvPr>
            <p:ph type="sldNum" sz="quarter" idx="11"/>
          </p:nvPr>
        </p:nvSpPr>
        <p:spPr>
          <a:noFill/>
        </p:spPr>
        <p:txBody>
          <a:bodyPr/>
          <a:lstStyle/>
          <a:p>
            <a:fld id="{4B1E2FBB-9663-471E-BBC2-0A0088ABC47C}" type="slidenum">
              <a:rPr lang="x-none" smtClean="0"/>
              <a:pPr/>
              <a:t>112</a:t>
            </a:fld>
            <a:endParaRPr lang="en-US"/>
          </a:p>
        </p:txBody>
      </p:sp>
      <p:sp>
        <p:nvSpPr>
          <p:cNvPr id="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A4A9D56-C5EA-49E2-B480-9EAB665003FF}" type="slidenum">
              <a:rPr lang="x-none" sz="1400">
                <a:solidFill>
                  <a:schemeClr val="tx1"/>
                </a:solidFill>
                <a:latin typeface="Arial" pitchFamily="34" charset="0"/>
                <a:cs typeface="Arial" pitchFamily="34" charset="0"/>
              </a:rPr>
              <a:pPr>
                <a:defRPr/>
              </a:pPr>
              <a:t>112</a:t>
            </a:fld>
            <a:endParaRPr lang="en-US" sz="1400" dirty="0">
              <a:solidFill>
                <a:schemeClr val="tx1"/>
              </a:solidFill>
              <a:latin typeface="Arial" pitchFamily="34" charset="0"/>
              <a:cs typeface="Arial" pitchFamily="34" charset="0"/>
            </a:endParaRPr>
          </a:p>
        </p:txBody>
      </p:sp>
      <p:sp>
        <p:nvSpPr>
          <p:cNvPr id="121861" name="Rectangle 2"/>
          <p:cNvSpPr>
            <a:spLocks noGrp="1" noChangeArrowheads="1"/>
          </p:cNvSpPr>
          <p:nvPr>
            <p:ph type="title" idx="4294967295"/>
          </p:nvPr>
        </p:nvSpPr>
        <p:spPr/>
        <p:txBody>
          <a:bodyPr/>
          <a:lstStyle/>
          <a:p>
            <a:r>
              <a:rPr lang="en-US"/>
              <a:t>Bounded DEQueue</a:t>
            </a:r>
          </a:p>
        </p:txBody>
      </p:sp>
      <p:sp>
        <p:nvSpPr>
          <p:cNvPr id="121862" name="Rectangle 3"/>
          <p:cNvSpPr>
            <a:spLocks noChangeArrowheads="1"/>
          </p:cNvSpPr>
          <p:nvPr/>
        </p:nvSpPr>
        <p:spPr bwMode="auto">
          <a:xfrm>
            <a:off x="914400" y="1676400"/>
            <a:ext cx="7620000" cy="2026132"/>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tx1"/>
                </a:solidFill>
                <a:latin typeface="Courier New" pitchFamily="49" charset="0"/>
                <a:cs typeface="Courier New" pitchFamily="49" charset="0"/>
              </a:rPr>
              <a:t>public class</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BDEQueue</a:t>
            </a: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 </a:t>
            </a:r>
            <a:r>
              <a:rPr lang="en-US" b="1" dirty="0" err="1">
                <a:solidFill>
                  <a:schemeClr val="tx1"/>
                </a:solidFill>
                <a:latin typeface="Courier New" pitchFamily="49" charset="0"/>
                <a:cs typeface="Courier New" pitchFamily="49" charset="0"/>
              </a:rPr>
              <a:t>AtomicStampedReference</a:t>
            </a:r>
            <a:r>
              <a:rPr lang="en-US" b="1" dirty="0">
                <a:solidFill>
                  <a:schemeClr val="tx1"/>
                </a:solidFill>
                <a:latin typeface="Courier New" pitchFamily="49" charset="0"/>
                <a:cs typeface="Courier New" pitchFamily="49" charset="0"/>
              </a:rPr>
              <a:t>&lt;Integer&gt;</a:t>
            </a:r>
            <a:r>
              <a:rPr lang="en-US" b="1" dirty="0">
                <a:latin typeface="Courier New" pitchFamily="49" charset="0"/>
                <a:cs typeface="Courier New" pitchFamily="49" charset="0"/>
              </a:rPr>
              <a:t> top; </a:t>
            </a:r>
            <a:endParaRPr lang="en-US" sz="2000" b="1" dirty="0">
              <a:solidFill>
                <a:srgbClr val="FF0000"/>
              </a:solidFill>
              <a:latin typeface="Courier New" pitchFamily="49" charset="0"/>
              <a:cs typeface="Courier New" pitchFamily="49" charset="0"/>
            </a:endParaRPr>
          </a:p>
          <a:p>
            <a:pPr marL="342900" indent="-342900" algn="l">
              <a:lnSpc>
                <a:spcPct val="70000"/>
              </a:lnSpc>
              <a:spcBef>
                <a:spcPct val="20000"/>
              </a:spcBef>
            </a:pPr>
            <a:r>
              <a:rPr lang="en-US" sz="2000" b="1" dirty="0">
                <a:solidFill>
                  <a:srgbClr val="FF0000"/>
                </a:solidFill>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volatile</a:t>
            </a:r>
            <a:r>
              <a:rPr lang="en-US" sz="2000" b="1" dirty="0">
                <a:solidFill>
                  <a:srgbClr val="FF0000"/>
                </a:solidFill>
                <a:latin typeface="Courier New" pitchFamily="49" charset="0"/>
                <a:cs typeface="Courier New" pitchFamily="49" charset="0"/>
              </a:rPr>
              <a:t> </a:t>
            </a:r>
            <a:r>
              <a:rPr lang="en-US" b="1" dirty="0" err="1">
                <a:solidFill>
                  <a:schemeClr val="tx1"/>
                </a:solidFill>
                <a:latin typeface="Courier New" pitchFamily="49" charset="0"/>
                <a:cs typeface="Courier New" pitchFamily="49" charset="0"/>
              </a:rPr>
              <a:t>int</a:t>
            </a:r>
            <a:r>
              <a:rPr lang="en-US" b="1" dirty="0">
                <a:latin typeface="Courier New" pitchFamily="49" charset="0"/>
                <a:cs typeface="Courier New" pitchFamily="49" charset="0"/>
              </a:rPr>
              <a:t> bottom;        </a:t>
            </a:r>
            <a:endParaRPr lang="en-US" sz="2000" b="1" dirty="0">
              <a:solidFill>
                <a:srgbClr val="FF0000"/>
              </a:solidFill>
              <a:latin typeface="Courier New" pitchFamily="49" charset="0"/>
              <a:cs typeface="Courier New" pitchFamily="49" charset="0"/>
            </a:endParaRPr>
          </a:p>
          <a:p>
            <a:pPr marL="342900" indent="-342900" algn="l">
              <a:lnSpc>
                <a:spcPct val="70000"/>
              </a:lnSpc>
              <a:spcBef>
                <a:spcPct val="20000"/>
              </a:spcBef>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Runnable</a:t>
            </a:r>
            <a:r>
              <a:rPr lang="en-US" b="1" dirty="0">
                <a:latin typeface="Courier New" pitchFamily="49" charset="0"/>
                <a:cs typeface="Courier New" pitchFamily="49" charset="0"/>
              </a:rPr>
              <a:t>[] tasks;</a:t>
            </a:r>
          </a:p>
          <a:p>
            <a:pPr marL="342900" indent="-342900" algn="l">
              <a:lnSpc>
                <a:spcPct val="70000"/>
              </a:lnSpc>
              <a:spcBef>
                <a:spcPct val="20000"/>
              </a:spcBef>
            </a:pP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a:t>
            </a: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1"/>
          <p:cNvSpPr>
            <a:spLocks noGrp="1"/>
          </p:cNvSpPr>
          <p:nvPr>
            <p:ph type="ftr" sz="quarter" idx="10"/>
          </p:nvPr>
        </p:nvSpPr>
        <p:spPr>
          <a:noFill/>
        </p:spPr>
        <p:txBody>
          <a:bodyPr/>
          <a:lstStyle/>
          <a:p>
            <a:r>
              <a:rPr lang="en-US"/>
              <a:t>Art of Multiprocessor Programming</a:t>
            </a:r>
          </a:p>
        </p:txBody>
      </p:sp>
      <p:sp>
        <p:nvSpPr>
          <p:cNvPr id="122883" name="Slide Number Placeholder 2"/>
          <p:cNvSpPr>
            <a:spLocks noGrp="1"/>
          </p:cNvSpPr>
          <p:nvPr>
            <p:ph type="sldNum" sz="quarter" idx="11"/>
          </p:nvPr>
        </p:nvSpPr>
        <p:spPr>
          <a:noFill/>
        </p:spPr>
        <p:txBody>
          <a:bodyPr/>
          <a:lstStyle/>
          <a:p>
            <a:fld id="{A71D0305-65C8-490A-A33E-A5FB7216A8C3}" type="slidenum">
              <a:rPr lang="x-none" smtClean="0"/>
              <a:pPr/>
              <a:t>113</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A1FD7978-4A46-4900-8E12-9DA0F170DD7A}" type="slidenum">
              <a:rPr lang="x-none" sz="1400">
                <a:solidFill>
                  <a:schemeClr val="tx1"/>
                </a:solidFill>
                <a:latin typeface="Arial" pitchFamily="34" charset="0"/>
                <a:cs typeface="Arial" pitchFamily="34" charset="0"/>
              </a:rPr>
              <a:pPr>
                <a:defRPr/>
              </a:pPr>
              <a:t>113</a:t>
            </a:fld>
            <a:endParaRPr lang="en-US" sz="1400" dirty="0">
              <a:solidFill>
                <a:schemeClr val="tx1"/>
              </a:solidFill>
              <a:latin typeface="Arial" pitchFamily="34" charset="0"/>
              <a:cs typeface="Arial" pitchFamily="34" charset="0"/>
            </a:endParaRPr>
          </a:p>
        </p:txBody>
      </p:sp>
      <p:sp>
        <p:nvSpPr>
          <p:cNvPr id="122885" name="Rectangle 2"/>
          <p:cNvSpPr>
            <a:spLocks noGrp="1" noChangeArrowheads="1"/>
          </p:cNvSpPr>
          <p:nvPr>
            <p:ph type="title" idx="4294967295"/>
          </p:nvPr>
        </p:nvSpPr>
        <p:spPr/>
        <p:txBody>
          <a:bodyPr/>
          <a:lstStyle/>
          <a:p>
            <a:r>
              <a:rPr lang="en-US"/>
              <a:t>Bounded DEQueue</a:t>
            </a:r>
          </a:p>
        </p:txBody>
      </p:sp>
      <p:sp>
        <p:nvSpPr>
          <p:cNvPr id="122886" name="Rectangle 3"/>
          <p:cNvSpPr>
            <a:spLocks noChangeArrowheads="1"/>
          </p:cNvSpPr>
          <p:nvPr/>
        </p:nvSpPr>
        <p:spPr bwMode="auto">
          <a:xfrm>
            <a:off x="914400" y="1676400"/>
            <a:ext cx="7620000" cy="2012859"/>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public class </a:t>
            </a:r>
            <a:r>
              <a:rPr lang="en-US" b="1" dirty="0" err="1">
                <a:solidFill>
                  <a:schemeClr val="folHlink"/>
                </a:solidFill>
                <a:latin typeface="Courier New" pitchFamily="49" charset="0"/>
                <a:cs typeface="Courier New" pitchFamily="49" charset="0"/>
              </a:rPr>
              <a:t>BDEQueue</a:t>
            </a: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 </a:t>
            </a:r>
            <a:r>
              <a:rPr lang="en-US" b="1" dirty="0" err="1">
                <a:solidFill>
                  <a:schemeClr val="tx1"/>
                </a:solidFill>
                <a:latin typeface="Courier New" pitchFamily="49" charset="0"/>
                <a:cs typeface="Courier New" pitchFamily="49" charset="0"/>
              </a:rPr>
              <a:t>AtomicStampedReference</a:t>
            </a:r>
            <a:r>
              <a:rPr lang="en-US" b="1" dirty="0">
                <a:solidFill>
                  <a:schemeClr val="tx1"/>
                </a:solidFill>
                <a:latin typeface="Courier New" pitchFamily="49" charset="0"/>
                <a:cs typeface="Courier New" pitchFamily="49" charset="0"/>
              </a:rPr>
              <a:t>&lt;Integer&gt;</a:t>
            </a:r>
            <a:r>
              <a:rPr lang="en-US" b="1" dirty="0">
                <a:latin typeface="Courier New" pitchFamily="49" charset="0"/>
                <a:cs typeface="Courier New" pitchFamily="49" charset="0"/>
              </a:rPr>
              <a:t> top; </a:t>
            </a:r>
            <a:endParaRPr lang="en-US" sz="2000" b="1" dirty="0">
              <a:solidFill>
                <a:srgbClr val="FF0000"/>
              </a:solidFill>
              <a:latin typeface="Courier New" pitchFamily="49" charset="0"/>
              <a:cs typeface="Courier New" pitchFamily="49" charset="0"/>
            </a:endParaRPr>
          </a:p>
          <a:p>
            <a:pPr marL="342900" indent="-342900" algn="l">
              <a:lnSpc>
                <a:spcPct val="70000"/>
              </a:lnSpc>
              <a:spcBef>
                <a:spcPct val="20000"/>
              </a:spcBef>
            </a:pPr>
            <a:r>
              <a:rPr lang="en-US" sz="2000" b="1" dirty="0">
                <a:solidFill>
                  <a:srgbClr val="FF0000"/>
                </a:solidFill>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volatile</a:t>
            </a:r>
            <a:r>
              <a:rPr lang="en-US" sz="2000" b="1" dirty="0">
                <a:solidFill>
                  <a:srgbClr val="FF0000"/>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bottom;        </a:t>
            </a:r>
            <a:endParaRPr lang="en-US" sz="2000" b="1"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Runnable</a:t>
            </a:r>
            <a:r>
              <a:rPr lang="en-US" b="1" dirty="0">
                <a:solidFill>
                  <a:schemeClr val="folHlink"/>
                </a:solidFill>
                <a:latin typeface="Courier New" pitchFamily="49" charset="0"/>
                <a:cs typeface="Courier New" pitchFamily="49" charset="0"/>
              </a:rPr>
              <a:t>[] tasks;</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a:t>
            </a:r>
          </a:p>
        </p:txBody>
      </p:sp>
      <p:sp>
        <p:nvSpPr>
          <p:cNvPr id="122887" name="AutoShape 4"/>
          <p:cNvSpPr>
            <a:spLocks noChangeArrowheads="1"/>
          </p:cNvSpPr>
          <p:nvPr/>
        </p:nvSpPr>
        <p:spPr bwMode="auto">
          <a:xfrm>
            <a:off x="1168400" y="2019300"/>
            <a:ext cx="6921500" cy="304800"/>
          </a:xfrm>
          <a:prstGeom prst="wedgeRoundRectCallout">
            <a:avLst>
              <a:gd name="adj1" fmla="val -12315"/>
              <a:gd name="adj2" fmla="val 632292"/>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22888" name="Text Box 5"/>
          <p:cNvSpPr txBox="1">
            <a:spLocks noChangeArrowheads="1"/>
          </p:cNvSpPr>
          <p:nvPr/>
        </p:nvSpPr>
        <p:spPr bwMode="auto">
          <a:xfrm>
            <a:off x="2857500" y="4267200"/>
            <a:ext cx="4425950" cy="946150"/>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Index &amp; Stamp (synchronized)</a:t>
            </a: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1"/>
          <p:cNvSpPr>
            <a:spLocks noGrp="1"/>
          </p:cNvSpPr>
          <p:nvPr>
            <p:ph type="ftr" sz="quarter" idx="10"/>
          </p:nvPr>
        </p:nvSpPr>
        <p:spPr>
          <a:noFill/>
        </p:spPr>
        <p:txBody>
          <a:bodyPr/>
          <a:lstStyle/>
          <a:p>
            <a:r>
              <a:rPr lang="en-US"/>
              <a:t>Art of Multiprocessor Programming</a:t>
            </a:r>
          </a:p>
        </p:txBody>
      </p:sp>
      <p:sp>
        <p:nvSpPr>
          <p:cNvPr id="123907" name="Slide Number Placeholder 2"/>
          <p:cNvSpPr>
            <a:spLocks noGrp="1"/>
          </p:cNvSpPr>
          <p:nvPr>
            <p:ph type="sldNum" sz="quarter" idx="11"/>
          </p:nvPr>
        </p:nvSpPr>
        <p:spPr>
          <a:noFill/>
        </p:spPr>
        <p:txBody>
          <a:bodyPr/>
          <a:lstStyle/>
          <a:p>
            <a:fld id="{65A2D466-FE89-4B5A-88AE-693F7F1C561F}" type="slidenum">
              <a:rPr lang="x-none" smtClean="0"/>
              <a:pPr/>
              <a:t>114</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662E726-0846-4F6A-8D23-CA2B1D00A39A}" type="slidenum">
              <a:rPr lang="x-none" sz="1400">
                <a:solidFill>
                  <a:schemeClr val="tx1"/>
                </a:solidFill>
                <a:latin typeface="Arial" pitchFamily="34" charset="0"/>
                <a:cs typeface="Arial" pitchFamily="34" charset="0"/>
              </a:rPr>
              <a:pPr>
                <a:defRPr/>
              </a:pPr>
              <a:t>114</a:t>
            </a:fld>
            <a:endParaRPr lang="en-US" sz="1400" dirty="0">
              <a:solidFill>
                <a:schemeClr val="tx1"/>
              </a:solidFill>
              <a:latin typeface="Arial" pitchFamily="34" charset="0"/>
              <a:cs typeface="Arial" pitchFamily="34" charset="0"/>
            </a:endParaRPr>
          </a:p>
        </p:txBody>
      </p:sp>
      <p:sp>
        <p:nvSpPr>
          <p:cNvPr id="123909" name="Rectangle 2"/>
          <p:cNvSpPr>
            <a:spLocks noGrp="1" noChangeArrowheads="1"/>
          </p:cNvSpPr>
          <p:nvPr>
            <p:ph type="title" idx="4294967295"/>
          </p:nvPr>
        </p:nvSpPr>
        <p:spPr/>
        <p:txBody>
          <a:bodyPr/>
          <a:lstStyle/>
          <a:p>
            <a:r>
              <a:rPr lang="en-US"/>
              <a:t>Bounded DEQueue</a:t>
            </a:r>
          </a:p>
        </p:txBody>
      </p:sp>
      <p:sp>
        <p:nvSpPr>
          <p:cNvPr id="123910" name="Rectangle 3"/>
          <p:cNvSpPr>
            <a:spLocks noChangeArrowheads="1"/>
          </p:cNvSpPr>
          <p:nvPr/>
        </p:nvSpPr>
        <p:spPr bwMode="auto">
          <a:xfrm>
            <a:off x="914400" y="1676400"/>
            <a:ext cx="7620000" cy="2012859"/>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public class </a:t>
            </a:r>
            <a:r>
              <a:rPr lang="en-US" b="1" dirty="0" err="1">
                <a:solidFill>
                  <a:schemeClr val="folHlink"/>
                </a:solidFill>
                <a:latin typeface="Courier New" pitchFamily="49" charset="0"/>
                <a:cs typeface="Courier New" pitchFamily="49" charset="0"/>
              </a:rPr>
              <a:t>BDEQueue</a:t>
            </a: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AtomicStampedReference</a:t>
            </a:r>
            <a:r>
              <a:rPr lang="en-US" b="1" dirty="0">
                <a:solidFill>
                  <a:schemeClr val="folHlink"/>
                </a:solidFill>
                <a:latin typeface="Courier New" pitchFamily="49" charset="0"/>
                <a:cs typeface="Courier New" pitchFamily="49" charset="0"/>
              </a:rPr>
              <a:t>&lt;Integer&gt; top; </a:t>
            </a:r>
            <a:endParaRPr lang="en-US" sz="2000" b="1"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000" b="1" dirty="0">
                <a:solidFill>
                  <a:srgbClr val="FF0000"/>
                </a:solidFill>
                <a:latin typeface="Courier New" pitchFamily="49" charset="0"/>
                <a:cs typeface="Courier New" pitchFamily="49" charset="0"/>
              </a:rPr>
              <a:t> </a:t>
            </a:r>
            <a:r>
              <a:rPr lang="en-US" b="1" dirty="0">
                <a:solidFill>
                  <a:schemeClr val="tx2"/>
                </a:solidFill>
                <a:latin typeface="Courier New" pitchFamily="49" charset="0"/>
                <a:cs typeface="Courier New" pitchFamily="49" charset="0"/>
              </a:rPr>
              <a:t>volatile</a:t>
            </a:r>
            <a:r>
              <a:rPr lang="en-US" sz="2000" b="1" dirty="0">
                <a:solidFill>
                  <a:srgbClr val="FF0000"/>
                </a:solidFill>
                <a:latin typeface="Courier New" pitchFamily="49" charset="0"/>
                <a:cs typeface="Courier New" pitchFamily="49" charset="0"/>
              </a:rPr>
              <a:t> </a:t>
            </a:r>
            <a:r>
              <a:rPr lang="en-US" b="1" dirty="0" err="1">
                <a:solidFill>
                  <a:schemeClr val="tx1"/>
                </a:solidFill>
                <a:latin typeface="Courier New" pitchFamily="49" charset="0"/>
                <a:cs typeface="Courier New" pitchFamily="49" charset="0"/>
              </a:rPr>
              <a:t>int</a:t>
            </a:r>
            <a:r>
              <a:rPr lang="en-US" b="1" dirty="0">
                <a:latin typeface="Courier New" pitchFamily="49" charset="0"/>
                <a:cs typeface="Courier New" pitchFamily="49" charset="0"/>
              </a:rPr>
              <a:t> bottom;        </a:t>
            </a:r>
            <a:endParaRPr lang="en-US" sz="2000" b="1" dirty="0">
              <a:solidFill>
                <a:srgbClr val="FF0000"/>
              </a:solidFill>
              <a:latin typeface="Courier New" pitchFamily="49" charset="0"/>
              <a:cs typeface="Courier New" pitchFamily="49" charset="0"/>
            </a:endParaRPr>
          </a:p>
          <a:p>
            <a:pPr marL="342900" indent="-342900" algn="l">
              <a:lnSpc>
                <a:spcPct val="70000"/>
              </a:lnSpc>
              <a:spcBef>
                <a:spcPct val="20000"/>
              </a:spcBef>
            </a:pPr>
            <a:r>
              <a:rPr lang="en-US" b="1" dirty="0">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Runnable</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deq</a:t>
            </a:r>
            <a:r>
              <a:rPr lang="en-US" b="1"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a:t>
            </a:r>
          </a:p>
        </p:txBody>
      </p:sp>
      <p:sp>
        <p:nvSpPr>
          <p:cNvPr id="123911" name="AutoShape 4"/>
          <p:cNvSpPr>
            <a:spLocks noChangeArrowheads="1"/>
          </p:cNvSpPr>
          <p:nvPr/>
        </p:nvSpPr>
        <p:spPr bwMode="auto">
          <a:xfrm>
            <a:off x="1143000" y="2349500"/>
            <a:ext cx="3708400" cy="304800"/>
          </a:xfrm>
          <a:prstGeom prst="wedgeRoundRectCallout">
            <a:avLst>
              <a:gd name="adj1" fmla="val 23074"/>
              <a:gd name="adj2" fmla="val 565625"/>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23912" name="Text Box 5"/>
          <p:cNvSpPr txBox="1">
            <a:spLocks noChangeArrowheads="1"/>
          </p:cNvSpPr>
          <p:nvPr/>
        </p:nvSpPr>
        <p:spPr bwMode="auto">
          <a:xfrm>
            <a:off x="1412875" y="4267200"/>
            <a:ext cx="7169150" cy="1373188"/>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index of bottom task</a:t>
            </a:r>
          </a:p>
          <a:p>
            <a:pPr algn="ctr"/>
            <a:r>
              <a:rPr lang="en-US" sz="2800" b="1" dirty="0">
                <a:solidFill>
                  <a:srgbClr val="FF0000"/>
                </a:solidFill>
                <a:latin typeface="Arial" pitchFamily="34" charset="0"/>
              </a:rPr>
              <a:t>no need to synchronize</a:t>
            </a:r>
          </a:p>
          <a:p>
            <a:pPr algn="ctr"/>
            <a:r>
              <a:rPr lang="en-US" sz="2800" b="1" dirty="0">
                <a:solidFill>
                  <a:srgbClr val="FF0000"/>
                </a:solidFill>
                <a:latin typeface="Arial" pitchFamily="34" charset="0"/>
              </a:rPr>
              <a:t>memory barrier needed</a:t>
            </a: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1"/>
          <p:cNvSpPr>
            <a:spLocks noGrp="1"/>
          </p:cNvSpPr>
          <p:nvPr>
            <p:ph type="ftr" sz="quarter" idx="10"/>
          </p:nvPr>
        </p:nvSpPr>
        <p:spPr>
          <a:noFill/>
        </p:spPr>
        <p:txBody>
          <a:bodyPr/>
          <a:lstStyle/>
          <a:p>
            <a:r>
              <a:rPr lang="en-US"/>
              <a:t>Art of Multiprocessor Programming</a:t>
            </a:r>
          </a:p>
        </p:txBody>
      </p:sp>
      <p:sp>
        <p:nvSpPr>
          <p:cNvPr id="124931" name="Slide Number Placeholder 2"/>
          <p:cNvSpPr>
            <a:spLocks noGrp="1"/>
          </p:cNvSpPr>
          <p:nvPr>
            <p:ph type="sldNum" sz="quarter" idx="11"/>
          </p:nvPr>
        </p:nvSpPr>
        <p:spPr>
          <a:noFill/>
        </p:spPr>
        <p:txBody>
          <a:bodyPr/>
          <a:lstStyle/>
          <a:p>
            <a:fld id="{38D6DAB8-A442-489E-AA37-70B6691F43FD}" type="slidenum">
              <a:rPr lang="x-none" smtClean="0"/>
              <a:pPr/>
              <a:t>115</a:t>
            </a:fld>
            <a:endParaRPr lang="en-US"/>
          </a:p>
        </p:txBody>
      </p:sp>
      <p:sp>
        <p:nvSpPr>
          <p:cNvPr id="124932" name="Rectangle 2"/>
          <p:cNvSpPr>
            <a:spLocks noGrp="1" noChangeArrowheads="1"/>
          </p:cNvSpPr>
          <p:nvPr>
            <p:ph type="title" idx="4294967295"/>
          </p:nvPr>
        </p:nvSpPr>
        <p:spPr/>
        <p:txBody>
          <a:bodyPr/>
          <a:lstStyle/>
          <a:p>
            <a:r>
              <a:rPr lang="en-US"/>
              <a:t>Bounded DEQueue</a:t>
            </a:r>
          </a:p>
        </p:txBody>
      </p:sp>
      <p:sp>
        <p:nvSpPr>
          <p:cNvPr id="124933" name="Rectangle 3"/>
          <p:cNvSpPr>
            <a:spLocks noChangeArrowheads="1"/>
          </p:cNvSpPr>
          <p:nvPr/>
        </p:nvSpPr>
        <p:spPr bwMode="auto">
          <a:xfrm>
            <a:off x="914400" y="1676400"/>
            <a:ext cx="7620000" cy="2012859"/>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public class </a:t>
            </a:r>
            <a:r>
              <a:rPr lang="en-US" b="1" dirty="0" err="1">
                <a:solidFill>
                  <a:schemeClr val="folHlink"/>
                </a:solidFill>
                <a:latin typeface="Courier New" pitchFamily="49" charset="0"/>
                <a:cs typeface="Courier New" pitchFamily="49" charset="0"/>
              </a:rPr>
              <a:t>BDEQueue</a:t>
            </a: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AtomicStampedReference</a:t>
            </a:r>
            <a:r>
              <a:rPr lang="en-US" b="1" dirty="0">
                <a:solidFill>
                  <a:schemeClr val="folHlink"/>
                </a:solidFill>
                <a:latin typeface="Courier New" pitchFamily="49" charset="0"/>
                <a:cs typeface="Courier New" pitchFamily="49" charset="0"/>
              </a:rPr>
              <a:t>&lt;Integer&gt; top;</a:t>
            </a:r>
            <a:endParaRPr lang="en-US" sz="2000" b="1" dirty="0">
              <a:solidFill>
                <a:schemeClr val="folHlink"/>
              </a:solidFill>
              <a:latin typeface="Courier New" pitchFamily="49" charset="0"/>
              <a:cs typeface="Courier New" pitchFamily="49" charset="0"/>
            </a:endParaRPr>
          </a:p>
          <a:p>
            <a:pPr marL="342900" indent="-342900" algn="l">
              <a:lnSpc>
                <a:spcPct val="70000"/>
              </a:lnSpc>
              <a:spcBef>
                <a:spcPct val="20000"/>
              </a:spcBef>
            </a:pPr>
            <a:r>
              <a:rPr lang="en-US" sz="2000" b="1" dirty="0">
                <a:solidFill>
                  <a:schemeClr val="folHlink"/>
                </a:solidFill>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volatile</a:t>
            </a:r>
            <a:r>
              <a:rPr lang="en-US" sz="2000"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bottom;</a:t>
            </a:r>
            <a:r>
              <a:rPr lang="en-US" b="1" dirty="0">
                <a:latin typeface="Courier New" pitchFamily="49" charset="0"/>
                <a:cs typeface="Courier New" pitchFamily="49" charset="0"/>
              </a:rPr>
              <a:t>        </a:t>
            </a:r>
            <a:endParaRPr lang="en-US" sz="2000" b="1" dirty="0">
              <a:solidFill>
                <a:srgbClr val="FF0000"/>
              </a:solidFill>
              <a:latin typeface="Courier New" pitchFamily="49" charset="0"/>
              <a:cs typeface="Courier New" pitchFamily="49" charset="0"/>
            </a:endParaRPr>
          </a:p>
          <a:p>
            <a:pPr marL="342900" indent="-342900" algn="l">
              <a:lnSpc>
                <a:spcPct val="70000"/>
              </a:lnSpc>
              <a:spcBef>
                <a:spcPct val="20000"/>
              </a:spcBef>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Runnable</a:t>
            </a:r>
            <a:r>
              <a:rPr lang="en-US" b="1" dirty="0">
                <a:latin typeface="Courier New" pitchFamily="49" charset="0"/>
                <a:cs typeface="Courier New" pitchFamily="49" charset="0"/>
              </a:rPr>
              <a:t>[] tasks;</a:t>
            </a:r>
          </a:p>
          <a:p>
            <a:pPr marL="342900" indent="-342900" algn="l">
              <a:lnSpc>
                <a:spcPct val="70000"/>
              </a:lnSpc>
              <a:spcBef>
                <a:spcPct val="20000"/>
              </a:spcBef>
            </a:pPr>
            <a:r>
              <a:rPr lang="en-US" b="1" dirty="0">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a:t>
            </a:r>
          </a:p>
        </p:txBody>
      </p:sp>
      <p:sp>
        <p:nvSpPr>
          <p:cNvPr id="124934" name="AutoShape 4"/>
          <p:cNvSpPr>
            <a:spLocks noChangeArrowheads="1"/>
          </p:cNvSpPr>
          <p:nvPr/>
        </p:nvSpPr>
        <p:spPr bwMode="auto">
          <a:xfrm>
            <a:off x="1168400" y="2603500"/>
            <a:ext cx="3200400" cy="482600"/>
          </a:xfrm>
          <a:prstGeom prst="wedgeRoundRectCallout">
            <a:avLst>
              <a:gd name="adj1" fmla="val 39435"/>
              <a:gd name="adj2" fmla="val 296708"/>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24935" name="Text Box 5"/>
          <p:cNvSpPr txBox="1">
            <a:spLocks noChangeArrowheads="1"/>
          </p:cNvSpPr>
          <p:nvPr/>
        </p:nvSpPr>
        <p:spPr bwMode="auto">
          <a:xfrm>
            <a:off x="2857500" y="4267200"/>
            <a:ext cx="4425950"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Array holding tasks</a:t>
            </a: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1"/>
          <p:cNvSpPr>
            <a:spLocks noGrp="1"/>
          </p:cNvSpPr>
          <p:nvPr>
            <p:ph type="ftr" sz="quarter" idx="10"/>
          </p:nvPr>
        </p:nvSpPr>
        <p:spPr>
          <a:noFill/>
        </p:spPr>
        <p:txBody>
          <a:bodyPr/>
          <a:lstStyle/>
          <a:p>
            <a:r>
              <a:rPr lang="en-US"/>
              <a:t>Art of Multiprocessor Programming</a:t>
            </a:r>
          </a:p>
        </p:txBody>
      </p:sp>
      <p:sp>
        <p:nvSpPr>
          <p:cNvPr id="125955" name="Slide Number Placeholder 2"/>
          <p:cNvSpPr>
            <a:spLocks noGrp="1"/>
          </p:cNvSpPr>
          <p:nvPr>
            <p:ph type="sldNum" sz="quarter" idx="11"/>
          </p:nvPr>
        </p:nvSpPr>
        <p:spPr>
          <a:noFill/>
        </p:spPr>
        <p:txBody>
          <a:bodyPr/>
          <a:lstStyle/>
          <a:p>
            <a:fld id="{6AABFBA1-5D06-40F8-82C7-1761BC9967D4}" type="slidenum">
              <a:rPr lang="x-none" smtClean="0"/>
              <a:pPr/>
              <a:t>116</a:t>
            </a:fld>
            <a:endParaRPr lang="en-US"/>
          </a:p>
        </p:txBody>
      </p:sp>
      <p:sp>
        <p:nvSpPr>
          <p:cNvPr id="125956" name="Rectangle 2"/>
          <p:cNvSpPr>
            <a:spLocks noGrp="1" noChangeArrowheads="1"/>
          </p:cNvSpPr>
          <p:nvPr>
            <p:ph type="title" idx="4294967295"/>
          </p:nvPr>
        </p:nvSpPr>
        <p:spPr/>
        <p:txBody>
          <a:bodyPr/>
          <a:lstStyle/>
          <a:p>
            <a:r>
              <a:rPr lang="en-US"/>
              <a:t>pushBottom()</a:t>
            </a:r>
          </a:p>
        </p:txBody>
      </p:sp>
      <p:sp>
        <p:nvSpPr>
          <p:cNvPr id="125957" name="Rectangle 3"/>
          <p:cNvSpPr>
            <a:spLocks noChangeArrowheads="1"/>
          </p:cNvSpPr>
          <p:nvPr/>
        </p:nvSpPr>
        <p:spPr bwMode="auto">
          <a:xfrm>
            <a:off x="850900" y="2159000"/>
            <a:ext cx="7620000" cy="2677656"/>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tx1"/>
                </a:solidFill>
                <a:latin typeface="Courier New" pitchFamily="49" charset="0"/>
                <a:cs typeface="Courier New" pitchFamily="49" charset="0"/>
              </a:rPr>
              <a:t>public class</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BDEQueue</a:t>
            </a: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void</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pushBottom</a:t>
            </a:r>
            <a:r>
              <a:rPr lang="en-US" b="1" dirty="0">
                <a:latin typeface="Courier New" pitchFamily="49" charset="0"/>
                <a:cs typeface="Courier New" pitchFamily="49" charset="0"/>
              </a:rPr>
              <a:t>(</a:t>
            </a:r>
            <a:r>
              <a:rPr lang="en-US" b="1" dirty="0" err="1">
                <a:latin typeface="Courier New" pitchFamily="49" charset="0"/>
                <a:cs typeface="Courier New" pitchFamily="49" charset="0"/>
              </a:rPr>
              <a:t>Runnable</a:t>
            </a:r>
            <a:r>
              <a:rPr lang="en-US" b="1" dirty="0">
                <a:latin typeface="Courier New" pitchFamily="49" charset="0"/>
                <a:cs typeface="Courier New" pitchFamily="49" charset="0"/>
              </a:rPr>
              <a:t> r){</a:t>
            </a:r>
          </a:p>
          <a:p>
            <a:pPr marL="342900" indent="-342900" algn="l">
              <a:lnSpc>
                <a:spcPct val="70000"/>
              </a:lnSpc>
              <a:spcBef>
                <a:spcPct val="20000"/>
              </a:spcBef>
            </a:pPr>
            <a:r>
              <a:rPr lang="en-US" b="1" dirty="0">
                <a:latin typeface="Courier New" pitchFamily="49" charset="0"/>
                <a:cs typeface="Courier New" pitchFamily="49" charset="0"/>
              </a:rPr>
              <a:t>  tasks[bottom] = r;</a:t>
            </a:r>
          </a:p>
          <a:p>
            <a:pPr marL="342900" indent="-342900" algn="l">
              <a:lnSpc>
                <a:spcPct val="70000"/>
              </a:lnSpc>
              <a:spcBef>
                <a:spcPct val="20000"/>
              </a:spcBef>
            </a:pPr>
            <a:r>
              <a:rPr lang="en-US" b="1" dirty="0">
                <a:latin typeface="Courier New" pitchFamily="49" charset="0"/>
                <a:cs typeface="Courier New" pitchFamily="49" charset="0"/>
              </a:rPr>
              <a:t>  bottom++;</a:t>
            </a:r>
          </a:p>
          <a:p>
            <a:pPr marL="342900" indent="-342900" algn="l">
              <a:lnSpc>
                <a:spcPct val="70000"/>
              </a:lnSpc>
              <a:spcBef>
                <a:spcPct val="20000"/>
              </a:spcBef>
            </a:pP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 …</a:t>
            </a:r>
          </a:p>
          <a:p>
            <a:pPr marL="342900" indent="-342900" algn="l">
              <a:lnSpc>
                <a:spcPct val="70000"/>
              </a:lnSpc>
              <a:spcBef>
                <a:spcPct val="20000"/>
              </a:spcBef>
            </a:pPr>
            <a:r>
              <a:rPr lang="en-US" b="1" dirty="0">
                <a:latin typeface="Courier New" pitchFamily="49" charset="0"/>
                <a:cs typeface="Courier New" pitchFamily="49" charset="0"/>
              </a:rPr>
              <a:t>}</a:t>
            </a:r>
          </a:p>
        </p:txBody>
      </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1"/>
          <p:cNvSpPr>
            <a:spLocks noGrp="1"/>
          </p:cNvSpPr>
          <p:nvPr>
            <p:ph type="ftr" sz="quarter" idx="10"/>
          </p:nvPr>
        </p:nvSpPr>
        <p:spPr>
          <a:noFill/>
        </p:spPr>
        <p:txBody>
          <a:bodyPr/>
          <a:lstStyle/>
          <a:p>
            <a:r>
              <a:rPr lang="en-US"/>
              <a:t>Art of Multiprocessor Programming</a:t>
            </a:r>
          </a:p>
        </p:txBody>
      </p:sp>
      <p:sp>
        <p:nvSpPr>
          <p:cNvPr id="126979" name="Slide Number Placeholder 2"/>
          <p:cNvSpPr>
            <a:spLocks noGrp="1"/>
          </p:cNvSpPr>
          <p:nvPr>
            <p:ph type="sldNum" sz="quarter" idx="11"/>
          </p:nvPr>
        </p:nvSpPr>
        <p:spPr>
          <a:noFill/>
        </p:spPr>
        <p:txBody>
          <a:bodyPr/>
          <a:lstStyle/>
          <a:p>
            <a:fld id="{ABD56FF7-A351-4232-A458-31E42D64C909}" type="slidenum">
              <a:rPr lang="x-none" smtClean="0"/>
              <a:pPr/>
              <a:t>117</a:t>
            </a:fld>
            <a:endParaRPr lang="en-US"/>
          </a:p>
        </p:txBody>
      </p:sp>
      <p:sp>
        <p:nvSpPr>
          <p:cNvPr id="126980" name="Rectangle 2"/>
          <p:cNvSpPr>
            <a:spLocks noGrp="1" noChangeArrowheads="1"/>
          </p:cNvSpPr>
          <p:nvPr>
            <p:ph type="title" idx="4294967295"/>
          </p:nvPr>
        </p:nvSpPr>
        <p:spPr/>
        <p:txBody>
          <a:bodyPr/>
          <a:lstStyle/>
          <a:p>
            <a:r>
              <a:rPr lang="en-US"/>
              <a:t>pushBottom()</a:t>
            </a:r>
          </a:p>
        </p:txBody>
      </p:sp>
      <p:sp>
        <p:nvSpPr>
          <p:cNvPr id="126981" name="Rectangle 3"/>
          <p:cNvSpPr>
            <a:spLocks noChangeArrowheads="1"/>
          </p:cNvSpPr>
          <p:nvPr/>
        </p:nvSpPr>
        <p:spPr bwMode="auto">
          <a:xfrm>
            <a:off x="850900" y="2159000"/>
            <a:ext cx="7620000" cy="2690813"/>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public class </a:t>
            </a:r>
            <a:r>
              <a:rPr lang="en-US" b="1" dirty="0" err="1">
                <a:solidFill>
                  <a:schemeClr val="folHlink"/>
                </a:solidFill>
                <a:latin typeface="Courier New" pitchFamily="49" charset="0"/>
                <a:cs typeface="Courier New" pitchFamily="49" charset="0"/>
              </a:rPr>
              <a:t>BDEQueue</a:t>
            </a: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void </a:t>
            </a:r>
            <a:r>
              <a:rPr lang="en-US" b="1" dirty="0" err="1">
                <a:solidFill>
                  <a:schemeClr val="folHlink"/>
                </a:solidFill>
                <a:latin typeface="Courier New" pitchFamily="49" charset="0"/>
                <a:cs typeface="Courier New" pitchFamily="49" charset="0"/>
              </a:rPr>
              <a:t>pushBottom</a:t>
            </a:r>
            <a:r>
              <a:rPr lang="en-US" b="1" dirty="0">
                <a:solidFill>
                  <a:schemeClr val="folHlink"/>
                </a:solidFill>
                <a:latin typeface="Courier New" pitchFamily="49" charset="0"/>
                <a:cs typeface="Courier New" pitchFamily="49" charset="0"/>
              </a:rPr>
              <a:t>(</a:t>
            </a:r>
            <a:r>
              <a:rPr lang="en-US" b="1" dirty="0" err="1">
                <a:solidFill>
                  <a:schemeClr val="folHlink"/>
                </a:solidFill>
                <a:latin typeface="Courier New" pitchFamily="49" charset="0"/>
                <a:cs typeface="Courier New" pitchFamily="49" charset="0"/>
              </a:rPr>
              <a:t>Runnable</a:t>
            </a:r>
            <a:r>
              <a:rPr lang="en-US" b="1" dirty="0">
                <a:solidFill>
                  <a:schemeClr val="folHlink"/>
                </a:solidFill>
                <a:latin typeface="Courier New" pitchFamily="49" charset="0"/>
                <a:cs typeface="Courier New" pitchFamily="49" charset="0"/>
              </a:rPr>
              <a:t> r){</a:t>
            </a:r>
          </a:p>
          <a:p>
            <a:pPr marL="342900" indent="-342900" algn="l">
              <a:lnSpc>
                <a:spcPct val="70000"/>
              </a:lnSpc>
              <a:spcBef>
                <a:spcPct val="20000"/>
              </a:spcBef>
            </a:pPr>
            <a:r>
              <a:rPr lang="en-US" b="1" dirty="0">
                <a:latin typeface="Courier New" pitchFamily="49" charset="0"/>
                <a:cs typeface="Courier New" pitchFamily="49" charset="0"/>
              </a:rPr>
              <a:t>  tasks[bottom] = r;</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bottom++;</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a:t>
            </a:r>
          </a:p>
        </p:txBody>
      </p:sp>
      <p:sp>
        <p:nvSpPr>
          <p:cNvPr id="126982" name="AutoShape 4"/>
          <p:cNvSpPr>
            <a:spLocks noChangeArrowheads="1"/>
          </p:cNvSpPr>
          <p:nvPr/>
        </p:nvSpPr>
        <p:spPr bwMode="auto">
          <a:xfrm>
            <a:off x="1282700" y="3060700"/>
            <a:ext cx="3479800" cy="469900"/>
          </a:xfrm>
          <a:prstGeom prst="wedgeRoundRectCallout">
            <a:avLst>
              <a:gd name="adj1" fmla="val 23861"/>
              <a:gd name="adj2" fmla="val 197972"/>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26983" name="Text Box 5"/>
          <p:cNvSpPr txBox="1">
            <a:spLocks noChangeArrowheads="1"/>
          </p:cNvSpPr>
          <p:nvPr/>
        </p:nvSpPr>
        <p:spPr bwMode="auto">
          <a:xfrm>
            <a:off x="1765300" y="4178300"/>
            <a:ext cx="5489575" cy="946150"/>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Bottom is the index to store the new task in the array</a:t>
            </a: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1"/>
          <p:cNvSpPr>
            <a:spLocks noGrp="1"/>
          </p:cNvSpPr>
          <p:nvPr>
            <p:ph type="ftr" sz="quarter" idx="10"/>
          </p:nvPr>
        </p:nvSpPr>
        <p:spPr>
          <a:noFill/>
        </p:spPr>
        <p:txBody>
          <a:bodyPr/>
          <a:lstStyle/>
          <a:p>
            <a:r>
              <a:rPr lang="en-US"/>
              <a:t>Art of Multiprocessor Programming</a:t>
            </a:r>
          </a:p>
        </p:txBody>
      </p:sp>
      <p:sp>
        <p:nvSpPr>
          <p:cNvPr id="128003" name="Slide Number Placeholder 2"/>
          <p:cNvSpPr>
            <a:spLocks noGrp="1"/>
          </p:cNvSpPr>
          <p:nvPr>
            <p:ph type="sldNum" sz="quarter" idx="11"/>
          </p:nvPr>
        </p:nvSpPr>
        <p:spPr>
          <a:noFill/>
        </p:spPr>
        <p:txBody>
          <a:bodyPr/>
          <a:lstStyle/>
          <a:p>
            <a:fld id="{B6381F42-B6E6-4211-B26C-5365B55F8DD7}" type="slidenum">
              <a:rPr lang="x-none" smtClean="0"/>
              <a:pPr/>
              <a:t>118</a:t>
            </a:fld>
            <a:endParaRPr lang="en-US"/>
          </a:p>
        </p:txBody>
      </p:sp>
      <p:sp>
        <p:nvSpPr>
          <p:cNvPr id="128004" name="Rectangle 2"/>
          <p:cNvSpPr>
            <a:spLocks noGrp="1" noChangeArrowheads="1"/>
          </p:cNvSpPr>
          <p:nvPr>
            <p:ph type="title" idx="4294967295"/>
          </p:nvPr>
        </p:nvSpPr>
        <p:spPr/>
        <p:txBody>
          <a:bodyPr/>
          <a:lstStyle/>
          <a:p>
            <a:r>
              <a:rPr lang="en-US"/>
              <a:t>pushBottom()</a:t>
            </a:r>
          </a:p>
        </p:txBody>
      </p:sp>
      <p:sp>
        <p:nvSpPr>
          <p:cNvPr id="128005" name="Rectangle 3"/>
          <p:cNvSpPr>
            <a:spLocks noChangeArrowheads="1"/>
          </p:cNvSpPr>
          <p:nvPr/>
        </p:nvSpPr>
        <p:spPr bwMode="auto">
          <a:xfrm>
            <a:off x="850900" y="2159000"/>
            <a:ext cx="7620000" cy="2690813"/>
          </a:xfrm>
          <a:prstGeom prst="rect">
            <a:avLst/>
          </a:prstGeom>
          <a:solidFill>
            <a:srgbClr val="FFFFCC"/>
          </a:solidFill>
          <a:ln w="9525">
            <a:noFill/>
            <a:miter lim="800000"/>
            <a:headEnd/>
            <a:tailEnd/>
          </a:ln>
        </p:spPr>
        <p:txBody>
          <a:bodyPr>
            <a:spAutoFit/>
          </a:bodyPr>
          <a:lstStyle/>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public class </a:t>
            </a:r>
            <a:r>
              <a:rPr lang="en-US" b="1" dirty="0" err="1">
                <a:solidFill>
                  <a:schemeClr val="folHlink"/>
                </a:solidFill>
                <a:latin typeface="Courier New" pitchFamily="49" charset="0"/>
                <a:cs typeface="Courier New" pitchFamily="49" charset="0"/>
              </a:rPr>
              <a:t>BDEQueue</a:t>
            </a: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void </a:t>
            </a:r>
            <a:r>
              <a:rPr lang="en-US" b="1" dirty="0" err="1">
                <a:solidFill>
                  <a:schemeClr val="folHlink"/>
                </a:solidFill>
                <a:latin typeface="Courier New" pitchFamily="49" charset="0"/>
                <a:cs typeface="Courier New" pitchFamily="49" charset="0"/>
              </a:rPr>
              <a:t>pushBottom</a:t>
            </a:r>
            <a:r>
              <a:rPr lang="en-US" b="1" dirty="0">
                <a:solidFill>
                  <a:schemeClr val="folHlink"/>
                </a:solidFill>
                <a:latin typeface="Courier New" pitchFamily="49" charset="0"/>
                <a:cs typeface="Courier New" pitchFamily="49" charset="0"/>
              </a:rPr>
              <a:t>(</a:t>
            </a:r>
            <a:r>
              <a:rPr lang="en-US" b="1" dirty="0" err="1">
                <a:solidFill>
                  <a:schemeClr val="folHlink"/>
                </a:solidFill>
                <a:latin typeface="Courier New" pitchFamily="49" charset="0"/>
                <a:cs typeface="Courier New" pitchFamily="49" charset="0"/>
              </a:rPr>
              <a:t>Runnable</a:t>
            </a:r>
            <a:r>
              <a:rPr lang="en-US" b="1" dirty="0">
                <a:solidFill>
                  <a:schemeClr val="folHlink"/>
                </a:solidFill>
                <a:latin typeface="Courier New" pitchFamily="49" charset="0"/>
                <a:cs typeface="Courier New" pitchFamily="49" charset="0"/>
              </a:rPr>
              <a:t> r){</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tasks[bottom] = r;</a:t>
            </a:r>
          </a:p>
          <a:p>
            <a:pPr marL="342900" indent="-342900" algn="l">
              <a:lnSpc>
                <a:spcPct val="70000"/>
              </a:lnSpc>
              <a:spcBef>
                <a:spcPct val="20000"/>
              </a:spcBef>
            </a:pPr>
            <a:r>
              <a:rPr lang="en-US" b="1" dirty="0">
                <a:latin typeface="Courier New" pitchFamily="49" charset="0"/>
                <a:cs typeface="Courier New" pitchFamily="49" charset="0"/>
              </a:rPr>
              <a:t>  bottom++;</a:t>
            </a:r>
          </a:p>
          <a:p>
            <a:pPr marL="342900" indent="-342900" algn="l">
              <a:lnSpc>
                <a:spcPct val="70000"/>
              </a:lnSpc>
              <a:spcBef>
                <a:spcPct val="20000"/>
              </a:spcBef>
            </a:pPr>
            <a:r>
              <a:rPr lang="en-US" b="1" dirty="0">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 …</a:t>
            </a:r>
          </a:p>
          <a:p>
            <a:pPr marL="342900" indent="-342900" algn="l">
              <a:lnSpc>
                <a:spcPct val="70000"/>
              </a:lnSpc>
              <a:spcBef>
                <a:spcPct val="20000"/>
              </a:spcBef>
            </a:pPr>
            <a:r>
              <a:rPr lang="en-US" b="1" dirty="0">
                <a:solidFill>
                  <a:schemeClr val="folHlink"/>
                </a:solidFill>
                <a:latin typeface="Courier New" pitchFamily="49" charset="0"/>
                <a:cs typeface="Courier New" pitchFamily="49" charset="0"/>
              </a:rPr>
              <a:t>}</a:t>
            </a:r>
          </a:p>
        </p:txBody>
      </p:sp>
      <p:sp>
        <p:nvSpPr>
          <p:cNvPr id="128006" name="AutoShape 4"/>
          <p:cNvSpPr>
            <a:spLocks noChangeArrowheads="1"/>
          </p:cNvSpPr>
          <p:nvPr/>
        </p:nvSpPr>
        <p:spPr bwMode="auto">
          <a:xfrm>
            <a:off x="1244600" y="3365500"/>
            <a:ext cx="1765300" cy="520700"/>
          </a:xfrm>
          <a:prstGeom prst="wedgeRoundRectCallout">
            <a:avLst>
              <a:gd name="adj1" fmla="val 41546"/>
              <a:gd name="adj2" fmla="val 246949"/>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28007" name="Text Box 5"/>
          <p:cNvSpPr txBox="1">
            <a:spLocks noChangeArrowheads="1"/>
          </p:cNvSpPr>
          <p:nvPr/>
        </p:nvSpPr>
        <p:spPr bwMode="auto">
          <a:xfrm>
            <a:off x="633413" y="5026025"/>
            <a:ext cx="5489575" cy="519113"/>
          </a:xfrm>
          <a:prstGeom prst="rect">
            <a:avLst/>
          </a:prstGeom>
          <a:noFill/>
          <a:ln w="38100" algn="ctr">
            <a:noFill/>
            <a:miter lim="800000"/>
            <a:headEnd/>
            <a:tailEnd/>
          </a:ln>
        </p:spPr>
        <p:txBody>
          <a:bodyPr>
            <a:spAutoFit/>
          </a:bodyPr>
          <a:lstStyle/>
          <a:p>
            <a:pPr algn="ctr"/>
            <a:r>
              <a:rPr lang="en-US" sz="2800" b="1" dirty="0">
                <a:solidFill>
                  <a:srgbClr val="FF0000"/>
                </a:solidFill>
                <a:latin typeface="Arial" pitchFamily="34" charset="0"/>
              </a:rPr>
              <a:t>Adjust the bottom index</a:t>
            </a:r>
          </a:p>
        </p:txBody>
      </p:sp>
      <p:sp>
        <p:nvSpPr>
          <p:cNvPr id="128008" name="Rectangle 7"/>
          <p:cNvSpPr>
            <a:spLocks noChangeArrowheads="1"/>
          </p:cNvSpPr>
          <p:nvPr/>
        </p:nvSpPr>
        <p:spPr bwMode="auto">
          <a:xfrm>
            <a:off x="7164388" y="2387600"/>
            <a:ext cx="633412" cy="1892300"/>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8"/>
          <p:cNvGrpSpPr>
            <a:grpSpLocks/>
          </p:cNvGrpSpPr>
          <p:nvPr/>
        </p:nvGrpSpPr>
        <p:grpSpPr bwMode="auto">
          <a:xfrm>
            <a:off x="7221538" y="3289300"/>
            <a:ext cx="517525" cy="317500"/>
            <a:chOff x="3507" y="1789"/>
            <a:chExt cx="858" cy="497"/>
          </a:xfrm>
        </p:grpSpPr>
        <p:sp>
          <p:nvSpPr>
            <p:cNvPr id="128033" name="Oval 9"/>
            <p:cNvSpPr>
              <a:spLocks noChangeArrowheads="1"/>
            </p:cNvSpPr>
            <p:nvPr/>
          </p:nvSpPr>
          <p:spPr bwMode="auto">
            <a:xfrm>
              <a:off x="3507" y="1789"/>
              <a:ext cx="858" cy="497"/>
            </a:xfrm>
            <a:prstGeom prst="ellipse">
              <a:avLst/>
            </a:prstGeom>
            <a:solidFill>
              <a:srgbClr val="FF7C80">
                <a:alpha val="59999"/>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10"/>
            <p:cNvGrpSpPr>
              <a:grpSpLocks/>
            </p:cNvGrpSpPr>
            <p:nvPr/>
          </p:nvGrpSpPr>
          <p:grpSpPr bwMode="auto">
            <a:xfrm>
              <a:off x="3758" y="2002"/>
              <a:ext cx="357" cy="76"/>
              <a:chOff x="4109" y="1226"/>
              <a:chExt cx="357" cy="76"/>
            </a:xfrm>
          </p:grpSpPr>
          <p:sp>
            <p:nvSpPr>
              <p:cNvPr id="128035" name="Freeform 1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9999"/>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28036" name="Freeform 1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8037" name="Freeform 1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4"/>
          <p:cNvGrpSpPr>
            <a:grpSpLocks/>
          </p:cNvGrpSpPr>
          <p:nvPr/>
        </p:nvGrpSpPr>
        <p:grpSpPr bwMode="auto">
          <a:xfrm>
            <a:off x="7221538" y="2943225"/>
            <a:ext cx="517525" cy="317500"/>
            <a:chOff x="3507" y="1789"/>
            <a:chExt cx="858" cy="497"/>
          </a:xfrm>
        </p:grpSpPr>
        <p:sp>
          <p:nvSpPr>
            <p:cNvPr id="128028" name="Oval 15"/>
            <p:cNvSpPr>
              <a:spLocks noChangeArrowheads="1"/>
            </p:cNvSpPr>
            <p:nvPr/>
          </p:nvSpPr>
          <p:spPr bwMode="auto">
            <a:xfrm>
              <a:off x="3507" y="1789"/>
              <a:ext cx="858" cy="497"/>
            </a:xfrm>
            <a:prstGeom prst="ellipse">
              <a:avLst/>
            </a:prstGeom>
            <a:solidFill>
              <a:srgbClr val="3399FF">
                <a:alpha val="59999"/>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16"/>
            <p:cNvGrpSpPr>
              <a:grpSpLocks/>
            </p:cNvGrpSpPr>
            <p:nvPr/>
          </p:nvGrpSpPr>
          <p:grpSpPr bwMode="auto">
            <a:xfrm>
              <a:off x="3758" y="2002"/>
              <a:ext cx="357" cy="76"/>
              <a:chOff x="4109" y="1226"/>
              <a:chExt cx="357" cy="76"/>
            </a:xfrm>
          </p:grpSpPr>
          <p:sp>
            <p:nvSpPr>
              <p:cNvPr id="128030" name="Freeform 17"/>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9999"/>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28031" name="Freeform 18"/>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8032" name="Freeform 19"/>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20"/>
          <p:cNvGrpSpPr>
            <a:grpSpLocks/>
          </p:cNvGrpSpPr>
          <p:nvPr/>
        </p:nvGrpSpPr>
        <p:grpSpPr bwMode="auto">
          <a:xfrm>
            <a:off x="4770438" y="2489549"/>
            <a:ext cx="735012" cy="538113"/>
            <a:chOff x="502" y="2132"/>
            <a:chExt cx="696" cy="574"/>
          </a:xfrm>
        </p:grpSpPr>
        <p:sp>
          <p:nvSpPr>
            <p:cNvPr id="128026" name="Rectangle 21"/>
            <p:cNvSpPr>
              <a:spLocks noChangeArrowheads="1"/>
            </p:cNvSpPr>
            <p:nvPr/>
          </p:nvSpPr>
          <p:spPr bwMode="auto">
            <a:xfrm>
              <a:off x="502" y="2132"/>
              <a:ext cx="694" cy="295"/>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28027" name="Rectangle 22"/>
            <p:cNvSpPr>
              <a:spLocks noChangeArrowheads="1"/>
            </p:cNvSpPr>
            <p:nvPr/>
          </p:nvSpPr>
          <p:spPr bwMode="auto">
            <a:xfrm>
              <a:off x="513" y="2411"/>
              <a:ext cx="685" cy="295"/>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28012" name="Line 24"/>
          <p:cNvSpPr>
            <a:spLocks noChangeShapeType="1"/>
          </p:cNvSpPr>
          <p:nvPr/>
        </p:nvSpPr>
        <p:spPr bwMode="auto">
          <a:xfrm>
            <a:off x="7164388" y="29210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8013" name="Line 25"/>
          <p:cNvSpPr>
            <a:spLocks noChangeShapeType="1"/>
          </p:cNvSpPr>
          <p:nvPr/>
        </p:nvSpPr>
        <p:spPr bwMode="auto">
          <a:xfrm>
            <a:off x="7154863" y="32750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8014" name="Line 26"/>
          <p:cNvSpPr>
            <a:spLocks noChangeShapeType="1"/>
          </p:cNvSpPr>
          <p:nvPr/>
        </p:nvSpPr>
        <p:spPr bwMode="auto">
          <a:xfrm>
            <a:off x="7146925" y="36274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28015" name="Line 27"/>
          <p:cNvSpPr>
            <a:spLocks noChangeShapeType="1"/>
          </p:cNvSpPr>
          <p:nvPr/>
        </p:nvSpPr>
        <p:spPr bwMode="auto">
          <a:xfrm>
            <a:off x="7138988" y="39798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126428" name="Freeform 28"/>
          <p:cNvSpPr>
            <a:spLocks/>
          </p:cNvSpPr>
          <p:nvPr/>
        </p:nvSpPr>
        <p:spPr bwMode="auto">
          <a:xfrm rot="-1168453">
            <a:off x="5487988" y="3829050"/>
            <a:ext cx="1639887" cy="3349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anchor="ctr">
            <a:spAutoFit/>
          </a:bodyPr>
          <a:lstStyle/>
          <a:p>
            <a:pPr algn="l"/>
            <a:endParaRPr lang="en-US" b="1">
              <a:latin typeface="Arial" pitchFamily="34" charset="0"/>
            </a:endParaRPr>
          </a:p>
        </p:txBody>
      </p:sp>
      <p:sp>
        <p:nvSpPr>
          <p:cNvPr id="128017" name="Freeform 29"/>
          <p:cNvSpPr>
            <a:spLocks/>
          </p:cNvSpPr>
          <p:nvPr/>
        </p:nvSpPr>
        <p:spPr bwMode="auto">
          <a:xfrm>
            <a:off x="5499100" y="28908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grpSp>
        <p:nvGrpSpPr>
          <p:cNvPr id="7" name="Group 30"/>
          <p:cNvGrpSpPr>
            <a:grpSpLocks/>
          </p:cNvGrpSpPr>
          <p:nvPr/>
        </p:nvGrpSpPr>
        <p:grpSpPr bwMode="auto">
          <a:xfrm>
            <a:off x="7229475" y="3635375"/>
            <a:ext cx="519113" cy="317500"/>
            <a:chOff x="3507" y="1789"/>
            <a:chExt cx="858" cy="497"/>
          </a:xfrm>
        </p:grpSpPr>
        <p:sp>
          <p:nvSpPr>
            <p:cNvPr id="128021" name="Oval 31"/>
            <p:cNvSpPr>
              <a:spLocks noChangeArrowheads="1"/>
            </p:cNvSpPr>
            <p:nvPr/>
          </p:nvSpPr>
          <p:spPr bwMode="auto">
            <a:xfrm>
              <a:off x="3507" y="1789"/>
              <a:ext cx="858" cy="497"/>
            </a:xfrm>
            <a:prstGeom prst="ellipse">
              <a:avLst/>
            </a:prstGeom>
            <a:solidFill>
              <a:srgbClr val="FF6600">
                <a:alpha val="59999"/>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8" name="Group 32"/>
            <p:cNvGrpSpPr>
              <a:grpSpLocks/>
            </p:cNvGrpSpPr>
            <p:nvPr/>
          </p:nvGrpSpPr>
          <p:grpSpPr bwMode="auto">
            <a:xfrm>
              <a:off x="3758" y="2002"/>
              <a:ext cx="357" cy="76"/>
              <a:chOff x="4109" y="1226"/>
              <a:chExt cx="357" cy="76"/>
            </a:xfrm>
          </p:grpSpPr>
          <p:sp>
            <p:nvSpPr>
              <p:cNvPr id="128023" name="Freeform 3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9999"/>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28024" name="Freeform 3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28025" name="Freeform 3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
        <p:nvSpPr>
          <p:cNvPr id="1126436" name="Freeform 36"/>
          <p:cNvSpPr>
            <a:spLocks/>
          </p:cNvSpPr>
          <p:nvPr/>
        </p:nvSpPr>
        <p:spPr bwMode="auto">
          <a:xfrm rot="-702749">
            <a:off x="5491163" y="3932238"/>
            <a:ext cx="1597025" cy="550862"/>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anchor="ctr">
            <a:spAutoFit/>
          </a:bodyPr>
          <a:lstStyle/>
          <a:p>
            <a:pPr algn="l"/>
            <a:endParaRPr lang="en-US" b="1">
              <a:latin typeface="Arial" pitchFamily="34" charset="0"/>
            </a:endParaRPr>
          </a:p>
        </p:txBody>
      </p:sp>
      <p:sp>
        <p:nvSpPr>
          <p:cNvPr id="128020" name="Rectangle 23"/>
          <p:cNvSpPr>
            <a:spLocks noChangeArrowheads="1"/>
          </p:cNvSpPr>
          <p:nvPr/>
        </p:nvSpPr>
        <p:spPr bwMode="auto">
          <a:xfrm>
            <a:off x="4764088" y="3978682"/>
            <a:ext cx="750887" cy="276999"/>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6"/>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1264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8" grpId="0" animBg="1"/>
      <p:bldP spid="1126436"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1"/>
          <p:cNvSpPr>
            <a:spLocks noGrp="1"/>
          </p:cNvSpPr>
          <p:nvPr>
            <p:ph type="ftr" sz="quarter" idx="10"/>
          </p:nvPr>
        </p:nvSpPr>
        <p:spPr>
          <a:noFill/>
        </p:spPr>
        <p:txBody>
          <a:bodyPr/>
          <a:lstStyle/>
          <a:p>
            <a:r>
              <a:rPr lang="en-US"/>
              <a:t>Art of Multiprocessor Programming</a:t>
            </a:r>
          </a:p>
        </p:txBody>
      </p:sp>
      <p:sp>
        <p:nvSpPr>
          <p:cNvPr id="129027" name="Slide Number Placeholder 2"/>
          <p:cNvSpPr>
            <a:spLocks noGrp="1"/>
          </p:cNvSpPr>
          <p:nvPr>
            <p:ph type="sldNum" sz="quarter" idx="11"/>
          </p:nvPr>
        </p:nvSpPr>
        <p:spPr>
          <a:noFill/>
        </p:spPr>
        <p:txBody>
          <a:bodyPr/>
          <a:lstStyle/>
          <a:p>
            <a:fld id="{3D0DE5B9-2E2A-49C7-8730-7915F00CE144}" type="slidenum">
              <a:rPr lang="x-none" smtClean="0"/>
              <a:pPr/>
              <a:t>119</a:t>
            </a:fld>
            <a:endParaRPr lang="en-US"/>
          </a:p>
        </p:txBody>
      </p:sp>
      <p:sp>
        <p:nvSpPr>
          <p:cNvPr id="129028" name="Rectangle 2"/>
          <p:cNvSpPr>
            <a:spLocks noGrp="1" noChangeArrowheads="1"/>
          </p:cNvSpPr>
          <p:nvPr>
            <p:ph type="title" idx="4294967295"/>
          </p:nvPr>
        </p:nvSpPr>
        <p:spPr/>
        <p:txBody>
          <a:bodyPr/>
          <a:lstStyle/>
          <a:p>
            <a:r>
              <a:rPr lang="en-US"/>
              <a:t>Steal Work</a:t>
            </a:r>
          </a:p>
        </p:txBody>
      </p:sp>
      <p:sp>
        <p:nvSpPr>
          <p:cNvPr id="129029"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tx1"/>
                </a:solidFill>
                <a:latin typeface="Courier New" pitchFamily="49" charset="0"/>
              </a:rPr>
              <a:t>public</a:t>
            </a: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a:t>
            </a:r>
            <a:r>
              <a:rPr lang="en-US" sz="1800" b="1" dirty="0" err="1">
                <a:latin typeface="Courier New" pitchFamily="49" charset="0"/>
              </a:rPr>
              <a:t>popTop</a:t>
            </a:r>
            <a:r>
              <a:rPr lang="en-US" sz="1800" b="1" dirty="0">
                <a:latin typeface="Courier New" pitchFamily="49" charset="0"/>
              </a:rPr>
              <a:t>() {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stamp = </a:t>
            </a:r>
            <a:r>
              <a:rPr lang="en-US" sz="1800" b="1" dirty="0">
                <a:solidFill>
                  <a:schemeClr val="tx1"/>
                </a:solidFill>
                <a:latin typeface="Courier New" pitchFamily="49" charset="0"/>
              </a:rPr>
              <a:t>new</a:t>
            </a: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oldTop</a:t>
            </a:r>
            <a:r>
              <a:rPr lang="en-US" sz="1800" b="1" dirty="0">
                <a:latin typeface="Courier New" pitchFamily="49" charset="0"/>
              </a:rPr>
              <a:t> = </a:t>
            </a:r>
            <a:r>
              <a:rPr lang="en-US" sz="1800" b="1" dirty="0" err="1">
                <a:latin typeface="Courier New" pitchFamily="49" charset="0"/>
              </a:rPr>
              <a:t>top.get</a:t>
            </a:r>
            <a:r>
              <a:rPr lang="en-US" sz="1800" b="1" dirty="0">
                <a:latin typeface="Courier New" pitchFamily="49" charset="0"/>
              </a:rPr>
              <a:t>(stamp), </a:t>
            </a:r>
            <a:r>
              <a:rPr lang="en-US" sz="1800" b="1" dirty="0" err="1">
                <a:latin typeface="Courier New" pitchFamily="49" charset="0"/>
              </a:rPr>
              <a:t>newTop</a:t>
            </a:r>
            <a:r>
              <a:rPr lang="en-US" sz="1800" b="1" dirty="0">
                <a:latin typeface="Courier New" pitchFamily="49" charset="0"/>
              </a:rPr>
              <a:t> = </a:t>
            </a:r>
            <a:r>
              <a:rPr lang="en-US" sz="1800" b="1" dirty="0" err="1">
                <a:latin typeface="Courier New" pitchFamily="49" charset="0"/>
              </a:rPr>
              <a:t>oldTop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 stamp[0], </a:t>
            </a:r>
            <a:r>
              <a:rPr lang="en-US" sz="1800" b="1" dirty="0" err="1">
                <a:latin typeface="Courier New" pitchFamily="49" charset="0"/>
              </a:rPr>
              <a:t>newStamp</a:t>
            </a:r>
            <a:r>
              <a:rPr lang="en-US" sz="1800" b="1" dirty="0">
                <a:latin typeface="Courier New" pitchFamily="49" charset="0"/>
              </a:rPr>
              <a:t> = </a:t>
            </a:r>
            <a:r>
              <a:rPr lang="en-US" sz="1800" b="1" dirty="0" err="1">
                <a:latin typeface="Courier New" pitchFamily="49" charset="0"/>
              </a:rPr>
              <a:t>oldStamp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&lt;= </a:t>
            </a:r>
            <a:r>
              <a:rPr lang="en-US" sz="1800" b="1" dirty="0" err="1">
                <a:latin typeface="Courier New" pitchFamily="49" charset="0"/>
              </a:rPr>
              <a:t>oldTop</a:t>
            </a:r>
            <a:r>
              <a:rPr lang="en-US" sz="1800" b="1" dirty="0">
                <a:latin typeface="Courier New" pitchFamily="49" charset="0"/>
              </a:rPr>
              <a:t>)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r = tasks[</a:t>
            </a:r>
            <a:r>
              <a:rPr lang="en-US" sz="1800" b="1" dirty="0" err="1">
                <a:latin typeface="Courier New" pitchFamily="49" charset="0"/>
              </a:rPr>
              <a:t>oldTop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Footer Placeholder 1"/>
          <p:cNvSpPr>
            <a:spLocks noGrp="1"/>
          </p:cNvSpPr>
          <p:nvPr>
            <p:ph type="ftr" sz="quarter" idx="10"/>
          </p:nvPr>
        </p:nvSpPr>
        <p:spPr>
          <a:noFill/>
        </p:spPr>
        <p:txBody>
          <a:bodyPr/>
          <a:lstStyle/>
          <a:p>
            <a:r>
              <a:rPr lang="en-US"/>
              <a:t>Art of Multiprocessor Programming</a:t>
            </a:r>
          </a:p>
        </p:txBody>
      </p:sp>
      <p:sp>
        <p:nvSpPr>
          <p:cNvPr id="130051" name="Slide Number Placeholder 2"/>
          <p:cNvSpPr>
            <a:spLocks noGrp="1"/>
          </p:cNvSpPr>
          <p:nvPr>
            <p:ph type="sldNum" sz="quarter" idx="11"/>
          </p:nvPr>
        </p:nvSpPr>
        <p:spPr>
          <a:noFill/>
        </p:spPr>
        <p:txBody>
          <a:bodyPr/>
          <a:lstStyle/>
          <a:p>
            <a:fld id="{B09D9509-E535-4AE4-A846-D35D85D06B2E}" type="slidenum">
              <a:rPr lang="x-none" smtClean="0"/>
              <a:pPr/>
              <a:t>120</a:t>
            </a:fld>
            <a:endParaRPr lang="en-US"/>
          </a:p>
        </p:txBody>
      </p:sp>
      <p:sp>
        <p:nvSpPr>
          <p:cNvPr id="130052" name="Rectangle 2"/>
          <p:cNvSpPr>
            <a:spLocks noGrp="1" noChangeArrowheads="1"/>
          </p:cNvSpPr>
          <p:nvPr>
            <p:ph type="title" idx="4294967295"/>
          </p:nvPr>
        </p:nvSpPr>
        <p:spPr/>
        <p:txBody>
          <a:bodyPr/>
          <a:lstStyle/>
          <a:p>
            <a:r>
              <a:rPr lang="en-US"/>
              <a:t>Steal Work</a:t>
            </a:r>
          </a:p>
        </p:txBody>
      </p:sp>
      <p:sp>
        <p:nvSpPr>
          <p:cNvPr id="130053"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popTop</a:t>
            </a:r>
            <a:r>
              <a:rPr lang="en-US" sz="1800" b="1" dirty="0">
                <a:solidFill>
                  <a:schemeClr val="folHlink"/>
                </a:solidFill>
                <a:latin typeface="Courier New" pitchFamily="49" charset="0"/>
              </a:rPr>
              <a:t>()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oldTop</a:t>
            </a:r>
            <a:r>
              <a:rPr lang="en-US" sz="1800" b="1" dirty="0">
                <a:latin typeface="Courier New" pitchFamily="49" charset="0"/>
              </a:rPr>
              <a:t> = </a:t>
            </a:r>
            <a:r>
              <a:rPr lang="en-US" sz="1800" b="1" dirty="0" err="1">
                <a:latin typeface="Courier New" pitchFamily="49" charset="0"/>
              </a:rPr>
              <a:t>top.get</a:t>
            </a:r>
            <a:r>
              <a:rPr lang="en-US" sz="1800" b="1" dirty="0">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if (bottom &lt;=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p>
        </p:txBody>
      </p:sp>
      <p:sp>
        <p:nvSpPr>
          <p:cNvPr id="130054" name="AutoShape 4"/>
          <p:cNvSpPr>
            <a:spLocks noChangeArrowheads="1"/>
          </p:cNvSpPr>
          <p:nvPr/>
        </p:nvSpPr>
        <p:spPr bwMode="auto">
          <a:xfrm>
            <a:off x="685800" y="2844800"/>
            <a:ext cx="4025900" cy="647700"/>
          </a:xfrm>
          <a:prstGeom prst="wedgeRoundRectCallout">
            <a:avLst>
              <a:gd name="adj1" fmla="val 53231"/>
              <a:gd name="adj2" fmla="val 329657"/>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0055" name="Text Box 5"/>
          <p:cNvSpPr txBox="1">
            <a:spLocks noChangeArrowheads="1"/>
          </p:cNvSpPr>
          <p:nvPr/>
        </p:nvSpPr>
        <p:spPr bwMode="auto">
          <a:xfrm>
            <a:off x="3525838" y="5275263"/>
            <a:ext cx="4525962" cy="519112"/>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Read top (value &amp; stamp)</a:t>
            </a:r>
            <a:endParaRPr lang="en-US" sz="1800" b="1" dirty="0">
              <a:solidFill>
                <a:srgbClr val="FF0000"/>
              </a:solidFill>
              <a:latin typeface="Arial" pitchFamily="34" charset="0"/>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1"/>
          <p:cNvSpPr>
            <a:spLocks noGrp="1"/>
          </p:cNvSpPr>
          <p:nvPr>
            <p:ph type="ftr" sz="quarter" idx="10"/>
          </p:nvPr>
        </p:nvSpPr>
        <p:spPr>
          <a:noFill/>
        </p:spPr>
        <p:txBody>
          <a:bodyPr/>
          <a:lstStyle/>
          <a:p>
            <a:r>
              <a:rPr lang="en-US"/>
              <a:t>Art of Multiprocessor Programming</a:t>
            </a:r>
          </a:p>
        </p:txBody>
      </p:sp>
      <p:sp>
        <p:nvSpPr>
          <p:cNvPr id="131075" name="Slide Number Placeholder 2"/>
          <p:cNvSpPr>
            <a:spLocks noGrp="1"/>
          </p:cNvSpPr>
          <p:nvPr>
            <p:ph type="sldNum" sz="quarter" idx="11"/>
          </p:nvPr>
        </p:nvSpPr>
        <p:spPr>
          <a:noFill/>
        </p:spPr>
        <p:txBody>
          <a:bodyPr/>
          <a:lstStyle/>
          <a:p>
            <a:fld id="{C7E566E7-E7E4-45A9-A9FA-ED39C387B640}" type="slidenum">
              <a:rPr lang="x-none" smtClean="0"/>
              <a:pPr/>
              <a:t>121</a:t>
            </a:fld>
            <a:endParaRPr lang="en-US"/>
          </a:p>
        </p:txBody>
      </p:sp>
      <p:sp>
        <p:nvSpPr>
          <p:cNvPr id="131076" name="Rectangle 2"/>
          <p:cNvSpPr>
            <a:spLocks noGrp="1" noChangeArrowheads="1"/>
          </p:cNvSpPr>
          <p:nvPr>
            <p:ph type="title" idx="4294967295"/>
          </p:nvPr>
        </p:nvSpPr>
        <p:spPr/>
        <p:txBody>
          <a:bodyPr/>
          <a:lstStyle/>
          <a:p>
            <a:r>
              <a:rPr lang="en-US"/>
              <a:t>Steal Work</a:t>
            </a:r>
          </a:p>
        </p:txBody>
      </p:sp>
      <p:sp>
        <p:nvSpPr>
          <p:cNvPr id="131077"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popTop</a:t>
            </a:r>
            <a:r>
              <a:rPr lang="en-US" sz="1800" b="1" dirty="0">
                <a:solidFill>
                  <a:schemeClr val="folHlink"/>
                </a:solidFill>
                <a:latin typeface="Courier New" pitchFamily="49" charset="0"/>
              </a:rPr>
              <a:t>()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 </a:t>
            </a:r>
            <a:r>
              <a:rPr lang="en-US" sz="1800" b="1" dirty="0" err="1">
                <a:latin typeface="Courier New" pitchFamily="49" charset="0"/>
              </a:rPr>
              <a:t>oldTop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 = </a:t>
            </a:r>
            <a:r>
              <a:rPr lang="en-US" sz="1800" b="1" dirty="0" err="1">
                <a:latin typeface="Courier New" pitchFamily="49" charset="0"/>
              </a:rPr>
              <a:t>oldStamp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if (bottom &lt;=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p>
        </p:txBody>
      </p:sp>
      <p:sp>
        <p:nvSpPr>
          <p:cNvPr id="131078" name="Text Box 5"/>
          <p:cNvSpPr txBox="1">
            <a:spLocks noChangeArrowheads="1"/>
          </p:cNvSpPr>
          <p:nvPr/>
        </p:nvSpPr>
        <p:spPr bwMode="auto">
          <a:xfrm>
            <a:off x="3251883" y="5275263"/>
            <a:ext cx="5078634"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Compute new value &amp; stamp</a:t>
            </a:r>
            <a:endParaRPr lang="en-US" sz="1800" b="1" dirty="0">
              <a:solidFill>
                <a:srgbClr val="FF0000"/>
              </a:solidFill>
              <a:latin typeface="Arial" pitchFamily="34" charset="0"/>
            </a:endParaRPr>
          </a:p>
        </p:txBody>
      </p:sp>
      <p:sp>
        <p:nvSpPr>
          <p:cNvPr id="131079" name="AutoShape 6"/>
          <p:cNvSpPr>
            <a:spLocks noChangeArrowheads="1"/>
          </p:cNvSpPr>
          <p:nvPr/>
        </p:nvSpPr>
        <p:spPr bwMode="auto">
          <a:xfrm>
            <a:off x="4203700" y="2870200"/>
            <a:ext cx="3581400" cy="660400"/>
          </a:xfrm>
          <a:prstGeom prst="wedgeRoundRectCallout">
            <a:avLst>
              <a:gd name="adj1" fmla="val -19417"/>
              <a:gd name="adj2" fmla="val 320431"/>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Footer Placeholder 1"/>
          <p:cNvSpPr>
            <a:spLocks noGrp="1"/>
          </p:cNvSpPr>
          <p:nvPr>
            <p:ph type="ftr" sz="quarter" idx="10"/>
          </p:nvPr>
        </p:nvSpPr>
        <p:spPr>
          <a:noFill/>
        </p:spPr>
        <p:txBody>
          <a:bodyPr/>
          <a:lstStyle/>
          <a:p>
            <a:r>
              <a:rPr lang="en-US"/>
              <a:t>Art of Multiprocessor Programming</a:t>
            </a:r>
          </a:p>
        </p:txBody>
      </p:sp>
      <p:sp>
        <p:nvSpPr>
          <p:cNvPr id="132099" name="Slide Number Placeholder 2"/>
          <p:cNvSpPr>
            <a:spLocks noGrp="1"/>
          </p:cNvSpPr>
          <p:nvPr>
            <p:ph type="sldNum" sz="quarter" idx="11"/>
          </p:nvPr>
        </p:nvSpPr>
        <p:spPr>
          <a:noFill/>
        </p:spPr>
        <p:txBody>
          <a:bodyPr/>
          <a:lstStyle/>
          <a:p>
            <a:fld id="{E0539686-9465-48CF-AB4F-850AD6354F97}" type="slidenum">
              <a:rPr lang="x-none" smtClean="0"/>
              <a:pPr/>
              <a:t>122</a:t>
            </a:fld>
            <a:endParaRPr lang="en-US"/>
          </a:p>
        </p:txBody>
      </p:sp>
      <p:sp>
        <p:nvSpPr>
          <p:cNvPr id="132100" name="Rectangle 2"/>
          <p:cNvSpPr>
            <a:spLocks noGrp="1" noChangeArrowheads="1"/>
          </p:cNvSpPr>
          <p:nvPr>
            <p:ph type="title" idx="4294967295"/>
          </p:nvPr>
        </p:nvSpPr>
        <p:spPr/>
        <p:txBody>
          <a:bodyPr/>
          <a:lstStyle/>
          <a:p>
            <a:r>
              <a:rPr lang="en-US"/>
              <a:t>Steal Work</a:t>
            </a:r>
          </a:p>
        </p:txBody>
      </p:sp>
      <p:sp>
        <p:nvSpPr>
          <p:cNvPr id="132101"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popTop</a:t>
            </a:r>
            <a:r>
              <a:rPr lang="en-US" sz="1800" b="1" dirty="0">
                <a:solidFill>
                  <a:schemeClr val="folHlink"/>
                </a:solidFill>
                <a:latin typeface="Courier New" pitchFamily="49" charset="0"/>
              </a:rPr>
              <a:t>()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&lt;= </a:t>
            </a:r>
            <a:r>
              <a:rPr lang="en-US" sz="1800" b="1" dirty="0" err="1">
                <a:latin typeface="Courier New" pitchFamily="49" charset="0"/>
              </a:rPr>
              <a:t>oldTop</a:t>
            </a:r>
            <a:r>
              <a:rPr lang="en-US" sz="1800" b="1" dirty="0">
                <a:latin typeface="Courier New" pitchFamily="49" charset="0"/>
              </a:rPr>
              <a:t>)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p>
        </p:txBody>
      </p:sp>
      <p:sp>
        <p:nvSpPr>
          <p:cNvPr id="132102" name="Text Box 4"/>
          <p:cNvSpPr txBox="1">
            <a:spLocks noChangeArrowheads="1"/>
          </p:cNvSpPr>
          <p:nvPr/>
        </p:nvSpPr>
        <p:spPr bwMode="auto">
          <a:xfrm>
            <a:off x="3686019" y="5021263"/>
            <a:ext cx="3938899"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Quit if queue is empty</a:t>
            </a:r>
            <a:endParaRPr lang="en-US" sz="1800" b="1" dirty="0">
              <a:solidFill>
                <a:srgbClr val="FF0000"/>
              </a:solidFill>
              <a:latin typeface="Arial" pitchFamily="34" charset="0"/>
            </a:endParaRPr>
          </a:p>
        </p:txBody>
      </p:sp>
      <p:sp>
        <p:nvSpPr>
          <p:cNvPr id="132103" name="AutoShape 5"/>
          <p:cNvSpPr>
            <a:spLocks noChangeArrowheads="1"/>
          </p:cNvSpPr>
          <p:nvPr/>
        </p:nvSpPr>
        <p:spPr bwMode="auto">
          <a:xfrm>
            <a:off x="787400" y="3454400"/>
            <a:ext cx="3035300" cy="723900"/>
          </a:xfrm>
          <a:prstGeom prst="wedgeRoundRectCallout">
            <a:avLst>
              <a:gd name="adj1" fmla="val 50106"/>
              <a:gd name="adj2" fmla="val 170394"/>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2104" name="Rectangle 6"/>
          <p:cNvSpPr>
            <a:spLocks noChangeArrowheads="1"/>
          </p:cNvSpPr>
          <p:nvPr/>
        </p:nvSpPr>
        <p:spPr bwMode="auto">
          <a:xfrm>
            <a:off x="7164388" y="2387600"/>
            <a:ext cx="633412" cy="1803400"/>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19"/>
          <p:cNvGrpSpPr>
            <a:grpSpLocks/>
          </p:cNvGrpSpPr>
          <p:nvPr/>
        </p:nvGrpSpPr>
        <p:grpSpPr bwMode="auto">
          <a:xfrm>
            <a:off x="4770438" y="2489549"/>
            <a:ext cx="735012" cy="538113"/>
            <a:chOff x="502" y="2132"/>
            <a:chExt cx="696" cy="574"/>
          </a:xfrm>
        </p:grpSpPr>
        <p:sp>
          <p:nvSpPr>
            <p:cNvPr id="132113" name="Rectangle 20"/>
            <p:cNvSpPr>
              <a:spLocks noChangeArrowheads="1"/>
            </p:cNvSpPr>
            <p:nvPr/>
          </p:nvSpPr>
          <p:spPr bwMode="auto">
            <a:xfrm>
              <a:off x="502" y="2132"/>
              <a:ext cx="694" cy="295"/>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32114" name="Rectangle 21"/>
            <p:cNvSpPr>
              <a:spLocks noChangeArrowheads="1"/>
            </p:cNvSpPr>
            <p:nvPr/>
          </p:nvSpPr>
          <p:spPr bwMode="auto">
            <a:xfrm>
              <a:off x="513" y="2411"/>
              <a:ext cx="685" cy="295"/>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32106" name="Line 22"/>
          <p:cNvSpPr>
            <a:spLocks noChangeShapeType="1"/>
          </p:cNvSpPr>
          <p:nvPr/>
        </p:nvSpPr>
        <p:spPr bwMode="auto">
          <a:xfrm>
            <a:off x="7164388" y="29210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2107" name="Line 23"/>
          <p:cNvSpPr>
            <a:spLocks noChangeShapeType="1"/>
          </p:cNvSpPr>
          <p:nvPr/>
        </p:nvSpPr>
        <p:spPr bwMode="auto">
          <a:xfrm>
            <a:off x="7154863" y="32750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2108" name="Line 24"/>
          <p:cNvSpPr>
            <a:spLocks noChangeShapeType="1"/>
          </p:cNvSpPr>
          <p:nvPr/>
        </p:nvSpPr>
        <p:spPr bwMode="auto">
          <a:xfrm>
            <a:off x="7146925" y="36274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2109" name="Line 25"/>
          <p:cNvSpPr>
            <a:spLocks noChangeShapeType="1"/>
          </p:cNvSpPr>
          <p:nvPr/>
        </p:nvSpPr>
        <p:spPr bwMode="auto">
          <a:xfrm>
            <a:off x="7138988" y="39798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2110" name="Freeform 27"/>
          <p:cNvSpPr>
            <a:spLocks/>
          </p:cNvSpPr>
          <p:nvPr/>
        </p:nvSpPr>
        <p:spPr bwMode="auto">
          <a:xfrm>
            <a:off x="5499100" y="28908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32111" name="Rectangle 35"/>
          <p:cNvSpPr>
            <a:spLocks noChangeArrowheads="1"/>
          </p:cNvSpPr>
          <p:nvPr/>
        </p:nvSpPr>
        <p:spPr bwMode="auto">
          <a:xfrm>
            <a:off x="4764088" y="3572282"/>
            <a:ext cx="750887" cy="276999"/>
          </a:xfrm>
          <a:prstGeom prst="rect">
            <a:avLst/>
          </a:prstGeom>
          <a:solidFill>
            <a:schemeClr val="accent1">
              <a:alpha val="59999"/>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32112" name="Freeform 36"/>
          <p:cNvSpPr>
            <a:spLocks/>
          </p:cNvSpPr>
          <p:nvPr/>
        </p:nvSpPr>
        <p:spPr bwMode="auto">
          <a:xfrm>
            <a:off x="5537200" y="3094038"/>
            <a:ext cx="1549400" cy="627062"/>
          </a:xfrm>
          <a:custGeom>
            <a:avLst/>
            <a:gdLst>
              <a:gd name="T0" fmla="*/ 0 w 912"/>
              <a:gd name="T1" fmla="*/ 2147483647 h 395"/>
              <a:gd name="T2" fmla="*/ 2147483647 w 912"/>
              <a:gd name="T3" fmla="*/ 2147483647 h 395"/>
              <a:gd name="T4" fmla="*/ 2147483647 w 912"/>
              <a:gd name="T5" fmla="*/ 2147483647 h 395"/>
              <a:gd name="T6" fmla="*/ 2147483647 w 912"/>
              <a:gd name="T7" fmla="*/ 2147483647 h 395"/>
              <a:gd name="T8" fmla="*/ 0 60000 65536"/>
              <a:gd name="T9" fmla="*/ 0 60000 65536"/>
              <a:gd name="T10" fmla="*/ 0 60000 65536"/>
              <a:gd name="T11" fmla="*/ 0 60000 65536"/>
              <a:gd name="T12" fmla="*/ 0 w 912"/>
              <a:gd name="T13" fmla="*/ 0 h 395"/>
              <a:gd name="T14" fmla="*/ 912 w 912"/>
              <a:gd name="T15" fmla="*/ 395 h 395"/>
            </a:gdLst>
            <a:ahLst/>
            <a:cxnLst>
              <a:cxn ang="T8">
                <a:pos x="T0" y="T1"/>
              </a:cxn>
              <a:cxn ang="T9">
                <a:pos x="T2" y="T3"/>
              </a:cxn>
              <a:cxn ang="T10">
                <a:pos x="T4" y="T5"/>
              </a:cxn>
              <a:cxn ang="T11">
                <a:pos x="T6" y="T7"/>
              </a:cxn>
            </a:cxnLst>
            <a:rect l="T12" t="T13" r="T14" b="T15"/>
            <a:pathLst>
              <a:path w="912" h="395">
                <a:moveTo>
                  <a:pt x="0" y="395"/>
                </a:moveTo>
                <a:cubicBezTo>
                  <a:pt x="228" y="391"/>
                  <a:pt x="456" y="388"/>
                  <a:pt x="568" y="331"/>
                </a:cubicBezTo>
                <a:cubicBezTo>
                  <a:pt x="680" y="274"/>
                  <a:pt x="615" y="102"/>
                  <a:pt x="672" y="51"/>
                </a:cubicBezTo>
                <a:cubicBezTo>
                  <a:pt x="729" y="0"/>
                  <a:pt x="820" y="13"/>
                  <a:pt x="912" y="27"/>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1"/>
          <p:cNvSpPr>
            <a:spLocks noGrp="1"/>
          </p:cNvSpPr>
          <p:nvPr>
            <p:ph type="ftr" sz="quarter" idx="10"/>
          </p:nvPr>
        </p:nvSpPr>
        <p:spPr>
          <a:noFill/>
        </p:spPr>
        <p:txBody>
          <a:bodyPr/>
          <a:lstStyle/>
          <a:p>
            <a:r>
              <a:rPr lang="en-US"/>
              <a:t>Art of Multiprocessor Programming</a:t>
            </a:r>
          </a:p>
        </p:txBody>
      </p:sp>
      <p:sp>
        <p:nvSpPr>
          <p:cNvPr id="133123" name="Slide Number Placeholder 2"/>
          <p:cNvSpPr>
            <a:spLocks noGrp="1"/>
          </p:cNvSpPr>
          <p:nvPr>
            <p:ph type="sldNum" sz="quarter" idx="11"/>
          </p:nvPr>
        </p:nvSpPr>
        <p:spPr>
          <a:noFill/>
        </p:spPr>
        <p:txBody>
          <a:bodyPr/>
          <a:lstStyle/>
          <a:p>
            <a:fld id="{13AF85EA-5E0E-4F09-8045-5F43AA5E6390}" type="slidenum">
              <a:rPr lang="x-none" smtClean="0"/>
              <a:pPr/>
              <a:t>123</a:t>
            </a:fld>
            <a:endParaRPr lang="en-US"/>
          </a:p>
        </p:txBody>
      </p:sp>
      <p:sp>
        <p:nvSpPr>
          <p:cNvPr id="133124" name="Rectangle 2"/>
          <p:cNvSpPr>
            <a:spLocks noGrp="1" noChangeArrowheads="1"/>
          </p:cNvSpPr>
          <p:nvPr>
            <p:ph type="title" idx="4294967295"/>
          </p:nvPr>
        </p:nvSpPr>
        <p:spPr/>
        <p:txBody>
          <a:bodyPr/>
          <a:lstStyle/>
          <a:p>
            <a:r>
              <a:rPr lang="en-US"/>
              <a:t>Steal Work</a:t>
            </a:r>
          </a:p>
        </p:txBody>
      </p:sp>
      <p:sp>
        <p:nvSpPr>
          <p:cNvPr id="133125"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popTop</a:t>
            </a:r>
            <a:r>
              <a:rPr lang="en-US" sz="1800" b="1" dirty="0">
                <a:solidFill>
                  <a:schemeClr val="folHlink"/>
                </a:solidFill>
                <a:latin typeface="Courier New" pitchFamily="49" charset="0"/>
              </a:rPr>
              <a:t>()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&lt;=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r = tasks[</a:t>
            </a:r>
            <a:r>
              <a:rPr lang="en-US" sz="1800" b="1" dirty="0" err="1">
                <a:latin typeface="Courier New" pitchFamily="49" charset="0"/>
              </a:rPr>
              <a:t>oldTop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 </a:t>
            </a:r>
            <a:r>
              <a:rPr lang="en-US" sz="1800" b="1" dirty="0">
                <a:solidFill>
                  <a:schemeClr val="tx1"/>
                </a:solidFill>
                <a:latin typeface="Courier New" pitchFamily="49" charset="0"/>
              </a:rPr>
              <a:t>return</a:t>
            </a:r>
            <a:r>
              <a:rPr lang="en-US" sz="1800" b="1" dirty="0">
                <a:solidFill>
                  <a:schemeClr val="folHlink"/>
                </a:solidFill>
                <a:latin typeface="Courier New" pitchFamily="49" charset="0"/>
              </a:rPr>
              <a:t> </a:t>
            </a:r>
            <a:r>
              <a:rPr lang="en-US" sz="1800" b="1" dirty="0">
                <a:solidFill>
                  <a:srgbClr val="3333FF"/>
                </a:solidFill>
                <a:latin typeface="Courier New" pitchFamily="49" charset="0"/>
              </a:rPr>
              <a:t>r;</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p>
        </p:txBody>
      </p:sp>
      <p:sp>
        <p:nvSpPr>
          <p:cNvPr id="133126" name="Text Box 4"/>
          <p:cNvSpPr txBox="1">
            <a:spLocks noChangeArrowheads="1"/>
          </p:cNvSpPr>
          <p:nvPr/>
        </p:nvSpPr>
        <p:spPr bwMode="auto">
          <a:xfrm>
            <a:off x="2851603" y="5389563"/>
            <a:ext cx="3543982" cy="523220"/>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Try to steal the task</a:t>
            </a:r>
            <a:endParaRPr lang="en-US" sz="1800" b="1" dirty="0">
              <a:solidFill>
                <a:srgbClr val="FF0000"/>
              </a:solidFill>
              <a:latin typeface="Arial" pitchFamily="34" charset="0"/>
            </a:endParaRPr>
          </a:p>
        </p:txBody>
      </p:sp>
      <p:sp>
        <p:nvSpPr>
          <p:cNvPr id="133127" name="AutoShape 5"/>
          <p:cNvSpPr>
            <a:spLocks noChangeArrowheads="1"/>
          </p:cNvSpPr>
          <p:nvPr/>
        </p:nvSpPr>
        <p:spPr bwMode="auto">
          <a:xfrm>
            <a:off x="749300" y="4089400"/>
            <a:ext cx="6946900" cy="1028700"/>
          </a:xfrm>
          <a:prstGeom prst="wedgeRoundRectCallout">
            <a:avLst>
              <a:gd name="adj1" fmla="val 9824"/>
              <a:gd name="adj2" fmla="val 77931"/>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3128" name="Rectangle 8"/>
          <p:cNvSpPr>
            <a:spLocks noChangeArrowheads="1"/>
          </p:cNvSpPr>
          <p:nvPr/>
        </p:nvSpPr>
        <p:spPr bwMode="auto">
          <a:xfrm>
            <a:off x="7113588" y="1930400"/>
            <a:ext cx="633412" cy="1803400"/>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9"/>
          <p:cNvGrpSpPr>
            <a:grpSpLocks/>
          </p:cNvGrpSpPr>
          <p:nvPr/>
        </p:nvGrpSpPr>
        <p:grpSpPr bwMode="auto">
          <a:xfrm>
            <a:off x="7170738" y="2832100"/>
            <a:ext cx="517525" cy="317500"/>
            <a:chOff x="3507" y="1789"/>
            <a:chExt cx="858" cy="497"/>
          </a:xfrm>
        </p:grpSpPr>
        <p:sp>
          <p:nvSpPr>
            <p:cNvPr id="133148" name="Oval 10"/>
            <p:cNvSpPr>
              <a:spLocks noChangeArrowheads="1"/>
            </p:cNvSpPr>
            <p:nvPr/>
          </p:nvSpPr>
          <p:spPr bwMode="auto">
            <a:xfrm>
              <a:off x="3507" y="1789"/>
              <a:ext cx="858" cy="497"/>
            </a:xfrm>
            <a:prstGeom prst="ellipse">
              <a:avLst/>
            </a:prstGeom>
            <a:solidFill>
              <a:srgbClr val="FF7C80">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11"/>
            <p:cNvGrpSpPr>
              <a:grpSpLocks/>
            </p:cNvGrpSpPr>
            <p:nvPr/>
          </p:nvGrpSpPr>
          <p:grpSpPr bwMode="auto">
            <a:xfrm>
              <a:off x="3758" y="2002"/>
              <a:ext cx="357" cy="76"/>
              <a:chOff x="4109" y="1226"/>
              <a:chExt cx="357" cy="76"/>
            </a:xfrm>
          </p:grpSpPr>
          <p:sp>
            <p:nvSpPr>
              <p:cNvPr id="133150" name="Freeform 1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33151" name="Freeform 1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33152" name="Freeform 1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5"/>
          <p:cNvGrpSpPr>
            <a:grpSpLocks/>
          </p:cNvGrpSpPr>
          <p:nvPr/>
        </p:nvGrpSpPr>
        <p:grpSpPr bwMode="auto">
          <a:xfrm>
            <a:off x="7170738" y="2486025"/>
            <a:ext cx="517525" cy="317500"/>
            <a:chOff x="3507" y="1789"/>
            <a:chExt cx="858" cy="497"/>
          </a:xfrm>
        </p:grpSpPr>
        <p:sp>
          <p:nvSpPr>
            <p:cNvPr id="133143" name="Oval 16"/>
            <p:cNvSpPr>
              <a:spLocks noChangeArrowheads="1"/>
            </p:cNvSpPr>
            <p:nvPr/>
          </p:nvSpPr>
          <p:spPr bwMode="auto">
            <a:xfrm>
              <a:off x="3507" y="1789"/>
              <a:ext cx="858" cy="497"/>
            </a:xfrm>
            <a:prstGeom prst="ellipse">
              <a:avLst/>
            </a:prstGeom>
            <a:solidFill>
              <a:srgbClr val="3399FF">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17"/>
            <p:cNvGrpSpPr>
              <a:grpSpLocks/>
            </p:cNvGrpSpPr>
            <p:nvPr/>
          </p:nvGrpSpPr>
          <p:grpSpPr bwMode="auto">
            <a:xfrm>
              <a:off x="3758" y="2002"/>
              <a:ext cx="357" cy="76"/>
              <a:chOff x="4109" y="1226"/>
              <a:chExt cx="357" cy="76"/>
            </a:xfrm>
          </p:grpSpPr>
          <p:sp>
            <p:nvSpPr>
              <p:cNvPr id="133145" name="Freeform 1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33146" name="Freeform 1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33147" name="Freeform 2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21"/>
          <p:cNvGrpSpPr>
            <a:grpSpLocks/>
          </p:cNvGrpSpPr>
          <p:nvPr/>
        </p:nvGrpSpPr>
        <p:grpSpPr bwMode="auto">
          <a:xfrm>
            <a:off x="4719638" y="2032349"/>
            <a:ext cx="735012" cy="538113"/>
            <a:chOff x="502" y="2132"/>
            <a:chExt cx="696" cy="574"/>
          </a:xfrm>
        </p:grpSpPr>
        <p:sp>
          <p:nvSpPr>
            <p:cNvPr id="133141" name="Rectangle 22"/>
            <p:cNvSpPr>
              <a:spLocks noChangeArrowheads="1"/>
            </p:cNvSpPr>
            <p:nvPr/>
          </p:nvSpPr>
          <p:spPr bwMode="auto">
            <a:xfrm>
              <a:off x="502" y="2132"/>
              <a:ext cx="694"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33142" name="Rectangle 23"/>
            <p:cNvSpPr>
              <a:spLocks noChangeArrowheads="1"/>
            </p:cNvSpPr>
            <p:nvPr/>
          </p:nvSpPr>
          <p:spPr bwMode="auto">
            <a:xfrm>
              <a:off x="513" y="2411"/>
              <a:ext cx="685"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33132" name="Line 25"/>
          <p:cNvSpPr>
            <a:spLocks noChangeShapeType="1"/>
          </p:cNvSpPr>
          <p:nvPr/>
        </p:nvSpPr>
        <p:spPr bwMode="auto">
          <a:xfrm>
            <a:off x="7113588" y="24638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3133" name="Line 26"/>
          <p:cNvSpPr>
            <a:spLocks noChangeShapeType="1"/>
          </p:cNvSpPr>
          <p:nvPr/>
        </p:nvSpPr>
        <p:spPr bwMode="auto">
          <a:xfrm>
            <a:off x="7104063" y="28178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3134" name="Line 27"/>
          <p:cNvSpPr>
            <a:spLocks noChangeShapeType="1"/>
          </p:cNvSpPr>
          <p:nvPr/>
        </p:nvSpPr>
        <p:spPr bwMode="auto">
          <a:xfrm>
            <a:off x="7096125" y="31702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3135" name="Line 28"/>
          <p:cNvSpPr>
            <a:spLocks noChangeShapeType="1"/>
          </p:cNvSpPr>
          <p:nvPr/>
        </p:nvSpPr>
        <p:spPr bwMode="auto">
          <a:xfrm>
            <a:off x="7088188" y="35226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45566" name="Freeform 30"/>
          <p:cNvSpPr>
            <a:spLocks/>
          </p:cNvSpPr>
          <p:nvPr/>
        </p:nvSpPr>
        <p:spPr bwMode="auto">
          <a:xfrm>
            <a:off x="5448300" y="24336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345573" name="AutoShape 37"/>
          <p:cNvSpPr>
            <a:spLocks noChangeArrowheads="1"/>
          </p:cNvSpPr>
          <p:nvPr/>
        </p:nvSpPr>
        <p:spPr bwMode="auto">
          <a:xfrm>
            <a:off x="4673600" y="2212975"/>
            <a:ext cx="882650" cy="512763"/>
          </a:xfrm>
          <a:prstGeom prst="irregularSeal1">
            <a:avLst/>
          </a:prstGeom>
          <a:solidFill>
            <a:srgbClr val="FFFF00">
              <a:alpha val="50195"/>
            </a:srgbClr>
          </a:solidFill>
          <a:ln w="38100" algn="ctr">
            <a:solidFill>
              <a:srgbClr val="FF0000"/>
            </a:solidFill>
            <a:miter lim="800000"/>
            <a:headEnd/>
            <a:tailEnd/>
          </a:ln>
        </p:spPr>
        <p:txBody>
          <a:bodyPr wrap="none" anchor="ctr"/>
          <a:lstStyle/>
          <a:p>
            <a:pPr algn="ctr"/>
            <a:r>
              <a:rPr lang="en-US" sz="1200" dirty="0">
                <a:solidFill>
                  <a:srgbClr val="FF0000"/>
                </a:solidFill>
                <a:latin typeface="Arial" pitchFamily="34" charset="0"/>
              </a:rPr>
              <a:t>CAS</a:t>
            </a:r>
          </a:p>
        </p:txBody>
      </p:sp>
      <p:sp>
        <p:nvSpPr>
          <p:cNvPr id="1345574" name="Freeform 38"/>
          <p:cNvSpPr>
            <a:spLocks/>
          </p:cNvSpPr>
          <p:nvPr/>
        </p:nvSpPr>
        <p:spPr bwMode="auto">
          <a:xfrm>
            <a:off x="5524500" y="2476500"/>
            <a:ext cx="1511300" cy="495300"/>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33139" name="Rectangle 39"/>
          <p:cNvSpPr>
            <a:spLocks noChangeArrowheads="1"/>
          </p:cNvSpPr>
          <p:nvPr/>
        </p:nvSpPr>
        <p:spPr bwMode="auto">
          <a:xfrm>
            <a:off x="4713288" y="3115082"/>
            <a:ext cx="750887" cy="276999"/>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33140" name="Freeform 40"/>
          <p:cNvSpPr>
            <a:spLocks/>
          </p:cNvSpPr>
          <p:nvPr/>
        </p:nvSpPr>
        <p:spPr bwMode="auto">
          <a:xfrm rot="-2591148">
            <a:off x="5514975" y="2668588"/>
            <a:ext cx="1397000" cy="944562"/>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55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45574"/>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134556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5566" grpId="0" animBg="1"/>
      <p:bldP spid="1345573" grpId="0" animBg="1"/>
      <p:bldP spid="1345574"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Footer Placeholder 1"/>
          <p:cNvSpPr>
            <a:spLocks noGrp="1"/>
          </p:cNvSpPr>
          <p:nvPr>
            <p:ph type="ftr" sz="quarter" idx="10"/>
          </p:nvPr>
        </p:nvSpPr>
        <p:spPr>
          <a:noFill/>
        </p:spPr>
        <p:txBody>
          <a:bodyPr/>
          <a:lstStyle/>
          <a:p>
            <a:r>
              <a:rPr lang="en-US"/>
              <a:t>Art of Multiprocessor Programming</a:t>
            </a:r>
          </a:p>
        </p:txBody>
      </p:sp>
      <p:sp>
        <p:nvSpPr>
          <p:cNvPr id="134147" name="Slide Number Placeholder 2"/>
          <p:cNvSpPr>
            <a:spLocks noGrp="1"/>
          </p:cNvSpPr>
          <p:nvPr>
            <p:ph type="sldNum" sz="quarter" idx="11"/>
          </p:nvPr>
        </p:nvSpPr>
        <p:spPr>
          <a:noFill/>
        </p:spPr>
        <p:txBody>
          <a:bodyPr/>
          <a:lstStyle/>
          <a:p>
            <a:fld id="{FBA0E0FE-CF3A-46B7-A5EA-1ABC11BE3E32}" type="slidenum">
              <a:rPr lang="x-none" smtClean="0"/>
              <a:pPr/>
              <a:t>124</a:t>
            </a:fld>
            <a:endParaRPr lang="en-US"/>
          </a:p>
        </p:txBody>
      </p:sp>
      <p:sp>
        <p:nvSpPr>
          <p:cNvPr id="134148" name="Rectangle 2"/>
          <p:cNvSpPr>
            <a:spLocks noGrp="1" noChangeArrowheads="1"/>
          </p:cNvSpPr>
          <p:nvPr>
            <p:ph type="title" idx="4294967295"/>
          </p:nvPr>
        </p:nvSpPr>
        <p:spPr/>
        <p:txBody>
          <a:bodyPr/>
          <a:lstStyle/>
          <a:p>
            <a:r>
              <a:rPr lang="en-US"/>
              <a:t>Steal Work</a:t>
            </a:r>
          </a:p>
        </p:txBody>
      </p:sp>
      <p:sp>
        <p:nvSpPr>
          <p:cNvPr id="134149" name="Rectangle 3"/>
          <p:cNvSpPr>
            <a:spLocks noChangeArrowheads="1"/>
          </p:cNvSpPr>
          <p:nvPr/>
        </p:nvSpPr>
        <p:spPr bwMode="auto">
          <a:xfrm>
            <a:off x="622300" y="2159000"/>
            <a:ext cx="7658100" cy="3613150"/>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popTop</a:t>
            </a:r>
            <a:r>
              <a:rPr lang="en-US" sz="1800" b="1" dirty="0">
                <a:solidFill>
                  <a:schemeClr val="folHlink"/>
                </a:solidFill>
                <a:latin typeface="Courier New" pitchFamily="49" charset="0"/>
              </a:rPr>
              <a:t>()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&lt;=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return r;</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p>
        </p:txBody>
      </p:sp>
      <p:sp>
        <p:nvSpPr>
          <p:cNvPr id="134150" name="Text Box 4"/>
          <p:cNvSpPr txBox="1">
            <a:spLocks noChangeArrowheads="1"/>
          </p:cNvSpPr>
          <p:nvPr/>
        </p:nvSpPr>
        <p:spPr bwMode="auto">
          <a:xfrm>
            <a:off x="4815752" y="4868863"/>
            <a:ext cx="2743059" cy="954107"/>
          </a:xfrm>
          <a:prstGeom prst="rect">
            <a:avLst/>
          </a:prstGeom>
          <a:noFill/>
          <a:ln w="38100" algn="ctr">
            <a:noFill/>
            <a:miter lim="800000"/>
            <a:headEnd/>
            <a:tailEnd/>
          </a:ln>
        </p:spPr>
        <p:txBody>
          <a:bodyPr wrap="none">
            <a:spAutoFit/>
          </a:bodyPr>
          <a:lstStyle/>
          <a:p>
            <a:pPr algn="ctr"/>
            <a:r>
              <a:rPr lang="en-US" sz="2800" b="1" dirty="0">
                <a:solidFill>
                  <a:srgbClr val="FF0000"/>
                </a:solidFill>
                <a:latin typeface="Arial" pitchFamily="34" charset="0"/>
              </a:rPr>
              <a:t>Give up if </a:t>
            </a:r>
          </a:p>
          <a:p>
            <a:pPr algn="ctr"/>
            <a:r>
              <a:rPr lang="en-US" sz="2800" b="1" dirty="0">
                <a:solidFill>
                  <a:srgbClr val="FF0000"/>
                </a:solidFill>
                <a:latin typeface="Arial" pitchFamily="34" charset="0"/>
              </a:rPr>
              <a:t>conflict occurs</a:t>
            </a:r>
            <a:endParaRPr lang="en-US" sz="1800" b="1" dirty="0">
              <a:solidFill>
                <a:srgbClr val="FF0000"/>
              </a:solidFill>
              <a:latin typeface="Arial" pitchFamily="34" charset="0"/>
            </a:endParaRPr>
          </a:p>
        </p:txBody>
      </p:sp>
      <p:sp>
        <p:nvSpPr>
          <p:cNvPr id="134151" name="AutoShape 5"/>
          <p:cNvSpPr>
            <a:spLocks noChangeArrowheads="1"/>
          </p:cNvSpPr>
          <p:nvPr/>
        </p:nvSpPr>
        <p:spPr bwMode="auto">
          <a:xfrm>
            <a:off x="749300" y="5029200"/>
            <a:ext cx="1854200" cy="723900"/>
          </a:xfrm>
          <a:prstGeom prst="wedgeRoundRectCallout">
            <a:avLst>
              <a:gd name="adj1" fmla="val 159074"/>
              <a:gd name="adj2" fmla="val -33116"/>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1"/>
          <p:cNvSpPr>
            <a:spLocks noGrp="1"/>
          </p:cNvSpPr>
          <p:nvPr>
            <p:ph type="ftr" sz="quarter" idx="10"/>
          </p:nvPr>
        </p:nvSpPr>
        <p:spPr>
          <a:noFill/>
        </p:spPr>
        <p:txBody>
          <a:bodyPr/>
          <a:lstStyle/>
          <a:p>
            <a:r>
              <a:rPr lang="en-US"/>
              <a:t>Art of Multiprocessor Programming</a:t>
            </a:r>
          </a:p>
        </p:txBody>
      </p:sp>
      <p:sp>
        <p:nvSpPr>
          <p:cNvPr id="135171" name="Slide Number Placeholder 2"/>
          <p:cNvSpPr>
            <a:spLocks noGrp="1"/>
          </p:cNvSpPr>
          <p:nvPr>
            <p:ph type="sldNum" sz="quarter" idx="11"/>
          </p:nvPr>
        </p:nvSpPr>
        <p:spPr>
          <a:noFill/>
        </p:spPr>
        <p:txBody>
          <a:bodyPr/>
          <a:lstStyle/>
          <a:p>
            <a:fld id="{84D75907-3077-482B-9DEE-84DB619B9B94}" type="slidenum">
              <a:rPr lang="x-none" smtClean="0"/>
              <a:pPr/>
              <a:t>125</a:t>
            </a:fld>
            <a:endParaRPr lang="en-US"/>
          </a:p>
        </p:txBody>
      </p:sp>
      <p:sp>
        <p:nvSpPr>
          <p:cNvPr id="135172" name="Rectangle 3"/>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latin typeface="Courier New" pitchFamily="49" charset="0"/>
              </a:rPr>
              <a:t>Runnable</a:t>
            </a:r>
            <a:r>
              <a:rPr lang="en-US" sz="1800" b="1" dirty="0">
                <a:latin typeface="Courier New" pitchFamily="49" charset="0"/>
              </a:rPr>
              <a:t> </a:t>
            </a:r>
            <a:r>
              <a:rPr lang="en-US" sz="1800" b="1" dirty="0" err="1">
                <a:latin typeface="Courier New" pitchFamily="49" charset="0"/>
              </a:rPr>
              <a:t>popBottom</a:t>
            </a:r>
            <a:r>
              <a:rPr lang="en-US" sz="1800" b="1" dirty="0">
                <a:latin typeface="Courier New" pitchFamily="49" charset="0"/>
              </a:rPr>
              <a:t>()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 0)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bottom--;</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r = tasks[bottom];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stamp = </a:t>
            </a:r>
            <a:r>
              <a:rPr lang="en-US" sz="1800" b="1" dirty="0">
                <a:solidFill>
                  <a:schemeClr val="tx1"/>
                </a:solidFill>
                <a:latin typeface="Courier New" pitchFamily="49" charset="0"/>
              </a:rPr>
              <a:t>new</a:t>
            </a: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oldTop</a:t>
            </a:r>
            <a:r>
              <a:rPr lang="en-US" sz="1800" b="1" dirty="0">
                <a:latin typeface="Courier New" pitchFamily="49" charset="0"/>
              </a:rPr>
              <a:t> = </a:t>
            </a:r>
            <a:r>
              <a:rPr lang="en-US" sz="1800" b="1" dirty="0" err="1">
                <a:latin typeface="Courier New" pitchFamily="49" charset="0"/>
              </a:rPr>
              <a:t>top.get</a:t>
            </a:r>
            <a:r>
              <a:rPr lang="en-US" sz="1800" b="1" dirty="0">
                <a:latin typeface="Courier New" pitchFamily="49" charset="0"/>
              </a:rPr>
              <a:t>(stamp), </a:t>
            </a:r>
            <a:r>
              <a:rPr lang="en-US" sz="1800" b="1" dirty="0" err="1">
                <a:latin typeface="Courier New" pitchFamily="49" charset="0"/>
              </a:rPr>
              <a:t>newTop</a:t>
            </a:r>
            <a:r>
              <a:rPr lang="en-US" sz="1800" b="1" dirty="0">
                <a:latin typeface="Courier New" pitchFamily="49" charset="0"/>
              </a:rPr>
              <a:t> = 0;</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 stamp[0], </a:t>
            </a:r>
            <a:r>
              <a:rPr lang="en-US" sz="1800" b="1" dirty="0" err="1">
                <a:latin typeface="Courier New" pitchFamily="49" charset="0"/>
              </a:rPr>
              <a:t>newStamp</a:t>
            </a:r>
            <a:r>
              <a:rPr lang="en-US" sz="1800" b="1" dirty="0">
                <a:latin typeface="Courier New" pitchFamily="49" charset="0"/>
              </a:rPr>
              <a:t> = </a:t>
            </a:r>
            <a:r>
              <a:rPr lang="en-US" sz="1800" b="1" dirty="0" err="1">
                <a:latin typeface="Courier New" pitchFamily="49" charset="0"/>
              </a:rPr>
              <a:t>oldStamp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&gt; </a:t>
            </a:r>
            <a:r>
              <a:rPr lang="en-US" sz="1800" b="1" dirty="0" err="1">
                <a:latin typeface="Courier New" pitchFamily="49" charset="0"/>
              </a:rPr>
              <a:t>oldTop</a:t>
            </a: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 </a:t>
            </a:r>
            <a:r>
              <a:rPr lang="en-US" sz="1800" b="1" dirty="0" err="1">
                <a:latin typeface="Courier New" pitchFamily="49" charset="0"/>
              </a:rPr>
              <a:t>oldTop</a:t>
            </a:r>
            <a:r>
              <a:rPr lang="en-US" sz="1800" b="1" dirty="0">
                <a:latin typeface="Courier New" pitchFamily="49" charset="0"/>
              </a:rPr>
              <a:t>){</a:t>
            </a:r>
          </a:p>
          <a:p>
            <a:pPr marL="342900" indent="-342900" algn="l">
              <a:spcBef>
                <a:spcPct val="20000"/>
              </a:spcBef>
            </a:pPr>
            <a:r>
              <a:rPr lang="en-US" sz="1800" b="1" dirty="0">
                <a:latin typeface="Courier New" pitchFamily="49" charset="0"/>
              </a:rPr>
              <a:t>   bottom = 0;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p>
          <a:p>
            <a:pPr marL="342900" indent="-342900" algn="l">
              <a:spcBef>
                <a:spcPct val="20000"/>
              </a:spcBef>
            </a:pPr>
            <a:r>
              <a:rPr lang="en-US" sz="1800" b="1" dirty="0">
                <a:solidFill>
                  <a:schemeClr val="tx1"/>
                </a:solidFill>
                <a:latin typeface="Courier New" pitchFamily="49" charset="0"/>
              </a:rPr>
              <a:t> </a:t>
            </a:r>
            <a:r>
              <a:rPr lang="en-US" sz="1800" b="1" dirty="0" err="1">
                <a:latin typeface="Courier New" pitchFamily="49" charset="0"/>
              </a:rPr>
              <a:t>top.set</a:t>
            </a:r>
            <a:r>
              <a:rPr lang="en-US" sz="1800" b="1" dirty="0">
                <a:latin typeface="Courier New" pitchFamily="49" charset="0"/>
              </a:rPr>
              <a:t>(</a:t>
            </a:r>
            <a:r>
              <a:rPr lang="en-US" sz="1800" b="1" dirty="0" err="1">
                <a:latin typeface="Courier New" pitchFamily="49" charset="0"/>
              </a:rPr>
              <a:t>newTop,newStamp</a:t>
            </a: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bottom = 0; }</a:t>
            </a:r>
          </a:p>
        </p:txBody>
      </p:sp>
      <p:sp>
        <p:nvSpPr>
          <p:cNvPr id="135173" name="Rectangle 2"/>
          <p:cNvSpPr>
            <a:spLocks noGrp="1" noChangeArrowheads="1"/>
          </p:cNvSpPr>
          <p:nvPr>
            <p:ph type="title" idx="4294967295"/>
          </p:nvPr>
        </p:nvSpPr>
        <p:spPr/>
        <p:txBody>
          <a:bodyPr/>
          <a:lstStyle/>
          <a:p>
            <a:r>
              <a:rPr lang="en-US"/>
              <a:t>Take Work</a:t>
            </a:r>
          </a:p>
        </p:txBody>
      </p: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Footer Placeholder 1"/>
          <p:cNvSpPr>
            <a:spLocks noGrp="1"/>
          </p:cNvSpPr>
          <p:nvPr>
            <p:ph type="ftr" sz="quarter" idx="10"/>
          </p:nvPr>
        </p:nvSpPr>
        <p:spPr>
          <a:noFill/>
        </p:spPr>
        <p:txBody>
          <a:bodyPr/>
          <a:lstStyle/>
          <a:p>
            <a:r>
              <a:rPr lang="en-US"/>
              <a:t>Art of Multiprocessor Programming</a:t>
            </a:r>
          </a:p>
        </p:txBody>
      </p:sp>
      <p:sp>
        <p:nvSpPr>
          <p:cNvPr id="136195" name="Slide Number Placeholder 2"/>
          <p:cNvSpPr>
            <a:spLocks noGrp="1"/>
          </p:cNvSpPr>
          <p:nvPr>
            <p:ph type="sldNum" sz="quarter" idx="11"/>
          </p:nvPr>
        </p:nvSpPr>
        <p:spPr>
          <a:noFill/>
        </p:spPr>
        <p:txBody>
          <a:bodyPr/>
          <a:lstStyle/>
          <a:p>
            <a:fld id="{D8B0F3B5-B150-446D-A3FC-2700C697E2BC}" type="slidenum">
              <a:rPr lang="x-none" smtClean="0"/>
              <a:pPr/>
              <a:t>126</a:t>
            </a:fld>
            <a:endParaRPr lang="en-US"/>
          </a:p>
        </p:txBody>
      </p:sp>
      <p:sp>
        <p:nvSpPr>
          <p:cNvPr id="136196" name="Rectangle 6"/>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 0) </a:t>
            </a:r>
            <a:r>
              <a:rPr lang="en-US" sz="1800" b="1" dirty="0">
                <a:solidFill>
                  <a:schemeClr val="tx1"/>
                </a:solidFill>
                <a:latin typeface="Courier New" pitchFamily="49" charset="0"/>
              </a:rPr>
              <a:t>return null</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a:t>
            </a:r>
            <a:r>
              <a:rPr lang="en-US" sz="1800" b="1" dirty="0">
                <a:latin typeface="Courier New" pitchFamily="49" charset="0"/>
              </a:rPr>
              <a:t> </a:t>
            </a:r>
            <a:r>
              <a:rPr lang="en-US" sz="1800" b="1" dirty="0">
                <a:solidFill>
                  <a:schemeClr val="folHlink"/>
                </a:solidFill>
                <a:latin typeface="Courier New" pitchFamily="49" charset="0"/>
              </a:rPr>
              <a:t>return null;</a:t>
            </a:r>
          </a:p>
          <a:p>
            <a:pPr marL="342900" indent="-342900" algn="l">
              <a:spcBef>
                <a:spcPct val="20000"/>
              </a:spcBef>
            </a:pPr>
            <a:r>
              <a:rPr lang="en-US" sz="1800" b="1" dirty="0">
                <a:solidFill>
                  <a:schemeClr val="folHlink"/>
                </a:solidFill>
                <a:latin typeface="Courier New" pitchFamily="49" charset="0"/>
              </a:rPr>
              <a:t> bottom = 0; }</a:t>
            </a:r>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425C87D8-E1AB-44B8-9CE3-99CAFA52D081}" type="slidenum">
              <a:rPr lang="x-none" sz="1400">
                <a:solidFill>
                  <a:schemeClr val="tx1"/>
                </a:solidFill>
                <a:latin typeface="Arial" pitchFamily="34" charset="0"/>
                <a:cs typeface="Arial" pitchFamily="34" charset="0"/>
              </a:rPr>
              <a:pPr>
                <a:defRPr/>
              </a:pPr>
              <a:t>126</a:t>
            </a:fld>
            <a:endParaRPr lang="en-US" sz="1400" dirty="0">
              <a:solidFill>
                <a:schemeClr val="tx1"/>
              </a:solidFill>
              <a:latin typeface="Arial" pitchFamily="34" charset="0"/>
              <a:cs typeface="Arial" pitchFamily="34" charset="0"/>
            </a:endParaRPr>
          </a:p>
        </p:txBody>
      </p:sp>
      <p:sp>
        <p:nvSpPr>
          <p:cNvPr id="136198" name="Rectangle 2"/>
          <p:cNvSpPr>
            <a:spLocks noGrp="1" noChangeArrowheads="1"/>
          </p:cNvSpPr>
          <p:nvPr>
            <p:ph type="title" idx="4294967295"/>
          </p:nvPr>
        </p:nvSpPr>
        <p:spPr/>
        <p:txBody>
          <a:bodyPr/>
          <a:lstStyle/>
          <a:p>
            <a:r>
              <a:rPr lang="en-US"/>
              <a:t>Take Work</a:t>
            </a:r>
          </a:p>
        </p:txBody>
      </p:sp>
      <p:sp>
        <p:nvSpPr>
          <p:cNvPr id="136199" name="AutoShape 4"/>
          <p:cNvSpPr>
            <a:spLocks noChangeArrowheads="1"/>
          </p:cNvSpPr>
          <p:nvPr/>
        </p:nvSpPr>
        <p:spPr bwMode="auto">
          <a:xfrm>
            <a:off x="977900" y="1790700"/>
            <a:ext cx="4140200" cy="495300"/>
          </a:xfrm>
          <a:prstGeom prst="wedgeRoundRectCallout">
            <a:avLst>
              <a:gd name="adj1" fmla="val 62958"/>
              <a:gd name="adj2" fmla="val 649037"/>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6200" name="Text Box 5"/>
          <p:cNvSpPr txBox="1">
            <a:spLocks noChangeArrowheads="1"/>
          </p:cNvSpPr>
          <p:nvPr/>
        </p:nvSpPr>
        <p:spPr bwMode="auto">
          <a:xfrm>
            <a:off x="2447298" y="5334000"/>
            <a:ext cx="6170280" cy="584775"/>
          </a:xfrm>
          <a:prstGeom prst="rect">
            <a:avLst/>
          </a:prstGeom>
          <a:solidFill>
            <a:srgbClr val="FFFFCC">
              <a:alpha val="79999"/>
            </a:srgbClr>
          </a:solidFill>
          <a:ln w="38100" algn="ctr">
            <a:noFill/>
            <a:miter lim="800000"/>
            <a:headEnd/>
            <a:tailEnd/>
          </a:ln>
        </p:spPr>
        <p:txBody>
          <a:bodyPr wrap="none">
            <a:spAutoFit/>
          </a:bodyPr>
          <a:lstStyle/>
          <a:p>
            <a:pPr algn="ctr"/>
            <a:r>
              <a:rPr lang="en-US" sz="3200" b="1" dirty="0">
                <a:solidFill>
                  <a:srgbClr val="FF0000"/>
                </a:solidFill>
                <a:latin typeface="Arial" pitchFamily="34" charset="0"/>
              </a:rPr>
              <a:t>Make sure queue is non-empty</a:t>
            </a: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1"/>
          <p:cNvSpPr>
            <a:spLocks noGrp="1"/>
          </p:cNvSpPr>
          <p:nvPr>
            <p:ph type="ftr" sz="quarter" idx="10"/>
          </p:nvPr>
        </p:nvSpPr>
        <p:spPr>
          <a:noFill/>
        </p:spPr>
        <p:txBody>
          <a:bodyPr/>
          <a:lstStyle/>
          <a:p>
            <a:r>
              <a:rPr lang="en-US"/>
              <a:t>Art of Multiprocessor Programming</a:t>
            </a:r>
          </a:p>
        </p:txBody>
      </p:sp>
      <p:sp>
        <p:nvSpPr>
          <p:cNvPr id="137219" name="Slide Number Placeholder 2"/>
          <p:cNvSpPr>
            <a:spLocks noGrp="1"/>
          </p:cNvSpPr>
          <p:nvPr>
            <p:ph type="sldNum" sz="quarter" idx="11"/>
          </p:nvPr>
        </p:nvSpPr>
        <p:spPr>
          <a:noFill/>
        </p:spPr>
        <p:txBody>
          <a:bodyPr/>
          <a:lstStyle/>
          <a:p>
            <a:fld id="{AC1A2D7F-5845-480E-B94A-1BCAD074F213}" type="slidenum">
              <a:rPr lang="x-none" smtClean="0"/>
              <a:pPr/>
              <a:t>127</a:t>
            </a:fld>
            <a:endParaRPr lang="en-US"/>
          </a:p>
        </p:txBody>
      </p:sp>
      <p:sp>
        <p:nvSpPr>
          <p:cNvPr id="137220" name="Rectangle 7"/>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latin typeface="Courier New" pitchFamily="49" charset="0"/>
              </a:rPr>
              <a:t> bottom--;</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r = tasks[bottom]; </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 }</a:t>
            </a:r>
          </a:p>
        </p:txBody>
      </p:sp>
      <p:sp>
        <p:nvSpPr>
          <p:cNvPr id="137221" name="Rectangle 2"/>
          <p:cNvSpPr>
            <a:spLocks noGrp="1" noChangeArrowheads="1"/>
          </p:cNvSpPr>
          <p:nvPr>
            <p:ph type="title" idx="4294967295"/>
          </p:nvPr>
        </p:nvSpPr>
        <p:spPr/>
        <p:txBody>
          <a:bodyPr/>
          <a:lstStyle/>
          <a:p>
            <a:r>
              <a:rPr lang="en-US"/>
              <a:t>Take Work</a:t>
            </a:r>
          </a:p>
        </p:txBody>
      </p:sp>
      <p:sp>
        <p:nvSpPr>
          <p:cNvPr id="137222" name="AutoShape 4"/>
          <p:cNvSpPr>
            <a:spLocks noChangeArrowheads="1"/>
          </p:cNvSpPr>
          <p:nvPr/>
        </p:nvSpPr>
        <p:spPr bwMode="auto">
          <a:xfrm>
            <a:off x="939800" y="2235200"/>
            <a:ext cx="4140200" cy="685800"/>
          </a:xfrm>
          <a:prstGeom prst="wedgeRoundRectCallout">
            <a:avLst>
              <a:gd name="adj1" fmla="val 36579"/>
              <a:gd name="adj2" fmla="val 399306"/>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7223" name="Text Box 5"/>
          <p:cNvSpPr txBox="1">
            <a:spLocks noChangeArrowheads="1"/>
          </p:cNvSpPr>
          <p:nvPr/>
        </p:nvSpPr>
        <p:spPr bwMode="auto">
          <a:xfrm>
            <a:off x="2713342" y="5334000"/>
            <a:ext cx="5649303" cy="584775"/>
          </a:xfrm>
          <a:prstGeom prst="rect">
            <a:avLst/>
          </a:prstGeom>
          <a:solidFill>
            <a:srgbClr val="FFFFCC">
              <a:alpha val="79999"/>
            </a:srgbClr>
          </a:solidFill>
          <a:ln w="38100" algn="ctr">
            <a:noFill/>
            <a:miter lim="800000"/>
            <a:headEnd/>
            <a:tailEnd/>
          </a:ln>
        </p:spPr>
        <p:txBody>
          <a:bodyPr wrap="none">
            <a:spAutoFit/>
          </a:bodyPr>
          <a:lstStyle/>
          <a:p>
            <a:pPr algn="ctr"/>
            <a:r>
              <a:rPr lang="en-US" sz="3200" b="1" dirty="0">
                <a:solidFill>
                  <a:srgbClr val="FF0000"/>
                </a:solidFill>
                <a:latin typeface="Arial" pitchFamily="34" charset="0"/>
              </a:rPr>
              <a:t>Prepare to grab bottom task</a:t>
            </a:r>
          </a:p>
        </p:txBody>
      </p:sp>
    </p:spTree>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Footer Placeholder 1"/>
          <p:cNvSpPr>
            <a:spLocks noGrp="1"/>
          </p:cNvSpPr>
          <p:nvPr>
            <p:ph type="ftr" sz="quarter" idx="10"/>
          </p:nvPr>
        </p:nvSpPr>
        <p:spPr>
          <a:noFill/>
        </p:spPr>
        <p:txBody>
          <a:bodyPr/>
          <a:lstStyle/>
          <a:p>
            <a:r>
              <a:rPr lang="en-US"/>
              <a:t>Art of Multiprocessor Programming</a:t>
            </a:r>
          </a:p>
        </p:txBody>
      </p:sp>
      <p:sp>
        <p:nvSpPr>
          <p:cNvPr id="138243" name="Slide Number Placeholder 2"/>
          <p:cNvSpPr>
            <a:spLocks noGrp="1"/>
          </p:cNvSpPr>
          <p:nvPr>
            <p:ph type="sldNum" sz="quarter" idx="11"/>
          </p:nvPr>
        </p:nvSpPr>
        <p:spPr>
          <a:noFill/>
        </p:spPr>
        <p:txBody>
          <a:bodyPr/>
          <a:lstStyle/>
          <a:p>
            <a:fld id="{1939A358-A438-48A4-A4F5-359D73ACC0A5}" type="slidenum">
              <a:rPr lang="x-none" smtClean="0"/>
              <a:pPr/>
              <a:t>128</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183578F-DFEB-4289-8756-9928B043BEB6}" type="slidenum">
              <a:rPr lang="x-none" sz="1400">
                <a:solidFill>
                  <a:schemeClr val="tx1"/>
                </a:solidFill>
                <a:latin typeface="Arial" pitchFamily="34" charset="0"/>
                <a:cs typeface="Arial" pitchFamily="34" charset="0"/>
              </a:rPr>
              <a:pPr>
                <a:defRPr/>
              </a:pPr>
              <a:t>128</a:t>
            </a:fld>
            <a:endParaRPr lang="en-US" sz="1400" dirty="0">
              <a:solidFill>
                <a:schemeClr val="tx1"/>
              </a:solidFill>
              <a:latin typeface="Arial" pitchFamily="34" charset="0"/>
              <a:cs typeface="Arial" pitchFamily="34" charset="0"/>
            </a:endParaRPr>
          </a:p>
        </p:txBody>
      </p:sp>
      <p:sp>
        <p:nvSpPr>
          <p:cNvPr id="138245" name="Rectangle 6"/>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a:t>
            </a:r>
            <a:r>
              <a:rPr lang="en-US" sz="1800" b="1" dirty="0">
                <a:latin typeface="Courier New" pitchFamily="49" charset="0"/>
              </a:rPr>
              <a:t>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stamp = </a:t>
            </a:r>
            <a:r>
              <a:rPr lang="en-US" sz="1800" b="1" dirty="0">
                <a:solidFill>
                  <a:schemeClr val="tx1"/>
                </a:solidFill>
                <a:latin typeface="Courier New" pitchFamily="49" charset="0"/>
              </a:rPr>
              <a:t>new</a:t>
            </a: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[1];</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oldTop</a:t>
            </a:r>
            <a:r>
              <a:rPr lang="en-US" sz="1800" b="1" dirty="0">
                <a:latin typeface="Courier New" pitchFamily="49" charset="0"/>
              </a:rPr>
              <a:t> = </a:t>
            </a:r>
            <a:r>
              <a:rPr lang="en-US" sz="1800" b="1" dirty="0" err="1">
                <a:latin typeface="Courier New" pitchFamily="49" charset="0"/>
              </a:rPr>
              <a:t>top.get</a:t>
            </a:r>
            <a:r>
              <a:rPr lang="en-US" sz="1800" b="1" dirty="0">
                <a:latin typeface="Courier New" pitchFamily="49" charset="0"/>
              </a:rPr>
              <a:t>(stamp), </a:t>
            </a:r>
            <a:r>
              <a:rPr lang="en-US" sz="1800" b="1" dirty="0" err="1">
                <a:latin typeface="Courier New" pitchFamily="49" charset="0"/>
              </a:rPr>
              <a:t>newTop</a:t>
            </a:r>
            <a:r>
              <a:rPr lang="en-US" sz="1800" b="1" dirty="0">
                <a:latin typeface="Courier New" pitchFamily="49" charset="0"/>
              </a:rPr>
              <a:t> = 0;</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 stamp[0], </a:t>
            </a:r>
            <a:r>
              <a:rPr lang="en-US" sz="1800" b="1" dirty="0" err="1">
                <a:latin typeface="Courier New" pitchFamily="49" charset="0"/>
              </a:rPr>
              <a:t>newStamp</a:t>
            </a:r>
            <a:r>
              <a:rPr lang="en-US" sz="1800" b="1" dirty="0">
                <a:latin typeface="Courier New" pitchFamily="49" charset="0"/>
              </a:rPr>
              <a:t> = </a:t>
            </a:r>
            <a:r>
              <a:rPr lang="en-US" sz="1800" b="1" dirty="0" err="1">
                <a:latin typeface="Courier New" pitchFamily="49" charset="0"/>
              </a:rPr>
              <a:t>oldStamp</a:t>
            </a:r>
            <a:r>
              <a:rPr lang="en-US" sz="1800" b="1" dirty="0">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 }</a:t>
            </a:r>
          </a:p>
        </p:txBody>
      </p:sp>
      <p:sp>
        <p:nvSpPr>
          <p:cNvPr id="138246" name="Rectangle 2"/>
          <p:cNvSpPr>
            <a:spLocks noGrp="1" noChangeArrowheads="1"/>
          </p:cNvSpPr>
          <p:nvPr>
            <p:ph type="title" idx="4294967295"/>
          </p:nvPr>
        </p:nvSpPr>
        <p:spPr/>
        <p:txBody>
          <a:bodyPr/>
          <a:lstStyle/>
          <a:p>
            <a:r>
              <a:rPr lang="en-US"/>
              <a:t>Take Work</a:t>
            </a:r>
          </a:p>
        </p:txBody>
      </p:sp>
      <p:sp>
        <p:nvSpPr>
          <p:cNvPr id="138247" name="AutoShape 4"/>
          <p:cNvSpPr>
            <a:spLocks noChangeArrowheads="1"/>
          </p:cNvSpPr>
          <p:nvPr/>
        </p:nvSpPr>
        <p:spPr bwMode="auto">
          <a:xfrm>
            <a:off x="914400" y="2857500"/>
            <a:ext cx="6985000" cy="1079500"/>
          </a:xfrm>
          <a:prstGeom prst="wedgeRoundRectCallout">
            <a:avLst>
              <a:gd name="adj1" fmla="val 1681"/>
              <a:gd name="adj2" fmla="val 177796"/>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8248" name="Text Box 5"/>
          <p:cNvSpPr txBox="1">
            <a:spLocks noChangeArrowheads="1"/>
          </p:cNvSpPr>
          <p:nvPr/>
        </p:nvSpPr>
        <p:spPr bwMode="auto">
          <a:xfrm>
            <a:off x="2343111" y="5334000"/>
            <a:ext cx="6377067" cy="584775"/>
          </a:xfrm>
          <a:prstGeom prst="rect">
            <a:avLst/>
          </a:prstGeom>
          <a:solidFill>
            <a:srgbClr val="FFFFCC">
              <a:alpha val="79999"/>
            </a:srgbClr>
          </a:solidFill>
          <a:ln w="38100" algn="ctr">
            <a:noFill/>
            <a:miter lim="800000"/>
            <a:headEnd/>
            <a:tailEnd/>
          </a:ln>
        </p:spPr>
        <p:txBody>
          <a:bodyPr wrap="none">
            <a:spAutoFit/>
          </a:bodyPr>
          <a:lstStyle/>
          <a:p>
            <a:pPr algn="ctr"/>
            <a:r>
              <a:rPr lang="en-US" sz="3200" b="1" dirty="0">
                <a:solidFill>
                  <a:srgbClr val="FF0000"/>
                </a:solidFill>
                <a:latin typeface="Arial" pitchFamily="34" charset="0"/>
              </a:rPr>
              <a:t>Read top, &amp; prepare new values</a:t>
            </a:r>
          </a:p>
        </p:txBody>
      </p:sp>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1"/>
          <p:cNvSpPr>
            <a:spLocks noGrp="1"/>
          </p:cNvSpPr>
          <p:nvPr>
            <p:ph type="ftr" sz="quarter" idx="10"/>
          </p:nvPr>
        </p:nvSpPr>
        <p:spPr>
          <a:noFill/>
        </p:spPr>
        <p:txBody>
          <a:bodyPr/>
          <a:lstStyle/>
          <a:p>
            <a:r>
              <a:rPr lang="en-US"/>
              <a:t>Art of Multiprocessor Programming</a:t>
            </a:r>
          </a:p>
        </p:txBody>
      </p:sp>
      <p:sp>
        <p:nvSpPr>
          <p:cNvPr id="139267" name="Slide Number Placeholder 2"/>
          <p:cNvSpPr>
            <a:spLocks noGrp="1"/>
          </p:cNvSpPr>
          <p:nvPr>
            <p:ph type="sldNum" sz="quarter" idx="11"/>
          </p:nvPr>
        </p:nvSpPr>
        <p:spPr>
          <a:noFill/>
        </p:spPr>
        <p:txBody>
          <a:bodyPr/>
          <a:lstStyle/>
          <a:p>
            <a:fld id="{C0F5D927-6331-4A22-A2A1-217EE8131CC4}" type="slidenum">
              <a:rPr lang="x-none" smtClean="0"/>
              <a:pPr/>
              <a:t>129</a:t>
            </a:fld>
            <a:endParaRPr lang="en-US"/>
          </a:p>
        </p:txBody>
      </p:sp>
      <p:sp>
        <p:nvSpPr>
          <p:cNvPr id="139268" name="Rectangle 2"/>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(bottom &gt; </a:t>
            </a:r>
            <a:r>
              <a:rPr lang="en-US" sz="1800" b="1" dirty="0" err="1">
                <a:latin typeface="Courier New" pitchFamily="49" charset="0"/>
              </a:rPr>
              <a:t>oldTop</a:t>
            </a: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a:t>
            </a:r>
          </a:p>
        </p:txBody>
      </p:sp>
      <p:sp>
        <p:nvSpPr>
          <p:cNvPr id="31"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62F31DF-F659-4614-936C-235C39B51D62}" type="slidenum">
              <a:rPr lang="x-none" sz="1400">
                <a:solidFill>
                  <a:schemeClr val="tx1"/>
                </a:solidFill>
                <a:latin typeface="Arial" pitchFamily="34" charset="0"/>
                <a:cs typeface="Arial" pitchFamily="34" charset="0"/>
              </a:rPr>
              <a:pPr>
                <a:defRPr/>
              </a:pPr>
              <a:t>129</a:t>
            </a:fld>
            <a:endParaRPr lang="en-US" sz="1400" dirty="0">
              <a:solidFill>
                <a:schemeClr val="tx1"/>
              </a:solidFill>
              <a:latin typeface="Arial" pitchFamily="34" charset="0"/>
              <a:cs typeface="Arial" pitchFamily="34" charset="0"/>
            </a:endParaRPr>
          </a:p>
        </p:txBody>
      </p:sp>
      <p:sp>
        <p:nvSpPr>
          <p:cNvPr id="139270" name="Rectangle 3"/>
          <p:cNvSpPr>
            <a:spLocks noGrp="1" noChangeArrowheads="1"/>
          </p:cNvSpPr>
          <p:nvPr>
            <p:ph type="title" idx="4294967295"/>
          </p:nvPr>
        </p:nvSpPr>
        <p:spPr/>
        <p:txBody>
          <a:bodyPr/>
          <a:lstStyle/>
          <a:p>
            <a:r>
              <a:rPr lang="en-US"/>
              <a:t>Take Work</a:t>
            </a:r>
          </a:p>
        </p:txBody>
      </p:sp>
      <p:sp>
        <p:nvSpPr>
          <p:cNvPr id="139271" name="AutoShape 4"/>
          <p:cNvSpPr>
            <a:spLocks noChangeArrowheads="1"/>
          </p:cNvSpPr>
          <p:nvPr/>
        </p:nvSpPr>
        <p:spPr bwMode="auto">
          <a:xfrm>
            <a:off x="965200" y="3810000"/>
            <a:ext cx="4318000" cy="431800"/>
          </a:xfrm>
          <a:prstGeom prst="wedgeRoundRectCallout">
            <a:avLst>
              <a:gd name="adj1" fmla="val 11838"/>
              <a:gd name="adj2" fmla="val 287134"/>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39272" name="Text Box 5"/>
          <p:cNvSpPr txBox="1">
            <a:spLocks noChangeArrowheads="1"/>
          </p:cNvSpPr>
          <p:nvPr/>
        </p:nvSpPr>
        <p:spPr bwMode="auto">
          <a:xfrm>
            <a:off x="1091835" y="5255509"/>
            <a:ext cx="6778000" cy="1077218"/>
          </a:xfrm>
          <a:prstGeom prst="rect">
            <a:avLst/>
          </a:prstGeom>
          <a:solidFill>
            <a:srgbClr val="FFFFCC">
              <a:alpha val="79999"/>
            </a:srgbClr>
          </a:solidFill>
          <a:ln w="38100" algn="ctr">
            <a:noFill/>
            <a:miter lim="800000"/>
            <a:headEnd/>
            <a:tailEnd/>
          </a:ln>
        </p:spPr>
        <p:txBody>
          <a:bodyPr wrap="square">
            <a:spAutoFit/>
          </a:bodyPr>
          <a:lstStyle/>
          <a:p>
            <a:pPr algn="ctr"/>
            <a:r>
              <a:rPr lang="en-US" sz="3200" b="1" dirty="0">
                <a:solidFill>
                  <a:srgbClr val="FF0000"/>
                </a:solidFill>
                <a:latin typeface="Arial" pitchFamily="34" charset="0"/>
              </a:rPr>
              <a:t>If top &amp; bottom one or more apart, no conflict</a:t>
            </a:r>
          </a:p>
        </p:txBody>
      </p:sp>
      <p:sp>
        <p:nvSpPr>
          <p:cNvPr id="139273" name="Rectangle 6"/>
          <p:cNvSpPr>
            <a:spLocks noChangeArrowheads="1"/>
          </p:cNvSpPr>
          <p:nvPr/>
        </p:nvSpPr>
        <p:spPr bwMode="auto">
          <a:xfrm>
            <a:off x="7265988" y="2082800"/>
            <a:ext cx="633412" cy="1803400"/>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7"/>
          <p:cNvGrpSpPr>
            <a:grpSpLocks/>
          </p:cNvGrpSpPr>
          <p:nvPr/>
        </p:nvGrpSpPr>
        <p:grpSpPr bwMode="auto">
          <a:xfrm>
            <a:off x="7323138" y="2984500"/>
            <a:ext cx="517525" cy="317500"/>
            <a:chOff x="3507" y="1789"/>
            <a:chExt cx="858" cy="497"/>
          </a:xfrm>
        </p:grpSpPr>
        <p:sp>
          <p:nvSpPr>
            <p:cNvPr id="139292" name="Oval 8"/>
            <p:cNvSpPr>
              <a:spLocks noChangeArrowheads="1"/>
            </p:cNvSpPr>
            <p:nvPr/>
          </p:nvSpPr>
          <p:spPr bwMode="auto">
            <a:xfrm>
              <a:off x="3507" y="1789"/>
              <a:ext cx="858" cy="497"/>
            </a:xfrm>
            <a:prstGeom prst="ellipse">
              <a:avLst/>
            </a:prstGeom>
            <a:solidFill>
              <a:srgbClr val="FF7C80">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9"/>
            <p:cNvGrpSpPr>
              <a:grpSpLocks/>
            </p:cNvGrpSpPr>
            <p:nvPr/>
          </p:nvGrpSpPr>
          <p:grpSpPr bwMode="auto">
            <a:xfrm>
              <a:off x="3758" y="2002"/>
              <a:ext cx="357" cy="76"/>
              <a:chOff x="4109" y="1226"/>
              <a:chExt cx="357" cy="76"/>
            </a:xfrm>
          </p:grpSpPr>
          <p:sp>
            <p:nvSpPr>
              <p:cNvPr id="139294" name="Freeform 1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39295" name="Freeform 1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39296" name="Freeform 1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3"/>
          <p:cNvGrpSpPr>
            <a:grpSpLocks/>
          </p:cNvGrpSpPr>
          <p:nvPr/>
        </p:nvGrpSpPr>
        <p:grpSpPr bwMode="auto">
          <a:xfrm>
            <a:off x="7323138" y="2638425"/>
            <a:ext cx="517525" cy="317500"/>
            <a:chOff x="3507" y="1789"/>
            <a:chExt cx="858" cy="497"/>
          </a:xfrm>
        </p:grpSpPr>
        <p:sp>
          <p:nvSpPr>
            <p:cNvPr id="139287" name="Oval 14"/>
            <p:cNvSpPr>
              <a:spLocks noChangeArrowheads="1"/>
            </p:cNvSpPr>
            <p:nvPr/>
          </p:nvSpPr>
          <p:spPr bwMode="auto">
            <a:xfrm>
              <a:off x="3507" y="1789"/>
              <a:ext cx="858" cy="497"/>
            </a:xfrm>
            <a:prstGeom prst="ellipse">
              <a:avLst/>
            </a:prstGeom>
            <a:solidFill>
              <a:srgbClr val="3399FF">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5" name="Group 15"/>
            <p:cNvGrpSpPr>
              <a:grpSpLocks/>
            </p:cNvGrpSpPr>
            <p:nvPr/>
          </p:nvGrpSpPr>
          <p:grpSpPr bwMode="auto">
            <a:xfrm>
              <a:off x="3758" y="2002"/>
              <a:ext cx="357" cy="76"/>
              <a:chOff x="4109" y="1226"/>
              <a:chExt cx="357" cy="76"/>
            </a:xfrm>
          </p:grpSpPr>
          <p:sp>
            <p:nvSpPr>
              <p:cNvPr id="139289" name="Freeform 1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39290" name="Freeform 1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39291" name="Freeform 1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6" name="Group 19"/>
          <p:cNvGrpSpPr>
            <a:grpSpLocks/>
          </p:cNvGrpSpPr>
          <p:nvPr/>
        </p:nvGrpSpPr>
        <p:grpSpPr bwMode="auto">
          <a:xfrm>
            <a:off x="4872038" y="2184749"/>
            <a:ext cx="735012" cy="538113"/>
            <a:chOff x="502" y="2132"/>
            <a:chExt cx="696" cy="574"/>
          </a:xfrm>
        </p:grpSpPr>
        <p:sp>
          <p:nvSpPr>
            <p:cNvPr id="139285" name="Rectangle 20"/>
            <p:cNvSpPr>
              <a:spLocks noChangeArrowheads="1"/>
            </p:cNvSpPr>
            <p:nvPr/>
          </p:nvSpPr>
          <p:spPr bwMode="auto">
            <a:xfrm>
              <a:off x="502" y="2132"/>
              <a:ext cx="694"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39286" name="Rectangle 21"/>
            <p:cNvSpPr>
              <a:spLocks noChangeArrowheads="1"/>
            </p:cNvSpPr>
            <p:nvPr/>
          </p:nvSpPr>
          <p:spPr bwMode="auto">
            <a:xfrm>
              <a:off x="513" y="2411"/>
              <a:ext cx="685"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39277" name="Rectangle 22"/>
          <p:cNvSpPr>
            <a:spLocks noChangeArrowheads="1"/>
          </p:cNvSpPr>
          <p:nvPr/>
        </p:nvSpPr>
        <p:spPr bwMode="auto">
          <a:xfrm>
            <a:off x="4865688" y="3267482"/>
            <a:ext cx="750887" cy="276999"/>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39278" name="Line 23"/>
          <p:cNvSpPr>
            <a:spLocks noChangeShapeType="1"/>
          </p:cNvSpPr>
          <p:nvPr/>
        </p:nvSpPr>
        <p:spPr bwMode="auto">
          <a:xfrm>
            <a:off x="7265988" y="26162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9279" name="Line 24"/>
          <p:cNvSpPr>
            <a:spLocks noChangeShapeType="1"/>
          </p:cNvSpPr>
          <p:nvPr/>
        </p:nvSpPr>
        <p:spPr bwMode="auto">
          <a:xfrm>
            <a:off x="7256463" y="29702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9280" name="Line 25"/>
          <p:cNvSpPr>
            <a:spLocks noChangeShapeType="1"/>
          </p:cNvSpPr>
          <p:nvPr/>
        </p:nvSpPr>
        <p:spPr bwMode="auto">
          <a:xfrm>
            <a:off x="7248525" y="33226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9281" name="Line 26"/>
          <p:cNvSpPr>
            <a:spLocks noChangeShapeType="1"/>
          </p:cNvSpPr>
          <p:nvPr/>
        </p:nvSpPr>
        <p:spPr bwMode="auto">
          <a:xfrm>
            <a:off x="7240588" y="36750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39282" name="Freeform 27"/>
          <p:cNvSpPr>
            <a:spLocks/>
          </p:cNvSpPr>
          <p:nvPr/>
        </p:nvSpPr>
        <p:spPr bwMode="auto">
          <a:xfrm rot="-657243">
            <a:off x="5510213" y="3228975"/>
            <a:ext cx="1662112" cy="169863"/>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anchor="ctr">
            <a:spAutoFit/>
          </a:bodyPr>
          <a:lstStyle/>
          <a:p>
            <a:pPr algn="l"/>
            <a:endParaRPr lang="en-US" b="1">
              <a:latin typeface="Arial" pitchFamily="34" charset="0"/>
            </a:endParaRPr>
          </a:p>
        </p:txBody>
      </p:sp>
      <p:sp>
        <p:nvSpPr>
          <p:cNvPr id="139283" name="Freeform 28"/>
          <p:cNvSpPr>
            <a:spLocks/>
          </p:cNvSpPr>
          <p:nvPr/>
        </p:nvSpPr>
        <p:spPr bwMode="auto">
          <a:xfrm>
            <a:off x="5600700" y="25860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noFill/>
            <a:prstDash val="sysDot"/>
            <a:round/>
            <a:headEnd/>
            <a:tailEnd type="triangle" w="med" len="med"/>
          </a:ln>
        </p:spPr>
        <p:txBody>
          <a:bodyPr wrap="none" anchor="ctr">
            <a:spAutoFit/>
          </a:bodyPr>
          <a:lstStyle/>
          <a:p>
            <a:pPr algn="l"/>
            <a:endParaRPr lang="en-US" b="1">
              <a:latin typeface="Arial" pitchFamily="34" charset="0"/>
            </a:endParaRPr>
          </a:p>
        </p:txBody>
      </p:sp>
      <p:sp>
        <p:nvSpPr>
          <p:cNvPr id="139284" name="Freeform 29"/>
          <p:cNvSpPr>
            <a:spLocks/>
          </p:cNvSpPr>
          <p:nvPr/>
        </p:nvSpPr>
        <p:spPr bwMode="auto">
          <a:xfrm>
            <a:off x="5486400" y="2654300"/>
            <a:ext cx="1701800" cy="165100"/>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ooter Placeholder 1"/>
          <p:cNvSpPr>
            <a:spLocks noGrp="1"/>
          </p:cNvSpPr>
          <p:nvPr>
            <p:ph type="ftr" sz="quarter" idx="10"/>
          </p:nvPr>
        </p:nvSpPr>
        <p:spPr>
          <a:noFill/>
        </p:spPr>
        <p:txBody>
          <a:bodyPr/>
          <a:lstStyle/>
          <a:p>
            <a:r>
              <a:rPr lang="en-US"/>
              <a:t>Art of Multiprocessor Programming</a:t>
            </a:r>
          </a:p>
        </p:txBody>
      </p:sp>
      <p:sp>
        <p:nvSpPr>
          <p:cNvPr id="140291" name="Slide Number Placeholder 2"/>
          <p:cNvSpPr>
            <a:spLocks noGrp="1"/>
          </p:cNvSpPr>
          <p:nvPr>
            <p:ph type="sldNum" sz="quarter" idx="11"/>
          </p:nvPr>
        </p:nvSpPr>
        <p:spPr>
          <a:noFill/>
        </p:spPr>
        <p:txBody>
          <a:bodyPr/>
          <a:lstStyle/>
          <a:p>
            <a:fld id="{FB7BF79A-A3AB-464F-A862-0209B04757E7}" type="slidenum">
              <a:rPr lang="x-none" smtClean="0"/>
              <a:pPr/>
              <a:t>130</a:t>
            </a:fld>
            <a:endParaRPr lang="en-US"/>
          </a:p>
        </p:txBody>
      </p:sp>
      <p:sp>
        <p:nvSpPr>
          <p:cNvPr id="140292" name="Rectangle 6"/>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solidFill>
                  <a:schemeClr val="folHlink"/>
                </a:solidFill>
                <a:latin typeface="Courier New" pitchFamily="49" charset="0"/>
              </a:rPr>
              <a:t> </a:t>
            </a:r>
            <a:r>
              <a:rPr lang="en-US" sz="1800" b="1" dirty="0">
                <a:latin typeface="Courier New" pitchFamily="49" charset="0"/>
              </a:rPr>
              <a:t>(bottom == </a:t>
            </a:r>
            <a:r>
              <a:rPr lang="en-US" sz="1800" b="1" dirty="0" err="1">
                <a:latin typeface="Courier New" pitchFamily="49" charset="0"/>
              </a:rPr>
              <a:t>oldTop</a:t>
            </a:r>
            <a:r>
              <a:rPr lang="en-US" sz="1800" b="1" dirty="0">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a:t>
            </a:r>
          </a:p>
        </p:txBody>
      </p:sp>
      <p:sp>
        <p:nvSpPr>
          <p:cNvPr id="2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ABF51669-1368-4081-97A7-62DE80FE357F}" type="slidenum">
              <a:rPr lang="x-none" sz="1400">
                <a:solidFill>
                  <a:schemeClr val="tx1"/>
                </a:solidFill>
                <a:latin typeface="Arial" pitchFamily="34" charset="0"/>
                <a:cs typeface="Arial" pitchFamily="34" charset="0"/>
              </a:rPr>
              <a:pPr>
                <a:defRPr/>
              </a:pPr>
              <a:t>130</a:t>
            </a:fld>
            <a:endParaRPr lang="en-US" sz="1400" dirty="0">
              <a:solidFill>
                <a:schemeClr val="tx1"/>
              </a:solidFill>
              <a:latin typeface="Arial" pitchFamily="34" charset="0"/>
              <a:cs typeface="Arial" pitchFamily="34" charset="0"/>
            </a:endParaRPr>
          </a:p>
        </p:txBody>
      </p:sp>
      <p:sp>
        <p:nvSpPr>
          <p:cNvPr id="140294" name="Rectangle 2"/>
          <p:cNvSpPr>
            <a:spLocks noGrp="1" noChangeArrowheads="1"/>
          </p:cNvSpPr>
          <p:nvPr>
            <p:ph type="title" idx="4294967295"/>
          </p:nvPr>
        </p:nvSpPr>
        <p:spPr/>
        <p:txBody>
          <a:bodyPr/>
          <a:lstStyle/>
          <a:p>
            <a:r>
              <a:rPr lang="en-US"/>
              <a:t>Take Work</a:t>
            </a:r>
          </a:p>
        </p:txBody>
      </p:sp>
      <p:sp>
        <p:nvSpPr>
          <p:cNvPr id="140295" name="AutoShape 4"/>
          <p:cNvSpPr>
            <a:spLocks noChangeArrowheads="1"/>
          </p:cNvSpPr>
          <p:nvPr/>
        </p:nvSpPr>
        <p:spPr bwMode="auto">
          <a:xfrm>
            <a:off x="952500" y="4165600"/>
            <a:ext cx="3492500" cy="469900"/>
          </a:xfrm>
          <a:prstGeom prst="wedgeRoundRectCallout">
            <a:avLst>
              <a:gd name="adj1" fmla="val 34093"/>
              <a:gd name="adj2" fmla="val 138176"/>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0296" name="Text Box 5"/>
          <p:cNvSpPr txBox="1">
            <a:spLocks noChangeArrowheads="1"/>
          </p:cNvSpPr>
          <p:nvPr/>
        </p:nvSpPr>
        <p:spPr bwMode="auto">
          <a:xfrm>
            <a:off x="2516972" y="5270500"/>
            <a:ext cx="4237058" cy="584775"/>
          </a:xfrm>
          <a:prstGeom prst="rect">
            <a:avLst/>
          </a:prstGeom>
          <a:solidFill>
            <a:srgbClr val="FFFFCC">
              <a:alpha val="79999"/>
            </a:srgbClr>
          </a:solidFill>
          <a:ln w="38100" algn="ctr">
            <a:noFill/>
            <a:miter lim="800000"/>
            <a:headEnd/>
            <a:tailEnd/>
          </a:ln>
        </p:spPr>
        <p:txBody>
          <a:bodyPr wrap="none">
            <a:spAutoFit/>
          </a:bodyPr>
          <a:lstStyle/>
          <a:p>
            <a:pPr algn="ctr"/>
            <a:r>
              <a:rPr lang="en-US" sz="3200" b="1" dirty="0">
                <a:solidFill>
                  <a:srgbClr val="FF0000"/>
                </a:solidFill>
                <a:latin typeface="Arial" pitchFamily="34" charset="0"/>
              </a:rPr>
              <a:t>At most one item left</a:t>
            </a:r>
          </a:p>
        </p:txBody>
      </p:sp>
      <p:sp>
        <p:nvSpPr>
          <p:cNvPr id="140297" name="Rectangle 8"/>
          <p:cNvSpPr>
            <a:spLocks noChangeArrowheads="1"/>
          </p:cNvSpPr>
          <p:nvPr/>
        </p:nvSpPr>
        <p:spPr bwMode="auto">
          <a:xfrm>
            <a:off x="7265988" y="2082800"/>
            <a:ext cx="633412" cy="1803400"/>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15"/>
          <p:cNvGrpSpPr>
            <a:grpSpLocks/>
          </p:cNvGrpSpPr>
          <p:nvPr/>
        </p:nvGrpSpPr>
        <p:grpSpPr bwMode="auto">
          <a:xfrm>
            <a:off x="7323138" y="2638425"/>
            <a:ext cx="517525" cy="317500"/>
            <a:chOff x="3507" y="1789"/>
            <a:chExt cx="858" cy="497"/>
          </a:xfrm>
        </p:grpSpPr>
        <p:sp>
          <p:nvSpPr>
            <p:cNvPr id="140310" name="Oval 16"/>
            <p:cNvSpPr>
              <a:spLocks noChangeArrowheads="1"/>
            </p:cNvSpPr>
            <p:nvPr/>
          </p:nvSpPr>
          <p:spPr bwMode="auto">
            <a:xfrm>
              <a:off x="3507" y="1789"/>
              <a:ext cx="858" cy="497"/>
            </a:xfrm>
            <a:prstGeom prst="ellipse">
              <a:avLst/>
            </a:prstGeom>
            <a:solidFill>
              <a:srgbClr val="3399FF">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17"/>
            <p:cNvGrpSpPr>
              <a:grpSpLocks/>
            </p:cNvGrpSpPr>
            <p:nvPr/>
          </p:nvGrpSpPr>
          <p:grpSpPr bwMode="auto">
            <a:xfrm>
              <a:off x="3758" y="2002"/>
              <a:ext cx="357" cy="76"/>
              <a:chOff x="4109" y="1226"/>
              <a:chExt cx="357" cy="76"/>
            </a:xfrm>
          </p:grpSpPr>
          <p:sp>
            <p:nvSpPr>
              <p:cNvPr id="140312" name="Freeform 18"/>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40313" name="Freeform 19"/>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0314" name="Freeform 20"/>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21"/>
          <p:cNvGrpSpPr>
            <a:grpSpLocks/>
          </p:cNvGrpSpPr>
          <p:nvPr/>
        </p:nvGrpSpPr>
        <p:grpSpPr bwMode="auto">
          <a:xfrm>
            <a:off x="4872038" y="2184749"/>
            <a:ext cx="735012" cy="538113"/>
            <a:chOff x="502" y="2132"/>
            <a:chExt cx="696" cy="574"/>
          </a:xfrm>
        </p:grpSpPr>
        <p:sp>
          <p:nvSpPr>
            <p:cNvPr id="140308" name="Rectangle 22"/>
            <p:cNvSpPr>
              <a:spLocks noChangeArrowheads="1"/>
            </p:cNvSpPr>
            <p:nvPr/>
          </p:nvSpPr>
          <p:spPr bwMode="auto">
            <a:xfrm>
              <a:off x="502" y="2132"/>
              <a:ext cx="694"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40309" name="Rectangle 23"/>
            <p:cNvSpPr>
              <a:spLocks noChangeArrowheads="1"/>
            </p:cNvSpPr>
            <p:nvPr/>
          </p:nvSpPr>
          <p:spPr bwMode="auto">
            <a:xfrm>
              <a:off x="513" y="2411"/>
              <a:ext cx="685"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40300" name="Rectangle 24"/>
          <p:cNvSpPr>
            <a:spLocks noChangeArrowheads="1"/>
          </p:cNvSpPr>
          <p:nvPr/>
        </p:nvSpPr>
        <p:spPr bwMode="auto">
          <a:xfrm>
            <a:off x="4865688" y="3267482"/>
            <a:ext cx="750887" cy="276999"/>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40301" name="Line 25"/>
          <p:cNvSpPr>
            <a:spLocks noChangeShapeType="1"/>
          </p:cNvSpPr>
          <p:nvPr/>
        </p:nvSpPr>
        <p:spPr bwMode="auto">
          <a:xfrm>
            <a:off x="7265988" y="26162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0302" name="Line 26"/>
          <p:cNvSpPr>
            <a:spLocks noChangeShapeType="1"/>
          </p:cNvSpPr>
          <p:nvPr/>
        </p:nvSpPr>
        <p:spPr bwMode="auto">
          <a:xfrm>
            <a:off x="7256463" y="29702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0303" name="Line 27"/>
          <p:cNvSpPr>
            <a:spLocks noChangeShapeType="1"/>
          </p:cNvSpPr>
          <p:nvPr/>
        </p:nvSpPr>
        <p:spPr bwMode="auto">
          <a:xfrm>
            <a:off x="7248525" y="33226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0304" name="Line 28"/>
          <p:cNvSpPr>
            <a:spLocks noChangeShapeType="1"/>
          </p:cNvSpPr>
          <p:nvPr/>
        </p:nvSpPr>
        <p:spPr bwMode="auto">
          <a:xfrm>
            <a:off x="7240588" y="36750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0305" name="Freeform 29"/>
          <p:cNvSpPr>
            <a:spLocks/>
          </p:cNvSpPr>
          <p:nvPr/>
        </p:nvSpPr>
        <p:spPr bwMode="auto">
          <a:xfrm rot="-1328130">
            <a:off x="5553075" y="3108325"/>
            <a:ext cx="1606550" cy="198438"/>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40306" name="Freeform 30"/>
          <p:cNvSpPr>
            <a:spLocks/>
          </p:cNvSpPr>
          <p:nvPr/>
        </p:nvSpPr>
        <p:spPr bwMode="auto">
          <a:xfrm>
            <a:off x="5600700" y="25860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noFill/>
            <a:prstDash val="sysDot"/>
            <a:round/>
            <a:headEnd/>
            <a:tailEnd type="triangle" w="med" len="med"/>
          </a:ln>
        </p:spPr>
        <p:txBody>
          <a:bodyPr wrap="none" anchor="ctr">
            <a:spAutoFit/>
          </a:bodyPr>
          <a:lstStyle/>
          <a:p>
            <a:pPr algn="l"/>
            <a:endParaRPr lang="en-US" b="1">
              <a:latin typeface="Arial" pitchFamily="34" charset="0"/>
            </a:endParaRPr>
          </a:p>
        </p:txBody>
      </p:sp>
      <p:sp>
        <p:nvSpPr>
          <p:cNvPr id="140307" name="Freeform 38"/>
          <p:cNvSpPr>
            <a:spLocks/>
          </p:cNvSpPr>
          <p:nvPr/>
        </p:nvSpPr>
        <p:spPr bwMode="auto">
          <a:xfrm>
            <a:off x="5486400" y="2654300"/>
            <a:ext cx="1701800" cy="165100"/>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1"/>
          <p:cNvSpPr>
            <a:spLocks noGrp="1"/>
          </p:cNvSpPr>
          <p:nvPr>
            <p:ph type="ftr" sz="quarter" idx="10"/>
          </p:nvPr>
        </p:nvSpPr>
        <p:spPr>
          <a:noFill/>
        </p:spPr>
        <p:txBody>
          <a:bodyPr/>
          <a:lstStyle/>
          <a:p>
            <a:r>
              <a:rPr lang="en-US"/>
              <a:t>Art of Multiprocessor Programming</a:t>
            </a:r>
          </a:p>
        </p:txBody>
      </p:sp>
      <p:sp>
        <p:nvSpPr>
          <p:cNvPr id="141315" name="Slide Number Placeholder 2"/>
          <p:cNvSpPr>
            <a:spLocks noGrp="1"/>
          </p:cNvSpPr>
          <p:nvPr>
            <p:ph type="sldNum" sz="quarter" idx="11"/>
          </p:nvPr>
        </p:nvSpPr>
        <p:spPr>
          <a:noFill/>
        </p:spPr>
        <p:txBody>
          <a:bodyPr/>
          <a:lstStyle/>
          <a:p>
            <a:fld id="{EF829643-C905-41C1-BC50-90FB4F3F292C}" type="slidenum">
              <a:rPr lang="x-none" smtClean="0"/>
              <a:pPr/>
              <a:t>131</a:t>
            </a:fld>
            <a:endParaRPr lang="en-US"/>
          </a:p>
        </p:txBody>
      </p:sp>
      <p:sp>
        <p:nvSpPr>
          <p:cNvPr id="141316" name="Rectangle 6"/>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bottom = 0;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bg1">
                    <a:lumMod val="65000"/>
                  </a:schemeClr>
                </a:solidFill>
                <a:latin typeface="Courier New" pitchFamily="49" charset="0"/>
              </a:rPr>
              <a:t> bottom = 0;}</a:t>
            </a:r>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455E210-7E6B-40E2-8BC6-EBE435A1C5C7}" type="slidenum">
              <a:rPr lang="x-none" sz="1400">
                <a:solidFill>
                  <a:schemeClr val="tx1"/>
                </a:solidFill>
                <a:latin typeface="Arial" pitchFamily="34" charset="0"/>
                <a:cs typeface="Arial" pitchFamily="34" charset="0"/>
              </a:rPr>
              <a:pPr>
                <a:defRPr/>
              </a:pPr>
              <a:t>131</a:t>
            </a:fld>
            <a:endParaRPr lang="en-US" sz="1400" dirty="0">
              <a:solidFill>
                <a:schemeClr val="tx1"/>
              </a:solidFill>
              <a:latin typeface="Arial" pitchFamily="34" charset="0"/>
              <a:cs typeface="Arial" pitchFamily="34" charset="0"/>
            </a:endParaRPr>
          </a:p>
        </p:txBody>
      </p:sp>
      <p:sp>
        <p:nvSpPr>
          <p:cNvPr id="141318" name="Rectangle 2"/>
          <p:cNvSpPr>
            <a:spLocks noGrp="1" noChangeArrowheads="1"/>
          </p:cNvSpPr>
          <p:nvPr>
            <p:ph type="title" idx="4294967295"/>
          </p:nvPr>
        </p:nvSpPr>
        <p:spPr/>
        <p:txBody>
          <a:bodyPr/>
          <a:lstStyle/>
          <a:p>
            <a:r>
              <a:rPr lang="en-US"/>
              <a:t>Take Work</a:t>
            </a:r>
          </a:p>
        </p:txBody>
      </p:sp>
      <p:sp>
        <p:nvSpPr>
          <p:cNvPr id="141319" name="AutoShape 4"/>
          <p:cNvSpPr>
            <a:spLocks noChangeArrowheads="1"/>
          </p:cNvSpPr>
          <p:nvPr/>
        </p:nvSpPr>
        <p:spPr bwMode="auto">
          <a:xfrm>
            <a:off x="1016000" y="4508500"/>
            <a:ext cx="6972300" cy="990600"/>
          </a:xfrm>
          <a:prstGeom prst="wedgeRoundRectCallout">
            <a:avLst>
              <a:gd name="adj1" fmla="val 14162"/>
              <a:gd name="adj2" fmla="val -103046"/>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1320" name="Text Box 5"/>
          <p:cNvSpPr txBox="1">
            <a:spLocks noChangeArrowheads="1"/>
          </p:cNvSpPr>
          <p:nvPr/>
        </p:nvSpPr>
        <p:spPr bwMode="auto">
          <a:xfrm>
            <a:off x="1106488" y="1663700"/>
            <a:ext cx="6731226" cy="2062103"/>
          </a:xfrm>
          <a:prstGeom prst="rect">
            <a:avLst/>
          </a:prstGeom>
          <a:solidFill>
            <a:srgbClr val="FFFFCC">
              <a:alpha val="79999"/>
            </a:srgbClr>
          </a:solidFill>
          <a:ln w="38100" algn="ctr">
            <a:noFill/>
            <a:miter lim="800000"/>
            <a:headEnd/>
            <a:tailEnd/>
          </a:ln>
        </p:spPr>
        <p:txBody>
          <a:bodyPr wrap="square">
            <a:spAutoFit/>
          </a:bodyPr>
          <a:lstStyle/>
          <a:p>
            <a:pPr algn="l"/>
            <a:r>
              <a:rPr lang="en-US" sz="3200" b="1" dirty="0">
                <a:solidFill>
                  <a:srgbClr val="FF0000"/>
                </a:solidFill>
                <a:latin typeface="Arial" pitchFamily="34" charset="0"/>
              </a:rPr>
              <a:t>Try to steal last task.</a:t>
            </a:r>
          </a:p>
          <a:p>
            <a:pPr algn="l"/>
            <a:r>
              <a:rPr lang="en-US" sz="3200" b="1" dirty="0">
                <a:solidFill>
                  <a:srgbClr val="FF0000"/>
                </a:solidFill>
                <a:latin typeface="Arial" pitchFamily="34" charset="0"/>
              </a:rPr>
              <a:t>Reset </a:t>
            </a:r>
            <a:r>
              <a:rPr lang="en-US" sz="3200" b="1" dirty="0">
                <a:solidFill>
                  <a:srgbClr val="FF0000"/>
                </a:solidFill>
                <a:latin typeface="Courier New" pitchFamily="49" charset="0"/>
              </a:rPr>
              <a:t>bottom </a:t>
            </a:r>
            <a:r>
              <a:rPr lang="en-US" sz="3200" b="1" dirty="0">
                <a:solidFill>
                  <a:srgbClr val="FF0000"/>
                </a:solidFill>
                <a:latin typeface="Arial" pitchFamily="34" charset="0"/>
              </a:rPr>
              <a:t>because the </a:t>
            </a:r>
            <a:r>
              <a:rPr lang="en-US" sz="3200" b="1" dirty="0" err="1">
                <a:solidFill>
                  <a:srgbClr val="FF0000"/>
                </a:solidFill>
                <a:latin typeface="Arial" pitchFamily="34" charset="0"/>
              </a:rPr>
              <a:t>DEQueue</a:t>
            </a:r>
            <a:r>
              <a:rPr lang="en-US" sz="3200" b="1" dirty="0">
                <a:solidFill>
                  <a:srgbClr val="FF0000"/>
                </a:solidFill>
                <a:latin typeface="Arial" pitchFamily="34" charset="0"/>
              </a:rPr>
              <a:t> will be empty </a:t>
            </a:r>
          </a:p>
          <a:p>
            <a:pPr algn="l"/>
            <a:r>
              <a:rPr lang="en-US" sz="3200" b="1" dirty="0">
                <a:solidFill>
                  <a:srgbClr val="FF0000"/>
                </a:solidFill>
                <a:latin typeface="Arial" pitchFamily="34" charset="0"/>
              </a:rPr>
              <a:t>even if unsuccessful (why?)</a:t>
            </a:r>
          </a:p>
        </p:txBody>
      </p:sp>
    </p:spTree>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Footer Placeholder 1"/>
          <p:cNvSpPr>
            <a:spLocks noGrp="1"/>
          </p:cNvSpPr>
          <p:nvPr>
            <p:ph type="ftr" sz="quarter" idx="10"/>
          </p:nvPr>
        </p:nvSpPr>
        <p:spPr>
          <a:noFill/>
        </p:spPr>
        <p:txBody>
          <a:bodyPr/>
          <a:lstStyle/>
          <a:p>
            <a:r>
              <a:rPr lang="en-US"/>
              <a:t>Art of Multiprocessor Programming</a:t>
            </a:r>
          </a:p>
        </p:txBody>
      </p:sp>
      <p:sp>
        <p:nvSpPr>
          <p:cNvPr id="142339" name="Slide Number Placeholder 2"/>
          <p:cNvSpPr>
            <a:spLocks noGrp="1"/>
          </p:cNvSpPr>
          <p:nvPr>
            <p:ph type="sldNum" sz="quarter" idx="11"/>
          </p:nvPr>
        </p:nvSpPr>
        <p:spPr>
          <a:noFill/>
        </p:spPr>
        <p:txBody>
          <a:bodyPr/>
          <a:lstStyle/>
          <a:p>
            <a:fld id="{98F642B6-7F5D-456D-BE25-0781F996D4DE}" type="slidenum">
              <a:rPr lang="x-none" smtClean="0"/>
              <a:pPr/>
              <a:t>132</a:t>
            </a:fld>
            <a:endParaRPr lang="en-US"/>
          </a:p>
        </p:txBody>
      </p:sp>
      <p:sp>
        <p:nvSpPr>
          <p:cNvPr id="2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458E780-3429-48C8-A065-2E678734F961}" type="slidenum">
              <a:rPr lang="x-none" sz="1400">
                <a:solidFill>
                  <a:schemeClr val="tx1"/>
                </a:solidFill>
                <a:latin typeface="Arial" pitchFamily="34" charset="0"/>
                <a:cs typeface="Arial" pitchFamily="34" charset="0"/>
              </a:rPr>
              <a:pPr>
                <a:defRPr/>
              </a:pPr>
              <a:t>132</a:t>
            </a:fld>
            <a:endParaRPr lang="en-US" sz="1400" dirty="0">
              <a:solidFill>
                <a:schemeClr val="tx1"/>
              </a:solidFill>
              <a:latin typeface="Arial" pitchFamily="34" charset="0"/>
              <a:cs typeface="Arial" pitchFamily="34" charset="0"/>
            </a:endParaRPr>
          </a:p>
        </p:txBody>
      </p:sp>
      <p:sp>
        <p:nvSpPr>
          <p:cNvPr id="142341" name="Rectangle 2"/>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bottom = 0;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a:t>
            </a:r>
          </a:p>
        </p:txBody>
      </p:sp>
      <p:sp>
        <p:nvSpPr>
          <p:cNvPr id="142342" name="Rectangle 3"/>
          <p:cNvSpPr>
            <a:spLocks noGrp="1" noChangeArrowheads="1"/>
          </p:cNvSpPr>
          <p:nvPr>
            <p:ph type="title" idx="4294967295"/>
          </p:nvPr>
        </p:nvSpPr>
        <p:spPr/>
        <p:txBody>
          <a:bodyPr/>
          <a:lstStyle/>
          <a:p>
            <a:r>
              <a:rPr lang="en-US"/>
              <a:t>Take Work</a:t>
            </a:r>
          </a:p>
        </p:txBody>
      </p:sp>
      <p:sp>
        <p:nvSpPr>
          <p:cNvPr id="142343" name="AutoShape 4"/>
          <p:cNvSpPr>
            <a:spLocks noChangeArrowheads="1"/>
          </p:cNvSpPr>
          <p:nvPr/>
        </p:nvSpPr>
        <p:spPr bwMode="auto">
          <a:xfrm>
            <a:off x="1016000" y="4508500"/>
            <a:ext cx="6972300" cy="990600"/>
          </a:xfrm>
          <a:prstGeom prst="wedgeRoundRectCallout">
            <a:avLst>
              <a:gd name="adj1" fmla="val -31375"/>
              <a:gd name="adj2" fmla="val -268431"/>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2344" name="Rectangle 6"/>
          <p:cNvSpPr>
            <a:spLocks noChangeArrowheads="1"/>
          </p:cNvSpPr>
          <p:nvPr/>
        </p:nvSpPr>
        <p:spPr bwMode="auto">
          <a:xfrm>
            <a:off x="7545388" y="1917700"/>
            <a:ext cx="633412" cy="1803400"/>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13"/>
          <p:cNvGrpSpPr>
            <a:grpSpLocks/>
          </p:cNvGrpSpPr>
          <p:nvPr/>
        </p:nvGrpSpPr>
        <p:grpSpPr bwMode="auto">
          <a:xfrm>
            <a:off x="7602538" y="2473325"/>
            <a:ext cx="517525" cy="317500"/>
            <a:chOff x="3507" y="1789"/>
            <a:chExt cx="858" cy="497"/>
          </a:xfrm>
        </p:grpSpPr>
        <p:sp>
          <p:nvSpPr>
            <p:cNvPr id="142360" name="Oval 14"/>
            <p:cNvSpPr>
              <a:spLocks noChangeArrowheads="1"/>
            </p:cNvSpPr>
            <p:nvPr/>
          </p:nvSpPr>
          <p:spPr bwMode="auto">
            <a:xfrm>
              <a:off x="3507" y="1789"/>
              <a:ext cx="858" cy="497"/>
            </a:xfrm>
            <a:prstGeom prst="ellipse">
              <a:avLst/>
            </a:prstGeom>
            <a:solidFill>
              <a:srgbClr val="3399FF">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15"/>
            <p:cNvGrpSpPr>
              <a:grpSpLocks/>
            </p:cNvGrpSpPr>
            <p:nvPr/>
          </p:nvGrpSpPr>
          <p:grpSpPr bwMode="auto">
            <a:xfrm>
              <a:off x="3758" y="2002"/>
              <a:ext cx="357" cy="76"/>
              <a:chOff x="4109" y="1226"/>
              <a:chExt cx="357" cy="76"/>
            </a:xfrm>
          </p:grpSpPr>
          <p:sp>
            <p:nvSpPr>
              <p:cNvPr id="142362" name="Freeform 1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42363" name="Freeform 1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2364" name="Freeform 1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9"/>
          <p:cNvGrpSpPr>
            <a:grpSpLocks/>
          </p:cNvGrpSpPr>
          <p:nvPr/>
        </p:nvGrpSpPr>
        <p:grpSpPr bwMode="auto">
          <a:xfrm>
            <a:off x="5151438" y="2019649"/>
            <a:ext cx="735012" cy="538113"/>
            <a:chOff x="502" y="2132"/>
            <a:chExt cx="696" cy="574"/>
          </a:xfrm>
        </p:grpSpPr>
        <p:sp>
          <p:nvSpPr>
            <p:cNvPr id="142358" name="Rectangle 20"/>
            <p:cNvSpPr>
              <a:spLocks noChangeArrowheads="1"/>
            </p:cNvSpPr>
            <p:nvPr/>
          </p:nvSpPr>
          <p:spPr bwMode="auto">
            <a:xfrm>
              <a:off x="502" y="2132"/>
              <a:ext cx="694"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42359" name="Rectangle 21"/>
            <p:cNvSpPr>
              <a:spLocks noChangeArrowheads="1"/>
            </p:cNvSpPr>
            <p:nvPr/>
          </p:nvSpPr>
          <p:spPr bwMode="auto">
            <a:xfrm>
              <a:off x="513" y="2411"/>
              <a:ext cx="685"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42347" name="Line 22"/>
          <p:cNvSpPr>
            <a:spLocks noChangeShapeType="1"/>
          </p:cNvSpPr>
          <p:nvPr/>
        </p:nvSpPr>
        <p:spPr bwMode="auto">
          <a:xfrm>
            <a:off x="7545388" y="24511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2348" name="Line 23"/>
          <p:cNvSpPr>
            <a:spLocks noChangeShapeType="1"/>
          </p:cNvSpPr>
          <p:nvPr/>
        </p:nvSpPr>
        <p:spPr bwMode="auto">
          <a:xfrm>
            <a:off x="7535863" y="28051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2349" name="Line 24"/>
          <p:cNvSpPr>
            <a:spLocks noChangeShapeType="1"/>
          </p:cNvSpPr>
          <p:nvPr/>
        </p:nvSpPr>
        <p:spPr bwMode="auto">
          <a:xfrm>
            <a:off x="7527925" y="31575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2350" name="Line 25"/>
          <p:cNvSpPr>
            <a:spLocks noChangeShapeType="1"/>
          </p:cNvSpPr>
          <p:nvPr/>
        </p:nvSpPr>
        <p:spPr bwMode="auto">
          <a:xfrm>
            <a:off x="7519988" y="35099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11098" name="Freeform 26"/>
          <p:cNvSpPr>
            <a:spLocks/>
          </p:cNvSpPr>
          <p:nvPr/>
        </p:nvSpPr>
        <p:spPr bwMode="auto">
          <a:xfrm>
            <a:off x="5880100" y="24209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411099" name="AutoShape 27"/>
          <p:cNvSpPr>
            <a:spLocks noChangeArrowheads="1"/>
          </p:cNvSpPr>
          <p:nvPr/>
        </p:nvSpPr>
        <p:spPr bwMode="auto">
          <a:xfrm>
            <a:off x="5092700" y="2212975"/>
            <a:ext cx="882650" cy="512763"/>
          </a:xfrm>
          <a:prstGeom prst="irregularSeal1">
            <a:avLst/>
          </a:prstGeom>
          <a:solidFill>
            <a:srgbClr val="FFFF00">
              <a:alpha val="50195"/>
            </a:srgbClr>
          </a:solidFill>
          <a:ln w="38100" algn="ctr">
            <a:solidFill>
              <a:srgbClr val="FF0000"/>
            </a:solidFill>
            <a:miter lim="800000"/>
            <a:headEnd/>
            <a:tailEnd/>
          </a:ln>
        </p:spPr>
        <p:txBody>
          <a:bodyPr wrap="none" anchor="ctr"/>
          <a:lstStyle/>
          <a:p>
            <a:pPr algn="ctr"/>
            <a:r>
              <a:rPr lang="en-US" sz="1200" dirty="0">
                <a:solidFill>
                  <a:srgbClr val="FF0000"/>
                </a:solidFill>
                <a:latin typeface="Arial" pitchFamily="34" charset="0"/>
              </a:rPr>
              <a:t>CAS</a:t>
            </a:r>
          </a:p>
        </p:txBody>
      </p:sp>
      <p:sp>
        <p:nvSpPr>
          <p:cNvPr id="142353" name="Rectangle 29"/>
          <p:cNvSpPr>
            <a:spLocks noChangeArrowheads="1"/>
          </p:cNvSpPr>
          <p:nvPr/>
        </p:nvSpPr>
        <p:spPr bwMode="auto">
          <a:xfrm>
            <a:off x="5145088" y="3102382"/>
            <a:ext cx="750887" cy="276999"/>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411102" name="Freeform 30"/>
          <p:cNvSpPr>
            <a:spLocks/>
          </p:cNvSpPr>
          <p:nvPr/>
        </p:nvSpPr>
        <p:spPr bwMode="auto">
          <a:xfrm rot="-2591148">
            <a:off x="5946775" y="2655888"/>
            <a:ext cx="1397000" cy="944562"/>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11103" name="Freeform 31"/>
          <p:cNvSpPr>
            <a:spLocks/>
          </p:cNvSpPr>
          <p:nvPr/>
        </p:nvSpPr>
        <p:spPr bwMode="auto">
          <a:xfrm>
            <a:off x="5829300" y="1790700"/>
            <a:ext cx="1638300" cy="1409700"/>
          </a:xfrm>
          <a:custGeom>
            <a:avLst/>
            <a:gdLst>
              <a:gd name="T0" fmla="*/ 0 w 1032"/>
              <a:gd name="T1" fmla="*/ 2147483647 h 888"/>
              <a:gd name="T2" fmla="*/ 2147483647 w 1032"/>
              <a:gd name="T3" fmla="*/ 2147483647 h 888"/>
              <a:gd name="T4" fmla="*/ 2147483647 w 1032"/>
              <a:gd name="T5" fmla="*/ 2147483647 h 888"/>
              <a:gd name="T6" fmla="*/ 2147483647 w 1032"/>
              <a:gd name="T7" fmla="*/ 0 h 888"/>
              <a:gd name="T8" fmla="*/ 0 60000 65536"/>
              <a:gd name="T9" fmla="*/ 0 60000 65536"/>
              <a:gd name="T10" fmla="*/ 0 60000 65536"/>
              <a:gd name="T11" fmla="*/ 0 60000 65536"/>
              <a:gd name="T12" fmla="*/ 0 w 1032"/>
              <a:gd name="T13" fmla="*/ 0 h 888"/>
              <a:gd name="T14" fmla="*/ 1032 w 1032"/>
              <a:gd name="T15" fmla="*/ 888 h 888"/>
            </a:gdLst>
            <a:ahLst/>
            <a:cxnLst>
              <a:cxn ang="T8">
                <a:pos x="T0" y="T1"/>
              </a:cxn>
              <a:cxn ang="T9">
                <a:pos x="T2" y="T3"/>
              </a:cxn>
              <a:cxn ang="T10">
                <a:pos x="T4" y="T5"/>
              </a:cxn>
              <a:cxn ang="T11">
                <a:pos x="T6" y="T7"/>
              </a:cxn>
            </a:cxnLst>
            <a:rect l="T12" t="T13" r="T14" b="T15"/>
            <a:pathLst>
              <a:path w="1032" h="888">
                <a:moveTo>
                  <a:pt x="0" y="888"/>
                </a:moveTo>
                <a:cubicBezTo>
                  <a:pt x="162" y="874"/>
                  <a:pt x="325" y="861"/>
                  <a:pt x="408" y="768"/>
                </a:cubicBezTo>
                <a:cubicBezTo>
                  <a:pt x="491" y="675"/>
                  <a:pt x="392" y="456"/>
                  <a:pt x="496" y="328"/>
                </a:cubicBezTo>
                <a:cubicBezTo>
                  <a:pt x="600" y="200"/>
                  <a:pt x="816" y="100"/>
                  <a:pt x="1032" y="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11106" name="Freeform 34"/>
          <p:cNvSpPr>
            <a:spLocks/>
          </p:cNvSpPr>
          <p:nvPr/>
        </p:nvSpPr>
        <p:spPr bwMode="auto">
          <a:xfrm>
            <a:off x="5834063" y="1790700"/>
            <a:ext cx="1582737" cy="601663"/>
          </a:xfrm>
          <a:custGeom>
            <a:avLst/>
            <a:gdLst>
              <a:gd name="T0" fmla="*/ 2147483647 w 997"/>
              <a:gd name="T1" fmla="*/ 2147483647 h 379"/>
              <a:gd name="T2" fmla="*/ 2147483647 w 997"/>
              <a:gd name="T3" fmla="*/ 2147483647 h 379"/>
              <a:gd name="T4" fmla="*/ 2147483647 w 997"/>
              <a:gd name="T5" fmla="*/ 2147483647 h 379"/>
              <a:gd name="T6" fmla="*/ 2147483647 w 997"/>
              <a:gd name="T7" fmla="*/ 2147483647 h 379"/>
              <a:gd name="T8" fmla="*/ 2147483647 w 997"/>
              <a:gd name="T9" fmla="*/ 2147483647 h 379"/>
              <a:gd name="T10" fmla="*/ 0 60000 65536"/>
              <a:gd name="T11" fmla="*/ 0 60000 65536"/>
              <a:gd name="T12" fmla="*/ 0 60000 65536"/>
              <a:gd name="T13" fmla="*/ 0 60000 65536"/>
              <a:gd name="T14" fmla="*/ 0 60000 65536"/>
              <a:gd name="T15" fmla="*/ 0 w 997"/>
              <a:gd name="T16" fmla="*/ 0 h 379"/>
              <a:gd name="T17" fmla="*/ 997 w 997"/>
              <a:gd name="T18" fmla="*/ 379 h 379"/>
            </a:gdLst>
            <a:ahLst/>
            <a:cxnLst>
              <a:cxn ang="T10">
                <a:pos x="T0" y="T1"/>
              </a:cxn>
              <a:cxn ang="T11">
                <a:pos x="T2" y="T3"/>
              </a:cxn>
              <a:cxn ang="T12">
                <a:pos x="T4" y="T5"/>
              </a:cxn>
              <a:cxn ang="T13">
                <a:pos x="T6" y="T7"/>
              </a:cxn>
              <a:cxn ang="T14">
                <a:pos x="T8" y="T9"/>
              </a:cxn>
            </a:cxnLst>
            <a:rect l="T15" t="T16" r="T17" b="T18"/>
            <a:pathLst>
              <a:path w="997" h="379">
                <a:moveTo>
                  <a:pt x="13" y="360"/>
                </a:moveTo>
                <a:cubicBezTo>
                  <a:pt x="6" y="369"/>
                  <a:pt x="0" y="379"/>
                  <a:pt x="69" y="360"/>
                </a:cubicBezTo>
                <a:cubicBezTo>
                  <a:pt x="138" y="341"/>
                  <a:pt x="346" y="301"/>
                  <a:pt x="429" y="248"/>
                </a:cubicBezTo>
                <a:cubicBezTo>
                  <a:pt x="512" y="195"/>
                  <a:pt x="470" y="80"/>
                  <a:pt x="565" y="40"/>
                </a:cubicBezTo>
                <a:cubicBezTo>
                  <a:pt x="660" y="0"/>
                  <a:pt x="921" y="13"/>
                  <a:pt x="997" y="8"/>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2357" name="Text Box 35"/>
          <p:cNvSpPr txBox="1">
            <a:spLocks noChangeArrowheads="1"/>
          </p:cNvSpPr>
          <p:nvPr/>
        </p:nvSpPr>
        <p:spPr bwMode="auto">
          <a:xfrm>
            <a:off x="1106488" y="1663700"/>
            <a:ext cx="2076209" cy="584775"/>
          </a:xfrm>
          <a:prstGeom prst="rect">
            <a:avLst/>
          </a:prstGeom>
          <a:solidFill>
            <a:srgbClr val="FFFFCC">
              <a:alpha val="79999"/>
            </a:srgbClr>
          </a:solidFill>
          <a:ln w="38100" algn="ctr">
            <a:noFill/>
            <a:miter lim="800000"/>
            <a:headEnd/>
            <a:tailEnd/>
          </a:ln>
        </p:spPr>
        <p:txBody>
          <a:bodyPr wrap="none">
            <a:spAutoFit/>
          </a:bodyPr>
          <a:lstStyle/>
          <a:p>
            <a:pPr algn="l"/>
            <a:r>
              <a:rPr lang="en-US" sz="3200" b="1" dirty="0">
                <a:solidFill>
                  <a:srgbClr val="FF0000"/>
                </a:solidFill>
                <a:latin typeface="Arial" pitchFamily="34" charset="0"/>
              </a:rPr>
              <a:t>I win CAS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1103"/>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41110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110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11106"/>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1411098"/>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1098" grpId="0" animBg="1"/>
      <p:bldP spid="1411099" grpId="0" animBg="1"/>
      <p:bldP spid="1411102" grpId="0" animBg="1"/>
      <p:bldP spid="1411103" grpId="0" animBg="1"/>
      <p:bldP spid="141110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1"/>
          <p:cNvSpPr>
            <a:spLocks noGrp="1"/>
          </p:cNvSpPr>
          <p:nvPr>
            <p:ph type="ftr" sz="quarter" idx="10"/>
          </p:nvPr>
        </p:nvSpPr>
        <p:spPr>
          <a:noFill/>
        </p:spPr>
        <p:txBody>
          <a:bodyPr/>
          <a:lstStyle/>
          <a:p>
            <a:r>
              <a:rPr lang="en-US"/>
              <a:t>Art of Multiprocessor Programming</a:t>
            </a:r>
          </a:p>
        </p:txBody>
      </p:sp>
      <p:sp>
        <p:nvSpPr>
          <p:cNvPr id="143363" name="Slide Number Placeholder 2"/>
          <p:cNvSpPr>
            <a:spLocks noGrp="1"/>
          </p:cNvSpPr>
          <p:nvPr>
            <p:ph type="sldNum" sz="quarter" idx="11"/>
          </p:nvPr>
        </p:nvSpPr>
        <p:spPr>
          <a:noFill/>
        </p:spPr>
        <p:txBody>
          <a:bodyPr/>
          <a:lstStyle/>
          <a:p>
            <a:fld id="{69FC25A4-B6D3-4B29-BDB0-736C03BE6FF0}" type="slidenum">
              <a:rPr lang="x-none" smtClean="0"/>
              <a:pPr/>
              <a:t>133</a:t>
            </a:fld>
            <a:endParaRPr lang="en-US"/>
          </a:p>
        </p:txBody>
      </p:sp>
      <p:sp>
        <p:nvSpPr>
          <p:cNvPr id="2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8C62FEF-29EE-4BBE-BD1E-BCF78312A629}" type="slidenum">
              <a:rPr lang="x-none" sz="1400">
                <a:solidFill>
                  <a:schemeClr val="tx1"/>
                </a:solidFill>
                <a:latin typeface="Arial" pitchFamily="34" charset="0"/>
                <a:cs typeface="Arial" pitchFamily="34" charset="0"/>
              </a:rPr>
              <a:pPr>
                <a:defRPr/>
              </a:pPr>
              <a:t>133</a:t>
            </a:fld>
            <a:endParaRPr lang="en-US" sz="1400" dirty="0">
              <a:solidFill>
                <a:schemeClr val="tx1"/>
              </a:solidFill>
              <a:latin typeface="Arial" pitchFamily="34" charset="0"/>
              <a:cs typeface="Arial" pitchFamily="34" charset="0"/>
            </a:endParaRPr>
          </a:p>
        </p:txBody>
      </p:sp>
      <p:sp>
        <p:nvSpPr>
          <p:cNvPr id="143365" name="Rectangle 2"/>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bottom = 0;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(top.CAS(</a:t>
            </a:r>
            <a:r>
              <a:rPr lang="en-US" sz="1800" b="1" dirty="0" err="1">
                <a:latin typeface="Courier New" pitchFamily="49" charset="0"/>
              </a:rPr>
              <a:t>oldTop</a:t>
            </a:r>
            <a:r>
              <a:rPr lang="en-US" sz="1800" b="1" dirty="0">
                <a:latin typeface="Courier New" pitchFamily="49" charset="0"/>
              </a:rPr>
              <a:t>, </a:t>
            </a:r>
            <a:r>
              <a:rPr lang="en-US" sz="1800" b="1" dirty="0" err="1">
                <a:latin typeface="Courier New" pitchFamily="49" charset="0"/>
              </a:rPr>
              <a:t>newTop</a:t>
            </a:r>
            <a:r>
              <a:rPr lang="en-US" sz="1800" b="1" dirty="0">
                <a:latin typeface="Courier New" pitchFamily="49" charset="0"/>
              </a:rPr>
              <a:t>, </a:t>
            </a:r>
            <a:r>
              <a:rPr lang="en-US" sz="1800" b="1" dirty="0" err="1">
                <a:latin typeface="Courier New" pitchFamily="49" charset="0"/>
              </a:rPr>
              <a:t>oldStamp</a:t>
            </a:r>
            <a:r>
              <a:rPr lang="en-US" sz="1800" b="1" dirty="0">
                <a:latin typeface="Courier New" pitchFamily="49" charset="0"/>
              </a:rPr>
              <a:t>, </a:t>
            </a:r>
            <a:r>
              <a:rPr lang="en-US" sz="1800" b="1" dirty="0" err="1">
                <a:latin typeface="Courier New" pitchFamily="49" charset="0"/>
              </a:rPr>
              <a:t>newStamp</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r;</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top.set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newTop,newStamp</a:t>
            </a:r>
            <a:r>
              <a:rPr lang="en-US" sz="1800" b="1" dirty="0">
                <a:solidFill>
                  <a:schemeClr val="folHlink"/>
                </a:solidFill>
                <a:latin typeface="Courier New" pitchFamily="49" charset="0"/>
              </a:rPr>
              <a:t>); return null;</a:t>
            </a:r>
          </a:p>
          <a:p>
            <a:pPr marL="342900" indent="-342900" algn="l">
              <a:spcBef>
                <a:spcPct val="20000"/>
              </a:spcBef>
            </a:pPr>
            <a:r>
              <a:rPr lang="en-US" sz="1800" b="1" dirty="0">
                <a:solidFill>
                  <a:schemeClr val="folHlink"/>
                </a:solidFill>
                <a:latin typeface="Courier New" pitchFamily="49" charset="0"/>
              </a:rPr>
              <a:t> bottom = 0;}</a:t>
            </a:r>
          </a:p>
        </p:txBody>
      </p:sp>
      <p:sp>
        <p:nvSpPr>
          <p:cNvPr id="143366" name="Rectangle 3"/>
          <p:cNvSpPr>
            <a:spLocks noGrp="1" noChangeArrowheads="1"/>
          </p:cNvSpPr>
          <p:nvPr>
            <p:ph type="title" idx="4294967295"/>
          </p:nvPr>
        </p:nvSpPr>
        <p:spPr/>
        <p:txBody>
          <a:bodyPr/>
          <a:lstStyle/>
          <a:p>
            <a:r>
              <a:rPr lang="en-US" dirty="0"/>
              <a:t>Take Work</a:t>
            </a:r>
          </a:p>
        </p:txBody>
      </p:sp>
      <p:sp>
        <p:nvSpPr>
          <p:cNvPr id="143367" name="AutoShape 4"/>
          <p:cNvSpPr>
            <a:spLocks noChangeArrowheads="1"/>
          </p:cNvSpPr>
          <p:nvPr/>
        </p:nvSpPr>
        <p:spPr bwMode="auto">
          <a:xfrm>
            <a:off x="1016000" y="4508500"/>
            <a:ext cx="7086600" cy="990600"/>
          </a:xfrm>
          <a:prstGeom prst="wedgeRoundRectCallout">
            <a:avLst>
              <a:gd name="adj1" fmla="val -31319"/>
              <a:gd name="adj2" fmla="val -169713"/>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3368" name="Rectangle 5"/>
          <p:cNvSpPr>
            <a:spLocks noChangeArrowheads="1"/>
          </p:cNvSpPr>
          <p:nvPr/>
        </p:nvSpPr>
        <p:spPr bwMode="auto">
          <a:xfrm>
            <a:off x="7545388" y="1917700"/>
            <a:ext cx="633412" cy="1803400"/>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l"/>
            <a:endParaRPr lang="en-US" b="1">
              <a:latin typeface="Arial" pitchFamily="34" charset="0"/>
            </a:endParaRPr>
          </a:p>
        </p:txBody>
      </p:sp>
      <p:grpSp>
        <p:nvGrpSpPr>
          <p:cNvPr id="2" name="Group 6"/>
          <p:cNvGrpSpPr>
            <a:grpSpLocks/>
          </p:cNvGrpSpPr>
          <p:nvPr/>
        </p:nvGrpSpPr>
        <p:grpSpPr bwMode="auto">
          <a:xfrm>
            <a:off x="7602538" y="2473325"/>
            <a:ext cx="517525" cy="317500"/>
            <a:chOff x="3507" y="1789"/>
            <a:chExt cx="858" cy="497"/>
          </a:xfrm>
        </p:grpSpPr>
        <p:sp>
          <p:nvSpPr>
            <p:cNvPr id="143384" name="Oval 7"/>
            <p:cNvSpPr>
              <a:spLocks noChangeArrowheads="1"/>
            </p:cNvSpPr>
            <p:nvPr/>
          </p:nvSpPr>
          <p:spPr bwMode="auto">
            <a:xfrm>
              <a:off x="3507" y="1789"/>
              <a:ext cx="858" cy="497"/>
            </a:xfrm>
            <a:prstGeom prst="ellipse">
              <a:avLst/>
            </a:prstGeom>
            <a:solidFill>
              <a:srgbClr val="3399FF">
                <a:alpha val="50195"/>
              </a:srgbClr>
            </a:solidFill>
            <a:ln w="38100">
              <a:solidFill>
                <a:schemeClr val="tx1"/>
              </a:solidFill>
              <a:round/>
              <a:headEnd/>
              <a:tailEnd/>
            </a:ln>
          </p:spPr>
          <p:txBody>
            <a:bodyPr wrap="none" anchor="ctr"/>
            <a:lstStyle/>
            <a:p>
              <a:pPr algn="l"/>
              <a:endParaRPr lang="en-US" b="1">
                <a:latin typeface="Arial" pitchFamily="34" charset="0"/>
              </a:endParaRPr>
            </a:p>
          </p:txBody>
        </p:sp>
        <p:grpSp>
          <p:nvGrpSpPr>
            <p:cNvPr id="3" name="Group 8"/>
            <p:cNvGrpSpPr>
              <a:grpSpLocks/>
            </p:cNvGrpSpPr>
            <p:nvPr/>
          </p:nvGrpSpPr>
          <p:grpSpPr bwMode="auto">
            <a:xfrm>
              <a:off x="3758" y="2002"/>
              <a:ext cx="357" cy="76"/>
              <a:chOff x="4109" y="1226"/>
              <a:chExt cx="357" cy="76"/>
            </a:xfrm>
          </p:grpSpPr>
          <p:sp>
            <p:nvSpPr>
              <p:cNvPr id="143386" name="Freeform 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alpha val="50195"/>
                </a:schemeClr>
              </a:solidFill>
              <a:ln w="9525">
                <a:solidFill>
                  <a:schemeClr val="tx1"/>
                </a:solidFill>
                <a:round/>
                <a:headEnd/>
                <a:tailEnd/>
              </a:ln>
            </p:spPr>
            <p:txBody>
              <a:bodyPr wrap="none" anchor="ctr"/>
              <a:lstStyle/>
              <a:p>
                <a:pPr algn="l"/>
                <a:endParaRPr lang="en-US" b="1">
                  <a:latin typeface="Arial" pitchFamily="34" charset="0"/>
                </a:endParaRPr>
              </a:p>
            </p:txBody>
          </p:sp>
          <p:sp>
            <p:nvSpPr>
              <p:cNvPr id="143387" name="Freeform 1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3388" name="Freeform 1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4" name="Group 12"/>
          <p:cNvGrpSpPr>
            <a:grpSpLocks/>
          </p:cNvGrpSpPr>
          <p:nvPr/>
        </p:nvGrpSpPr>
        <p:grpSpPr bwMode="auto">
          <a:xfrm>
            <a:off x="5151438" y="2019649"/>
            <a:ext cx="735012" cy="538113"/>
            <a:chOff x="502" y="2132"/>
            <a:chExt cx="696" cy="574"/>
          </a:xfrm>
        </p:grpSpPr>
        <p:sp>
          <p:nvSpPr>
            <p:cNvPr id="143382" name="Rectangle 13"/>
            <p:cNvSpPr>
              <a:spLocks noChangeArrowheads="1"/>
            </p:cNvSpPr>
            <p:nvPr/>
          </p:nvSpPr>
          <p:spPr bwMode="auto">
            <a:xfrm>
              <a:off x="502" y="2132"/>
              <a:ext cx="694"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stamp</a:t>
              </a:r>
            </a:p>
          </p:txBody>
        </p:sp>
        <p:sp>
          <p:nvSpPr>
            <p:cNvPr id="143383" name="Rectangle 14"/>
            <p:cNvSpPr>
              <a:spLocks noChangeArrowheads="1"/>
            </p:cNvSpPr>
            <p:nvPr/>
          </p:nvSpPr>
          <p:spPr bwMode="auto">
            <a:xfrm>
              <a:off x="513" y="2411"/>
              <a:ext cx="685" cy="295"/>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top</a:t>
              </a:r>
            </a:p>
          </p:txBody>
        </p:sp>
      </p:grpSp>
      <p:sp>
        <p:nvSpPr>
          <p:cNvPr id="143371" name="Line 15"/>
          <p:cNvSpPr>
            <a:spLocks noChangeShapeType="1"/>
          </p:cNvSpPr>
          <p:nvPr/>
        </p:nvSpPr>
        <p:spPr bwMode="auto">
          <a:xfrm>
            <a:off x="7545388" y="2451100"/>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3372" name="Line 16"/>
          <p:cNvSpPr>
            <a:spLocks noChangeShapeType="1"/>
          </p:cNvSpPr>
          <p:nvPr/>
        </p:nvSpPr>
        <p:spPr bwMode="auto">
          <a:xfrm>
            <a:off x="7535863" y="2805113"/>
            <a:ext cx="635000"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3373" name="Line 17"/>
          <p:cNvSpPr>
            <a:spLocks noChangeShapeType="1"/>
          </p:cNvSpPr>
          <p:nvPr/>
        </p:nvSpPr>
        <p:spPr bwMode="auto">
          <a:xfrm>
            <a:off x="7527925" y="3157538"/>
            <a:ext cx="633413"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3374" name="Line 18"/>
          <p:cNvSpPr>
            <a:spLocks noChangeShapeType="1"/>
          </p:cNvSpPr>
          <p:nvPr/>
        </p:nvSpPr>
        <p:spPr bwMode="auto">
          <a:xfrm>
            <a:off x="7519988" y="3509963"/>
            <a:ext cx="633412" cy="0"/>
          </a:xfrm>
          <a:prstGeom prst="line">
            <a:avLst/>
          </a:prstGeom>
          <a:noFill/>
          <a:ln w="28575">
            <a:solidFill>
              <a:schemeClr val="tx1"/>
            </a:solidFill>
            <a:round/>
            <a:headEnd/>
            <a:tailEnd/>
          </a:ln>
        </p:spPr>
        <p:txBody>
          <a:bodyPr wrap="none" anchor="ctr">
            <a:spAutoFit/>
          </a:bodyPr>
          <a:lstStyle/>
          <a:p>
            <a:endParaRPr lang="en-US" dirty="0">
              <a:latin typeface="Arial" pitchFamily="34" charset="0"/>
            </a:endParaRPr>
          </a:p>
        </p:txBody>
      </p:sp>
      <p:sp>
        <p:nvSpPr>
          <p:cNvPr id="1415187" name="Freeform 19"/>
          <p:cNvSpPr>
            <a:spLocks/>
          </p:cNvSpPr>
          <p:nvPr/>
        </p:nvSpPr>
        <p:spPr bwMode="auto">
          <a:xfrm>
            <a:off x="5880100" y="2420938"/>
            <a:ext cx="1604963" cy="198437"/>
          </a:xfrm>
          <a:custGeom>
            <a:avLst/>
            <a:gdLst>
              <a:gd name="T0" fmla="*/ 0 w 1520"/>
              <a:gd name="T1" fmla="*/ 0 h 211"/>
              <a:gd name="T2" fmla="*/ 2147483647 w 1520"/>
              <a:gd name="T3" fmla="*/ 2147483647 h 211"/>
              <a:gd name="T4" fmla="*/ 2147483647 w 1520"/>
              <a:gd name="T5" fmla="*/ 2147483647 h 211"/>
              <a:gd name="T6" fmla="*/ 0 60000 65536"/>
              <a:gd name="T7" fmla="*/ 0 60000 65536"/>
              <a:gd name="T8" fmla="*/ 0 60000 65536"/>
              <a:gd name="T9" fmla="*/ 0 w 1520"/>
              <a:gd name="T10" fmla="*/ 0 h 211"/>
              <a:gd name="T11" fmla="*/ 1520 w 1520"/>
              <a:gd name="T12" fmla="*/ 211 h 211"/>
            </a:gdLst>
            <a:ahLst/>
            <a:cxnLst>
              <a:cxn ang="T6">
                <a:pos x="T0" y="T1"/>
              </a:cxn>
              <a:cxn ang="T7">
                <a:pos x="T2" y="T3"/>
              </a:cxn>
              <a:cxn ang="T8">
                <a:pos x="T4" y="T5"/>
              </a:cxn>
            </a:cxnLst>
            <a:rect l="T9" t="T10" r="T11" b="T12"/>
            <a:pathLst>
              <a:path w="1520" h="211">
                <a:moveTo>
                  <a:pt x="0" y="0"/>
                </a:moveTo>
                <a:cubicBezTo>
                  <a:pt x="121" y="78"/>
                  <a:pt x="243" y="157"/>
                  <a:pt x="496" y="184"/>
                </a:cubicBezTo>
                <a:cubicBezTo>
                  <a:pt x="749" y="211"/>
                  <a:pt x="1134" y="185"/>
                  <a:pt x="1520" y="160"/>
                </a:cubicBezTo>
              </a:path>
            </a:pathLst>
          </a:custGeom>
          <a:noFill/>
          <a:ln w="76200">
            <a:solidFill>
              <a:schemeClr val="tx1"/>
            </a:solidFill>
            <a:round/>
            <a:headEnd/>
            <a:tailEnd type="triangle" w="med" len="med"/>
          </a:ln>
        </p:spPr>
        <p:txBody>
          <a:bodyPr wrap="none" anchor="ctr">
            <a:spAutoFit/>
          </a:bodyPr>
          <a:lstStyle/>
          <a:p>
            <a:pPr algn="l"/>
            <a:endParaRPr lang="en-US" b="1">
              <a:latin typeface="Arial" pitchFamily="34" charset="0"/>
            </a:endParaRPr>
          </a:p>
        </p:txBody>
      </p:sp>
      <p:sp>
        <p:nvSpPr>
          <p:cNvPr id="1415188" name="AutoShape 20"/>
          <p:cNvSpPr>
            <a:spLocks noChangeArrowheads="1"/>
          </p:cNvSpPr>
          <p:nvPr/>
        </p:nvSpPr>
        <p:spPr bwMode="auto">
          <a:xfrm>
            <a:off x="5092700" y="2212975"/>
            <a:ext cx="882650" cy="512763"/>
          </a:xfrm>
          <a:prstGeom prst="irregularSeal1">
            <a:avLst/>
          </a:prstGeom>
          <a:solidFill>
            <a:srgbClr val="FFFF00">
              <a:alpha val="50195"/>
            </a:srgbClr>
          </a:solidFill>
          <a:ln w="38100" algn="ctr">
            <a:solidFill>
              <a:srgbClr val="FF0000"/>
            </a:solidFill>
            <a:miter lim="800000"/>
            <a:headEnd/>
            <a:tailEnd/>
          </a:ln>
        </p:spPr>
        <p:txBody>
          <a:bodyPr wrap="none" anchor="ctr"/>
          <a:lstStyle/>
          <a:p>
            <a:pPr algn="ctr"/>
            <a:r>
              <a:rPr lang="en-US" sz="1200" dirty="0">
                <a:solidFill>
                  <a:srgbClr val="FF0000"/>
                </a:solidFill>
                <a:latin typeface="Arial" pitchFamily="34" charset="0"/>
              </a:rPr>
              <a:t>CAS</a:t>
            </a:r>
          </a:p>
        </p:txBody>
      </p:sp>
      <p:sp>
        <p:nvSpPr>
          <p:cNvPr id="143377" name="Rectangle 21"/>
          <p:cNvSpPr>
            <a:spLocks noChangeArrowheads="1"/>
          </p:cNvSpPr>
          <p:nvPr/>
        </p:nvSpPr>
        <p:spPr bwMode="auto">
          <a:xfrm>
            <a:off x="5145088" y="3102382"/>
            <a:ext cx="750887" cy="276999"/>
          </a:xfrm>
          <a:prstGeom prst="rect">
            <a:avLst/>
          </a:prstGeom>
          <a:solidFill>
            <a:schemeClr val="accent1">
              <a:alpha val="50195"/>
            </a:schemeClr>
          </a:solidFill>
          <a:ln w="38100" algn="ctr">
            <a:solidFill>
              <a:schemeClr val="tx1"/>
            </a:solidFill>
            <a:miter lim="800000"/>
            <a:headEnd/>
            <a:tailEnd/>
          </a:ln>
        </p:spPr>
        <p:txBody>
          <a:bodyPr anchor="ctr">
            <a:spAutoFit/>
          </a:bodyPr>
          <a:lstStyle/>
          <a:p>
            <a:pPr algn="ctr"/>
            <a:r>
              <a:rPr lang="en-US" sz="1200" b="1" dirty="0">
                <a:latin typeface="Arial" pitchFamily="34" charset="0"/>
              </a:rPr>
              <a:t>bottom</a:t>
            </a:r>
          </a:p>
        </p:txBody>
      </p:sp>
      <p:sp>
        <p:nvSpPr>
          <p:cNvPr id="1415190" name="Freeform 22"/>
          <p:cNvSpPr>
            <a:spLocks/>
          </p:cNvSpPr>
          <p:nvPr/>
        </p:nvSpPr>
        <p:spPr bwMode="auto">
          <a:xfrm rot="-2591148">
            <a:off x="5946775" y="2655888"/>
            <a:ext cx="1397000" cy="944562"/>
          </a:xfrm>
          <a:custGeom>
            <a:avLst/>
            <a:gdLst>
              <a:gd name="T0" fmla="*/ 0 w 920"/>
              <a:gd name="T1" fmla="*/ 0 h 320"/>
              <a:gd name="T2" fmla="*/ 2147483647 w 920"/>
              <a:gd name="T3" fmla="*/ 2147483647 h 320"/>
              <a:gd name="T4" fmla="*/ 2147483647 w 920"/>
              <a:gd name="T5" fmla="*/ 2147483647 h 320"/>
              <a:gd name="T6" fmla="*/ 0 60000 65536"/>
              <a:gd name="T7" fmla="*/ 0 60000 65536"/>
              <a:gd name="T8" fmla="*/ 0 60000 65536"/>
              <a:gd name="T9" fmla="*/ 0 w 920"/>
              <a:gd name="T10" fmla="*/ 0 h 320"/>
              <a:gd name="T11" fmla="*/ 920 w 920"/>
              <a:gd name="T12" fmla="*/ 320 h 320"/>
            </a:gdLst>
            <a:ahLst/>
            <a:cxnLst>
              <a:cxn ang="T6">
                <a:pos x="T0" y="T1"/>
              </a:cxn>
              <a:cxn ang="T7">
                <a:pos x="T2" y="T3"/>
              </a:cxn>
              <a:cxn ang="T8">
                <a:pos x="T4" y="T5"/>
              </a:cxn>
            </a:cxnLst>
            <a:rect l="T9" t="T10" r="T11" b="T12"/>
            <a:pathLst>
              <a:path w="920" h="320">
                <a:moveTo>
                  <a:pt x="0" y="0"/>
                </a:moveTo>
                <a:cubicBezTo>
                  <a:pt x="23" y="97"/>
                  <a:pt x="47" y="195"/>
                  <a:pt x="200" y="248"/>
                </a:cubicBezTo>
                <a:cubicBezTo>
                  <a:pt x="353" y="301"/>
                  <a:pt x="636" y="310"/>
                  <a:pt x="920" y="32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15191" name="Freeform 23"/>
          <p:cNvSpPr>
            <a:spLocks/>
          </p:cNvSpPr>
          <p:nvPr/>
        </p:nvSpPr>
        <p:spPr bwMode="auto">
          <a:xfrm>
            <a:off x="5829300" y="1790700"/>
            <a:ext cx="1638300" cy="1409700"/>
          </a:xfrm>
          <a:custGeom>
            <a:avLst/>
            <a:gdLst>
              <a:gd name="T0" fmla="*/ 0 w 1032"/>
              <a:gd name="T1" fmla="*/ 2147483647 h 888"/>
              <a:gd name="T2" fmla="*/ 2147483647 w 1032"/>
              <a:gd name="T3" fmla="*/ 2147483647 h 888"/>
              <a:gd name="T4" fmla="*/ 2147483647 w 1032"/>
              <a:gd name="T5" fmla="*/ 2147483647 h 888"/>
              <a:gd name="T6" fmla="*/ 2147483647 w 1032"/>
              <a:gd name="T7" fmla="*/ 0 h 888"/>
              <a:gd name="T8" fmla="*/ 0 60000 65536"/>
              <a:gd name="T9" fmla="*/ 0 60000 65536"/>
              <a:gd name="T10" fmla="*/ 0 60000 65536"/>
              <a:gd name="T11" fmla="*/ 0 60000 65536"/>
              <a:gd name="T12" fmla="*/ 0 w 1032"/>
              <a:gd name="T13" fmla="*/ 0 h 888"/>
              <a:gd name="T14" fmla="*/ 1032 w 1032"/>
              <a:gd name="T15" fmla="*/ 888 h 888"/>
            </a:gdLst>
            <a:ahLst/>
            <a:cxnLst>
              <a:cxn ang="T8">
                <a:pos x="T0" y="T1"/>
              </a:cxn>
              <a:cxn ang="T9">
                <a:pos x="T2" y="T3"/>
              </a:cxn>
              <a:cxn ang="T10">
                <a:pos x="T4" y="T5"/>
              </a:cxn>
              <a:cxn ang="T11">
                <a:pos x="T6" y="T7"/>
              </a:cxn>
            </a:cxnLst>
            <a:rect l="T12" t="T13" r="T14" b="T15"/>
            <a:pathLst>
              <a:path w="1032" h="888">
                <a:moveTo>
                  <a:pt x="0" y="888"/>
                </a:moveTo>
                <a:cubicBezTo>
                  <a:pt x="162" y="874"/>
                  <a:pt x="325" y="861"/>
                  <a:pt x="408" y="768"/>
                </a:cubicBezTo>
                <a:cubicBezTo>
                  <a:pt x="491" y="675"/>
                  <a:pt x="392" y="456"/>
                  <a:pt x="496" y="328"/>
                </a:cubicBezTo>
                <a:cubicBezTo>
                  <a:pt x="600" y="200"/>
                  <a:pt x="816" y="100"/>
                  <a:pt x="1032" y="0"/>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15192" name="Freeform 24"/>
          <p:cNvSpPr>
            <a:spLocks/>
          </p:cNvSpPr>
          <p:nvPr/>
        </p:nvSpPr>
        <p:spPr bwMode="auto">
          <a:xfrm flipV="1">
            <a:off x="5834063" y="2392363"/>
            <a:ext cx="1557337" cy="566737"/>
          </a:xfrm>
          <a:custGeom>
            <a:avLst/>
            <a:gdLst>
              <a:gd name="T0" fmla="*/ 2147483647 w 997"/>
              <a:gd name="T1" fmla="*/ 2147483647 h 379"/>
              <a:gd name="T2" fmla="*/ 2147483647 w 997"/>
              <a:gd name="T3" fmla="*/ 2147483647 h 379"/>
              <a:gd name="T4" fmla="*/ 2147483647 w 997"/>
              <a:gd name="T5" fmla="*/ 2147483647 h 379"/>
              <a:gd name="T6" fmla="*/ 2147483647 w 997"/>
              <a:gd name="T7" fmla="*/ 2147483647 h 379"/>
              <a:gd name="T8" fmla="*/ 2147483647 w 997"/>
              <a:gd name="T9" fmla="*/ 2147483647 h 379"/>
              <a:gd name="T10" fmla="*/ 0 60000 65536"/>
              <a:gd name="T11" fmla="*/ 0 60000 65536"/>
              <a:gd name="T12" fmla="*/ 0 60000 65536"/>
              <a:gd name="T13" fmla="*/ 0 60000 65536"/>
              <a:gd name="T14" fmla="*/ 0 60000 65536"/>
              <a:gd name="T15" fmla="*/ 0 w 997"/>
              <a:gd name="T16" fmla="*/ 0 h 379"/>
              <a:gd name="T17" fmla="*/ 997 w 997"/>
              <a:gd name="T18" fmla="*/ 379 h 379"/>
            </a:gdLst>
            <a:ahLst/>
            <a:cxnLst>
              <a:cxn ang="T10">
                <a:pos x="T0" y="T1"/>
              </a:cxn>
              <a:cxn ang="T11">
                <a:pos x="T2" y="T3"/>
              </a:cxn>
              <a:cxn ang="T12">
                <a:pos x="T4" y="T5"/>
              </a:cxn>
              <a:cxn ang="T13">
                <a:pos x="T6" y="T7"/>
              </a:cxn>
              <a:cxn ang="T14">
                <a:pos x="T8" y="T9"/>
              </a:cxn>
            </a:cxnLst>
            <a:rect l="T15" t="T16" r="T17" b="T18"/>
            <a:pathLst>
              <a:path w="997" h="379">
                <a:moveTo>
                  <a:pt x="13" y="360"/>
                </a:moveTo>
                <a:cubicBezTo>
                  <a:pt x="6" y="369"/>
                  <a:pt x="0" y="379"/>
                  <a:pt x="69" y="360"/>
                </a:cubicBezTo>
                <a:cubicBezTo>
                  <a:pt x="138" y="341"/>
                  <a:pt x="346" y="301"/>
                  <a:pt x="429" y="248"/>
                </a:cubicBezTo>
                <a:cubicBezTo>
                  <a:pt x="512" y="195"/>
                  <a:pt x="470" y="80"/>
                  <a:pt x="565" y="40"/>
                </a:cubicBezTo>
                <a:cubicBezTo>
                  <a:pt x="660" y="0"/>
                  <a:pt x="921" y="13"/>
                  <a:pt x="997" y="8"/>
                </a:cubicBezTo>
              </a:path>
            </a:pathLst>
          </a:custGeom>
          <a:noFill/>
          <a:ln w="76200">
            <a:solidFill>
              <a:schemeClr val="tx1"/>
            </a:solidFill>
            <a:round/>
            <a:headEnd/>
            <a:tailEnd type="triangle" w="med" len="med"/>
          </a:ln>
        </p:spPr>
        <p:txBody>
          <a:bodyPr>
            <a:spAutoFit/>
          </a:bodyPr>
          <a:lstStyle/>
          <a:p>
            <a:pPr algn="l"/>
            <a:endParaRPr lang="en-US" b="1">
              <a:latin typeface="Arial" pitchFamily="34" charset="0"/>
            </a:endParaRPr>
          </a:p>
        </p:txBody>
      </p:sp>
      <p:sp>
        <p:nvSpPr>
          <p:cNvPr id="143381" name="Text Box 25"/>
          <p:cNvSpPr txBox="1">
            <a:spLocks noChangeArrowheads="1"/>
          </p:cNvSpPr>
          <p:nvPr/>
        </p:nvSpPr>
        <p:spPr bwMode="auto">
          <a:xfrm>
            <a:off x="884420" y="1663700"/>
            <a:ext cx="3807501" cy="1077218"/>
          </a:xfrm>
          <a:prstGeom prst="rect">
            <a:avLst/>
          </a:prstGeom>
          <a:solidFill>
            <a:srgbClr val="FFFFCC">
              <a:alpha val="79999"/>
            </a:srgbClr>
          </a:solidFill>
          <a:ln w="38100" algn="ctr">
            <a:noFill/>
            <a:miter lim="800000"/>
            <a:headEnd/>
            <a:tailEnd/>
          </a:ln>
        </p:spPr>
        <p:txBody>
          <a:bodyPr wrap="square">
            <a:spAutoFit/>
          </a:bodyPr>
          <a:lstStyle/>
          <a:p>
            <a:pPr algn="l"/>
            <a:r>
              <a:rPr lang="en-US" sz="3200" b="1" dirty="0">
                <a:solidFill>
                  <a:srgbClr val="FF0000"/>
                </a:solidFill>
                <a:latin typeface="Arial" pitchFamily="34" charset="0"/>
              </a:rPr>
              <a:t>If I lose CAS, thief must have won…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5191"/>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41519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151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15192"/>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141518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87" grpId="0" animBg="1"/>
      <p:bldP spid="1415188" grpId="0" animBg="1"/>
      <p:bldP spid="1415190" grpId="0" animBg="1"/>
      <p:bldP spid="1415191" grpId="0" animBg="1"/>
      <p:bldP spid="1415192"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Footer Placeholder 1"/>
          <p:cNvSpPr>
            <a:spLocks noGrp="1"/>
          </p:cNvSpPr>
          <p:nvPr>
            <p:ph type="ftr" sz="quarter" idx="10"/>
          </p:nvPr>
        </p:nvSpPr>
        <p:spPr>
          <a:noFill/>
        </p:spPr>
        <p:txBody>
          <a:bodyPr/>
          <a:lstStyle/>
          <a:p>
            <a:r>
              <a:rPr lang="en-US"/>
              <a:t>Art of Multiprocessor Programming</a:t>
            </a:r>
          </a:p>
        </p:txBody>
      </p:sp>
      <p:sp>
        <p:nvSpPr>
          <p:cNvPr id="144387" name="Slide Number Placeholder 2"/>
          <p:cNvSpPr>
            <a:spLocks noGrp="1"/>
          </p:cNvSpPr>
          <p:nvPr>
            <p:ph type="sldNum" sz="quarter" idx="11"/>
          </p:nvPr>
        </p:nvSpPr>
        <p:spPr>
          <a:noFill/>
        </p:spPr>
        <p:txBody>
          <a:bodyPr/>
          <a:lstStyle/>
          <a:p>
            <a:fld id="{D51F46CA-902D-466F-B4FD-CE47E16F0681}" type="slidenum">
              <a:rPr lang="x-none" smtClean="0"/>
              <a:pPr/>
              <a:t>134</a:t>
            </a:fld>
            <a:endParaRPr lang="en-US"/>
          </a:p>
        </p:txBody>
      </p:sp>
      <p:sp>
        <p:nvSpPr>
          <p:cNvPr id="8"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B7A542BF-BE94-4A73-B28D-87DA913A9B68}" type="slidenum">
              <a:rPr lang="x-none" sz="1400">
                <a:solidFill>
                  <a:schemeClr val="tx1"/>
                </a:solidFill>
                <a:latin typeface="Arial" pitchFamily="34" charset="0"/>
                <a:cs typeface="Arial" pitchFamily="34" charset="0"/>
              </a:rPr>
              <a:pPr>
                <a:defRPr/>
              </a:pPr>
              <a:t>134</a:t>
            </a:fld>
            <a:endParaRPr lang="en-US" sz="1400" dirty="0">
              <a:solidFill>
                <a:schemeClr val="tx1"/>
              </a:solidFill>
              <a:latin typeface="Arial" pitchFamily="34" charset="0"/>
              <a:cs typeface="Arial" pitchFamily="34" charset="0"/>
            </a:endParaRPr>
          </a:p>
        </p:txBody>
      </p:sp>
      <p:sp>
        <p:nvSpPr>
          <p:cNvPr id="144389" name="Rectangle 2"/>
          <p:cNvSpPr>
            <a:spLocks noChangeArrowheads="1"/>
          </p:cNvSpPr>
          <p:nvPr/>
        </p:nvSpPr>
        <p:spPr bwMode="auto">
          <a:xfrm>
            <a:off x="850900" y="1562100"/>
            <a:ext cx="7620000" cy="49895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popBottom</a:t>
            </a: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if (bottom == 0) return null;</a:t>
            </a:r>
          </a:p>
          <a:p>
            <a:pPr marL="342900" indent="-342900" algn="l">
              <a:spcBef>
                <a:spcPct val="20000"/>
              </a:spcBef>
            </a:pPr>
            <a:r>
              <a:rPr lang="en-US" sz="1800" b="1" dirty="0">
                <a:solidFill>
                  <a:schemeClr val="folHlink"/>
                </a:solidFill>
                <a:latin typeface="Courier New" pitchFamily="49" charset="0"/>
              </a:rPr>
              <a:t> bottom--;</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r = tasks[bottom];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stamp = new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[1];</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top.get</a:t>
            </a:r>
            <a:r>
              <a:rPr lang="en-US" sz="1800" b="1" dirty="0">
                <a:solidFill>
                  <a:schemeClr val="folHlink"/>
                </a:solidFill>
                <a:latin typeface="Courier New" pitchFamily="49" charset="0"/>
              </a:rPr>
              <a:t>(stamp),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 0;</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stamp[0],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+ 1;</a:t>
            </a:r>
          </a:p>
          <a:p>
            <a:pPr marL="342900" indent="-342900" algn="l">
              <a:spcBef>
                <a:spcPct val="20000"/>
              </a:spcBef>
            </a:pPr>
            <a:r>
              <a:rPr lang="en-US" sz="1800" b="1" dirty="0">
                <a:solidFill>
                  <a:schemeClr val="folHlink"/>
                </a:solidFill>
                <a:latin typeface="Courier New" pitchFamily="49" charset="0"/>
              </a:rPr>
              <a:t> if (bottom &gt;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if (bottom == </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bottom = 0; </a:t>
            </a:r>
          </a:p>
          <a:p>
            <a:pPr marL="342900" indent="-342900" algn="l">
              <a:spcBef>
                <a:spcPct val="20000"/>
              </a:spcBef>
            </a:pPr>
            <a:r>
              <a:rPr lang="en-US" sz="1800" b="1" dirty="0">
                <a:solidFill>
                  <a:schemeClr val="folHlink"/>
                </a:solidFill>
                <a:latin typeface="Courier New" pitchFamily="49" charset="0"/>
              </a:rPr>
              <a:t>   if (top.CAS(</a:t>
            </a:r>
            <a:r>
              <a:rPr lang="en-US" sz="1800" b="1" dirty="0" err="1">
                <a:solidFill>
                  <a:schemeClr val="folHlink"/>
                </a:solidFill>
                <a:latin typeface="Courier New" pitchFamily="49" charset="0"/>
              </a:rPr>
              <a:t>oldTop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newTop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oldStamp</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newStamp</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return r;</a:t>
            </a:r>
          </a:p>
          <a:p>
            <a:pPr marL="342900" indent="-342900" algn="l">
              <a:spcBef>
                <a:spcPct val="20000"/>
              </a:spcBef>
            </a:pPr>
            <a:r>
              <a:rPr lang="en-US" sz="1800" b="1" dirty="0">
                <a:solidFill>
                  <a:schemeClr val="folHlink"/>
                </a:solidFill>
                <a:latin typeface="Courier New" pitchFamily="49" charset="0"/>
              </a:rPr>
              <a:t>   }</a:t>
            </a:r>
          </a:p>
          <a:p>
            <a:pPr marL="342900" indent="-342900" algn="l">
              <a:spcBef>
                <a:spcPct val="20000"/>
              </a:spcBef>
            </a:pPr>
            <a:r>
              <a:rPr lang="en-US" sz="1800" b="1" dirty="0">
                <a:solidFill>
                  <a:schemeClr val="folHlink"/>
                </a:solidFill>
                <a:latin typeface="Courier New" pitchFamily="49" charset="0"/>
              </a:rPr>
              <a:t> </a:t>
            </a:r>
            <a:r>
              <a:rPr lang="en-US" sz="1800" b="1" dirty="0" err="1">
                <a:latin typeface="Courier New" pitchFamily="49" charset="0"/>
              </a:rPr>
              <a:t>top.set</a:t>
            </a:r>
            <a:r>
              <a:rPr lang="en-US" sz="1800" b="1" dirty="0">
                <a:latin typeface="Courier New" pitchFamily="49" charset="0"/>
              </a:rPr>
              <a:t>(</a:t>
            </a:r>
            <a:r>
              <a:rPr lang="en-US" sz="1800" b="1" dirty="0" err="1">
                <a:latin typeface="Courier New" pitchFamily="49" charset="0"/>
              </a:rPr>
              <a:t>newTop,newStamp</a:t>
            </a:r>
            <a:r>
              <a:rPr lang="en-US" sz="1800" b="1" dirty="0">
                <a:latin typeface="Courier New" pitchFamily="49" charset="0"/>
              </a:rPr>
              <a:t>); </a:t>
            </a:r>
            <a:r>
              <a:rPr lang="en-US" sz="1800" b="1" dirty="0">
                <a:solidFill>
                  <a:schemeClr val="tx1"/>
                </a:solidFill>
                <a:latin typeface="Courier New" pitchFamily="49" charset="0"/>
              </a:rPr>
              <a:t>return null</a:t>
            </a:r>
            <a:r>
              <a:rPr lang="en-US" sz="1800" b="1" dirty="0">
                <a:solidFill>
                  <a:srgbClr val="3333FF"/>
                </a:solidFill>
                <a:latin typeface="Courier New" pitchFamily="49" charset="0"/>
              </a:rPr>
              <a:t>;</a:t>
            </a:r>
          </a:p>
          <a:p>
            <a:pPr marL="342900" indent="-342900" algn="l">
              <a:spcBef>
                <a:spcPct val="20000"/>
              </a:spcBef>
            </a:pPr>
            <a:r>
              <a:rPr lang="en-US" sz="1800" b="1" dirty="0">
                <a:latin typeface="Courier New" pitchFamily="49" charset="0"/>
              </a:rPr>
              <a:t> bottom = 0;}</a:t>
            </a:r>
          </a:p>
        </p:txBody>
      </p:sp>
      <p:sp>
        <p:nvSpPr>
          <p:cNvPr id="144390" name="Rectangle 3"/>
          <p:cNvSpPr>
            <a:spLocks noGrp="1" noChangeArrowheads="1"/>
          </p:cNvSpPr>
          <p:nvPr>
            <p:ph type="title" idx="4294967295"/>
          </p:nvPr>
        </p:nvSpPr>
        <p:spPr/>
        <p:txBody>
          <a:bodyPr/>
          <a:lstStyle/>
          <a:p>
            <a:r>
              <a:rPr lang="en-US" dirty="0"/>
              <a:t>Take Work</a:t>
            </a:r>
          </a:p>
        </p:txBody>
      </p:sp>
      <p:sp>
        <p:nvSpPr>
          <p:cNvPr id="144391" name="AutoShape 4"/>
          <p:cNvSpPr>
            <a:spLocks noChangeArrowheads="1"/>
          </p:cNvSpPr>
          <p:nvPr/>
        </p:nvSpPr>
        <p:spPr bwMode="auto">
          <a:xfrm>
            <a:off x="939800" y="5791200"/>
            <a:ext cx="5562600" cy="768626"/>
          </a:xfrm>
          <a:prstGeom prst="wedgeRoundRectCallout">
            <a:avLst>
              <a:gd name="adj1" fmla="val 9650"/>
              <a:gd name="adj2" fmla="val -307879"/>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4392" name="Text Box 5"/>
          <p:cNvSpPr txBox="1">
            <a:spLocks noChangeArrowheads="1"/>
          </p:cNvSpPr>
          <p:nvPr/>
        </p:nvSpPr>
        <p:spPr bwMode="auto">
          <a:xfrm>
            <a:off x="974035" y="1557137"/>
            <a:ext cx="7886833" cy="1569660"/>
          </a:xfrm>
          <a:prstGeom prst="rect">
            <a:avLst/>
          </a:prstGeom>
          <a:solidFill>
            <a:srgbClr val="FFFFCC">
              <a:alpha val="79999"/>
            </a:srgbClr>
          </a:solidFill>
          <a:ln w="38100" algn="ctr">
            <a:noFill/>
            <a:miter lim="800000"/>
            <a:headEnd/>
            <a:tailEnd/>
          </a:ln>
        </p:spPr>
        <p:txBody>
          <a:bodyPr wrap="square">
            <a:spAutoFit/>
          </a:bodyPr>
          <a:lstStyle/>
          <a:p>
            <a:pPr algn="l"/>
            <a:r>
              <a:rPr lang="en-US" sz="3200" b="1" dirty="0">
                <a:solidFill>
                  <a:srgbClr val="FF0000"/>
                </a:solidFill>
                <a:latin typeface="Arial" pitchFamily="34" charset="0"/>
              </a:rPr>
              <a:t>Failed to get last task</a:t>
            </a:r>
          </a:p>
          <a:p>
            <a:pPr algn="l"/>
            <a:r>
              <a:rPr lang="en-US" sz="3200" b="1" dirty="0">
                <a:solidFill>
                  <a:srgbClr val="FF0000"/>
                </a:solidFill>
                <a:latin typeface="Arial" pitchFamily="34" charset="0"/>
              </a:rPr>
              <a:t>(bottom could be less than top)</a:t>
            </a:r>
          </a:p>
          <a:p>
            <a:pPr algn="l"/>
            <a:r>
              <a:rPr lang="en-US" sz="3200" b="1" dirty="0">
                <a:solidFill>
                  <a:srgbClr val="FF0000"/>
                </a:solidFill>
                <a:latin typeface="Arial" pitchFamily="34" charset="0"/>
              </a:rPr>
              <a:t> </a:t>
            </a:r>
          </a:p>
        </p:txBody>
      </p:sp>
      <p:sp>
        <p:nvSpPr>
          <p:cNvPr id="144393" name="Text Box 7"/>
          <p:cNvSpPr txBox="1">
            <a:spLocks noChangeArrowheads="1"/>
          </p:cNvSpPr>
          <p:nvPr/>
        </p:nvSpPr>
        <p:spPr bwMode="auto">
          <a:xfrm>
            <a:off x="1709360" y="2653099"/>
            <a:ext cx="6674983" cy="1077218"/>
          </a:xfrm>
          <a:prstGeom prst="rect">
            <a:avLst/>
          </a:prstGeom>
          <a:solidFill>
            <a:srgbClr val="FFFFCC">
              <a:alpha val="90000"/>
            </a:srgbClr>
          </a:solidFill>
          <a:ln w="9525" algn="ctr">
            <a:noFill/>
            <a:miter lim="800000"/>
            <a:headEnd/>
            <a:tailEnd/>
          </a:ln>
        </p:spPr>
        <p:txBody>
          <a:bodyPr wrap="square">
            <a:spAutoFit/>
          </a:bodyPr>
          <a:lstStyle/>
          <a:p>
            <a:pPr algn="l">
              <a:spcBef>
                <a:spcPct val="20000"/>
              </a:spcBef>
            </a:pPr>
            <a:r>
              <a:rPr lang="en-US" sz="3200" b="1" dirty="0">
                <a:solidFill>
                  <a:srgbClr val="FF0000"/>
                </a:solidFill>
                <a:latin typeface="Arial" pitchFamily="34" charset="0"/>
              </a:rPr>
              <a:t>Must still reset top and bottom since </a:t>
            </a:r>
            <a:r>
              <a:rPr lang="en-US" sz="3200" b="1" dirty="0" err="1">
                <a:solidFill>
                  <a:srgbClr val="FF0000"/>
                </a:solidFill>
                <a:latin typeface="Arial" pitchFamily="34" charset="0"/>
              </a:rPr>
              <a:t>deque</a:t>
            </a:r>
            <a:r>
              <a:rPr lang="en-US" sz="3200" b="1" dirty="0">
                <a:solidFill>
                  <a:srgbClr val="FF0000"/>
                </a:solidFill>
                <a:latin typeface="Arial" pitchFamily="34" charset="0"/>
              </a:rPr>
              <a:t> is empty</a:t>
            </a:r>
            <a:endParaRPr lang="en-US" sz="3200" b="1" dirty="0">
              <a:latin typeface="Arial" pitchFamily="34" charset="0"/>
            </a:endParaRP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1"/>
          <p:cNvSpPr>
            <a:spLocks noGrp="1"/>
          </p:cNvSpPr>
          <p:nvPr>
            <p:ph type="ftr" sz="quarter" idx="10"/>
          </p:nvPr>
        </p:nvSpPr>
        <p:spPr>
          <a:noFill/>
        </p:spPr>
        <p:txBody>
          <a:bodyPr/>
          <a:lstStyle/>
          <a:p>
            <a:r>
              <a:rPr lang="en-US"/>
              <a:t>Art of Multiprocessor Programming</a:t>
            </a:r>
          </a:p>
        </p:txBody>
      </p:sp>
      <p:sp>
        <p:nvSpPr>
          <p:cNvPr id="145411" name="Slide Number Placeholder 2"/>
          <p:cNvSpPr>
            <a:spLocks noGrp="1"/>
          </p:cNvSpPr>
          <p:nvPr>
            <p:ph type="sldNum" sz="quarter" idx="11"/>
          </p:nvPr>
        </p:nvSpPr>
        <p:spPr>
          <a:noFill/>
        </p:spPr>
        <p:txBody>
          <a:bodyPr/>
          <a:lstStyle/>
          <a:p>
            <a:fld id="{52276366-1D53-4118-ABF5-C2A7D431A85E}" type="slidenum">
              <a:rPr lang="x-none" smtClean="0"/>
              <a:pPr/>
              <a:t>135</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AEC7BD2-9F2E-4D88-9224-FA6B7DC543AC}" type="slidenum">
              <a:rPr lang="x-none" sz="1400">
                <a:solidFill>
                  <a:schemeClr val="tx1"/>
                </a:solidFill>
                <a:latin typeface="Arial" pitchFamily="34" charset="0"/>
                <a:cs typeface="Arial" pitchFamily="34" charset="0"/>
              </a:rPr>
              <a:pPr>
                <a:defRPr/>
              </a:pPr>
              <a:t>135</a:t>
            </a:fld>
            <a:endParaRPr lang="en-US" sz="1400" dirty="0">
              <a:solidFill>
                <a:schemeClr val="tx1"/>
              </a:solidFill>
              <a:latin typeface="Arial" pitchFamily="34" charset="0"/>
              <a:cs typeface="Arial" pitchFamily="34" charset="0"/>
            </a:endParaRPr>
          </a:p>
        </p:txBody>
      </p:sp>
      <p:sp>
        <p:nvSpPr>
          <p:cNvPr id="145413" name="Rectangle 2"/>
          <p:cNvSpPr>
            <a:spLocks noGrp="1" noChangeArrowheads="1"/>
          </p:cNvSpPr>
          <p:nvPr>
            <p:ph type="title" idx="4294967295"/>
          </p:nvPr>
        </p:nvSpPr>
        <p:spPr/>
        <p:txBody>
          <a:bodyPr/>
          <a:lstStyle/>
          <a:p>
            <a:r>
              <a:rPr lang="en-US"/>
              <a:t>Old English Proverb</a:t>
            </a:r>
          </a:p>
        </p:txBody>
      </p:sp>
      <p:sp>
        <p:nvSpPr>
          <p:cNvPr id="145414" name="Rectangle 3"/>
          <p:cNvSpPr>
            <a:spLocks noGrp="1" noChangeArrowheads="1"/>
          </p:cNvSpPr>
          <p:nvPr>
            <p:ph type="body" idx="4294967295"/>
          </p:nvPr>
        </p:nvSpPr>
        <p:spPr/>
        <p:txBody>
          <a:bodyPr/>
          <a:lstStyle/>
          <a:p>
            <a:r>
              <a:rPr lang="en-US" dirty="0"/>
              <a:t>“May as well be hanged for stealing a sheep as a goat”</a:t>
            </a:r>
          </a:p>
          <a:p>
            <a:r>
              <a:rPr lang="en-US" dirty="0"/>
              <a:t>From which we conclude:</a:t>
            </a:r>
          </a:p>
          <a:p>
            <a:pPr lvl="1"/>
            <a:r>
              <a:rPr lang="en-US" dirty="0"/>
              <a:t>Stealing was punished severely</a:t>
            </a:r>
          </a:p>
          <a:p>
            <a:pPr lvl="1"/>
            <a:r>
              <a:rPr lang="en-US" dirty="0"/>
              <a:t>Sheep were worth more than goats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5414">
                                            <p:txEl>
                                              <p:pRg st="1" end="1"/>
                                            </p:txEl>
                                          </p:spTgt>
                                        </p:tgtEl>
                                        <p:attrNameLst>
                                          <p:attrName>style.visibility</p:attrName>
                                        </p:attrNameLst>
                                      </p:cBhvr>
                                      <p:to>
                                        <p:strVal val="visible"/>
                                      </p:to>
                                    </p:set>
                                    <p:animEffect transition="in" filter="blinds(horizontal)">
                                      <p:cBhvr>
                                        <p:cTn id="7" dur="500"/>
                                        <p:tgtEl>
                                          <p:spTgt spid="145414">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45414">
                                            <p:txEl>
                                              <p:pRg st="2" end="2"/>
                                            </p:txEl>
                                          </p:spTgt>
                                        </p:tgtEl>
                                        <p:attrNameLst>
                                          <p:attrName>style.visibility</p:attrName>
                                        </p:attrNameLst>
                                      </p:cBhvr>
                                      <p:to>
                                        <p:strVal val="visible"/>
                                      </p:to>
                                    </p:set>
                                    <p:animEffect transition="in" filter="blinds(horizontal)">
                                      <p:cBhvr>
                                        <p:cTn id="11" dur="500"/>
                                        <p:tgtEl>
                                          <p:spTgt spid="145414">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45414">
                                            <p:txEl>
                                              <p:pRg st="3" end="3"/>
                                            </p:txEl>
                                          </p:spTgt>
                                        </p:tgtEl>
                                        <p:attrNameLst>
                                          <p:attrName>style.visibility</p:attrName>
                                        </p:attrNameLst>
                                      </p:cBhvr>
                                      <p:to>
                                        <p:strVal val="visible"/>
                                      </p:to>
                                    </p:set>
                                    <p:animEffect transition="in" filter="blinds(horizontal)">
                                      <p:cBhvr>
                                        <p:cTn id="15" dur="500"/>
                                        <p:tgtEl>
                                          <p:spTgt spid="1454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Footer Placeholder 1"/>
          <p:cNvSpPr>
            <a:spLocks noGrp="1"/>
          </p:cNvSpPr>
          <p:nvPr>
            <p:ph type="ftr" sz="quarter" idx="10"/>
          </p:nvPr>
        </p:nvSpPr>
        <p:spPr>
          <a:noFill/>
        </p:spPr>
        <p:txBody>
          <a:bodyPr/>
          <a:lstStyle/>
          <a:p>
            <a:r>
              <a:rPr lang="en-US"/>
              <a:t>Art of Multiprocessor Programming</a:t>
            </a:r>
          </a:p>
        </p:txBody>
      </p:sp>
      <p:sp>
        <p:nvSpPr>
          <p:cNvPr id="146435" name="Slide Number Placeholder 2"/>
          <p:cNvSpPr>
            <a:spLocks noGrp="1"/>
          </p:cNvSpPr>
          <p:nvPr>
            <p:ph type="sldNum" sz="quarter" idx="11"/>
          </p:nvPr>
        </p:nvSpPr>
        <p:spPr>
          <a:noFill/>
        </p:spPr>
        <p:txBody>
          <a:bodyPr/>
          <a:lstStyle/>
          <a:p>
            <a:fld id="{3472EC1D-F345-4B89-B88F-46EF4E9EE9F7}" type="slidenum">
              <a:rPr lang="x-none" smtClean="0"/>
              <a:pPr/>
              <a:t>136</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6A5BB6C-8FCD-4473-B58F-22AFC7C061A8}" type="slidenum">
              <a:rPr lang="x-none" sz="1400">
                <a:solidFill>
                  <a:schemeClr val="tx1"/>
                </a:solidFill>
                <a:latin typeface="Arial" pitchFamily="34" charset="0"/>
                <a:cs typeface="Arial" pitchFamily="34" charset="0"/>
              </a:rPr>
              <a:pPr>
                <a:defRPr/>
              </a:pPr>
              <a:t>136</a:t>
            </a:fld>
            <a:endParaRPr lang="en-US" sz="1400" dirty="0">
              <a:solidFill>
                <a:schemeClr val="tx1"/>
              </a:solidFill>
              <a:latin typeface="Arial" pitchFamily="34" charset="0"/>
              <a:cs typeface="Arial" pitchFamily="34" charset="0"/>
            </a:endParaRPr>
          </a:p>
        </p:txBody>
      </p:sp>
      <p:sp>
        <p:nvSpPr>
          <p:cNvPr id="146437" name="Rectangle 2"/>
          <p:cNvSpPr>
            <a:spLocks noGrp="1" noChangeArrowheads="1"/>
          </p:cNvSpPr>
          <p:nvPr>
            <p:ph type="title" idx="4294967295"/>
          </p:nvPr>
        </p:nvSpPr>
        <p:spPr/>
        <p:txBody>
          <a:bodyPr/>
          <a:lstStyle/>
          <a:p>
            <a:r>
              <a:rPr lang="en-US"/>
              <a:t>Variations</a:t>
            </a:r>
          </a:p>
        </p:txBody>
      </p:sp>
      <p:sp>
        <p:nvSpPr>
          <p:cNvPr id="146438" name="Rectangle 3"/>
          <p:cNvSpPr>
            <a:spLocks noGrp="1" noChangeArrowheads="1"/>
          </p:cNvSpPr>
          <p:nvPr>
            <p:ph type="body" idx="4294967295"/>
          </p:nvPr>
        </p:nvSpPr>
        <p:spPr/>
        <p:txBody>
          <a:bodyPr/>
          <a:lstStyle/>
          <a:p>
            <a:r>
              <a:rPr lang="en-US"/>
              <a:t>Stealing is expensive</a:t>
            </a:r>
          </a:p>
          <a:p>
            <a:pPr lvl="1"/>
            <a:r>
              <a:rPr lang="en-US"/>
              <a:t>Pay CAS</a:t>
            </a:r>
          </a:p>
          <a:p>
            <a:pPr lvl="1"/>
            <a:r>
              <a:rPr lang="en-US"/>
              <a:t>Only one task taken</a:t>
            </a:r>
          </a:p>
          <a:p>
            <a:r>
              <a:rPr lang="en-US"/>
              <a:t>What if</a:t>
            </a:r>
          </a:p>
          <a:p>
            <a:pPr lvl="1"/>
            <a:r>
              <a:rPr lang="en-US"/>
              <a:t>Move more than one task</a:t>
            </a:r>
          </a:p>
          <a:p>
            <a:pPr lvl="1"/>
            <a:r>
              <a:rPr lang="en-US"/>
              <a:t>Randomly </a:t>
            </a:r>
            <a:r>
              <a:rPr lang="en-US">
                <a:solidFill>
                  <a:schemeClr val="tx1"/>
                </a:solidFill>
              </a:rPr>
              <a:t>balance</a:t>
            </a:r>
            <a:r>
              <a:rPr lang="en-US"/>
              <a:t> loads?</a:t>
            </a:r>
          </a:p>
          <a:p>
            <a:pPr lvl="1">
              <a:buFontTx/>
              <a:buNone/>
            </a:pPr>
            <a:endParaRPr lang="en-US"/>
          </a:p>
        </p:txBody>
      </p: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Footer Placeholder 1"/>
          <p:cNvSpPr>
            <a:spLocks noGrp="1"/>
          </p:cNvSpPr>
          <p:nvPr>
            <p:ph type="ftr" sz="quarter" idx="10"/>
          </p:nvPr>
        </p:nvSpPr>
        <p:spPr>
          <a:noFill/>
        </p:spPr>
        <p:txBody>
          <a:bodyPr/>
          <a:lstStyle/>
          <a:p>
            <a:r>
              <a:rPr lang="en-US"/>
              <a:t>Art of Multiprocessor Programming</a:t>
            </a:r>
          </a:p>
        </p:txBody>
      </p:sp>
      <p:sp>
        <p:nvSpPr>
          <p:cNvPr id="147459" name="Slide Number Placeholder 2"/>
          <p:cNvSpPr>
            <a:spLocks noGrp="1"/>
          </p:cNvSpPr>
          <p:nvPr>
            <p:ph type="sldNum" sz="quarter" idx="11"/>
          </p:nvPr>
        </p:nvSpPr>
        <p:spPr>
          <a:noFill/>
        </p:spPr>
        <p:txBody>
          <a:bodyPr/>
          <a:lstStyle/>
          <a:p>
            <a:fld id="{7D8312C9-90E3-4A66-814D-D930FC39CB97}" type="slidenum">
              <a:rPr lang="x-none" smtClean="0"/>
              <a:pPr/>
              <a:t>137</a:t>
            </a:fld>
            <a:endParaRPr lang="en-US"/>
          </a:p>
        </p:txBody>
      </p:sp>
      <p:sp>
        <p:nvSpPr>
          <p:cNvPr id="100"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79FF0D4-5446-42E5-9553-5CD38DBD6E8B}" type="slidenum">
              <a:rPr lang="x-none" sz="1400">
                <a:solidFill>
                  <a:schemeClr val="tx1"/>
                </a:solidFill>
                <a:latin typeface="Arial" pitchFamily="34" charset="0"/>
                <a:cs typeface="Arial" pitchFamily="34" charset="0"/>
              </a:rPr>
              <a:pPr>
                <a:defRPr/>
              </a:pPr>
              <a:t>137</a:t>
            </a:fld>
            <a:endParaRPr lang="en-US" sz="1400" dirty="0">
              <a:solidFill>
                <a:schemeClr val="tx1"/>
              </a:solidFill>
              <a:latin typeface="Arial" pitchFamily="34" charset="0"/>
              <a:cs typeface="Arial" pitchFamily="34" charset="0"/>
            </a:endParaRPr>
          </a:p>
        </p:txBody>
      </p:sp>
      <p:grpSp>
        <p:nvGrpSpPr>
          <p:cNvPr id="2" name="Group 2"/>
          <p:cNvGrpSpPr>
            <a:grpSpLocks/>
          </p:cNvGrpSpPr>
          <p:nvPr/>
        </p:nvGrpSpPr>
        <p:grpSpPr bwMode="auto">
          <a:xfrm flipH="1">
            <a:off x="5165725" y="2786063"/>
            <a:ext cx="1447800" cy="1295400"/>
            <a:chOff x="3168" y="1824"/>
            <a:chExt cx="912" cy="816"/>
          </a:xfrm>
        </p:grpSpPr>
        <p:sp>
          <p:nvSpPr>
            <p:cNvPr id="147549" name="Freeform 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50" name="Freeform 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51" name="Freeform 5"/>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52" name="Freeform 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147553" name="Freeform 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147554" name="Freeform 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sp>
          <p:nvSpPr>
            <p:cNvPr id="147555" name="Freeform 9"/>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56" name="Freeform 10"/>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57" name="Freeform 11"/>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grpSp>
        <p:nvGrpSpPr>
          <p:cNvPr id="3" name="Group 12"/>
          <p:cNvGrpSpPr>
            <a:grpSpLocks/>
          </p:cNvGrpSpPr>
          <p:nvPr/>
        </p:nvGrpSpPr>
        <p:grpSpPr bwMode="auto">
          <a:xfrm flipH="1">
            <a:off x="5178425" y="2811463"/>
            <a:ext cx="1447800" cy="1295400"/>
            <a:chOff x="3168" y="1824"/>
            <a:chExt cx="912" cy="816"/>
          </a:xfrm>
        </p:grpSpPr>
        <p:sp>
          <p:nvSpPr>
            <p:cNvPr id="147540" name="Freeform 1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41" name="Freeform 1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42" name="Freeform 15"/>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43" name="Freeform 1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147544" name="Freeform 1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147545" name="Freeform 1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tx1"/>
              </a:solidFill>
              <a:round/>
              <a:headEnd/>
              <a:tailEnd/>
            </a:ln>
          </p:spPr>
          <p:txBody>
            <a:bodyPr wrap="none" anchor="ctr"/>
            <a:lstStyle/>
            <a:p>
              <a:pPr algn="l"/>
              <a:endParaRPr lang="en-US" b="1">
                <a:latin typeface="Arial" pitchFamily="34" charset="0"/>
              </a:endParaRPr>
            </a:p>
          </p:txBody>
        </p:sp>
        <p:sp>
          <p:nvSpPr>
            <p:cNvPr id="147546" name="Freeform 19"/>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47" name="Freeform 20"/>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48" name="Freeform 21"/>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pic>
        <p:nvPicPr>
          <p:cNvPr id="147463" name="Picture 2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pic>
        <p:nvPicPr>
          <p:cNvPr id="147464" name="Picture 2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366040" name="AutoShape 24"/>
          <p:cNvSpPr>
            <a:spLocks noChangeArrowheads="1"/>
          </p:cNvSpPr>
          <p:nvPr/>
        </p:nvSpPr>
        <p:spPr bwMode="auto">
          <a:xfrm>
            <a:off x="3490913" y="1890713"/>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pPr algn="l"/>
            <a:endParaRPr lang="en-US" b="1">
              <a:latin typeface="Arial" pitchFamily="34" charset="0"/>
            </a:endParaRPr>
          </a:p>
        </p:txBody>
      </p:sp>
      <p:sp>
        <p:nvSpPr>
          <p:cNvPr id="147466" name="AutoShape 25"/>
          <p:cNvSpPr>
            <a:spLocks noChangeArrowheads="1"/>
          </p:cNvSpPr>
          <p:nvPr/>
        </p:nvSpPr>
        <p:spPr bwMode="auto">
          <a:xfrm>
            <a:off x="2209800" y="381000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sz="3200" b="1" dirty="0">
              <a:latin typeface="Arial" pitchFamily="34" charset="0"/>
            </a:endParaRPr>
          </a:p>
        </p:txBody>
      </p:sp>
      <p:sp>
        <p:nvSpPr>
          <p:cNvPr id="147467" name="Rectangle 26"/>
          <p:cNvSpPr>
            <a:spLocks noGrp="1" noChangeArrowheads="1"/>
          </p:cNvSpPr>
          <p:nvPr>
            <p:ph type="title" idx="4294967295"/>
          </p:nvPr>
        </p:nvSpPr>
        <p:spPr/>
        <p:txBody>
          <a:bodyPr/>
          <a:lstStyle/>
          <a:p>
            <a:r>
              <a:rPr lang="en-US" sz="4000"/>
              <a:t>Work Balancing</a:t>
            </a:r>
          </a:p>
        </p:txBody>
      </p:sp>
      <p:sp>
        <p:nvSpPr>
          <p:cNvPr id="147468" name="AutoShape 27"/>
          <p:cNvSpPr>
            <a:spLocks noChangeArrowheads="1"/>
          </p:cNvSpPr>
          <p:nvPr/>
        </p:nvSpPr>
        <p:spPr bwMode="auto">
          <a:xfrm>
            <a:off x="566738" y="1797050"/>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rgbClr val="FF7C80">
              <a:alpha val="23921"/>
            </a:srgbClr>
          </a:solidFill>
          <a:ln w="9525">
            <a:noFill/>
            <a:round/>
            <a:headEnd/>
            <a:tailEnd/>
          </a:ln>
        </p:spPr>
        <p:txBody>
          <a:bodyPr wrap="none" anchor="ctr"/>
          <a:lstStyle/>
          <a:p>
            <a:pPr algn="l"/>
            <a:endParaRPr lang="en-US" b="1">
              <a:latin typeface="Arial" pitchFamily="34" charset="0"/>
            </a:endParaRPr>
          </a:p>
        </p:txBody>
      </p:sp>
      <p:grpSp>
        <p:nvGrpSpPr>
          <p:cNvPr id="4" name="Group 28"/>
          <p:cNvGrpSpPr>
            <a:grpSpLocks/>
          </p:cNvGrpSpPr>
          <p:nvPr/>
        </p:nvGrpSpPr>
        <p:grpSpPr bwMode="auto">
          <a:xfrm>
            <a:off x="3998913" y="4551363"/>
            <a:ext cx="1146175" cy="1000125"/>
            <a:chOff x="1043" y="2546"/>
            <a:chExt cx="869" cy="740"/>
          </a:xfrm>
        </p:grpSpPr>
        <p:sp>
          <p:nvSpPr>
            <p:cNvPr id="147532" name="Freeform 29"/>
            <p:cNvSpPr>
              <a:spLocks/>
            </p:cNvSpPr>
            <p:nvPr/>
          </p:nvSpPr>
          <p:spPr bwMode="auto">
            <a:xfrm>
              <a:off x="1769" y="3004"/>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147533" name="Freeform 30"/>
            <p:cNvSpPr>
              <a:spLocks/>
            </p:cNvSpPr>
            <p:nvPr/>
          </p:nvSpPr>
          <p:spPr bwMode="auto">
            <a:xfrm>
              <a:off x="1737" y="2814"/>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147534" name="Freeform 31"/>
            <p:cNvSpPr>
              <a:spLocks/>
            </p:cNvSpPr>
            <p:nvPr/>
          </p:nvSpPr>
          <p:spPr bwMode="auto">
            <a:xfrm flipH="1">
              <a:off x="1043" y="3008"/>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147535" name="Freeform 32"/>
            <p:cNvSpPr>
              <a:spLocks/>
            </p:cNvSpPr>
            <p:nvPr/>
          </p:nvSpPr>
          <p:spPr bwMode="auto">
            <a:xfrm flipH="1">
              <a:off x="1133" y="2833"/>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147536" name="AutoShape 33"/>
            <p:cNvSpPr>
              <a:spLocks noChangeArrowheads="1"/>
            </p:cNvSpPr>
            <p:nvPr/>
          </p:nvSpPr>
          <p:spPr bwMode="auto">
            <a:xfrm flipV="1">
              <a:off x="1163" y="2546"/>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966FF"/>
            </a:solidFill>
            <a:ln w="38100">
              <a:solidFill>
                <a:schemeClr val="tx1"/>
              </a:solidFill>
              <a:miter lim="800000"/>
              <a:headEnd/>
              <a:tailEnd/>
            </a:ln>
          </p:spPr>
          <p:txBody>
            <a:bodyPr rot="10800000" wrap="none" anchor="ctr"/>
            <a:lstStyle/>
            <a:p>
              <a:pPr algn="ctr"/>
              <a:endParaRPr lang="en-US" sz="3200" b="1" dirty="0">
                <a:solidFill>
                  <a:schemeClr val="accent2"/>
                </a:solidFill>
                <a:latin typeface="Arial" pitchFamily="34" charset="0"/>
              </a:endParaRPr>
            </a:p>
          </p:txBody>
        </p:sp>
        <p:sp>
          <p:nvSpPr>
            <p:cNvPr id="147537" name="Rectangle 34"/>
            <p:cNvSpPr>
              <a:spLocks noChangeArrowheads="1"/>
            </p:cNvSpPr>
            <p:nvPr/>
          </p:nvSpPr>
          <p:spPr bwMode="auto">
            <a:xfrm>
              <a:off x="1163" y="3110"/>
              <a:ext cx="657" cy="157"/>
            </a:xfrm>
            <a:prstGeom prst="rect">
              <a:avLst/>
            </a:prstGeom>
            <a:solidFill>
              <a:srgbClr val="9966FF"/>
            </a:solidFill>
            <a:ln w="38100">
              <a:solidFill>
                <a:schemeClr val="tx1"/>
              </a:solidFill>
              <a:miter lim="800000"/>
              <a:headEnd/>
              <a:tailEnd/>
            </a:ln>
          </p:spPr>
          <p:txBody>
            <a:bodyPr wrap="none" anchor="ctr"/>
            <a:lstStyle/>
            <a:p>
              <a:pPr algn="l"/>
              <a:endParaRPr lang="en-US" b="1">
                <a:latin typeface="Arial" pitchFamily="34" charset="0"/>
              </a:endParaRPr>
            </a:p>
          </p:txBody>
        </p:sp>
        <p:sp>
          <p:nvSpPr>
            <p:cNvPr id="147538" name="Freeform 35"/>
            <p:cNvSpPr>
              <a:spLocks/>
            </p:cNvSpPr>
            <p:nvPr/>
          </p:nvSpPr>
          <p:spPr bwMode="auto">
            <a:xfrm>
              <a:off x="1694"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sp>
          <p:nvSpPr>
            <p:cNvPr id="147539" name="Freeform 36"/>
            <p:cNvSpPr>
              <a:spLocks/>
            </p:cNvSpPr>
            <p:nvPr/>
          </p:nvSpPr>
          <p:spPr bwMode="auto">
            <a:xfrm flipH="1">
              <a:off x="1186" y="2640"/>
              <a:ext cx="86" cy="221"/>
            </a:xfrm>
            <a:custGeom>
              <a:avLst/>
              <a:gdLst>
                <a:gd name="T0" fmla="*/ 0 w 143"/>
                <a:gd name="T1" fmla="*/ 0 h 278"/>
                <a:gd name="T2" fmla="*/ 19 w 143"/>
                <a:gd name="T3" fmla="*/ 17 h 278"/>
                <a:gd name="T4" fmla="*/ 19 w 143"/>
                <a:gd name="T5" fmla="*/ 97 h 278"/>
                <a:gd name="T6" fmla="*/ 13 w 143"/>
                <a:gd name="T7" fmla="*/ 111 h 278"/>
                <a:gd name="T8" fmla="*/ 12 w 143"/>
                <a:gd name="T9" fmla="*/ 40 h 278"/>
                <a:gd name="T10" fmla="*/ 1 w 143"/>
                <a:gd name="T11" fmla="*/ 2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47470" name="AutoShape 37"/>
          <p:cNvSpPr>
            <a:spLocks noChangeArrowheads="1"/>
          </p:cNvSpPr>
          <p:nvPr/>
        </p:nvSpPr>
        <p:spPr bwMode="auto">
          <a:xfrm>
            <a:off x="409575" y="1479550"/>
            <a:ext cx="1981200" cy="1066800"/>
          </a:xfrm>
          <a:prstGeom prst="cloudCallout">
            <a:avLst>
              <a:gd name="adj1" fmla="val 19713"/>
              <a:gd name="adj2" fmla="val 82440"/>
            </a:avLst>
          </a:prstGeom>
          <a:solidFill>
            <a:schemeClr val="bg1">
              <a:alpha val="70195"/>
            </a:schemeClr>
          </a:solidFill>
          <a:ln w="38100">
            <a:solidFill>
              <a:srgbClr val="FF0000"/>
            </a:solidFill>
            <a:round/>
            <a:headEnd/>
            <a:tailEnd/>
          </a:ln>
        </p:spPr>
        <p:txBody>
          <a:bodyPr anchor="ctr"/>
          <a:lstStyle/>
          <a:p>
            <a:pPr algn="ctr"/>
            <a:endParaRPr lang="en-US" sz="4400" b="1" dirty="0">
              <a:solidFill>
                <a:srgbClr val="FF0000"/>
              </a:solidFill>
              <a:latin typeface="Arial" pitchFamily="34" charset="0"/>
            </a:endParaRPr>
          </a:p>
        </p:txBody>
      </p:sp>
      <p:sp>
        <p:nvSpPr>
          <p:cNvPr id="1366054" name="AutoShape 38"/>
          <p:cNvSpPr>
            <a:spLocks noChangeArrowheads="1"/>
          </p:cNvSpPr>
          <p:nvPr/>
        </p:nvSpPr>
        <p:spPr bwMode="auto">
          <a:xfrm>
            <a:off x="6591300" y="1389063"/>
            <a:ext cx="1981200" cy="1066800"/>
          </a:xfrm>
          <a:prstGeom prst="cloudCallout">
            <a:avLst>
              <a:gd name="adj1" fmla="val -35977"/>
              <a:gd name="adj2" fmla="val 93306"/>
            </a:avLst>
          </a:prstGeom>
          <a:solidFill>
            <a:schemeClr val="bg1">
              <a:alpha val="70195"/>
            </a:schemeClr>
          </a:solidFill>
          <a:ln w="38100">
            <a:solidFill>
              <a:srgbClr val="00FF99"/>
            </a:solidFill>
            <a:round/>
            <a:headEnd/>
            <a:tailEnd/>
          </a:ln>
        </p:spPr>
        <p:txBody>
          <a:bodyPr anchor="ctr"/>
          <a:lstStyle/>
          <a:p>
            <a:pPr algn="ctr"/>
            <a:endParaRPr lang="en-US" sz="4400" b="1" dirty="0">
              <a:solidFill>
                <a:srgbClr val="33CC33"/>
              </a:solidFill>
              <a:latin typeface="Arial" pitchFamily="34" charset="0"/>
            </a:endParaRPr>
          </a:p>
        </p:txBody>
      </p:sp>
      <p:grpSp>
        <p:nvGrpSpPr>
          <p:cNvPr id="5" name="Group 39"/>
          <p:cNvGrpSpPr>
            <a:grpSpLocks/>
          </p:cNvGrpSpPr>
          <p:nvPr/>
        </p:nvGrpSpPr>
        <p:grpSpPr bwMode="auto">
          <a:xfrm>
            <a:off x="1879600" y="2784475"/>
            <a:ext cx="1447800" cy="1295400"/>
            <a:chOff x="3168" y="1824"/>
            <a:chExt cx="912" cy="816"/>
          </a:xfrm>
        </p:grpSpPr>
        <p:sp>
          <p:nvSpPr>
            <p:cNvPr id="147523" name="Freeform 40"/>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24" name="Freeform 41"/>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25" name="Freeform 42"/>
            <p:cNvSpPr>
              <a:spLocks/>
            </p:cNvSpPr>
            <p:nvPr/>
          </p:nvSpPr>
          <p:spPr bwMode="auto">
            <a:xfrm>
              <a:off x="3504" y="1824"/>
              <a:ext cx="144" cy="288"/>
            </a:xfrm>
            <a:custGeom>
              <a:avLst/>
              <a:gdLst>
                <a:gd name="T0" fmla="*/ 0 w 144"/>
                <a:gd name="T1" fmla="*/ 26 h 336"/>
                <a:gd name="T2" fmla="*/ 96 w 144"/>
                <a:gd name="T3" fmla="*/ 0 h 336"/>
                <a:gd name="T4" fmla="*/ 144 w 144"/>
                <a:gd name="T5" fmla="*/ 26 h 336"/>
                <a:gd name="T6" fmla="*/ 144 w 144"/>
                <a:gd name="T7" fmla="*/ 182 h 336"/>
                <a:gd name="T8" fmla="*/ 96 w 144"/>
                <a:gd name="T9" fmla="*/ 156 h 336"/>
                <a:gd name="T10" fmla="*/ 96 w 144"/>
                <a:gd name="T11" fmla="*/ 51 h 336"/>
                <a:gd name="T12" fmla="*/ 0 w 144"/>
                <a:gd name="T13" fmla="*/ 77 h 336"/>
                <a:gd name="T14" fmla="*/ 0 w 144"/>
                <a:gd name="T15" fmla="*/ 2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26" name="Freeform 43"/>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47527" name="Freeform 44"/>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47528" name="Freeform 45"/>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l"/>
              <a:endParaRPr lang="en-US" b="1">
                <a:latin typeface="Arial" pitchFamily="34" charset="0"/>
              </a:endParaRPr>
            </a:p>
          </p:txBody>
        </p:sp>
        <p:sp>
          <p:nvSpPr>
            <p:cNvPr id="147529" name="Freeform 46"/>
            <p:cNvSpPr>
              <a:spLocks/>
            </p:cNvSpPr>
            <p:nvPr/>
          </p:nvSpPr>
          <p:spPr bwMode="auto">
            <a:xfrm>
              <a:off x="3504" y="2304"/>
              <a:ext cx="240" cy="336"/>
            </a:xfrm>
            <a:custGeom>
              <a:avLst/>
              <a:gdLst>
                <a:gd name="T0" fmla="*/ 50 w 336"/>
                <a:gd name="T1" fmla="*/ 0 h 432"/>
                <a:gd name="T2" fmla="*/ 87 w 336"/>
                <a:gd name="T3" fmla="*/ 35 h 432"/>
                <a:gd name="T4" fmla="*/ 25 w 336"/>
                <a:gd name="T5" fmla="*/ 53 h 432"/>
                <a:gd name="T6" fmla="*/ 25 w 336"/>
                <a:gd name="T7" fmla="*/ 158 h 432"/>
                <a:gd name="T8" fmla="*/ 0 w 336"/>
                <a:gd name="T9" fmla="*/ 123 h 432"/>
                <a:gd name="T10" fmla="*/ 0 w 336"/>
                <a:gd name="T11" fmla="*/ 18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30" name="Freeform 47"/>
            <p:cNvSpPr>
              <a:spLocks/>
            </p:cNvSpPr>
            <p:nvPr/>
          </p:nvSpPr>
          <p:spPr bwMode="auto">
            <a:xfrm>
              <a:off x="3312" y="2160"/>
              <a:ext cx="240" cy="288"/>
            </a:xfrm>
            <a:custGeom>
              <a:avLst/>
              <a:gdLst>
                <a:gd name="T0" fmla="*/ 50 w 336"/>
                <a:gd name="T1" fmla="*/ 0 h 432"/>
                <a:gd name="T2" fmla="*/ 87 w 336"/>
                <a:gd name="T3" fmla="*/ 19 h 432"/>
                <a:gd name="T4" fmla="*/ 25 w 336"/>
                <a:gd name="T5" fmla="*/ 29 h 432"/>
                <a:gd name="T6" fmla="*/ 25 w 336"/>
                <a:gd name="T7" fmla="*/ 85 h 432"/>
                <a:gd name="T8" fmla="*/ 0 w 336"/>
                <a:gd name="T9" fmla="*/ 66 h 432"/>
                <a:gd name="T10" fmla="*/ 0 w 336"/>
                <a:gd name="T11" fmla="*/ 9 h 432"/>
                <a:gd name="T12" fmla="*/ 5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sp>
          <p:nvSpPr>
            <p:cNvPr id="147531" name="Freeform 48"/>
            <p:cNvSpPr>
              <a:spLocks/>
            </p:cNvSpPr>
            <p:nvPr/>
          </p:nvSpPr>
          <p:spPr bwMode="auto">
            <a:xfrm>
              <a:off x="3168" y="2016"/>
              <a:ext cx="192" cy="288"/>
            </a:xfrm>
            <a:custGeom>
              <a:avLst/>
              <a:gdLst>
                <a:gd name="T0" fmla="*/ 21 w 336"/>
                <a:gd name="T1" fmla="*/ 0 h 432"/>
                <a:gd name="T2" fmla="*/ 36 w 336"/>
                <a:gd name="T3" fmla="*/ 19 h 432"/>
                <a:gd name="T4" fmla="*/ 10 w 336"/>
                <a:gd name="T5" fmla="*/ 29 h 432"/>
                <a:gd name="T6" fmla="*/ 10 w 336"/>
                <a:gd name="T7" fmla="*/ 85 h 432"/>
                <a:gd name="T8" fmla="*/ 0 w 336"/>
                <a:gd name="T9" fmla="*/ 66 h 432"/>
                <a:gd name="T10" fmla="*/ 0 w 336"/>
                <a:gd name="T11" fmla="*/ 9 h 432"/>
                <a:gd name="T12" fmla="*/ 2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l"/>
              <a:endParaRPr lang="en-US" b="1">
                <a:latin typeface="Arial" pitchFamily="34" charset="0"/>
              </a:endParaRPr>
            </a:p>
          </p:txBody>
        </p:sp>
      </p:grpSp>
      <p:sp>
        <p:nvSpPr>
          <p:cNvPr id="147473" name="AutoShape 49"/>
          <p:cNvSpPr>
            <a:spLocks noChangeArrowheads="1"/>
          </p:cNvSpPr>
          <p:nvPr/>
        </p:nvSpPr>
        <p:spPr bwMode="auto">
          <a:xfrm>
            <a:off x="5881688" y="4092575"/>
            <a:ext cx="1981200" cy="1066800"/>
          </a:xfrm>
          <a:prstGeom prst="cloudCallout">
            <a:avLst>
              <a:gd name="adj1" fmla="val -73079"/>
              <a:gd name="adj2" fmla="val 43454"/>
            </a:avLst>
          </a:prstGeom>
          <a:solidFill>
            <a:schemeClr val="bg1"/>
          </a:solidFill>
          <a:ln w="38100">
            <a:solidFill>
              <a:srgbClr val="9966FF"/>
            </a:solidFill>
            <a:round/>
            <a:headEnd/>
            <a:tailEnd/>
          </a:ln>
        </p:spPr>
        <p:txBody>
          <a:bodyPr anchor="ctr"/>
          <a:lstStyle/>
          <a:p>
            <a:pPr algn="ctr"/>
            <a:endParaRPr lang="en-US" sz="4400" b="1" dirty="0">
              <a:solidFill>
                <a:srgbClr val="9966FF"/>
              </a:solidFill>
              <a:latin typeface="Arial" pitchFamily="34" charset="0"/>
            </a:endParaRPr>
          </a:p>
        </p:txBody>
      </p:sp>
      <p:grpSp>
        <p:nvGrpSpPr>
          <p:cNvPr id="6" name="Group 50"/>
          <p:cNvGrpSpPr>
            <a:grpSpLocks/>
          </p:cNvGrpSpPr>
          <p:nvPr/>
        </p:nvGrpSpPr>
        <p:grpSpPr bwMode="auto">
          <a:xfrm>
            <a:off x="1101725" y="1651000"/>
            <a:ext cx="779463" cy="536575"/>
            <a:chOff x="3507" y="1789"/>
            <a:chExt cx="858" cy="497"/>
          </a:xfrm>
        </p:grpSpPr>
        <p:sp>
          <p:nvSpPr>
            <p:cNvPr id="147518" name="Oval 51"/>
            <p:cNvSpPr>
              <a:spLocks noChangeArrowheads="1"/>
            </p:cNvSpPr>
            <p:nvPr/>
          </p:nvSpPr>
          <p:spPr bwMode="auto">
            <a:xfrm>
              <a:off x="3507" y="1789"/>
              <a:ext cx="858" cy="497"/>
            </a:xfrm>
            <a:prstGeom prst="ellipse">
              <a:avLst/>
            </a:prstGeom>
            <a:solidFill>
              <a:schemeClr val="accent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7" name="Group 52"/>
            <p:cNvGrpSpPr>
              <a:grpSpLocks/>
            </p:cNvGrpSpPr>
            <p:nvPr/>
          </p:nvGrpSpPr>
          <p:grpSpPr bwMode="auto">
            <a:xfrm>
              <a:off x="3758" y="2002"/>
              <a:ext cx="357" cy="76"/>
              <a:chOff x="4109" y="1226"/>
              <a:chExt cx="357" cy="76"/>
            </a:xfrm>
          </p:grpSpPr>
          <p:sp>
            <p:nvSpPr>
              <p:cNvPr id="147520" name="Freeform 53"/>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521" name="Freeform 54"/>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7522" name="Freeform 55"/>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8" name="Group 56"/>
          <p:cNvGrpSpPr>
            <a:grpSpLocks/>
          </p:cNvGrpSpPr>
          <p:nvPr/>
        </p:nvGrpSpPr>
        <p:grpSpPr bwMode="auto">
          <a:xfrm>
            <a:off x="1114425" y="1371600"/>
            <a:ext cx="779463" cy="536575"/>
            <a:chOff x="3507" y="1789"/>
            <a:chExt cx="858" cy="497"/>
          </a:xfrm>
        </p:grpSpPr>
        <p:sp>
          <p:nvSpPr>
            <p:cNvPr id="147513" name="Oval 57"/>
            <p:cNvSpPr>
              <a:spLocks noChangeArrowheads="1"/>
            </p:cNvSpPr>
            <p:nvPr/>
          </p:nvSpPr>
          <p:spPr bwMode="auto">
            <a:xfrm>
              <a:off x="3507" y="1789"/>
              <a:ext cx="858" cy="497"/>
            </a:xfrm>
            <a:prstGeom prst="ellipse">
              <a:avLst/>
            </a:prstGeom>
            <a:solidFill>
              <a:srgbClr val="FF7C8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9" name="Group 58"/>
            <p:cNvGrpSpPr>
              <a:grpSpLocks/>
            </p:cNvGrpSpPr>
            <p:nvPr/>
          </p:nvGrpSpPr>
          <p:grpSpPr bwMode="auto">
            <a:xfrm>
              <a:off x="3758" y="2002"/>
              <a:ext cx="357" cy="76"/>
              <a:chOff x="4109" y="1226"/>
              <a:chExt cx="357" cy="76"/>
            </a:xfrm>
          </p:grpSpPr>
          <p:sp>
            <p:nvSpPr>
              <p:cNvPr id="147515" name="Freeform 59"/>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516" name="Freeform 60"/>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7517" name="Freeform 61"/>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0" name="Group 62"/>
          <p:cNvGrpSpPr>
            <a:grpSpLocks/>
          </p:cNvGrpSpPr>
          <p:nvPr/>
        </p:nvGrpSpPr>
        <p:grpSpPr bwMode="auto">
          <a:xfrm>
            <a:off x="6403975" y="4241800"/>
            <a:ext cx="779463" cy="536575"/>
            <a:chOff x="3507" y="1789"/>
            <a:chExt cx="858" cy="497"/>
          </a:xfrm>
        </p:grpSpPr>
        <p:sp>
          <p:nvSpPr>
            <p:cNvPr id="147508" name="Oval 63"/>
            <p:cNvSpPr>
              <a:spLocks noChangeArrowheads="1"/>
            </p:cNvSpPr>
            <p:nvPr/>
          </p:nvSpPr>
          <p:spPr bwMode="auto">
            <a:xfrm>
              <a:off x="3507" y="1789"/>
              <a:ext cx="858" cy="497"/>
            </a:xfrm>
            <a:prstGeom prst="ellipse">
              <a:avLst/>
            </a:pr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1" name="Group 64"/>
            <p:cNvGrpSpPr>
              <a:grpSpLocks/>
            </p:cNvGrpSpPr>
            <p:nvPr/>
          </p:nvGrpSpPr>
          <p:grpSpPr bwMode="auto">
            <a:xfrm>
              <a:off x="3758" y="2002"/>
              <a:ext cx="357" cy="76"/>
              <a:chOff x="4109" y="1226"/>
              <a:chExt cx="357" cy="76"/>
            </a:xfrm>
          </p:grpSpPr>
          <p:sp>
            <p:nvSpPr>
              <p:cNvPr id="147510" name="Freeform 6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FFCC"/>
              </a:solidFill>
              <a:ln w="9525">
                <a:solidFill>
                  <a:schemeClr val="tx1"/>
                </a:solidFill>
                <a:round/>
                <a:headEnd/>
                <a:tailEnd/>
              </a:ln>
            </p:spPr>
            <p:txBody>
              <a:bodyPr wrap="none" anchor="ctr"/>
              <a:lstStyle/>
              <a:p>
                <a:pPr algn="l"/>
                <a:endParaRPr lang="en-US" b="1">
                  <a:latin typeface="Arial" pitchFamily="34" charset="0"/>
                </a:endParaRPr>
              </a:p>
            </p:txBody>
          </p:sp>
          <p:sp>
            <p:nvSpPr>
              <p:cNvPr id="147511" name="Freeform 6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sp>
            <p:nvSpPr>
              <p:cNvPr id="147512" name="Freeform 6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FFCC"/>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2" name="Group 68"/>
          <p:cNvGrpSpPr>
            <a:grpSpLocks/>
          </p:cNvGrpSpPr>
          <p:nvPr/>
        </p:nvGrpSpPr>
        <p:grpSpPr bwMode="auto">
          <a:xfrm>
            <a:off x="6403975" y="3965575"/>
            <a:ext cx="779463" cy="536575"/>
            <a:chOff x="3507" y="1789"/>
            <a:chExt cx="858" cy="497"/>
          </a:xfrm>
        </p:grpSpPr>
        <p:sp>
          <p:nvSpPr>
            <p:cNvPr id="147503" name="Oval 69"/>
            <p:cNvSpPr>
              <a:spLocks noChangeArrowheads="1"/>
            </p:cNvSpPr>
            <p:nvPr/>
          </p:nvSpPr>
          <p:spPr bwMode="auto">
            <a:xfrm>
              <a:off x="3507" y="1789"/>
              <a:ext cx="858" cy="497"/>
            </a:xfrm>
            <a:prstGeom prst="ellipse">
              <a:avLst/>
            </a:pr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3" name="Group 70"/>
            <p:cNvGrpSpPr>
              <a:grpSpLocks/>
            </p:cNvGrpSpPr>
            <p:nvPr/>
          </p:nvGrpSpPr>
          <p:grpSpPr bwMode="auto">
            <a:xfrm>
              <a:off x="3758" y="2002"/>
              <a:ext cx="357" cy="76"/>
              <a:chOff x="4109" y="1226"/>
              <a:chExt cx="357" cy="76"/>
            </a:xfrm>
          </p:grpSpPr>
          <p:sp>
            <p:nvSpPr>
              <p:cNvPr id="147505" name="Freeform 71"/>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rgbClr val="FF6600"/>
              </a:solidFill>
              <a:ln w="9525">
                <a:solidFill>
                  <a:schemeClr val="tx1"/>
                </a:solidFill>
                <a:round/>
                <a:headEnd/>
                <a:tailEnd/>
              </a:ln>
            </p:spPr>
            <p:txBody>
              <a:bodyPr wrap="none" anchor="ctr"/>
              <a:lstStyle/>
              <a:p>
                <a:pPr algn="l"/>
                <a:endParaRPr lang="en-US" b="1">
                  <a:latin typeface="Arial" pitchFamily="34" charset="0"/>
                </a:endParaRPr>
              </a:p>
            </p:txBody>
          </p:sp>
          <p:sp>
            <p:nvSpPr>
              <p:cNvPr id="147506" name="Freeform 72"/>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sp>
            <p:nvSpPr>
              <p:cNvPr id="147507" name="Freeform 73"/>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rgbClr val="FF6600"/>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4" name="Group 74"/>
          <p:cNvGrpSpPr>
            <a:grpSpLocks/>
          </p:cNvGrpSpPr>
          <p:nvPr/>
        </p:nvGrpSpPr>
        <p:grpSpPr bwMode="auto">
          <a:xfrm>
            <a:off x="6632575" y="3919538"/>
            <a:ext cx="323850" cy="82550"/>
            <a:chOff x="4109" y="1226"/>
            <a:chExt cx="357" cy="76"/>
          </a:xfrm>
        </p:grpSpPr>
        <p:sp>
          <p:nvSpPr>
            <p:cNvPr id="147500" name="Freeform 75"/>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501" name="Freeform 76"/>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147502" name="Freeform 77"/>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sp>
        <p:nvSpPr>
          <p:cNvPr id="147479" name="Oval 78"/>
          <p:cNvSpPr>
            <a:spLocks noChangeArrowheads="1"/>
          </p:cNvSpPr>
          <p:nvPr/>
        </p:nvSpPr>
        <p:spPr bwMode="auto">
          <a:xfrm>
            <a:off x="6410325" y="3670300"/>
            <a:ext cx="779463" cy="536575"/>
          </a:xfrm>
          <a:prstGeom prst="ellipse">
            <a:avLst/>
          </a:prstGeom>
          <a:solidFill>
            <a:srgbClr val="FF00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5" name="Group 79"/>
          <p:cNvGrpSpPr>
            <a:grpSpLocks/>
          </p:cNvGrpSpPr>
          <p:nvPr/>
        </p:nvGrpSpPr>
        <p:grpSpPr bwMode="auto">
          <a:xfrm>
            <a:off x="6638925" y="3900488"/>
            <a:ext cx="323850" cy="82550"/>
            <a:chOff x="4109" y="1226"/>
            <a:chExt cx="357" cy="76"/>
          </a:xfrm>
        </p:grpSpPr>
        <p:sp>
          <p:nvSpPr>
            <p:cNvPr id="147497" name="Freeform 80"/>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498" name="Freeform 81"/>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7499" name="Freeform 82"/>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sp>
        <p:nvSpPr>
          <p:cNvPr id="1366121" name="AutoShape 105"/>
          <p:cNvSpPr>
            <a:spLocks noChangeArrowheads="1"/>
          </p:cNvSpPr>
          <p:nvPr/>
        </p:nvSpPr>
        <p:spPr bwMode="auto">
          <a:xfrm>
            <a:off x="2324100" y="4991100"/>
            <a:ext cx="1130300" cy="635000"/>
          </a:xfrm>
          <a:prstGeom prst="wedgeRoundRectCallout">
            <a:avLst>
              <a:gd name="adj1" fmla="val 88903"/>
              <a:gd name="adj2" fmla="val -60000"/>
              <a:gd name="adj3" fmla="val 16667"/>
            </a:avLst>
          </a:prstGeom>
          <a:noFill/>
          <a:ln w="38100" algn="ctr">
            <a:solidFill>
              <a:srgbClr val="9966FF"/>
            </a:solidFill>
            <a:miter lim="800000"/>
            <a:headEnd/>
            <a:tailEnd/>
          </a:ln>
        </p:spPr>
        <p:txBody>
          <a:bodyPr/>
          <a:lstStyle/>
          <a:p>
            <a:pPr algn="ctr"/>
            <a:r>
              <a:rPr lang="en-US" b="1">
                <a:solidFill>
                  <a:schemeClr val="tx1"/>
                </a:solidFill>
                <a:latin typeface="Arial" pitchFamily="34" charset="0"/>
              </a:rPr>
              <a:t>5</a:t>
            </a:r>
          </a:p>
        </p:txBody>
      </p:sp>
      <p:sp>
        <p:nvSpPr>
          <p:cNvPr id="1366122" name="AutoShape 106"/>
          <p:cNvSpPr>
            <a:spLocks noChangeArrowheads="1"/>
          </p:cNvSpPr>
          <p:nvPr/>
        </p:nvSpPr>
        <p:spPr bwMode="auto">
          <a:xfrm>
            <a:off x="2857500" y="2209800"/>
            <a:ext cx="1130300" cy="635000"/>
          </a:xfrm>
          <a:prstGeom prst="wedgeRoundRectCallout">
            <a:avLst>
              <a:gd name="adj1" fmla="val -52667"/>
              <a:gd name="adj2" fmla="val 108000"/>
              <a:gd name="adj3" fmla="val 16667"/>
            </a:avLst>
          </a:prstGeom>
          <a:noFill/>
          <a:ln w="38100" algn="ctr">
            <a:solidFill>
              <a:srgbClr val="FF0000"/>
            </a:solidFill>
            <a:miter lim="800000"/>
            <a:headEnd/>
            <a:tailEnd/>
          </a:ln>
        </p:spPr>
        <p:txBody>
          <a:bodyPr/>
          <a:lstStyle/>
          <a:p>
            <a:pPr algn="ctr"/>
            <a:r>
              <a:rPr lang="en-US" b="1">
                <a:solidFill>
                  <a:schemeClr val="tx1"/>
                </a:solidFill>
                <a:latin typeface="Arial" pitchFamily="34" charset="0"/>
              </a:rPr>
              <a:t>2</a:t>
            </a:r>
          </a:p>
        </p:txBody>
      </p:sp>
      <p:sp>
        <p:nvSpPr>
          <p:cNvPr id="1366123" name="AutoShape 107"/>
          <p:cNvSpPr>
            <a:spLocks noChangeArrowheads="1"/>
          </p:cNvSpPr>
          <p:nvPr/>
        </p:nvSpPr>
        <p:spPr bwMode="auto">
          <a:xfrm>
            <a:off x="844274" y="4845327"/>
            <a:ext cx="2793448" cy="635000"/>
          </a:xfrm>
          <a:prstGeom prst="wedgeRoundRectCallout">
            <a:avLst>
              <a:gd name="adj1" fmla="val 70486"/>
              <a:gd name="adj2" fmla="val -60000"/>
              <a:gd name="adj3" fmla="val 16667"/>
            </a:avLst>
          </a:prstGeom>
          <a:noFill/>
          <a:ln w="38100" algn="ctr">
            <a:solidFill>
              <a:srgbClr val="9966FF"/>
            </a:solidFill>
            <a:miter lim="800000"/>
            <a:headEnd/>
            <a:tailEnd/>
          </a:ln>
        </p:spPr>
        <p:txBody>
          <a:bodyPr/>
          <a:lstStyle/>
          <a:p>
            <a:pPr algn="ctr"/>
            <a:r>
              <a:rPr lang="en-US" b="1" dirty="0">
                <a:solidFill>
                  <a:schemeClr val="tx1"/>
                </a:solidFill>
                <a:latin typeface="cmsy10"/>
                <a:cs typeface="Arial" pitchFamily="34" charset="0"/>
              </a:rPr>
              <a:t>b</a:t>
            </a:r>
            <a:r>
              <a:rPr lang="en-US" b="1" dirty="0">
                <a:solidFill>
                  <a:schemeClr val="tx1"/>
                </a:solidFill>
                <a:latin typeface="Arial" pitchFamily="34" charset="0"/>
                <a:cs typeface="Arial" pitchFamily="34" charset="0"/>
              </a:rPr>
              <a:t>2+5</a:t>
            </a:r>
            <a:r>
              <a:rPr lang="en-US" b="1" dirty="0">
                <a:solidFill>
                  <a:schemeClr val="tx1"/>
                </a:solidFill>
                <a:latin typeface="cmsy10"/>
                <a:cs typeface="Arial" pitchFamily="34" charset="0"/>
              </a:rPr>
              <a:t>c</a:t>
            </a:r>
            <a:r>
              <a:rPr lang="en-US" b="1" dirty="0">
                <a:solidFill>
                  <a:schemeClr val="tx1"/>
                </a:solidFill>
                <a:latin typeface="Arial" pitchFamily="34" charset="0"/>
                <a:cs typeface="Arial" pitchFamily="34" charset="0"/>
              </a:rPr>
              <a:t>/ 2 = 3</a:t>
            </a:r>
            <a:endParaRPr lang="en-US" b="1" dirty="0">
              <a:solidFill>
                <a:schemeClr val="tx1"/>
              </a:solidFill>
              <a:latin typeface="Arial" pitchFamily="34" charset="0"/>
            </a:endParaRPr>
          </a:p>
        </p:txBody>
      </p:sp>
      <p:sp>
        <p:nvSpPr>
          <p:cNvPr id="1366124" name="AutoShape 108"/>
          <p:cNvSpPr>
            <a:spLocks noChangeArrowheads="1"/>
          </p:cNvSpPr>
          <p:nvPr/>
        </p:nvSpPr>
        <p:spPr bwMode="auto">
          <a:xfrm>
            <a:off x="2723322" y="2166731"/>
            <a:ext cx="2584175" cy="635000"/>
          </a:xfrm>
          <a:prstGeom prst="wedgeRoundRectCallout">
            <a:avLst>
              <a:gd name="adj1" fmla="val -51495"/>
              <a:gd name="adj2" fmla="val 108000"/>
              <a:gd name="adj3" fmla="val 16667"/>
            </a:avLst>
          </a:prstGeom>
          <a:noFill/>
          <a:ln w="38100" algn="ctr">
            <a:solidFill>
              <a:srgbClr val="FF0000"/>
            </a:solidFill>
            <a:miter lim="800000"/>
            <a:headEnd/>
            <a:tailEnd/>
          </a:ln>
        </p:spPr>
        <p:txBody>
          <a:bodyPr/>
          <a:lstStyle/>
          <a:p>
            <a:pPr algn="ctr"/>
            <a:r>
              <a:rPr lang="en-US" b="1" dirty="0">
                <a:solidFill>
                  <a:schemeClr val="tx1"/>
                </a:solidFill>
                <a:latin typeface="cmsy10"/>
                <a:cs typeface="Arial" pitchFamily="34" charset="0"/>
              </a:rPr>
              <a:t>d</a:t>
            </a:r>
            <a:r>
              <a:rPr lang="en-US" b="1" dirty="0">
                <a:solidFill>
                  <a:schemeClr val="tx1"/>
                </a:solidFill>
                <a:latin typeface="Arial" pitchFamily="34" charset="0"/>
                <a:cs typeface="Arial" pitchFamily="34" charset="0"/>
              </a:rPr>
              <a:t> </a:t>
            </a:r>
            <a:r>
              <a:rPr lang="en-US" b="1" dirty="0">
                <a:solidFill>
                  <a:schemeClr val="tx1"/>
                </a:solidFill>
                <a:latin typeface="Arial" pitchFamily="34" charset="0"/>
              </a:rPr>
              <a:t>2+5</a:t>
            </a:r>
            <a:r>
              <a:rPr lang="en-US" b="1" dirty="0">
                <a:solidFill>
                  <a:schemeClr val="tx1"/>
                </a:solidFill>
                <a:latin typeface="cmsy10"/>
              </a:rPr>
              <a:t>e</a:t>
            </a:r>
            <a:r>
              <a:rPr lang="en-US" b="1" dirty="0">
                <a:solidFill>
                  <a:schemeClr val="tx1"/>
                </a:solidFill>
                <a:latin typeface="Arial" pitchFamily="34" charset="0"/>
              </a:rPr>
              <a:t>/2=4</a:t>
            </a:r>
          </a:p>
        </p:txBody>
      </p:sp>
      <p:grpSp>
        <p:nvGrpSpPr>
          <p:cNvPr id="16" name="Group 83"/>
          <p:cNvGrpSpPr>
            <a:grpSpLocks/>
          </p:cNvGrpSpPr>
          <p:nvPr/>
        </p:nvGrpSpPr>
        <p:grpSpPr bwMode="auto">
          <a:xfrm>
            <a:off x="6403975" y="3413125"/>
            <a:ext cx="779463" cy="536575"/>
            <a:chOff x="3507" y="1789"/>
            <a:chExt cx="858" cy="497"/>
          </a:xfrm>
        </p:grpSpPr>
        <p:sp>
          <p:nvSpPr>
            <p:cNvPr id="147492" name="Oval 84"/>
            <p:cNvSpPr>
              <a:spLocks noChangeArrowheads="1"/>
            </p:cNvSpPr>
            <p:nvPr/>
          </p:nvSpPr>
          <p:spPr bwMode="auto">
            <a:xfrm>
              <a:off x="3507" y="1789"/>
              <a:ext cx="858" cy="497"/>
            </a:xfrm>
            <a:prstGeom prst="ellipse">
              <a:avLst/>
            </a:pr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7" name="Group 85"/>
            <p:cNvGrpSpPr>
              <a:grpSpLocks/>
            </p:cNvGrpSpPr>
            <p:nvPr/>
          </p:nvGrpSpPr>
          <p:grpSpPr bwMode="auto">
            <a:xfrm>
              <a:off x="3758" y="2002"/>
              <a:ext cx="357" cy="76"/>
              <a:chOff x="4109" y="1226"/>
              <a:chExt cx="357" cy="76"/>
            </a:xfrm>
          </p:grpSpPr>
          <p:sp>
            <p:nvSpPr>
              <p:cNvPr id="147494" name="Freeform 86"/>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495" name="Freeform 87"/>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sp>
            <p:nvSpPr>
              <p:cNvPr id="147496" name="Freeform 88"/>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solidFill>
                <a:schemeClr val="bg1"/>
              </a:solidFill>
              <a:ln w="38100">
                <a:solidFill>
                  <a:schemeClr val="tx1"/>
                </a:solidFill>
                <a:round/>
                <a:headEnd/>
                <a:tailEnd/>
              </a:ln>
            </p:spPr>
            <p:txBody>
              <a:bodyPr wrap="none" anchor="ctr"/>
              <a:lstStyle/>
              <a:p>
                <a:pPr algn="l"/>
                <a:endParaRPr lang="en-US" b="1">
                  <a:latin typeface="Arial" pitchFamily="34" charset="0"/>
                </a:endParaRPr>
              </a:p>
            </p:txBody>
          </p:sp>
        </p:grpSp>
      </p:grpSp>
      <p:grpSp>
        <p:nvGrpSpPr>
          <p:cNvPr id="18" name="Group 89"/>
          <p:cNvGrpSpPr>
            <a:grpSpLocks/>
          </p:cNvGrpSpPr>
          <p:nvPr/>
        </p:nvGrpSpPr>
        <p:grpSpPr bwMode="auto">
          <a:xfrm>
            <a:off x="6403975" y="3136900"/>
            <a:ext cx="779463" cy="536575"/>
            <a:chOff x="3507" y="1789"/>
            <a:chExt cx="858" cy="497"/>
          </a:xfrm>
        </p:grpSpPr>
        <p:sp>
          <p:nvSpPr>
            <p:cNvPr id="147487" name="Oval 90"/>
            <p:cNvSpPr>
              <a:spLocks noChangeArrowheads="1"/>
            </p:cNvSpPr>
            <p:nvPr/>
          </p:nvSpPr>
          <p:spPr bwMode="auto">
            <a:xfrm>
              <a:off x="3507" y="1789"/>
              <a:ext cx="858" cy="497"/>
            </a:xfrm>
            <a:prstGeom prst="ellipse">
              <a:avLst/>
            </a:prstGeom>
            <a:solidFill>
              <a:srgbClr val="3399FF"/>
            </a:solidFill>
            <a:ln w="38100">
              <a:solidFill>
                <a:schemeClr val="tx1"/>
              </a:solidFill>
              <a:round/>
              <a:headEnd/>
              <a:tailEnd/>
            </a:ln>
          </p:spPr>
          <p:txBody>
            <a:bodyPr wrap="none" anchor="ctr"/>
            <a:lstStyle/>
            <a:p>
              <a:pPr algn="l"/>
              <a:endParaRPr lang="en-US" b="1">
                <a:latin typeface="Arial" pitchFamily="34" charset="0"/>
              </a:endParaRPr>
            </a:p>
          </p:txBody>
        </p:sp>
        <p:grpSp>
          <p:nvGrpSpPr>
            <p:cNvPr id="19" name="Group 91"/>
            <p:cNvGrpSpPr>
              <a:grpSpLocks/>
            </p:cNvGrpSpPr>
            <p:nvPr/>
          </p:nvGrpSpPr>
          <p:grpSpPr bwMode="auto">
            <a:xfrm>
              <a:off x="3758" y="2002"/>
              <a:ext cx="357" cy="76"/>
              <a:chOff x="4109" y="1226"/>
              <a:chExt cx="357" cy="76"/>
            </a:xfrm>
          </p:grpSpPr>
          <p:sp>
            <p:nvSpPr>
              <p:cNvPr id="147489" name="Freeform 92"/>
              <p:cNvSpPr>
                <a:spLocks/>
              </p:cNvSpPr>
              <p:nvPr/>
            </p:nvSpPr>
            <p:spPr bwMode="auto">
              <a:xfrm>
                <a:off x="4173" y="1229"/>
                <a:ext cx="220" cy="73"/>
              </a:xfrm>
              <a:custGeom>
                <a:avLst/>
                <a:gdLst>
                  <a:gd name="T0" fmla="*/ 8 w 220"/>
                  <a:gd name="T1" fmla="*/ 41 h 73"/>
                  <a:gd name="T2" fmla="*/ 32 w 220"/>
                  <a:gd name="T3" fmla="*/ 51 h 73"/>
                  <a:gd name="T4" fmla="*/ 50 w 220"/>
                  <a:gd name="T5" fmla="*/ 57 h 73"/>
                  <a:gd name="T6" fmla="*/ 76 w 220"/>
                  <a:gd name="T7" fmla="*/ 63 h 73"/>
                  <a:gd name="T8" fmla="*/ 136 w 220"/>
                  <a:gd name="T9" fmla="*/ 69 h 73"/>
                  <a:gd name="T10" fmla="*/ 220 w 220"/>
                  <a:gd name="T11" fmla="*/ 56 h 73"/>
                  <a:gd name="T12" fmla="*/ 170 w 220"/>
                  <a:gd name="T13" fmla="*/ 11 h 73"/>
                  <a:gd name="T14" fmla="*/ 149 w 220"/>
                  <a:gd name="T15" fmla="*/ 0 h 73"/>
                  <a:gd name="T16" fmla="*/ 47 w 220"/>
                  <a:gd name="T17" fmla="*/ 12 h 73"/>
                  <a:gd name="T18" fmla="*/ 17 w 220"/>
                  <a:gd name="T19" fmla="*/ 24 h 73"/>
                  <a:gd name="T20" fmla="*/ 8 w 220"/>
                  <a:gd name="T21" fmla="*/ 41 h 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0"/>
                  <a:gd name="T34" fmla="*/ 0 h 73"/>
                  <a:gd name="T35" fmla="*/ 220 w 220"/>
                  <a:gd name="T36" fmla="*/ 73 h 7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0" h="73">
                    <a:moveTo>
                      <a:pt x="8" y="41"/>
                    </a:moveTo>
                    <a:cubicBezTo>
                      <a:pt x="17" y="44"/>
                      <a:pt x="23" y="50"/>
                      <a:pt x="32" y="51"/>
                    </a:cubicBezTo>
                    <a:cubicBezTo>
                      <a:pt x="38" y="54"/>
                      <a:pt x="43" y="56"/>
                      <a:pt x="50" y="57"/>
                    </a:cubicBezTo>
                    <a:cubicBezTo>
                      <a:pt x="58" y="60"/>
                      <a:pt x="67" y="62"/>
                      <a:pt x="76" y="63"/>
                    </a:cubicBezTo>
                    <a:cubicBezTo>
                      <a:pt x="105" y="73"/>
                      <a:pt x="86" y="68"/>
                      <a:pt x="136" y="69"/>
                    </a:cubicBezTo>
                    <a:cubicBezTo>
                      <a:pt x="188" y="68"/>
                      <a:pt x="180" y="64"/>
                      <a:pt x="220" y="56"/>
                    </a:cubicBezTo>
                    <a:cubicBezTo>
                      <a:pt x="198" y="47"/>
                      <a:pt x="195" y="15"/>
                      <a:pt x="170" y="11"/>
                    </a:cubicBezTo>
                    <a:cubicBezTo>
                      <a:pt x="164" y="6"/>
                      <a:pt x="156" y="3"/>
                      <a:pt x="149" y="0"/>
                    </a:cubicBezTo>
                    <a:cubicBezTo>
                      <a:pt x="113" y="2"/>
                      <a:pt x="82" y="5"/>
                      <a:pt x="47" y="12"/>
                    </a:cubicBezTo>
                    <a:cubicBezTo>
                      <a:pt x="38" y="16"/>
                      <a:pt x="27" y="22"/>
                      <a:pt x="17" y="24"/>
                    </a:cubicBezTo>
                    <a:cubicBezTo>
                      <a:pt x="12" y="27"/>
                      <a:pt x="0" y="36"/>
                      <a:pt x="8" y="41"/>
                    </a:cubicBezTo>
                    <a:close/>
                  </a:path>
                </a:pathLst>
              </a:custGeom>
              <a:solidFill>
                <a:schemeClr val="bg1"/>
              </a:solidFill>
              <a:ln w="9525">
                <a:solidFill>
                  <a:schemeClr val="tx1"/>
                </a:solidFill>
                <a:round/>
                <a:headEnd/>
                <a:tailEnd/>
              </a:ln>
            </p:spPr>
            <p:txBody>
              <a:bodyPr wrap="none" anchor="ctr"/>
              <a:lstStyle/>
              <a:p>
                <a:pPr algn="l"/>
                <a:endParaRPr lang="en-US" b="1">
                  <a:latin typeface="Arial" pitchFamily="34" charset="0"/>
                </a:endParaRPr>
              </a:p>
            </p:txBody>
          </p:sp>
          <p:sp>
            <p:nvSpPr>
              <p:cNvPr id="147490" name="Freeform 93"/>
              <p:cNvSpPr>
                <a:spLocks/>
              </p:cNvSpPr>
              <p:nvPr/>
            </p:nvSpPr>
            <p:spPr bwMode="auto">
              <a:xfrm>
                <a:off x="4175" y="1226"/>
                <a:ext cx="221" cy="56"/>
              </a:xfrm>
              <a:custGeom>
                <a:avLst/>
                <a:gdLst>
                  <a:gd name="T0" fmla="*/ 0 w 221"/>
                  <a:gd name="T1" fmla="*/ 44 h 56"/>
                  <a:gd name="T2" fmla="*/ 30 w 221"/>
                  <a:gd name="T3" fmla="*/ 18 h 56"/>
                  <a:gd name="T4" fmla="*/ 69 w 221"/>
                  <a:gd name="T5" fmla="*/ 8 h 56"/>
                  <a:gd name="T6" fmla="*/ 107 w 221"/>
                  <a:gd name="T7" fmla="*/ 3 h 56"/>
                  <a:gd name="T8" fmla="*/ 161 w 221"/>
                  <a:gd name="T9" fmla="*/ 2 h 56"/>
                  <a:gd name="T10" fmla="*/ 189 w 221"/>
                  <a:gd name="T11" fmla="*/ 15 h 56"/>
                  <a:gd name="T12" fmla="*/ 221 w 221"/>
                  <a:gd name="T13" fmla="*/ 56 h 56"/>
                  <a:gd name="T14" fmla="*/ 0 60000 65536"/>
                  <a:gd name="T15" fmla="*/ 0 60000 65536"/>
                  <a:gd name="T16" fmla="*/ 0 60000 65536"/>
                  <a:gd name="T17" fmla="*/ 0 60000 65536"/>
                  <a:gd name="T18" fmla="*/ 0 60000 65536"/>
                  <a:gd name="T19" fmla="*/ 0 60000 65536"/>
                  <a:gd name="T20" fmla="*/ 0 60000 65536"/>
                  <a:gd name="T21" fmla="*/ 0 w 221"/>
                  <a:gd name="T22" fmla="*/ 0 h 56"/>
                  <a:gd name="T23" fmla="*/ 221 w 221"/>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56">
                    <a:moveTo>
                      <a:pt x="0" y="44"/>
                    </a:moveTo>
                    <a:cubicBezTo>
                      <a:pt x="9" y="34"/>
                      <a:pt x="18" y="24"/>
                      <a:pt x="30" y="18"/>
                    </a:cubicBezTo>
                    <a:cubicBezTo>
                      <a:pt x="42" y="12"/>
                      <a:pt x="56" y="10"/>
                      <a:pt x="69" y="8"/>
                    </a:cubicBezTo>
                    <a:cubicBezTo>
                      <a:pt x="82" y="6"/>
                      <a:pt x="92" y="4"/>
                      <a:pt x="107" y="3"/>
                    </a:cubicBezTo>
                    <a:cubicBezTo>
                      <a:pt x="122" y="2"/>
                      <a:pt x="147" y="0"/>
                      <a:pt x="161" y="2"/>
                    </a:cubicBezTo>
                    <a:cubicBezTo>
                      <a:pt x="175" y="4"/>
                      <a:pt x="179" y="6"/>
                      <a:pt x="189" y="15"/>
                    </a:cubicBezTo>
                    <a:cubicBezTo>
                      <a:pt x="199" y="24"/>
                      <a:pt x="216" y="49"/>
                      <a:pt x="221" y="56"/>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sp>
            <p:nvSpPr>
              <p:cNvPr id="147491" name="Freeform 94"/>
              <p:cNvSpPr>
                <a:spLocks/>
              </p:cNvSpPr>
              <p:nvPr/>
            </p:nvSpPr>
            <p:spPr bwMode="auto">
              <a:xfrm>
                <a:off x="4109" y="1231"/>
                <a:ext cx="357" cy="65"/>
              </a:xfrm>
              <a:custGeom>
                <a:avLst/>
                <a:gdLst>
                  <a:gd name="T0" fmla="*/ 0 w 357"/>
                  <a:gd name="T1" fmla="*/ 0 h 65"/>
                  <a:gd name="T2" fmla="*/ 56 w 357"/>
                  <a:gd name="T3" fmla="*/ 33 h 65"/>
                  <a:gd name="T4" fmla="*/ 71 w 357"/>
                  <a:gd name="T5" fmla="*/ 40 h 65"/>
                  <a:gd name="T6" fmla="*/ 129 w 357"/>
                  <a:gd name="T7" fmla="*/ 58 h 65"/>
                  <a:gd name="T8" fmla="*/ 180 w 357"/>
                  <a:gd name="T9" fmla="*/ 63 h 65"/>
                  <a:gd name="T10" fmla="*/ 236 w 357"/>
                  <a:gd name="T11" fmla="*/ 60 h 65"/>
                  <a:gd name="T12" fmla="*/ 293 w 357"/>
                  <a:gd name="T13" fmla="*/ 42 h 65"/>
                  <a:gd name="T14" fmla="*/ 335 w 357"/>
                  <a:gd name="T15" fmla="*/ 18 h 65"/>
                  <a:gd name="T16" fmla="*/ 342 w 357"/>
                  <a:gd name="T17" fmla="*/ 12 h 65"/>
                  <a:gd name="T18" fmla="*/ 347 w 357"/>
                  <a:gd name="T19" fmla="*/ 10 h 65"/>
                  <a:gd name="T20" fmla="*/ 357 w 357"/>
                  <a:gd name="T21" fmla="*/ 4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7"/>
                  <a:gd name="T34" fmla="*/ 0 h 65"/>
                  <a:gd name="T35" fmla="*/ 357 w 357"/>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7" h="65">
                    <a:moveTo>
                      <a:pt x="0" y="0"/>
                    </a:moveTo>
                    <a:cubicBezTo>
                      <a:pt x="12" y="16"/>
                      <a:pt x="37" y="27"/>
                      <a:pt x="56" y="33"/>
                    </a:cubicBezTo>
                    <a:cubicBezTo>
                      <a:pt x="61" y="37"/>
                      <a:pt x="65" y="39"/>
                      <a:pt x="71" y="40"/>
                    </a:cubicBezTo>
                    <a:cubicBezTo>
                      <a:pt x="87" y="52"/>
                      <a:pt x="109" y="56"/>
                      <a:pt x="129" y="58"/>
                    </a:cubicBezTo>
                    <a:cubicBezTo>
                      <a:pt x="147" y="62"/>
                      <a:pt x="159" y="62"/>
                      <a:pt x="180" y="63"/>
                    </a:cubicBezTo>
                    <a:cubicBezTo>
                      <a:pt x="199" y="62"/>
                      <a:pt x="218" y="65"/>
                      <a:pt x="236" y="60"/>
                    </a:cubicBezTo>
                    <a:cubicBezTo>
                      <a:pt x="255" y="55"/>
                      <a:pt x="274" y="46"/>
                      <a:pt x="293" y="42"/>
                    </a:cubicBezTo>
                    <a:cubicBezTo>
                      <a:pt x="306" y="32"/>
                      <a:pt x="321" y="26"/>
                      <a:pt x="335" y="18"/>
                    </a:cubicBezTo>
                    <a:cubicBezTo>
                      <a:pt x="338" y="16"/>
                      <a:pt x="339" y="14"/>
                      <a:pt x="342" y="12"/>
                    </a:cubicBezTo>
                    <a:cubicBezTo>
                      <a:pt x="343" y="11"/>
                      <a:pt x="345" y="11"/>
                      <a:pt x="347" y="10"/>
                    </a:cubicBezTo>
                    <a:cubicBezTo>
                      <a:pt x="350" y="8"/>
                      <a:pt x="357" y="4"/>
                      <a:pt x="357" y="4"/>
                    </a:cubicBezTo>
                  </a:path>
                </a:pathLst>
              </a:custGeom>
              <a:noFill/>
              <a:ln w="38100">
                <a:solidFill>
                  <a:schemeClr val="tx1"/>
                </a:solidFill>
                <a:round/>
                <a:headEnd/>
                <a:tailEnd/>
              </a:ln>
            </p:spPr>
            <p:txBody>
              <a:bodyPr wrap="none" anchor="ctr"/>
              <a:lstStyle/>
              <a:p>
                <a:pPr algn="l"/>
                <a:endParaRPr lang="en-US" b="1">
                  <a:latin typeface="Arial" pitchFamily="34" charset="0"/>
                </a:endParaRP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366040"/>
                                        </p:tgtEl>
                                      </p:cBhvr>
                                    </p:animEffect>
                                    <p:set>
                                      <p:cBhvr>
                                        <p:cTn id="7" dur="1" fill="hold">
                                          <p:stCondLst>
                                            <p:cond delay="499"/>
                                          </p:stCondLst>
                                        </p:cTn>
                                        <p:tgtEl>
                                          <p:spTgt spid="1366040"/>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xit" presetSubtype="10" fill="hold" grpId="0" nodeType="withEffect">
                                  <p:stCondLst>
                                    <p:cond delay="0"/>
                                  </p:stCondLst>
                                  <p:childTnLst>
                                    <p:animEffect transition="out" filter="blinds(horizontal)">
                                      <p:cBhvr>
                                        <p:cTn id="12" dur="500"/>
                                        <p:tgtEl>
                                          <p:spTgt spid="1366054"/>
                                        </p:tgtEl>
                                      </p:cBhvr>
                                    </p:animEffect>
                                    <p:set>
                                      <p:cBhvr>
                                        <p:cTn id="13" dur="1" fill="hold">
                                          <p:stCondLst>
                                            <p:cond delay="499"/>
                                          </p:stCondLst>
                                        </p:cTn>
                                        <p:tgtEl>
                                          <p:spTgt spid="1366054"/>
                                        </p:tgtEl>
                                        <p:attrNameLst>
                                          <p:attrName>style.visibility</p:attrName>
                                        </p:attrNameLst>
                                      </p:cBhvr>
                                      <p:to>
                                        <p:strVal val="hidden"/>
                                      </p:to>
                                    </p:set>
                                  </p:childTnLst>
                                </p:cTn>
                              </p:par>
                            </p:childTnLst>
                          </p:cTn>
                        </p:par>
                        <p:par>
                          <p:cTn id="14" fill="hold">
                            <p:stCondLst>
                              <p:cond delay="500"/>
                            </p:stCondLst>
                            <p:childTnLst>
                              <p:par>
                                <p:cTn id="15" presetID="3" presetClass="entr" presetSubtype="10" fill="hold" grpId="0" nodeType="afterEffect">
                                  <p:stCondLst>
                                    <p:cond delay="0"/>
                                  </p:stCondLst>
                                  <p:childTnLst>
                                    <p:set>
                                      <p:cBhvr>
                                        <p:cTn id="16" dur="1" fill="hold">
                                          <p:stCondLst>
                                            <p:cond delay="0"/>
                                          </p:stCondLst>
                                        </p:cTn>
                                        <p:tgtEl>
                                          <p:spTgt spid="1366122"/>
                                        </p:tgtEl>
                                        <p:attrNameLst>
                                          <p:attrName>style.visibility</p:attrName>
                                        </p:attrNameLst>
                                      </p:cBhvr>
                                      <p:to>
                                        <p:strVal val="visible"/>
                                      </p:to>
                                    </p:set>
                                    <p:animEffect transition="in" filter="blinds(horizontal)">
                                      <p:cBhvr>
                                        <p:cTn id="17" dur="500"/>
                                        <p:tgtEl>
                                          <p:spTgt spid="1366122"/>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1366121"/>
                                        </p:tgtEl>
                                        <p:attrNameLst>
                                          <p:attrName>style.visibility</p:attrName>
                                        </p:attrNameLst>
                                      </p:cBhvr>
                                      <p:to>
                                        <p:strVal val="visible"/>
                                      </p:to>
                                    </p:set>
                                    <p:animEffect transition="in" filter="blinds(horizontal)">
                                      <p:cBhvr>
                                        <p:cTn id="21" dur="500"/>
                                        <p:tgtEl>
                                          <p:spTgt spid="13661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1" nodeType="clickEffect">
                                  <p:stCondLst>
                                    <p:cond delay="0"/>
                                  </p:stCondLst>
                                  <p:childTnLst>
                                    <p:animEffect transition="out" filter="blinds(horizontal)">
                                      <p:cBhvr>
                                        <p:cTn id="25" dur="500"/>
                                        <p:tgtEl>
                                          <p:spTgt spid="1366122"/>
                                        </p:tgtEl>
                                      </p:cBhvr>
                                    </p:animEffect>
                                    <p:set>
                                      <p:cBhvr>
                                        <p:cTn id="26" dur="1" fill="hold">
                                          <p:stCondLst>
                                            <p:cond delay="499"/>
                                          </p:stCondLst>
                                        </p:cTn>
                                        <p:tgtEl>
                                          <p:spTgt spid="1366122"/>
                                        </p:tgtEl>
                                        <p:attrNameLst>
                                          <p:attrName>style.visibility</p:attrName>
                                        </p:attrNameLst>
                                      </p:cBhvr>
                                      <p:to>
                                        <p:strVal val="hidden"/>
                                      </p:to>
                                    </p:set>
                                  </p:childTnLst>
                                </p:cTn>
                              </p:par>
                              <p:par>
                                <p:cTn id="27" presetID="3" presetClass="exit" presetSubtype="10" fill="hold" grpId="1" nodeType="withEffect">
                                  <p:stCondLst>
                                    <p:cond delay="0"/>
                                  </p:stCondLst>
                                  <p:childTnLst>
                                    <p:animEffect transition="out" filter="blinds(horizontal)">
                                      <p:cBhvr>
                                        <p:cTn id="28" dur="500"/>
                                        <p:tgtEl>
                                          <p:spTgt spid="1366121"/>
                                        </p:tgtEl>
                                      </p:cBhvr>
                                    </p:animEffect>
                                    <p:set>
                                      <p:cBhvr>
                                        <p:cTn id="29" dur="1" fill="hold">
                                          <p:stCondLst>
                                            <p:cond delay="499"/>
                                          </p:stCondLst>
                                        </p:cTn>
                                        <p:tgtEl>
                                          <p:spTgt spid="1366121"/>
                                        </p:tgtEl>
                                        <p:attrNameLst>
                                          <p:attrName>style.visibility</p:attrName>
                                        </p:attrNameLst>
                                      </p:cBhvr>
                                      <p:to>
                                        <p:strVal val="hidden"/>
                                      </p:to>
                                    </p:set>
                                  </p:childTnLst>
                                </p:cTn>
                              </p:par>
                            </p:childTnLst>
                          </p:cTn>
                        </p:par>
                        <p:par>
                          <p:cTn id="30" fill="hold">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1366123"/>
                                        </p:tgtEl>
                                        <p:attrNameLst>
                                          <p:attrName>style.visibility</p:attrName>
                                        </p:attrNameLst>
                                      </p:cBhvr>
                                      <p:to>
                                        <p:strVal val="visible"/>
                                      </p:to>
                                    </p:set>
                                    <p:animEffect transition="in" filter="blinds(horizontal)">
                                      <p:cBhvr>
                                        <p:cTn id="33" dur="500"/>
                                        <p:tgtEl>
                                          <p:spTgt spid="1366123"/>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366124"/>
                                        </p:tgtEl>
                                        <p:attrNameLst>
                                          <p:attrName>style.visibility</p:attrName>
                                        </p:attrNameLst>
                                      </p:cBhvr>
                                      <p:to>
                                        <p:strVal val="visible"/>
                                      </p:to>
                                    </p:set>
                                    <p:animEffect transition="in" filter="blinds(horizontal)">
                                      <p:cBhvr>
                                        <p:cTn id="36" dur="500"/>
                                        <p:tgtEl>
                                          <p:spTgt spid="1366124"/>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94444E-6 2.22222E-6 L -0.57083 -0.33334 " pathEditMode="relative" rAng="0" ptsTypes="AA">
                                      <p:cBhvr>
                                        <p:cTn id="40" dur="2000" fill="hold"/>
                                        <p:tgtEl>
                                          <p:spTgt spid="18"/>
                                        </p:tgtEl>
                                        <p:attrNameLst>
                                          <p:attrName>ppt_x</p:attrName>
                                          <p:attrName>ppt_y</p:attrName>
                                        </p:attrNameLst>
                                      </p:cBhvr>
                                      <p:rCtr x="-28500" y="-16700"/>
                                    </p:animMotion>
                                  </p:childTnLst>
                                </p:cTn>
                              </p:par>
                              <p:par>
                                <p:cTn id="41" presetID="0" presetClass="path" presetSubtype="0" accel="50000" decel="50000" fill="hold" nodeType="withEffect">
                                  <p:stCondLst>
                                    <p:cond delay="0"/>
                                  </p:stCondLst>
                                  <p:childTnLst>
                                    <p:animMotion origin="layout" path="M -1.94444E-6 4.44444E-6 L -0.57083 -0.32963 " pathEditMode="relative" rAng="0" ptsTypes="AA">
                                      <p:cBhvr>
                                        <p:cTn id="42" dur="2000" fill="hold"/>
                                        <p:tgtEl>
                                          <p:spTgt spid="16"/>
                                        </p:tgtEl>
                                        <p:attrNameLst>
                                          <p:attrName>ppt_x</p:attrName>
                                          <p:attrName>ppt_y</p:attrName>
                                        </p:attrNameLst>
                                      </p:cBhvr>
                                      <p:rCtr x="-28500" y="-16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6040" grpId="0" animBg="1"/>
      <p:bldP spid="1366054" grpId="0" animBg="1"/>
      <p:bldP spid="1366121" grpId="0" animBg="1"/>
      <p:bldP spid="1366121" grpId="1" animBg="1"/>
      <p:bldP spid="1366122" grpId="0" animBg="1"/>
      <p:bldP spid="1366122" grpId="1" animBg="1"/>
      <p:bldP spid="1366123" grpId="0" animBg="1"/>
      <p:bldP spid="1366124"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Footer Placeholder 1"/>
          <p:cNvSpPr>
            <a:spLocks noGrp="1"/>
          </p:cNvSpPr>
          <p:nvPr>
            <p:ph type="ftr" sz="quarter" idx="10"/>
          </p:nvPr>
        </p:nvSpPr>
        <p:spPr>
          <a:noFill/>
        </p:spPr>
        <p:txBody>
          <a:bodyPr/>
          <a:lstStyle/>
          <a:p>
            <a:r>
              <a:rPr lang="en-US"/>
              <a:t>Art of Multiprocessor Programming</a:t>
            </a:r>
          </a:p>
        </p:txBody>
      </p:sp>
      <p:sp>
        <p:nvSpPr>
          <p:cNvPr id="148483" name="Slide Number Placeholder 2"/>
          <p:cNvSpPr>
            <a:spLocks noGrp="1"/>
          </p:cNvSpPr>
          <p:nvPr>
            <p:ph type="sldNum" sz="quarter" idx="11"/>
          </p:nvPr>
        </p:nvSpPr>
        <p:spPr>
          <a:noFill/>
        </p:spPr>
        <p:txBody>
          <a:bodyPr/>
          <a:lstStyle/>
          <a:p>
            <a:fld id="{152254A3-029D-4B4D-BAB1-A8BFCC4F8E8B}" type="slidenum">
              <a:rPr lang="x-none" smtClean="0"/>
              <a:pPr/>
              <a:t>138</a:t>
            </a:fld>
            <a:endParaRPr lang="en-US"/>
          </a:p>
        </p:txBody>
      </p:sp>
      <p:sp>
        <p:nvSpPr>
          <p:cNvPr id="5"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7956A85-B246-46A0-B02B-F2F5059EC778}" type="slidenum">
              <a:rPr lang="x-none" sz="1400">
                <a:solidFill>
                  <a:schemeClr val="tx1"/>
                </a:solidFill>
                <a:latin typeface="Arial" pitchFamily="34" charset="0"/>
                <a:cs typeface="Arial" pitchFamily="34" charset="0"/>
              </a:rPr>
              <a:pPr>
                <a:defRPr/>
              </a:pPr>
              <a:t>138</a:t>
            </a:fld>
            <a:endParaRPr lang="en-US" sz="1400" dirty="0">
              <a:solidFill>
                <a:schemeClr val="tx1"/>
              </a:solidFill>
              <a:latin typeface="Arial" pitchFamily="34" charset="0"/>
              <a:cs typeface="Arial" pitchFamily="34" charset="0"/>
            </a:endParaRPr>
          </a:p>
        </p:txBody>
      </p:sp>
      <p:sp>
        <p:nvSpPr>
          <p:cNvPr id="148485" name="Rectangle 2"/>
          <p:cNvSpPr>
            <a:spLocks noGrp="1" noChangeArrowheads="1"/>
          </p:cNvSpPr>
          <p:nvPr>
            <p:ph type="title" idx="4294967295"/>
          </p:nvPr>
        </p:nvSpPr>
        <p:spPr/>
        <p:txBody>
          <a:bodyPr/>
          <a:lstStyle/>
          <a:p>
            <a:r>
              <a:rPr lang="en-US"/>
              <a:t>Work-Balancing Thread</a:t>
            </a:r>
          </a:p>
        </p:txBody>
      </p:sp>
      <p:sp>
        <p:nvSpPr>
          <p:cNvPr id="148486"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tx1"/>
                </a:solidFill>
                <a:latin typeface="Courier New" pitchFamily="49" charset="0"/>
              </a:rPr>
              <a:t>public void</a:t>
            </a:r>
            <a:r>
              <a:rPr lang="en-US" sz="1800" b="1" dirty="0">
                <a:latin typeface="Courier New" pitchFamily="49" charset="0"/>
              </a:rPr>
              <a:t> run()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me = </a:t>
            </a:r>
            <a:r>
              <a:rPr lang="en-US" sz="1800" b="1" dirty="0" err="1">
                <a:latin typeface="Courier New" pitchFamily="49" charset="0"/>
              </a:rPr>
              <a:t>ThreadID.get</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while</a:t>
            </a:r>
            <a:r>
              <a:rPr lang="en-US" sz="1800" b="1" dirty="0">
                <a:latin typeface="Courier New" pitchFamily="49" charset="0"/>
              </a:rPr>
              <a:t> (</a:t>
            </a:r>
            <a:r>
              <a:rPr lang="en-US" sz="1800" b="1" dirty="0">
                <a:solidFill>
                  <a:schemeClr val="tx1"/>
                </a:solidFill>
                <a:latin typeface="Courier New" pitchFamily="49" charset="0"/>
              </a:rPr>
              <a:t>true</a:t>
            </a:r>
            <a:r>
              <a:rPr lang="en-US" sz="1800" b="1" dirty="0">
                <a:latin typeface="Courier New" pitchFamily="49" charset="0"/>
              </a:rPr>
              <a:t>) {</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task = queue[me].</a:t>
            </a:r>
            <a:r>
              <a:rPr lang="en-US" sz="1800" b="1" dirty="0" err="1">
                <a:latin typeface="Courier New" pitchFamily="49" charset="0"/>
              </a:rPr>
              <a:t>deq</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(task != null) </a:t>
            </a:r>
            <a:r>
              <a:rPr lang="en-US" sz="1800" b="1" dirty="0" err="1">
                <a:latin typeface="Courier New" pitchFamily="49" charset="0"/>
              </a:rPr>
              <a:t>task.run</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size = queue[me].size();</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a:t>
            </a:r>
            <a:r>
              <a:rPr lang="en-US" sz="1800" b="1" dirty="0" err="1">
                <a:latin typeface="Courier New" pitchFamily="49" charset="0"/>
              </a:rPr>
              <a:t>random.nextInt</a:t>
            </a:r>
            <a:r>
              <a:rPr lang="en-US" sz="1800" b="1" dirty="0">
                <a:latin typeface="Courier New" pitchFamily="49" charset="0"/>
              </a:rPr>
              <a:t>(size+1) == size) {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victim = </a:t>
            </a:r>
            <a:r>
              <a:rPr lang="en-US" sz="1800" b="1" dirty="0" err="1">
                <a:latin typeface="Courier New" pitchFamily="49" charset="0"/>
              </a:rPr>
              <a:t>random.nextInt</a:t>
            </a:r>
            <a:r>
              <a:rPr lang="en-US" sz="1800" b="1" dirty="0">
                <a:latin typeface="Courier New" pitchFamily="49" charset="0"/>
              </a:rPr>
              <a:t>(</a:t>
            </a:r>
            <a:r>
              <a:rPr lang="en-US" sz="1800" b="1" dirty="0" err="1">
                <a:latin typeface="Courier New" pitchFamily="49" charset="0"/>
              </a:rPr>
              <a:t>queue.length</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min = …, max =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synchronized</a:t>
            </a:r>
            <a:r>
              <a:rPr lang="en-US" sz="1800" b="1" dirty="0">
                <a:latin typeface="Courier New" pitchFamily="49" charset="0"/>
              </a:rPr>
              <a:t> (queue[min])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synchronized</a:t>
            </a:r>
            <a:r>
              <a:rPr lang="en-US" sz="1800" b="1" dirty="0">
                <a:latin typeface="Courier New" pitchFamily="49" charset="0"/>
              </a:rPr>
              <a:t> (queue[max]) {</a:t>
            </a:r>
          </a:p>
          <a:p>
            <a:pPr marL="342900" indent="-342900" algn="l">
              <a:spcBef>
                <a:spcPct val="20000"/>
              </a:spcBef>
            </a:pPr>
            <a:r>
              <a:rPr lang="en-US" sz="1800" b="1" dirty="0">
                <a:latin typeface="Courier New" pitchFamily="49" charset="0"/>
              </a:rPr>
              <a:t>        balance(queue[min], queue[max]);</a:t>
            </a:r>
          </a:p>
          <a:p>
            <a:pPr marL="342900" indent="-342900" algn="l">
              <a:spcBef>
                <a:spcPct val="20000"/>
              </a:spcBef>
            </a:pPr>
            <a:r>
              <a:rPr lang="en-US" sz="1800" b="1" dirty="0">
                <a:latin typeface="Courier New" pitchFamily="49" charset="0"/>
              </a:rPr>
              <a:t>}}}}}</a:t>
            </a: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1"/>
          <p:cNvSpPr>
            <a:spLocks noGrp="1"/>
          </p:cNvSpPr>
          <p:nvPr>
            <p:ph type="ftr" sz="quarter" idx="10"/>
          </p:nvPr>
        </p:nvSpPr>
        <p:spPr>
          <a:noFill/>
        </p:spPr>
        <p:txBody>
          <a:bodyPr/>
          <a:lstStyle/>
          <a:p>
            <a:r>
              <a:rPr lang="en-US"/>
              <a:t>Art of Multiprocessor Programming</a:t>
            </a:r>
          </a:p>
        </p:txBody>
      </p:sp>
      <p:sp>
        <p:nvSpPr>
          <p:cNvPr id="149507" name="Slide Number Placeholder 2"/>
          <p:cNvSpPr>
            <a:spLocks noGrp="1"/>
          </p:cNvSpPr>
          <p:nvPr>
            <p:ph type="sldNum" sz="quarter" idx="11"/>
          </p:nvPr>
        </p:nvSpPr>
        <p:spPr>
          <a:noFill/>
        </p:spPr>
        <p:txBody>
          <a:bodyPr/>
          <a:lstStyle/>
          <a:p>
            <a:fld id="{E62E7831-7747-4B03-BAB5-1197B7C1D106}" type="slidenum">
              <a:rPr lang="x-none" smtClean="0"/>
              <a:pPr/>
              <a:t>139</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688F0DB-DDBA-43F0-8DC3-6B6C5B6EA14E}" type="slidenum">
              <a:rPr lang="x-none" sz="1400">
                <a:solidFill>
                  <a:schemeClr val="tx1"/>
                </a:solidFill>
                <a:latin typeface="Arial" pitchFamily="34" charset="0"/>
                <a:cs typeface="Arial" pitchFamily="34" charset="0"/>
              </a:rPr>
              <a:pPr>
                <a:defRPr/>
              </a:pPr>
              <a:t>139</a:t>
            </a:fld>
            <a:endParaRPr lang="en-US" sz="1400" dirty="0">
              <a:solidFill>
                <a:schemeClr val="tx1"/>
              </a:solidFill>
              <a:latin typeface="Arial" pitchFamily="34" charset="0"/>
              <a:cs typeface="Arial" pitchFamily="34" charset="0"/>
            </a:endParaRPr>
          </a:p>
        </p:txBody>
      </p:sp>
      <p:sp>
        <p:nvSpPr>
          <p:cNvPr id="149509" name="Rectangle 2"/>
          <p:cNvSpPr>
            <a:spLocks noGrp="1" noChangeArrowheads="1"/>
          </p:cNvSpPr>
          <p:nvPr>
            <p:ph type="title" idx="4294967295"/>
          </p:nvPr>
        </p:nvSpPr>
        <p:spPr/>
        <p:txBody>
          <a:bodyPr/>
          <a:lstStyle/>
          <a:p>
            <a:r>
              <a:rPr lang="en-US"/>
              <a:t>Work-Balancing Thread</a:t>
            </a:r>
          </a:p>
        </p:txBody>
      </p:sp>
      <p:sp>
        <p:nvSpPr>
          <p:cNvPr id="149510"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void run()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me = </a:t>
            </a:r>
            <a:r>
              <a:rPr lang="en-US" sz="1800" b="1" dirty="0" err="1">
                <a:solidFill>
                  <a:schemeClr val="folHlink"/>
                </a:solidFill>
                <a:latin typeface="Courier New" pitchFamily="49" charset="0"/>
              </a:rPr>
              <a:t>ThreadID.get</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while (true) {</a:t>
            </a:r>
          </a:p>
          <a:p>
            <a:pPr marL="342900" indent="-342900" algn="l">
              <a:spcBef>
                <a:spcPct val="20000"/>
              </a:spcBef>
            </a:pPr>
            <a:r>
              <a:rPr lang="en-US" sz="1800" b="1" dirty="0">
                <a:latin typeface="Courier New" pitchFamily="49" charset="0"/>
              </a:rPr>
              <a:t>  </a:t>
            </a:r>
            <a:r>
              <a:rPr lang="en-US" sz="1800" b="1" dirty="0" err="1">
                <a:latin typeface="Courier New" pitchFamily="49" charset="0"/>
              </a:rPr>
              <a:t>Runnable</a:t>
            </a:r>
            <a:r>
              <a:rPr lang="en-US" sz="1800" b="1" dirty="0">
                <a:latin typeface="Courier New" pitchFamily="49" charset="0"/>
              </a:rPr>
              <a:t> task = queue[me].</a:t>
            </a:r>
            <a:r>
              <a:rPr lang="en-US" sz="1800" b="1" dirty="0" err="1">
                <a:latin typeface="Courier New" pitchFamily="49" charset="0"/>
              </a:rPr>
              <a:t>deq</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(task != null) </a:t>
            </a:r>
            <a:r>
              <a:rPr lang="en-US" sz="1800" b="1" dirty="0" err="1">
                <a:latin typeface="Courier New" pitchFamily="49" charset="0"/>
              </a:rPr>
              <a:t>task.run</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size = queue[me].size();</a:t>
            </a:r>
          </a:p>
          <a:p>
            <a:pPr marL="342900" indent="-342900" algn="l">
              <a:spcBef>
                <a:spcPct val="20000"/>
              </a:spcBef>
            </a:pPr>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(size+1) == size)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victim =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queue.length</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min = …, max = …;</a:t>
            </a:r>
          </a:p>
          <a:p>
            <a:pPr marL="342900" indent="-342900" algn="l">
              <a:spcBef>
                <a:spcPct val="20000"/>
              </a:spcBef>
            </a:pPr>
            <a:r>
              <a:rPr lang="en-US" sz="1800" b="1" dirty="0">
                <a:solidFill>
                  <a:schemeClr val="folHlink"/>
                </a:solidFill>
                <a:latin typeface="Courier New" pitchFamily="49" charset="0"/>
              </a:rPr>
              <a:t>    synchronized (queue[min]) {</a:t>
            </a:r>
          </a:p>
          <a:p>
            <a:pPr marL="342900" indent="-342900" algn="l">
              <a:spcBef>
                <a:spcPct val="20000"/>
              </a:spcBef>
            </a:pPr>
            <a:r>
              <a:rPr lang="en-US" sz="1800" b="1" dirty="0">
                <a:solidFill>
                  <a:schemeClr val="folHlink"/>
                </a:solidFill>
                <a:latin typeface="Courier New" pitchFamily="49" charset="0"/>
              </a:rPr>
              <a:t>     synchronized (queue[max]) {</a:t>
            </a:r>
          </a:p>
          <a:p>
            <a:pPr marL="342900" indent="-342900" algn="l">
              <a:spcBef>
                <a:spcPct val="20000"/>
              </a:spcBef>
            </a:pPr>
            <a:r>
              <a:rPr lang="en-US" sz="1800" b="1" dirty="0">
                <a:solidFill>
                  <a:schemeClr val="folHlink"/>
                </a:solidFill>
                <a:latin typeface="Courier New" pitchFamily="49" charset="0"/>
              </a:rPr>
              <a:t>        balance(queue[min], queue[max]);</a:t>
            </a:r>
          </a:p>
          <a:p>
            <a:pPr marL="342900" indent="-342900" algn="l">
              <a:spcBef>
                <a:spcPct val="20000"/>
              </a:spcBef>
            </a:pPr>
            <a:r>
              <a:rPr lang="en-US" sz="1800" b="1" dirty="0">
                <a:solidFill>
                  <a:schemeClr val="folHlink"/>
                </a:solidFill>
                <a:latin typeface="Courier New" pitchFamily="49" charset="0"/>
              </a:rPr>
              <a:t>}}}}}</a:t>
            </a:r>
          </a:p>
        </p:txBody>
      </p:sp>
      <p:sp>
        <p:nvSpPr>
          <p:cNvPr id="149511" name="AutoShape 4"/>
          <p:cNvSpPr>
            <a:spLocks noChangeArrowheads="1"/>
          </p:cNvSpPr>
          <p:nvPr/>
        </p:nvSpPr>
        <p:spPr bwMode="auto">
          <a:xfrm>
            <a:off x="1104900" y="2565400"/>
            <a:ext cx="4559300" cy="673100"/>
          </a:xfrm>
          <a:prstGeom prst="wedgeRoundRectCallout">
            <a:avLst>
              <a:gd name="adj1" fmla="val 45894"/>
              <a:gd name="adj2" fmla="val 236083"/>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
        <p:nvSpPr>
          <p:cNvPr id="149512" name="Text Box 5"/>
          <p:cNvSpPr txBox="1">
            <a:spLocks noChangeArrowheads="1"/>
          </p:cNvSpPr>
          <p:nvPr/>
        </p:nvSpPr>
        <p:spPr bwMode="auto">
          <a:xfrm>
            <a:off x="5307460" y="4541838"/>
            <a:ext cx="3039615" cy="461665"/>
          </a:xfrm>
          <a:prstGeom prst="rect">
            <a:avLst/>
          </a:prstGeom>
          <a:solidFill>
            <a:srgbClr val="FFFFCC">
              <a:alpha val="79999"/>
            </a:srgbClr>
          </a:solidFill>
          <a:ln w="38100" algn="ctr">
            <a:noFill/>
            <a:miter lim="800000"/>
            <a:headEnd/>
            <a:tailEnd/>
          </a:ln>
        </p:spPr>
        <p:txBody>
          <a:bodyPr wrap="none">
            <a:spAutoFit/>
          </a:bodyPr>
          <a:lstStyle/>
          <a:p>
            <a:r>
              <a:rPr lang="en-US" b="1" dirty="0">
                <a:solidFill>
                  <a:srgbClr val="FF0000"/>
                </a:solidFill>
                <a:latin typeface="Arial" pitchFamily="34" charset="0"/>
              </a:rPr>
              <a:t>Keep running tasks</a:t>
            </a: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Footer Placeholder 1"/>
          <p:cNvSpPr>
            <a:spLocks noGrp="1"/>
          </p:cNvSpPr>
          <p:nvPr>
            <p:ph type="ftr" sz="quarter" idx="10"/>
          </p:nvPr>
        </p:nvSpPr>
        <p:spPr>
          <a:noFill/>
        </p:spPr>
        <p:txBody>
          <a:bodyPr/>
          <a:lstStyle/>
          <a:p>
            <a:r>
              <a:rPr lang="en-US"/>
              <a:t>Art of Multiprocessor Programming</a:t>
            </a:r>
          </a:p>
        </p:txBody>
      </p:sp>
      <p:sp>
        <p:nvSpPr>
          <p:cNvPr id="150531" name="Slide Number Placeholder 2"/>
          <p:cNvSpPr>
            <a:spLocks noGrp="1"/>
          </p:cNvSpPr>
          <p:nvPr>
            <p:ph type="sldNum" sz="quarter" idx="11"/>
          </p:nvPr>
        </p:nvSpPr>
        <p:spPr>
          <a:noFill/>
        </p:spPr>
        <p:txBody>
          <a:bodyPr/>
          <a:lstStyle/>
          <a:p>
            <a:fld id="{41ABA7AD-76B6-4834-8874-F87FAD5BAB00}" type="slidenum">
              <a:rPr lang="x-none" smtClean="0"/>
              <a:pPr/>
              <a:t>140</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9B37B9F-5DF9-4326-8154-23D386BDB10E}" type="slidenum">
              <a:rPr lang="x-none" sz="1400">
                <a:solidFill>
                  <a:schemeClr val="tx1"/>
                </a:solidFill>
                <a:latin typeface="Arial" pitchFamily="34" charset="0"/>
                <a:cs typeface="Arial" pitchFamily="34" charset="0"/>
              </a:rPr>
              <a:pPr>
                <a:defRPr/>
              </a:pPr>
              <a:t>140</a:t>
            </a:fld>
            <a:endParaRPr lang="en-US" sz="1400" dirty="0">
              <a:solidFill>
                <a:schemeClr val="tx1"/>
              </a:solidFill>
              <a:latin typeface="Arial" pitchFamily="34" charset="0"/>
              <a:cs typeface="Arial" pitchFamily="34" charset="0"/>
            </a:endParaRPr>
          </a:p>
        </p:txBody>
      </p:sp>
      <p:sp>
        <p:nvSpPr>
          <p:cNvPr id="150533" name="Rectangle 2"/>
          <p:cNvSpPr>
            <a:spLocks noGrp="1" noChangeArrowheads="1"/>
          </p:cNvSpPr>
          <p:nvPr>
            <p:ph type="title" idx="4294967295"/>
          </p:nvPr>
        </p:nvSpPr>
        <p:spPr/>
        <p:txBody>
          <a:bodyPr/>
          <a:lstStyle/>
          <a:p>
            <a:r>
              <a:rPr lang="en-US"/>
              <a:t>Work-Balancing Thread</a:t>
            </a:r>
          </a:p>
        </p:txBody>
      </p:sp>
      <p:sp>
        <p:nvSpPr>
          <p:cNvPr id="150534"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void run()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me = </a:t>
            </a:r>
            <a:r>
              <a:rPr lang="en-US" sz="1800" b="1" dirty="0" err="1">
                <a:solidFill>
                  <a:schemeClr val="folHlink"/>
                </a:solidFill>
                <a:latin typeface="Courier New" pitchFamily="49" charset="0"/>
              </a:rPr>
              <a:t>ThreadID.get</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while (true)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task = queue[me].</a:t>
            </a:r>
            <a:r>
              <a:rPr lang="en-US" sz="1800" b="1" dirty="0" err="1">
                <a:solidFill>
                  <a:schemeClr val="folHlink"/>
                </a:solidFill>
                <a:latin typeface="Courier New" pitchFamily="49" charset="0"/>
              </a:rPr>
              <a:t>deq</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(task != null) </a:t>
            </a:r>
            <a:r>
              <a:rPr lang="en-US" sz="1800" b="1" dirty="0" err="1">
                <a:solidFill>
                  <a:schemeClr val="folHlink"/>
                </a:solidFill>
                <a:latin typeface="Courier New" pitchFamily="49" charset="0"/>
              </a:rPr>
              <a:t>task.run</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size = queue[me].size();</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a:t>
            </a:r>
            <a:r>
              <a:rPr lang="en-US" sz="1800" b="1" dirty="0" err="1">
                <a:latin typeface="Courier New" pitchFamily="49" charset="0"/>
              </a:rPr>
              <a:t>random.nextInt</a:t>
            </a:r>
            <a:r>
              <a:rPr lang="en-US" sz="1800" b="1" dirty="0">
                <a:latin typeface="Courier New" pitchFamily="49" charset="0"/>
              </a:rPr>
              <a:t>(size+1) == size) {	</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victim =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queue.length</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min = …, max = …;</a:t>
            </a:r>
          </a:p>
          <a:p>
            <a:pPr marL="342900" indent="-342900" algn="l">
              <a:spcBef>
                <a:spcPct val="20000"/>
              </a:spcBef>
            </a:pPr>
            <a:r>
              <a:rPr lang="en-US" sz="1800" b="1" dirty="0">
                <a:solidFill>
                  <a:schemeClr val="folHlink"/>
                </a:solidFill>
                <a:latin typeface="Courier New" pitchFamily="49" charset="0"/>
              </a:rPr>
              <a:t>    synchronized (queue[min]) {</a:t>
            </a:r>
          </a:p>
          <a:p>
            <a:pPr marL="342900" indent="-342900" algn="l">
              <a:spcBef>
                <a:spcPct val="20000"/>
              </a:spcBef>
            </a:pPr>
            <a:r>
              <a:rPr lang="en-US" sz="1800" b="1" dirty="0">
                <a:solidFill>
                  <a:schemeClr val="folHlink"/>
                </a:solidFill>
                <a:latin typeface="Courier New" pitchFamily="49" charset="0"/>
              </a:rPr>
              <a:t>     synchronized (queue[max]) {</a:t>
            </a:r>
          </a:p>
          <a:p>
            <a:pPr marL="342900" indent="-342900" algn="l">
              <a:spcBef>
                <a:spcPct val="20000"/>
              </a:spcBef>
            </a:pPr>
            <a:r>
              <a:rPr lang="en-US" sz="1800" b="1" dirty="0">
                <a:solidFill>
                  <a:schemeClr val="folHlink"/>
                </a:solidFill>
                <a:latin typeface="Courier New" pitchFamily="49" charset="0"/>
              </a:rPr>
              <a:t>        balance(queue[min], queue[max]);</a:t>
            </a:r>
          </a:p>
          <a:p>
            <a:pPr marL="342900" indent="-342900" algn="l">
              <a:spcBef>
                <a:spcPct val="20000"/>
              </a:spcBef>
            </a:pPr>
            <a:r>
              <a:rPr lang="en-US" sz="1800" b="1" dirty="0">
                <a:solidFill>
                  <a:schemeClr val="folHlink"/>
                </a:solidFill>
                <a:latin typeface="Courier New" pitchFamily="49" charset="0"/>
              </a:rPr>
              <a:t>}}}}}</a:t>
            </a:r>
          </a:p>
        </p:txBody>
      </p:sp>
      <p:sp>
        <p:nvSpPr>
          <p:cNvPr id="150535" name="Text Box 5"/>
          <p:cNvSpPr txBox="1">
            <a:spLocks noChangeArrowheads="1"/>
          </p:cNvSpPr>
          <p:nvPr/>
        </p:nvSpPr>
        <p:spPr bwMode="auto">
          <a:xfrm>
            <a:off x="5748520" y="1722438"/>
            <a:ext cx="2503122" cy="830997"/>
          </a:xfrm>
          <a:prstGeom prst="rect">
            <a:avLst/>
          </a:prstGeom>
          <a:solidFill>
            <a:srgbClr val="FFFFCC">
              <a:alpha val="79999"/>
            </a:srgbClr>
          </a:solidFill>
          <a:ln w="38100" algn="ctr">
            <a:noFill/>
            <a:miter lim="800000"/>
            <a:headEnd/>
            <a:tailEnd/>
          </a:ln>
        </p:spPr>
        <p:txBody>
          <a:bodyPr wrap="none">
            <a:spAutoFit/>
          </a:bodyPr>
          <a:lstStyle/>
          <a:p>
            <a:pPr algn="ctr"/>
            <a:r>
              <a:rPr lang="en-US" b="1" dirty="0">
                <a:solidFill>
                  <a:srgbClr val="FF0000"/>
                </a:solidFill>
                <a:latin typeface="Arial" pitchFamily="34" charset="0"/>
              </a:rPr>
              <a:t>With probability</a:t>
            </a:r>
          </a:p>
          <a:p>
            <a:pPr algn="ctr"/>
            <a:r>
              <a:rPr lang="en-US" b="1" dirty="0">
                <a:solidFill>
                  <a:srgbClr val="FF0000"/>
                </a:solidFill>
                <a:latin typeface="Arial" pitchFamily="34" charset="0"/>
              </a:rPr>
              <a:t>1/|queue|</a:t>
            </a:r>
          </a:p>
        </p:txBody>
      </p:sp>
      <p:sp>
        <p:nvSpPr>
          <p:cNvPr id="150536" name="AutoShape 4"/>
          <p:cNvSpPr>
            <a:spLocks noChangeArrowheads="1"/>
          </p:cNvSpPr>
          <p:nvPr/>
        </p:nvSpPr>
        <p:spPr bwMode="auto">
          <a:xfrm>
            <a:off x="1117600" y="3175000"/>
            <a:ext cx="5448300" cy="774700"/>
          </a:xfrm>
          <a:prstGeom prst="wedgeRoundRectCallout">
            <a:avLst>
              <a:gd name="adj1" fmla="val 40269"/>
              <a:gd name="adj2" fmla="val -162088"/>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1"/>
          <p:cNvSpPr>
            <a:spLocks noGrp="1"/>
          </p:cNvSpPr>
          <p:nvPr>
            <p:ph type="ftr" sz="quarter" idx="10"/>
          </p:nvPr>
        </p:nvSpPr>
        <p:spPr>
          <a:noFill/>
        </p:spPr>
        <p:txBody>
          <a:bodyPr/>
          <a:lstStyle/>
          <a:p>
            <a:r>
              <a:rPr lang="en-US"/>
              <a:t>Art of Multiprocessor Programming</a:t>
            </a:r>
          </a:p>
        </p:txBody>
      </p:sp>
      <p:sp>
        <p:nvSpPr>
          <p:cNvPr id="151555" name="Slide Number Placeholder 2"/>
          <p:cNvSpPr>
            <a:spLocks noGrp="1"/>
          </p:cNvSpPr>
          <p:nvPr>
            <p:ph type="sldNum" sz="quarter" idx="11"/>
          </p:nvPr>
        </p:nvSpPr>
        <p:spPr>
          <a:noFill/>
        </p:spPr>
        <p:txBody>
          <a:bodyPr/>
          <a:lstStyle/>
          <a:p>
            <a:fld id="{6C5DE8B3-15C9-4CC9-B9E2-AB4E452DEE41}" type="slidenum">
              <a:rPr lang="x-none" smtClean="0"/>
              <a:pPr/>
              <a:t>141</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62473C1-B424-4CEA-AA0C-BBB72AA0FD08}" type="slidenum">
              <a:rPr lang="x-none" sz="1400">
                <a:solidFill>
                  <a:schemeClr val="tx1"/>
                </a:solidFill>
                <a:latin typeface="Arial" pitchFamily="34" charset="0"/>
                <a:cs typeface="Arial" pitchFamily="34" charset="0"/>
              </a:rPr>
              <a:pPr>
                <a:defRPr/>
              </a:pPr>
              <a:t>141</a:t>
            </a:fld>
            <a:endParaRPr lang="en-US" sz="1400" dirty="0">
              <a:solidFill>
                <a:schemeClr val="tx1"/>
              </a:solidFill>
              <a:latin typeface="Arial" pitchFamily="34" charset="0"/>
              <a:cs typeface="Arial" pitchFamily="34" charset="0"/>
            </a:endParaRPr>
          </a:p>
        </p:txBody>
      </p:sp>
      <p:sp>
        <p:nvSpPr>
          <p:cNvPr id="151557" name="Rectangle 2"/>
          <p:cNvSpPr>
            <a:spLocks noGrp="1" noChangeArrowheads="1"/>
          </p:cNvSpPr>
          <p:nvPr>
            <p:ph type="title" idx="4294967295"/>
          </p:nvPr>
        </p:nvSpPr>
        <p:spPr/>
        <p:txBody>
          <a:bodyPr/>
          <a:lstStyle/>
          <a:p>
            <a:r>
              <a:rPr lang="en-US"/>
              <a:t>Work-Balancing Thread</a:t>
            </a:r>
          </a:p>
        </p:txBody>
      </p:sp>
      <p:sp>
        <p:nvSpPr>
          <p:cNvPr id="151558"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void run()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me = </a:t>
            </a:r>
            <a:r>
              <a:rPr lang="en-US" sz="1800" b="1" dirty="0" err="1">
                <a:solidFill>
                  <a:schemeClr val="folHlink"/>
                </a:solidFill>
                <a:latin typeface="Courier New" pitchFamily="49" charset="0"/>
              </a:rPr>
              <a:t>ThreadID.get</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while (true)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task = queue[me].</a:t>
            </a:r>
            <a:r>
              <a:rPr lang="en-US" sz="1800" b="1" dirty="0" err="1">
                <a:solidFill>
                  <a:schemeClr val="folHlink"/>
                </a:solidFill>
                <a:latin typeface="Courier New" pitchFamily="49" charset="0"/>
              </a:rPr>
              <a:t>deq</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(task != null) </a:t>
            </a:r>
            <a:r>
              <a:rPr lang="en-US" sz="1800" b="1" dirty="0" err="1">
                <a:solidFill>
                  <a:schemeClr val="folHlink"/>
                </a:solidFill>
                <a:latin typeface="Courier New" pitchFamily="49" charset="0"/>
              </a:rPr>
              <a:t>task.run</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size = queue[me].size();</a:t>
            </a:r>
          </a:p>
          <a:p>
            <a:pPr marL="342900" indent="-342900" algn="l">
              <a:spcBef>
                <a:spcPct val="20000"/>
              </a:spcBef>
            </a:pPr>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(size+1) == size) {	</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victim = </a:t>
            </a:r>
            <a:r>
              <a:rPr lang="en-US" sz="1800" b="1" dirty="0" err="1">
                <a:latin typeface="Courier New" pitchFamily="49" charset="0"/>
              </a:rPr>
              <a:t>random.nextInt</a:t>
            </a:r>
            <a:r>
              <a:rPr lang="en-US" sz="1800" b="1" dirty="0">
                <a:latin typeface="Courier New" pitchFamily="49" charset="0"/>
              </a:rPr>
              <a:t>(</a:t>
            </a:r>
            <a:r>
              <a:rPr lang="en-US" sz="1800" b="1" dirty="0" err="1">
                <a:latin typeface="Courier New" pitchFamily="49" charset="0"/>
              </a:rPr>
              <a:t>queue.length</a:t>
            </a:r>
            <a:r>
              <a:rPr lang="en-US" sz="1800" b="1" dirty="0">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min = …, max = …;</a:t>
            </a:r>
          </a:p>
          <a:p>
            <a:pPr marL="342900" indent="-342900" algn="l">
              <a:spcBef>
                <a:spcPct val="20000"/>
              </a:spcBef>
            </a:pPr>
            <a:r>
              <a:rPr lang="en-US" sz="1800" b="1" dirty="0">
                <a:solidFill>
                  <a:schemeClr val="folHlink"/>
                </a:solidFill>
                <a:latin typeface="Courier New" pitchFamily="49" charset="0"/>
              </a:rPr>
              <a:t>    synchronized (queue[min]) {</a:t>
            </a:r>
          </a:p>
          <a:p>
            <a:pPr marL="342900" indent="-342900" algn="l">
              <a:spcBef>
                <a:spcPct val="20000"/>
              </a:spcBef>
            </a:pPr>
            <a:r>
              <a:rPr lang="en-US" sz="1800" b="1" dirty="0">
                <a:solidFill>
                  <a:schemeClr val="folHlink"/>
                </a:solidFill>
                <a:latin typeface="Courier New" pitchFamily="49" charset="0"/>
              </a:rPr>
              <a:t>     synchronized (queue[max]) {</a:t>
            </a:r>
          </a:p>
          <a:p>
            <a:pPr marL="342900" indent="-342900" algn="l">
              <a:spcBef>
                <a:spcPct val="20000"/>
              </a:spcBef>
            </a:pPr>
            <a:r>
              <a:rPr lang="en-US" sz="1800" b="1" dirty="0">
                <a:solidFill>
                  <a:schemeClr val="folHlink"/>
                </a:solidFill>
                <a:latin typeface="Courier New" pitchFamily="49" charset="0"/>
              </a:rPr>
              <a:t>        balance(queue[min], queue[max]);</a:t>
            </a:r>
          </a:p>
          <a:p>
            <a:pPr marL="342900" indent="-342900" algn="l">
              <a:spcBef>
                <a:spcPct val="20000"/>
              </a:spcBef>
            </a:pPr>
            <a:r>
              <a:rPr lang="en-US" sz="1800" b="1" dirty="0">
                <a:solidFill>
                  <a:schemeClr val="folHlink"/>
                </a:solidFill>
                <a:latin typeface="Courier New" pitchFamily="49" charset="0"/>
              </a:rPr>
              <a:t>}}}}}</a:t>
            </a:r>
          </a:p>
        </p:txBody>
      </p:sp>
      <p:sp>
        <p:nvSpPr>
          <p:cNvPr id="151559" name="Text Box 4"/>
          <p:cNvSpPr txBox="1">
            <a:spLocks noChangeArrowheads="1"/>
          </p:cNvSpPr>
          <p:nvPr/>
        </p:nvSpPr>
        <p:spPr bwMode="auto">
          <a:xfrm>
            <a:off x="4664448" y="2116138"/>
            <a:ext cx="3501280" cy="461665"/>
          </a:xfrm>
          <a:prstGeom prst="rect">
            <a:avLst/>
          </a:prstGeom>
          <a:solidFill>
            <a:srgbClr val="FFFFCC">
              <a:alpha val="79999"/>
            </a:srgbClr>
          </a:solidFill>
          <a:ln w="38100" algn="ctr">
            <a:noFill/>
            <a:miter lim="800000"/>
            <a:headEnd/>
            <a:tailEnd/>
          </a:ln>
        </p:spPr>
        <p:txBody>
          <a:bodyPr wrap="none">
            <a:spAutoFit/>
          </a:bodyPr>
          <a:lstStyle/>
          <a:p>
            <a:pPr algn="ctr"/>
            <a:r>
              <a:rPr lang="en-US" b="1" dirty="0">
                <a:solidFill>
                  <a:srgbClr val="FF0000"/>
                </a:solidFill>
                <a:latin typeface="Arial" pitchFamily="34" charset="0"/>
              </a:rPr>
              <a:t>Choose random victim</a:t>
            </a:r>
          </a:p>
        </p:txBody>
      </p:sp>
      <p:sp>
        <p:nvSpPr>
          <p:cNvPr id="151560" name="AutoShape 5"/>
          <p:cNvSpPr>
            <a:spLocks noChangeArrowheads="1"/>
          </p:cNvSpPr>
          <p:nvPr/>
        </p:nvSpPr>
        <p:spPr bwMode="auto">
          <a:xfrm>
            <a:off x="1143000" y="3835400"/>
            <a:ext cx="6197600" cy="444500"/>
          </a:xfrm>
          <a:prstGeom prst="wedgeRoundRectCallout">
            <a:avLst>
              <a:gd name="adj1" fmla="val 26690"/>
              <a:gd name="adj2" fmla="val -336787"/>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Footer Placeholder 1"/>
          <p:cNvSpPr>
            <a:spLocks noGrp="1"/>
          </p:cNvSpPr>
          <p:nvPr>
            <p:ph type="ftr" sz="quarter" idx="10"/>
          </p:nvPr>
        </p:nvSpPr>
        <p:spPr>
          <a:noFill/>
        </p:spPr>
        <p:txBody>
          <a:bodyPr/>
          <a:lstStyle/>
          <a:p>
            <a:r>
              <a:rPr lang="en-US"/>
              <a:t>Art of Multiprocessor Programming</a:t>
            </a:r>
          </a:p>
        </p:txBody>
      </p:sp>
      <p:sp>
        <p:nvSpPr>
          <p:cNvPr id="152579" name="Slide Number Placeholder 2"/>
          <p:cNvSpPr>
            <a:spLocks noGrp="1"/>
          </p:cNvSpPr>
          <p:nvPr>
            <p:ph type="sldNum" sz="quarter" idx="11"/>
          </p:nvPr>
        </p:nvSpPr>
        <p:spPr>
          <a:noFill/>
        </p:spPr>
        <p:txBody>
          <a:bodyPr/>
          <a:lstStyle/>
          <a:p>
            <a:fld id="{1301C9A3-4F4F-4524-BA98-3EF4256C374D}" type="slidenum">
              <a:rPr lang="x-none" smtClean="0"/>
              <a:pPr/>
              <a:t>142</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42855DA7-308D-44A4-98BC-11CB74C5B1B9}" type="slidenum">
              <a:rPr lang="x-none" sz="1400">
                <a:solidFill>
                  <a:schemeClr val="tx1"/>
                </a:solidFill>
                <a:latin typeface="Arial" pitchFamily="34" charset="0"/>
                <a:cs typeface="Arial" pitchFamily="34" charset="0"/>
              </a:rPr>
              <a:pPr>
                <a:defRPr/>
              </a:pPr>
              <a:t>142</a:t>
            </a:fld>
            <a:endParaRPr lang="en-US" sz="1400" dirty="0">
              <a:solidFill>
                <a:schemeClr val="tx1"/>
              </a:solidFill>
              <a:latin typeface="Arial" pitchFamily="34" charset="0"/>
              <a:cs typeface="Arial" pitchFamily="34" charset="0"/>
            </a:endParaRPr>
          </a:p>
        </p:txBody>
      </p:sp>
      <p:sp>
        <p:nvSpPr>
          <p:cNvPr id="152581" name="Rectangle 2"/>
          <p:cNvSpPr>
            <a:spLocks noGrp="1" noChangeArrowheads="1"/>
          </p:cNvSpPr>
          <p:nvPr>
            <p:ph type="title" idx="4294967295"/>
          </p:nvPr>
        </p:nvSpPr>
        <p:spPr/>
        <p:txBody>
          <a:bodyPr/>
          <a:lstStyle/>
          <a:p>
            <a:r>
              <a:rPr lang="en-US"/>
              <a:t>Work-Balancing Thread</a:t>
            </a:r>
          </a:p>
        </p:txBody>
      </p:sp>
      <p:sp>
        <p:nvSpPr>
          <p:cNvPr id="152582"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void run()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me = </a:t>
            </a:r>
            <a:r>
              <a:rPr lang="en-US" sz="1800" b="1" dirty="0" err="1">
                <a:solidFill>
                  <a:schemeClr val="folHlink"/>
                </a:solidFill>
                <a:latin typeface="Courier New" pitchFamily="49" charset="0"/>
              </a:rPr>
              <a:t>ThreadID.get</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while (true)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task = queue[me].</a:t>
            </a:r>
            <a:r>
              <a:rPr lang="en-US" sz="1800" b="1" dirty="0" err="1">
                <a:solidFill>
                  <a:schemeClr val="folHlink"/>
                </a:solidFill>
                <a:latin typeface="Courier New" pitchFamily="49" charset="0"/>
              </a:rPr>
              <a:t>deq</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(task != null) </a:t>
            </a:r>
            <a:r>
              <a:rPr lang="en-US" sz="1800" b="1" dirty="0" err="1">
                <a:solidFill>
                  <a:schemeClr val="folHlink"/>
                </a:solidFill>
                <a:latin typeface="Courier New" pitchFamily="49" charset="0"/>
              </a:rPr>
              <a:t>task.run</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size = queue[me].size();</a:t>
            </a:r>
          </a:p>
          <a:p>
            <a:pPr marL="342900" indent="-342900" algn="l">
              <a:spcBef>
                <a:spcPct val="20000"/>
              </a:spcBef>
            </a:pPr>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(size+1) == size)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victim =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queue.length</a:t>
            </a:r>
            <a:r>
              <a:rPr lang="en-US" sz="1800" b="1" dirty="0">
                <a:solidFill>
                  <a:schemeClr val="folHlink"/>
                </a:solidFill>
                <a:latin typeface="Courier New" pitchFamily="49" charset="0"/>
              </a:rPr>
              <a:t>);</a:t>
            </a:r>
          </a:p>
          <a:p>
            <a:pPr marL="342900" indent="-342900" algn="l">
              <a:spcBef>
                <a:spcPct val="20000"/>
              </a:spcBef>
            </a:pP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min = …, max =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synchronized</a:t>
            </a:r>
            <a:r>
              <a:rPr lang="en-US" sz="1800" b="1" dirty="0">
                <a:latin typeface="Courier New" pitchFamily="49" charset="0"/>
              </a:rPr>
              <a:t> (queue[min]) {</a:t>
            </a:r>
          </a:p>
          <a:p>
            <a:pPr marL="342900" indent="-342900" algn="l">
              <a:spcBef>
                <a:spcPct val="20000"/>
              </a:spcBef>
            </a:pPr>
            <a:r>
              <a:rPr lang="en-US" sz="1800" b="1" dirty="0">
                <a:latin typeface="Courier New" pitchFamily="49" charset="0"/>
              </a:rPr>
              <a:t>     </a:t>
            </a:r>
            <a:r>
              <a:rPr lang="en-US" sz="1800" b="1" dirty="0">
                <a:solidFill>
                  <a:schemeClr val="tx1"/>
                </a:solidFill>
                <a:latin typeface="Courier New" pitchFamily="49" charset="0"/>
              </a:rPr>
              <a:t>synchronized</a:t>
            </a:r>
            <a:r>
              <a:rPr lang="en-US" sz="1800" b="1" dirty="0">
                <a:latin typeface="Courier New" pitchFamily="49" charset="0"/>
              </a:rPr>
              <a:t> (queue[max]) {</a:t>
            </a:r>
          </a:p>
          <a:p>
            <a:pPr marL="342900" indent="-342900" algn="l">
              <a:spcBef>
                <a:spcPct val="20000"/>
              </a:spcBef>
            </a:pPr>
            <a:r>
              <a:rPr lang="en-US" sz="1800" b="1" dirty="0">
                <a:latin typeface="Courier New" pitchFamily="49" charset="0"/>
              </a:rPr>
              <a:t>        </a:t>
            </a:r>
            <a:r>
              <a:rPr lang="en-US" sz="1800" b="1" dirty="0">
                <a:solidFill>
                  <a:schemeClr val="folHlink"/>
                </a:solidFill>
                <a:latin typeface="Courier New" pitchFamily="49" charset="0"/>
              </a:rPr>
              <a:t>balance(queue[min], queue[max]);</a:t>
            </a:r>
          </a:p>
          <a:p>
            <a:pPr marL="342900" indent="-342900" algn="l">
              <a:spcBef>
                <a:spcPct val="20000"/>
              </a:spcBef>
            </a:pPr>
            <a:r>
              <a:rPr lang="en-US" sz="1800" b="1" dirty="0">
                <a:solidFill>
                  <a:schemeClr val="folHlink"/>
                </a:solidFill>
                <a:latin typeface="Courier New" pitchFamily="49" charset="0"/>
              </a:rPr>
              <a:t>}}}}}</a:t>
            </a:r>
          </a:p>
        </p:txBody>
      </p:sp>
      <p:sp>
        <p:nvSpPr>
          <p:cNvPr id="152583" name="Text Box 4"/>
          <p:cNvSpPr txBox="1">
            <a:spLocks noChangeArrowheads="1"/>
          </p:cNvSpPr>
          <p:nvPr/>
        </p:nvSpPr>
        <p:spPr bwMode="auto">
          <a:xfrm>
            <a:off x="3815215" y="2116138"/>
            <a:ext cx="4798109" cy="461665"/>
          </a:xfrm>
          <a:prstGeom prst="rect">
            <a:avLst/>
          </a:prstGeom>
          <a:solidFill>
            <a:srgbClr val="FFFFCC">
              <a:alpha val="79999"/>
            </a:srgbClr>
          </a:solidFill>
          <a:ln w="38100" algn="ctr">
            <a:noFill/>
            <a:miter lim="800000"/>
            <a:headEnd/>
            <a:tailEnd/>
          </a:ln>
        </p:spPr>
        <p:txBody>
          <a:bodyPr wrap="none">
            <a:spAutoFit/>
          </a:bodyPr>
          <a:lstStyle/>
          <a:p>
            <a:pPr algn="ctr"/>
            <a:r>
              <a:rPr lang="en-US" b="1" dirty="0">
                <a:solidFill>
                  <a:srgbClr val="FF0000"/>
                </a:solidFill>
                <a:latin typeface="Arial" pitchFamily="34" charset="0"/>
              </a:rPr>
              <a:t>Lock queues in canonical order</a:t>
            </a:r>
          </a:p>
        </p:txBody>
      </p:sp>
      <p:sp>
        <p:nvSpPr>
          <p:cNvPr id="152584" name="AutoShape 5"/>
          <p:cNvSpPr>
            <a:spLocks noChangeArrowheads="1"/>
          </p:cNvSpPr>
          <p:nvPr/>
        </p:nvSpPr>
        <p:spPr bwMode="auto">
          <a:xfrm>
            <a:off x="1104900" y="4140200"/>
            <a:ext cx="4610100" cy="1066800"/>
          </a:xfrm>
          <a:prstGeom prst="wedgeRoundRectCallout">
            <a:avLst>
              <a:gd name="adj1" fmla="val 53926"/>
              <a:gd name="adj2" fmla="val -198065"/>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1"/>
          <p:cNvSpPr>
            <a:spLocks noGrp="1"/>
          </p:cNvSpPr>
          <p:nvPr>
            <p:ph type="ftr" sz="quarter" idx="10"/>
          </p:nvPr>
        </p:nvSpPr>
        <p:spPr>
          <a:noFill/>
        </p:spPr>
        <p:txBody>
          <a:bodyPr/>
          <a:lstStyle/>
          <a:p>
            <a:r>
              <a:rPr lang="en-US"/>
              <a:t>Art of Multiprocessor Programming</a:t>
            </a:r>
          </a:p>
        </p:txBody>
      </p:sp>
      <p:sp>
        <p:nvSpPr>
          <p:cNvPr id="153603" name="Slide Number Placeholder 2"/>
          <p:cNvSpPr>
            <a:spLocks noGrp="1"/>
          </p:cNvSpPr>
          <p:nvPr>
            <p:ph type="sldNum" sz="quarter" idx="11"/>
          </p:nvPr>
        </p:nvSpPr>
        <p:spPr>
          <a:noFill/>
        </p:spPr>
        <p:txBody>
          <a:bodyPr/>
          <a:lstStyle/>
          <a:p>
            <a:fld id="{A9EEAF51-328A-4BFB-85B6-C3C6C4E2E8F5}" type="slidenum">
              <a:rPr lang="x-none" smtClean="0"/>
              <a:pPr/>
              <a:t>143</a:t>
            </a:fld>
            <a:endParaRPr lang="en-US"/>
          </a:p>
        </p:txBody>
      </p:sp>
      <p:sp>
        <p:nvSpPr>
          <p:cNvPr id="7" name="Slide Number Placeholder 3"/>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7784F85-E36A-44B9-83FE-ADF2D0A2F4B1}" type="slidenum">
              <a:rPr lang="x-none" sz="1400">
                <a:solidFill>
                  <a:schemeClr val="tx1"/>
                </a:solidFill>
                <a:latin typeface="Arial" pitchFamily="34" charset="0"/>
                <a:cs typeface="Arial" pitchFamily="34" charset="0"/>
              </a:rPr>
              <a:pPr>
                <a:defRPr/>
              </a:pPr>
              <a:t>143</a:t>
            </a:fld>
            <a:endParaRPr lang="en-US" sz="1400" dirty="0">
              <a:solidFill>
                <a:schemeClr val="tx1"/>
              </a:solidFill>
              <a:latin typeface="Arial" pitchFamily="34" charset="0"/>
              <a:cs typeface="Arial" pitchFamily="34" charset="0"/>
            </a:endParaRPr>
          </a:p>
        </p:txBody>
      </p:sp>
      <p:sp>
        <p:nvSpPr>
          <p:cNvPr id="153605" name="Rectangle 2"/>
          <p:cNvSpPr>
            <a:spLocks noGrp="1" noChangeArrowheads="1"/>
          </p:cNvSpPr>
          <p:nvPr>
            <p:ph type="title" idx="4294967295"/>
          </p:nvPr>
        </p:nvSpPr>
        <p:spPr/>
        <p:txBody>
          <a:bodyPr/>
          <a:lstStyle/>
          <a:p>
            <a:r>
              <a:rPr lang="en-US"/>
              <a:t>Work-Balancing Thread</a:t>
            </a:r>
          </a:p>
        </p:txBody>
      </p:sp>
      <p:sp>
        <p:nvSpPr>
          <p:cNvPr id="153606" name="Rectangle 3"/>
          <p:cNvSpPr>
            <a:spLocks noChangeArrowheads="1"/>
          </p:cNvSpPr>
          <p:nvPr/>
        </p:nvSpPr>
        <p:spPr bwMode="auto">
          <a:xfrm>
            <a:off x="850900" y="1562100"/>
            <a:ext cx="7620000" cy="4329113"/>
          </a:xfrm>
          <a:prstGeom prst="rect">
            <a:avLst/>
          </a:prstGeom>
          <a:solidFill>
            <a:srgbClr val="FFFFCC"/>
          </a:solidFill>
          <a:ln w="9525">
            <a:noFill/>
            <a:miter lim="800000"/>
            <a:headEnd/>
            <a:tailEnd/>
          </a:ln>
        </p:spPr>
        <p:txBody>
          <a:bodyPr>
            <a:spAutoFit/>
          </a:bodyPr>
          <a:lstStyle/>
          <a:p>
            <a:pPr marL="342900" indent="-342900" algn="l">
              <a:spcBef>
                <a:spcPct val="20000"/>
              </a:spcBef>
            </a:pPr>
            <a:r>
              <a:rPr lang="en-US" sz="1800" b="1" dirty="0">
                <a:solidFill>
                  <a:schemeClr val="folHlink"/>
                </a:solidFill>
                <a:latin typeface="Courier New" pitchFamily="49" charset="0"/>
              </a:rPr>
              <a:t>public void run()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me = </a:t>
            </a:r>
            <a:r>
              <a:rPr lang="en-US" sz="1800" b="1" dirty="0" err="1">
                <a:solidFill>
                  <a:schemeClr val="folHlink"/>
                </a:solidFill>
                <a:latin typeface="Courier New" pitchFamily="49" charset="0"/>
              </a:rPr>
              <a:t>ThreadID.get</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while (true)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Runnable</a:t>
            </a:r>
            <a:r>
              <a:rPr lang="en-US" sz="1800" b="1" dirty="0">
                <a:solidFill>
                  <a:schemeClr val="folHlink"/>
                </a:solidFill>
                <a:latin typeface="Courier New" pitchFamily="49" charset="0"/>
              </a:rPr>
              <a:t> task = queue[me].</a:t>
            </a:r>
            <a:r>
              <a:rPr lang="en-US" sz="1800" b="1" dirty="0" err="1">
                <a:solidFill>
                  <a:schemeClr val="folHlink"/>
                </a:solidFill>
                <a:latin typeface="Courier New" pitchFamily="49" charset="0"/>
              </a:rPr>
              <a:t>deq</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if (task != null) </a:t>
            </a:r>
            <a:r>
              <a:rPr lang="en-US" sz="1800" b="1" dirty="0" err="1">
                <a:solidFill>
                  <a:schemeClr val="folHlink"/>
                </a:solidFill>
                <a:latin typeface="Courier New" pitchFamily="49" charset="0"/>
              </a:rPr>
              <a:t>task.run</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size = queue[me].size();</a:t>
            </a:r>
          </a:p>
          <a:p>
            <a:pPr marL="342900" indent="-342900" algn="l">
              <a:spcBef>
                <a:spcPct val="20000"/>
              </a:spcBef>
            </a:pPr>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(size+1) == size) {	</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victim = </a:t>
            </a:r>
            <a:r>
              <a:rPr lang="en-US" sz="1800" b="1" dirty="0" err="1">
                <a:solidFill>
                  <a:schemeClr val="folHlink"/>
                </a:solidFill>
                <a:latin typeface="Courier New" pitchFamily="49" charset="0"/>
              </a:rPr>
              <a:t>random.nextInt</a:t>
            </a:r>
            <a:r>
              <a:rPr lang="en-US" sz="1800" b="1" dirty="0">
                <a:solidFill>
                  <a:schemeClr val="folHlink"/>
                </a:solidFill>
                <a:latin typeface="Courier New" pitchFamily="49" charset="0"/>
              </a:rPr>
              <a:t>(</a:t>
            </a:r>
            <a:r>
              <a:rPr lang="en-US" sz="1800" b="1" dirty="0" err="1">
                <a:solidFill>
                  <a:schemeClr val="folHlink"/>
                </a:solidFill>
                <a:latin typeface="Courier New" pitchFamily="49" charset="0"/>
              </a:rPr>
              <a:t>queue.length</a:t>
            </a:r>
            <a:r>
              <a:rPr lang="en-US" sz="1800" b="1" dirty="0">
                <a:solidFill>
                  <a:schemeClr val="folHlink"/>
                </a:solidFill>
                <a:latin typeface="Courier New" pitchFamily="49" charset="0"/>
              </a:rPr>
              <a:t>);</a:t>
            </a:r>
          </a:p>
          <a:p>
            <a:pPr marL="342900" indent="-342900" algn="l">
              <a:spcBef>
                <a:spcPct val="20000"/>
              </a:spcBef>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min = …, max = …;</a:t>
            </a:r>
          </a:p>
          <a:p>
            <a:pPr marL="342900" indent="-342900" algn="l">
              <a:spcBef>
                <a:spcPct val="20000"/>
              </a:spcBef>
            </a:pPr>
            <a:r>
              <a:rPr lang="en-US" sz="1800" b="1" dirty="0">
                <a:solidFill>
                  <a:schemeClr val="folHlink"/>
                </a:solidFill>
                <a:latin typeface="Courier New" pitchFamily="49" charset="0"/>
              </a:rPr>
              <a:t>    synchronized (queue[min]) {</a:t>
            </a:r>
          </a:p>
          <a:p>
            <a:pPr marL="342900" indent="-342900" algn="l">
              <a:spcBef>
                <a:spcPct val="20000"/>
              </a:spcBef>
            </a:pPr>
            <a:r>
              <a:rPr lang="en-US" sz="1800" b="1" dirty="0">
                <a:solidFill>
                  <a:schemeClr val="folHlink"/>
                </a:solidFill>
                <a:latin typeface="Courier New" pitchFamily="49" charset="0"/>
              </a:rPr>
              <a:t>     synchronized (queue[max]) {</a:t>
            </a:r>
          </a:p>
          <a:p>
            <a:pPr marL="342900" indent="-342900" algn="l">
              <a:spcBef>
                <a:spcPct val="20000"/>
              </a:spcBef>
            </a:pPr>
            <a:r>
              <a:rPr lang="en-US" sz="1800" b="1" dirty="0">
                <a:latin typeface="Courier New" pitchFamily="49" charset="0"/>
              </a:rPr>
              <a:t>        balance(queue[min], queue[max]);</a:t>
            </a:r>
          </a:p>
          <a:p>
            <a:pPr marL="342900" indent="-342900" algn="l">
              <a:spcBef>
                <a:spcPct val="20000"/>
              </a:spcBef>
            </a:pPr>
            <a:r>
              <a:rPr lang="en-US" sz="1800" b="1" dirty="0">
                <a:solidFill>
                  <a:schemeClr val="folHlink"/>
                </a:solidFill>
                <a:latin typeface="Courier New" pitchFamily="49" charset="0"/>
              </a:rPr>
              <a:t>}}}}}</a:t>
            </a:r>
          </a:p>
        </p:txBody>
      </p:sp>
      <p:sp>
        <p:nvSpPr>
          <p:cNvPr id="153607" name="Text Box 4"/>
          <p:cNvSpPr txBox="1">
            <a:spLocks noChangeArrowheads="1"/>
          </p:cNvSpPr>
          <p:nvPr/>
        </p:nvSpPr>
        <p:spPr bwMode="auto">
          <a:xfrm>
            <a:off x="4777748" y="2116138"/>
            <a:ext cx="2887330" cy="461665"/>
          </a:xfrm>
          <a:prstGeom prst="rect">
            <a:avLst/>
          </a:prstGeom>
          <a:solidFill>
            <a:srgbClr val="FFFFCC">
              <a:alpha val="79999"/>
            </a:srgbClr>
          </a:solidFill>
          <a:ln w="38100" algn="ctr">
            <a:noFill/>
            <a:miter lim="800000"/>
            <a:headEnd/>
            <a:tailEnd/>
          </a:ln>
        </p:spPr>
        <p:txBody>
          <a:bodyPr wrap="none">
            <a:spAutoFit/>
          </a:bodyPr>
          <a:lstStyle/>
          <a:p>
            <a:pPr algn="ctr"/>
            <a:r>
              <a:rPr lang="en-US" b="1" dirty="0">
                <a:solidFill>
                  <a:srgbClr val="FF0000"/>
                </a:solidFill>
                <a:latin typeface="Arial" pitchFamily="34" charset="0"/>
              </a:rPr>
              <a:t>Rebalance queues</a:t>
            </a:r>
          </a:p>
        </p:txBody>
      </p:sp>
      <p:sp>
        <p:nvSpPr>
          <p:cNvPr id="153608" name="AutoShape 5"/>
          <p:cNvSpPr>
            <a:spLocks noChangeArrowheads="1"/>
          </p:cNvSpPr>
          <p:nvPr/>
        </p:nvSpPr>
        <p:spPr bwMode="auto">
          <a:xfrm>
            <a:off x="1765300" y="5181600"/>
            <a:ext cx="4838700" cy="444500"/>
          </a:xfrm>
          <a:prstGeom prst="wedgeRoundRectCallout">
            <a:avLst>
              <a:gd name="adj1" fmla="val 39042"/>
              <a:gd name="adj2" fmla="val -651069"/>
              <a:gd name="adj3" fmla="val 16667"/>
            </a:avLst>
          </a:prstGeom>
          <a:noFill/>
          <a:ln w="38100" algn="ctr">
            <a:solidFill>
              <a:srgbClr val="FF0000"/>
            </a:solidFill>
            <a:miter lim="800000"/>
            <a:headEnd/>
            <a:tailEnd/>
          </a:ln>
        </p:spPr>
        <p:txBody>
          <a:bodyPr anchor="ctr"/>
          <a:lstStyle/>
          <a:p>
            <a:pPr algn="ctr"/>
            <a:endParaRPr lang="en-US" sz="3200" dirty="0">
              <a:latin typeface="Arial" pitchFamily="34" charset="0"/>
            </a:endParaRPr>
          </a:p>
        </p:txBody>
      </p:sp>
    </p:spTree>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Footer Placeholder 1"/>
          <p:cNvSpPr>
            <a:spLocks noGrp="1"/>
          </p:cNvSpPr>
          <p:nvPr>
            <p:ph type="ftr" sz="quarter" idx="10"/>
          </p:nvPr>
        </p:nvSpPr>
        <p:spPr>
          <a:noFill/>
        </p:spPr>
        <p:txBody>
          <a:bodyPr/>
          <a:lstStyle/>
          <a:p>
            <a:r>
              <a:rPr lang="en-US"/>
              <a:t>Art of Multiprocessor Programming</a:t>
            </a:r>
          </a:p>
        </p:txBody>
      </p:sp>
      <p:sp>
        <p:nvSpPr>
          <p:cNvPr id="154627" name="Slide Number Placeholder 2"/>
          <p:cNvSpPr>
            <a:spLocks noGrp="1"/>
          </p:cNvSpPr>
          <p:nvPr>
            <p:ph type="sldNum" sz="quarter" idx="11"/>
          </p:nvPr>
        </p:nvSpPr>
        <p:spPr>
          <a:noFill/>
        </p:spPr>
        <p:txBody>
          <a:bodyPr/>
          <a:lstStyle/>
          <a:p>
            <a:fld id="{7BAFD724-6D9D-4988-BA4A-9469BA6E3C03}" type="slidenum">
              <a:rPr lang="x-none" smtClean="0"/>
              <a:pPr/>
              <a:t>144</a:t>
            </a:fld>
            <a:endParaRPr lang="en-US"/>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157CB688-FCCA-47B1-9703-5A1AC35DFBB7}" type="slidenum">
              <a:rPr lang="x-none" sz="1400">
                <a:solidFill>
                  <a:schemeClr val="tx1"/>
                </a:solidFill>
                <a:latin typeface="Arial" pitchFamily="34" charset="0"/>
                <a:cs typeface="Arial" pitchFamily="34" charset="0"/>
              </a:rPr>
              <a:pPr>
                <a:defRPr/>
              </a:pPr>
              <a:t>144</a:t>
            </a:fld>
            <a:endParaRPr lang="en-US" sz="1400" dirty="0">
              <a:solidFill>
                <a:schemeClr val="tx1"/>
              </a:solidFill>
              <a:latin typeface="Arial" pitchFamily="34" charset="0"/>
              <a:cs typeface="Arial" pitchFamily="34" charset="0"/>
            </a:endParaRPr>
          </a:p>
        </p:txBody>
      </p:sp>
      <p:sp>
        <p:nvSpPr>
          <p:cNvPr id="154629" name="Rectangle 2"/>
          <p:cNvSpPr>
            <a:spLocks noGrp="1" noChangeArrowheads="1"/>
          </p:cNvSpPr>
          <p:nvPr>
            <p:ph type="title" idx="4294967295"/>
          </p:nvPr>
        </p:nvSpPr>
        <p:spPr/>
        <p:txBody>
          <a:bodyPr/>
          <a:lstStyle/>
          <a:p>
            <a:r>
              <a:rPr lang="en-US"/>
              <a:t>Work Stealing &amp; Balancing</a:t>
            </a:r>
          </a:p>
        </p:txBody>
      </p:sp>
      <p:sp>
        <p:nvSpPr>
          <p:cNvPr id="154630" name="Rectangle 3"/>
          <p:cNvSpPr>
            <a:spLocks noGrp="1" noChangeArrowheads="1"/>
          </p:cNvSpPr>
          <p:nvPr>
            <p:ph type="body" idx="4294967295"/>
          </p:nvPr>
        </p:nvSpPr>
        <p:spPr/>
        <p:txBody>
          <a:bodyPr/>
          <a:lstStyle/>
          <a:p>
            <a:pPr>
              <a:spcBef>
                <a:spcPct val="50000"/>
              </a:spcBef>
            </a:pPr>
            <a:r>
              <a:rPr lang="en-US">
                <a:solidFill>
                  <a:srgbClr val="3333FF"/>
                </a:solidFill>
              </a:rPr>
              <a:t>Clean separation between app &amp; scheduling layer</a:t>
            </a:r>
          </a:p>
          <a:p>
            <a:pPr>
              <a:spcBef>
                <a:spcPct val="50000"/>
              </a:spcBef>
            </a:pPr>
            <a:r>
              <a:rPr lang="en-US">
                <a:solidFill>
                  <a:srgbClr val="3333FF"/>
                </a:solidFill>
              </a:rPr>
              <a:t>Works well when number of processors fluctuates.</a:t>
            </a:r>
          </a:p>
          <a:p>
            <a:pPr>
              <a:spcBef>
                <a:spcPct val="50000"/>
              </a:spcBef>
            </a:pPr>
            <a:r>
              <a:rPr lang="en-US">
                <a:solidFill>
                  <a:srgbClr val="3333FF"/>
                </a:solidFill>
              </a:rPr>
              <a:t>Works on “black-box” operating systems</a:t>
            </a: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Footer Placeholder 1"/>
          <p:cNvSpPr>
            <a:spLocks noGrp="1"/>
          </p:cNvSpPr>
          <p:nvPr>
            <p:ph type="ftr" sz="quarter" idx="10"/>
          </p:nvPr>
        </p:nvSpPr>
        <p:spPr>
          <a:noFill/>
        </p:spPr>
        <p:txBody>
          <a:bodyPr/>
          <a:lstStyle/>
          <a:p>
            <a:r>
              <a:rPr lang="en-US"/>
              <a:t>Art of Multiprocessor Programming</a:t>
            </a:r>
          </a:p>
        </p:txBody>
      </p:sp>
      <p:sp>
        <p:nvSpPr>
          <p:cNvPr id="156675" name="Slide Number Placeholder 2"/>
          <p:cNvSpPr>
            <a:spLocks noGrp="1"/>
          </p:cNvSpPr>
          <p:nvPr>
            <p:ph type="sldNum" sz="quarter" idx="11"/>
          </p:nvPr>
        </p:nvSpPr>
        <p:spPr>
          <a:noFill/>
        </p:spPr>
        <p:txBody>
          <a:bodyPr/>
          <a:lstStyle/>
          <a:p>
            <a:fld id="{F80580B6-4972-45C9-B2BB-7F68D6480797}" type="slidenum">
              <a:rPr lang="x-none" smtClean="0"/>
              <a:pPr/>
              <a:t>145</a:t>
            </a:fld>
            <a:endParaRPr lang="en-US"/>
          </a:p>
        </p:txBody>
      </p:sp>
      <p:sp>
        <p:nvSpPr>
          <p:cNvPr id="6" name="Slide Number Placeholder 2"/>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B1450DC-7C9C-4901-9FD8-DAB862A0DC78}" type="slidenum">
              <a:rPr lang="x-none" sz="1400">
                <a:solidFill>
                  <a:schemeClr val="tx1"/>
                </a:solidFill>
                <a:latin typeface="Arial" pitchFamily="34" charset="0"/>
                <a:cs typeface="Arial" pitchFamily="34" charset="0"/>
              </a:rPr>
              <a:pPr>
                <a:defRPr/>
              </a:pPr>
              <a:t>145</a:t>
            </a:fld>
            <a:endParaRPr lang="en-US" sz="1400" dirty="0">
              <a:solidFill>
                <a:schemeClr val="tx1"/>
              </a:solidFill>
              <a:latin typeface="Arial" pitchFamily="34" charset="0"/>
              <a:cs typeface="Arial" pitchFamily="34" charset="0"/>
            </a:endParaRPr>
          </a:p>
        </p:txBody>
      </p:sp>
      <p:sp>
        <p:nvSpPr>
          <p:cNvPr id="156677"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algn="l"/>
            <a:r>
              <a:rPr lang="en-US" dirty="0">
                <a:solidFill>
                  <a:schemeClr val="tx1"/>
                </a:solidFill>
                <a:latin typeface="Arial" pitchFamily="34" charset="0"/>
                <a:hlinkClick r:id="rId3"/>
              </a:rPr>
              <a:t>  </a:t>
            </a:r>
            <a:r>
              <a:rPr lang="en-US" sz="1800" dirty="0">
                <a:solidFill>
                  <a:schemeClr val="tx1"/>
                </a:solidFill>
                <a:latin typeface="Arial" pitchFamily="34" charset="0"/>
              </a:rPr>
              <a:t> </a:t>
            </a:r>
            <a:r>
              <a:rPr lang="en-US" dirty="0">
                <a:solidFill>
                  <a:schemeClr val="tx1"/>
                </a:solidFill>
                <a:latin typeface="Arial" pitchFamily="34" charset="0"/>
              </a:rPr>
              <a:t>        </a:t>
            </a:r>
            <a:br>
              <a:rPr lang="en-US" dirty="0">
                <a:solidFill>
                  <a:schemeClr val="tx1"/>
                </a:solidFill>
                <a:latin typeface="Arial" pitchFamily="34" charset="0"/>
              </a:rPr>
            </a:br>
            <a:r>
              <a:rPr lang="en-US" dirty="0">
                <a:solidFill>
                  <a:schemeClr val="tx1"/>
                </a:solidFill>
                <a:latin typeface="Arial" pitchFamily="34" charset="0"/>
              </a:rPr>
              <a:t>This work is licensed under a </a:t>
            </a:r>
            <a:r>
              <a:rPr lang="en-US" dirty="0">
                <a:solidFill>
                  <a:schemeClr val="tx1"/>
                </a:solidFill>
                <a:latin typeface="Arial" pitchFamily="34" charset="0"/>
                <a:hlinkClick r:id="rId3"/>
              </a:rPr>
              <a:t>Creative Commons Attribution-</a:t>
            </a:r>
            <a:r>
              <a:rPr lang="en-US" dirty="0" err="1">
                <a:solidFill>
                  <a:schemeClr val="tx1"/>
                </a:solidFill>
                <a:latin typeface="Arial" pitchFamily="34" charset="0"/>
                <a:hlinkClick r:id="rId3"/>
              </a:rPr>
              <a:t>ShareAlike</a:t>
            </a:r>
            <a:r>
              <a:rPr lang="en-US" dirty="0">
                <a:solidFill>
                  <a:schemeClr val="tx1"/>
                </a:solidFill>
                <a:latin typeface="Arial" pitchFamily="34" charset="0"/>
                <a:hlinkClick r:id="rId3"/>
              </a:rPr>
              <a:t> 2.5 License</a:t>
            </a:r>
            <a:r>
              <a:rPr lang="en-US" dirty="0">
                <a:solidFill>
                  <a:schemeClr val="tx1"/>
                </a:solidFill>
                <a:latin typeface="Arial" pitchFamily="34" charset="0"/>
              </a:rPr>
              <a:t>. </a:t>
            </a:r>
          </a:p>
        </p:txBody>
      </p:sp>
      <p:pic>
        <p:nvPicPr>
          <p:cNvPr id="156678"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56679" name="Rectangle 4"/>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lgn="l">
              <a:lnSpc>
                <a:spcPct val="80000"/>
              </a:lnSpc>
              <a:spcBef>
                <a:spcPct val="20000"/>
              </a:spcBef>
              <a:buFontTx/>
              <a:buChar char="•"/>
            </a:pPr>
            <a:r>
              <a:rPr lang="en-US" sz="1600" b="1" dirty="0">
                <a:solidFill>
                  <a:schemeClr val="tx1"/>
                </a:solidFill>
                <a:latin typeface="Arial" pitchFamily="34" charset="0"/>
              </a:rPr>
              <a:t>You are free</a:t>
            </a:r>
            <a:r>
              <a:rPr lang="en-US" sz="1600" dirty="0">
                <a:solidFill>
                  <a:schemeClr val="tx1"/>
                </a:solidFill>
                <a:latin typeface="Arial" pitchFamily="34" charset="0"/>
              </a:rPr>
              <a:t>:</a:t>
            </a:r>
          </a:p>
          <a:p>
            <a:pPr marL="742950" lvl="1" indent="-285750" algn="l">
              <a:lnSpc>
                <a:spcPct val="80000"/>
              </a:lnSpc>
              <a:spcBef>
                <a:spcPct val="20000"/>
              </a:spcBef>
              <a:buFontTx/>
              <a:buChar char="–"/>
            </a:pPr>
            <a:r>
              <a:rPr lang="en-US" sz="1600" b="1" dirty="0">
                <a:solidFill>
                  <a:schemeClr val="tx1"/>
                </a:solidFill>
                <a:latin typeface="Arial" pitchFamily="34" charset="0"/>
              </a:rPr>
              <a:t>to Share</a:t>
            </a:r>
            <a:r>
              <a:rPr lang="en-US" sz="1600" dirty="0">
                <a:solidFill>
                  <a:schemeClr val="tx1"/>
                </a:solidFill>
                <a:latin typeface="Arial" pitchFamily="34" charset="0"/>
              </a:rPr>
              <a:t> — to copy, distribute and transmit the work </a:t>
            </a:r>
          </a:p>
          <a:p>
            <a:pPr marL="742950" lvl="1" indent="-285750" algn="l">
              <a:lnSpc>
                <a:spcPct val="80000"/>
              </a:lnSpc>
              <a:spcBef>
                <a:spcPct val="20000"/>
              </a:spcBef>
              <a:buFontTx/>
              <a:buChar char="–"/>
            </a:pPr>
            <a:r>
              <a:rPr lang="en-US" sz="1600" b="1" dirty="0">
                <a:solidFill>
                  <a:schemeClr val="tx1"/>
                </a:solidFill>
                <a:latin typeface="Arial" pitchFamily="34" charset="0"/>
              </a:rPr>
              <a:t>to Remix</a:t>
            </a:r>
            <a:r>
              <a:rPr lang="en-US" sz="1600" dirty="0">
                <a:solidFill>
                  <a:schemeClr val="tx1"/>
                </a:solidFill>
                <a:latin typeface="Arial" pitchFamily="34" charset="0"/>
              </a:rPr>
              <a:t> — to adapt the work </a:t>
            </a:r>
          </a:p>
          <a:p>
            <a:pPr marL="342900" indent="-342900" algn="l">
              <a:lnSpc>
                <a:spcPct val="80000"/>
              </a:lnSpc>
              <a:spcBef>
                <a:spcPct val="20000"/>
              </a:spcBef>
              <a:buFontTx/>
              <a:buChar char="•"/>
            </a:pPr>
            <a:r>
              <a:rPr lang="en-US" sz="1600" b="1" dirty="0">
                <a:solidFill>
                  <a:schemeClr val="tx1"/>
                </a:solidFill>
                <a:latin typeface="Arial" pitchFamily="34" charset="0"/>
              </a:rPr>
              <a:t>Under the following conditions</a:t>
            </a:r>
            <a:r>
              <a:rPr lang="en-US" sz="1600" dirty="0">
                <a:solidFill>
                  <a:schemeClr val="tx1"/>
                </a:solidFill>
                <a:latin typeface="Arial" pitchFamily="34" charset="0"/>
              </a:rPr>
              <a:t>:</a:t>
            </a:r>
          </a:p>
          <a:p>
            <a:pPr marL="742950" lvl="1" indent="-285750" algn="l">
              <a:lnSpc>
                <a:spcPct val="80000"/>
              </a:lnSpc>
              <a:spcBef>
                <a:spcPct val="20000"/>
              </a:spcBef>
              <a:buFontTx/>
              <a:buChar char="–"/>
            </a:pPr>
            <a:r>
              <a:rPr lang="en-US" sz="1600" b="1" dirty="0">
                <a:solidFill>
                  <a:schemeClr val="tx1"/>
                </a:solidFill>
                <a:latin typeface="Arial" pitchFamily="34" charset="0"/>
              </a:rPr>
              <a:t>Attribution</a:t>
            </a:r>
            <a:r>
              <a:rPr lang="en-US" sz="1600" dirty="0">
                <a:solidFill>
                  <a:schemeClr val="tx1"/>
                </a:solidFill>
                <a:latin typeface="Arial" pitchFamily="34" charset="0"/>
              </a:rPr>
              <a:t>. You must attribute the work to “The Art of Multiprocessor Programming” (but not in any way that suggests that the authors endorse you or your use of the work). </a:t>
            </a:r>
          </a:p>
          <a:p>
            <a:pPr marL="742950" lvl="1" indent="-285750" algn="l">
              <a:lnSpc>
                <a:spcPct val="80000"/>
              </a:lnSpc>
              <a:spcBef>
                <a:spcPct val="20000"/>
              </a:spcBef>
              <a:buFontTx/>
              <a:buChar char="–"/>
            </a:pPr>
            <a:r>
              <a:rPr lang="en-US" sz="1600" b="1" dirty="0">
                <a:solidFill>
                  <a:schemeClr val="tx1"/>
                </a:solidFill>
                <a:latin typeface="Arial" pitchFamily="34" charset="0"/>
              </a:rPr>
              <a:t>Share Alike</a:t>
            </a:r>
            <a:r>
              <a:rPr lang="en-US" sz="1600" dirty="0">
                <a:solidFill>
                  <a:schemeClr val="tx1"/>
                </a:solidFill>
                <a:latin typeface="Arial" pitchFamily="34" charset="0"/>
              </a:rPr>
              <a:t>. If you alter, transform, or build upon this work, you may distribute the resulting work only under the same, similar or a compatible license. </a:t>
            </a:r>
          </a:p>
          <a:p>
            <a:pPr marL="342900" indent="-342900" algn="l">
              <a:lnSpc>
                <a:spcPct val="80000"/>
              </a:lnSpc>
              <a:spcBef>
                <a:spcPct val="20000"/>
              </a:spcBef>
              <a:buFontTx/>
              <a:buChar char="•"/>
            </a:pPr>
            <a:r>
              <a:rPr lang="en-US" sz="1600" dirty="0">
                <a:solidFill>
                  <a:schemeClr val="tx1"/>
                </a:solidFill>
                <a:latin typeface="Arial" pitchFamily="34" charset="0"/>
              </a:rPr>
              <a:t>For any reuse or distribution, you must make clear to others the license terms of this work. The best way to do this is with a link to</a:t>
            </a:r>
          </a:p>
          <a:p>
            <a:pPr marL="742950" lvl="1" indent="-285750" algn="l">
              <a:lnSpc>
                <a:spcPct val="80000"/>
              </a:lnSpc>
              <a:spcBef>
                <a:spcPct val="20000"/>
              </a:spcBef>
              <a:buFontTx/>
              <a:buChar char="–"/>
            </a:pPr>
            <a:r>
              <a:rPr lang="en-US" sz="1600" dirty="0">
                <a:solidFill>
                  <a:schemeClr val="tx1"/>
                </a:solidFill>
                <a:latin typeface="Arial" pitchFamily="34" charset="0"/>
              </a:rPr>
              <a:t>http://creativecommons.org/licenses/by-sa/3.0/. </a:t>
            </a:r>
          </a:p>
          <a:p>
            <a:pPr marL="342900" indent="-342900" algn="l">
              <a:lnSpc>
                <a:spcPct val="80000"/>
              </a:lnSpc>
              <a:spcBef>
                <a:spcPct val="20000"/>
              </a:spcBef>
              <a:buFontTx/>
              <a:buChar char="•"/>
            </a:pPr>
            <a:r>
              <a:rPr lang="en-US" sz="1600" dirty="0">
                <a:solidFill>
                  <a:schemeClr val="tx1"/>
                </a:solidFill>
                <a:latin typeface="Arial" pitchFamily="34" charset="0"/>
              </a:rPr>
              <a:t>Any of the above conditions can be waived if you get permission from the copyright holder. </a:t>
            </a:r>
          </a:p>
          <a:p>
            <a:pPr marL="342900" indent="-342900" algn="l">
              <a:lnSpc>
                <a:spcPct val="80000"/>
              </a:lnSpc>
              <a:spcBef>
                <a:spcPct val="20000"/>
              </a:spcBef>
              <a:buFontTx/>
              <a:buChar char="•"/>
            </a:pPr>
            <a:r>
              <a:rPr lang="en-US" sz="1600" dirty="0">
                <a:solidFill>
                  <a:schemeClr val="tx1"/>
                </a:solidFill>
                <a:latin typeface="Arial" pitchFamily="34" charset="0"/>
              </a:rPr>
              <a:t>Nothing in this license impairs or restricts the author's moral rights. </a:t>
            </a:r>
          </a:p>
          <a:p>
            <a:pPr marL="342900" indent="-342900" algn="l">
              <a:lnSpc>
                <a:spcPct val="80000"/>
              </a:lnSpc>
              <a:spcBef>
                <a:spcPct val="20000"/>
              </a:spcBef>
              <a:buFontTx/>
              <a:buChar char="•"/>
            </a:pPr>
            <a:endParaRPr lang="en-US" sz="1600" dirty="0">
              <a:solidFill>
                <a:schemeClr val="tx1"/>
              </a:solidFill>
              <a:latin typeface="Arial" pitchFamily="34" charset="0"/>
            </a:endParaRPr>
          </a:p>
        </p:txBody>
      </p:sp>
    </p:spTree>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Footer Placeholder 1"/>
          <p:cNvSpPr>
            <a:spLocks noGrp="1"/>
          </p:cNvSpPr>
          <p:nvPr>
            <p:ph type="ftr" sz="quarter" idx="10"/>
          </p:nvPr>
        </p:nvSpPr>
        <p:spPr>
          <a:noFill/>
        </p:spPr>
        <p:txBody>
          <a:bodyPr/>
          <a:lstStyle/>
          <a:p>
            <a:r>
              <a:rPr lang="en-US"/>
              <a:t>Art of Multiprocessor Programming</a:t>
            </a:r>
          </a:p>
        </p:txBody>
      </p:sp>
      <p:sp>
        <p:nvSpPr>
          <p:cNvPr id="155651" name="Slide Number Placeholder 2"/>
          <p:cNvSpPr>
            <a:spLocks noGrp="1"/>
          </p:cNvSpPr>
          <p:nvPr>
            <p:ph type="sldNum" sz="quarter" idx="11"/>
          </p:nvPr>
        </p:nvSpPr>
        <p:spPr>
          <a:noFill/>
        </p:spPr>
        <p:txBody>
          <a:bodyPr/>
          <a:lstStyle/>
          <a:p>
            <a:fld id="{4EB7D3C3-DC94-4F29-80AB-D58134E1709A}" type="slidenum">
              <a:rPr lang="x-none" smtClean="0"/>
              <a:pPr/>
              <a:t>146</a:t>
            </a:fld>
            <a:endParaRPr lang="en-US"/>
          </a:p>
        </p:txBody>
      </p:sp>
      <p:sp>
        <p:nvSpPr>
          <p:cNvPr id="19" name="Slide Number Placeholder 2"/>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DE3DE5B-F1B1-49DC-844D-42D5B4700736}" type="slidenum">
              <a:rPr lang="x-none" sz="1400">
                <a:solidFill>
                  <a:schemeClr val="tx1"/>
                </a:solidFill>
                <a:latin typeface="Arial" pitchFamily="34" charset="0"/>
                <a:cs typeface="Arial" pitchFamily="34" charset="0"/>
              </a:rPr>
              <a:pPr>
                <a:defRPr/>
              </a:pPr>
              <a:t>146</a:t>
            </a:fld>
            <a:endParaRPr lang="en-US" sz="1400" dirty="0">
              <a:solidFill>
                <a:schemeClr val="tx1"/>
              </a:solidFill>
              <a:latin typeface="Arial" pitchFamily="34" charset="0"/>
              <a:cs typeface="Arial" pitchFamily="34" charset="0"/>
            </a:endParaRPr>
          </a:p>
        </p:txBody>
      </p:sp>
      <p:sp>
        <p:nvSpPr>
          <p:cNvPr id="833538" name="Text Box 2"/>
          <p:cNvSpPr txBox="1">
            <a:spLocks noChangeArrowheads="1"/>
          </p:cNvSpPr>
          <p:nvPr/>
        </p:nvSpPr>
        <p:spPr bwMode="auto">
          <a:xfrm>
            <a:off x="3952995" y="1101725"/>
            <a:ext cx="434734" cy="584775"/>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T</a:t>
            </a:r>
          </a:p>
        </p:txBody>
      </p:sp>
      <p:sp>
        <p:nvSpPr>
          <p:cNvPr id="833539" name="Text Box 3"/>
          <p:cNvSpPr txBox="1">
            <a:spLocks noChangeArrowheads="1"/>
          </p:cNvSpPr>
          <p:nvPr/>
        </p:nvSpPr>
        <p:spPr bwMode="auto">
          <a:xfrm>
            <a:off x="4291013" y="1101725"/>
            <a:ext cx="508000"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O</a:t>
            </a:r>
          </a:p>
        </p:txBody>
      </p:sp>
      <p:sp>
        <p:nvSpPr>
          <p:cNvPr id="833540" name="Text Box 4"/>
          <p:cNvSpPr txBox="1">
            <a:spLocks noChangeArrowheads="1"/>
          </p:cNvSpPr>
          <p:nvPr/>
        </p:nvSpPr>
        <p:spPr bwMode="auto">
          <a:xfrm>
            <a:off x="4673600" y="1101725"/>
            <a:ext cx="542925"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M</a:t>
            </a:r>
          </a:p>
        </p:txBody>
      </p:sp>
      <p:sp>
        <p:nvSpPr>
          <p:cNvPr id="833541" name="Text Box 5"/>
          <p:cNvSpPr txBox="1">
            <a:spLocks noChangeArrowheads="1"/>
          </p:cNvSpPr>
          <p:nvPr/>
        </p:nvSpPr>
        <p:spPr bwMode="auto">
          <a:xfrm>
            <a:off x="3373438" y="1857375"/>
            <a:ext cx="542925"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M</a:t>
            </a:r>
          </a:p>
        </p:txBody>
      </p:sp>
      <p:sp>
        <p:nvSpPr>
          <p:cNvPr id="833542" name="Text Box 6"/>
          <p:cNvSpPr txBox="1">
            <a:spLocks noChangeArrowheads="1"/>
          </p:cNvSpPr>
          <p:nvPr/>
        </p:nvSpPr>
        <p:spPr bwMode="auto">
          <a:xfrm>
            <a:off x="4051989" y="1857375"/>
            <a:ext cx="481222" cy="584775"/>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R</a:t>
            </a:r>
          </a:p>
        </p:txBody>
      </p:sp>
      <p:sp>
        <p:nvSpPr>
          <p:cNvPr id="833543" name="Text Box 7"/>
          <p:cNvSpPr txBox="1">
            <a:spLocks noChangeArrowheads="1"/>
          </p:cNvSpPr>
          <p:nvPr/>
        </p:nvSpPr>
        <p:spPr bwMode="auto">
          <a:xfrm>
            <a:off x="3748088" y="1857375"/>
            <a:ext cx="481012"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A</a:t>
            </a:r>
          </a:p>
        </p:txBody>
      </p:sp>
      <p:sp>
        <p:nvSpPr>
          <p:cNvPr id="833544" name="Text Box 8"/>
          <p:cNvSpPr txBox="1">
            <a:spLocks noChangeArrowheads="1"/>
          </p:cNvSpPr>
          <p:nvPr/>
        </p:nvSpPr>
        <p:spPr bwMode="auto">
          <a:xfrm>
            <a:off x="4359275" y="1857375"/>
            <a:ext cx="458788"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V</a:t>
            </a:r>
          </a:p>
        </p:txBody>
      </p:sp>
      <p:sp>
        <p:nvSpPr>
          <p:cNvPr id="833545" name="Text Box 9"/>
          <p:cNvSpPr txBox="1">
            <a:spLocks noChangeArrowheads="1"/>
          </p:cNvSpPr>
          <p:nvPr/>
        </p:nvSpPr>
        <p:spPr bwMode="auto">
          <a:xfrm>
            <a:off x="4993602" y="1857375"/>
            <a:ext cx="434735" cy="584775"/>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L</a:t>
            </a:r>
          </a:p>
        </p:txBody>
      </p:sp>
      <p:sp>
        <p:nvSpPr>
          <p:cNvPr id="833546" name="Text Box 10"/>
          <p:cNvSpPr txBox="1">
            <a:spLocks noChangeArrowheads="1"/>
          </p:cNvSpPr>
          <p:nvPr/>
        </p:nvSpPr>
        <p:spPr bwMode="auto">
          <a:xfrm>
            <a:off x="4656138" y="1857375"/>
            <a:ext cx="508000"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O</a:t>
            </a:r>
          </a:p>
        </p:txBody>
      </p:sp>
      <p:sp>
        <p:nvSpPr>
          <p:cNvPr id="833547" name="Text Box 11"/>
          <p:cNvSpPr txBox="1">
            <a:spLocks noChangeArrowheads="1"/>
          </p:cNvSpPr>
          <p:nvPr/>
        </p:nvSpPr>
        <p:spPr bwMode="auto">
          <a:xfrm>
            <a:off x="5257800" y="1857375"/>
            <a:ext cx="508000" cy="579438"/>
          </a:xfrm>
          <a:prstGeom prst="rect">
            <a:avLst/>
          </a:prstGeom>
          <a:noFill/>
          <a:ln w="38100" algn="ctr">
            <a:noFill/>
            <a:miter lim="800000"/>
            <a:headEnd/>
            <a:tailEnd/>
          </a:ln>
        </p:spPr>
        <p:txBody>
          <a:bodyPr wrap="none">
            <a:spAutoFit/>
          </a:bodyPr>
          <a:lstStyle/>
          <a:p>
            <a:pPr marL="342900" indent="-342900" algn="ctr">
              <a:spcBef>
                <a:spcPct val="20000"/>
              </a:spcBef>
            </a:pPr>
            <a:r>
              <a:rPr lang="en-US" sz="3200" b="1" dirty="0">
                <a:solidFill>
                  <a:srgbClr val="FF0000"/>
                </a:solidFill>
                <a:latin typeface="Arial" pitchFamily="34" charset="0"/>
              </a:rPr>
              <a:t>O</a:t>
            </a:r>
          </a:p>
        </p:txBody>
      </p:sp>
      <p:sp>
        <p:nvSpPr>
          <p:cNvPr id="833548" name="Text Box 12"/>
          <p:cNvSpPr txBox="1">
            <a:spLocks noChangeArrowheads="1"/>
          </p:cNvSpPr>
          <p:nvPr/>
        </p:nvSpPr>
        <p:spPr bwMode="auto">
          <a:xfrm flipH="1">
            <a:off x="3430588" y="2711450"/>
            <a:ext cx="649287" cy="579438"/>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R</a:t>
            </a:r>
          </a:p>
        </p:txBody>
      </p:sp>
      <p:sp>
        <p:nvSpPr>
          <p:cNvPr id="833549" name="Text Box 13"/>
          <p:cNvSpPr txBox="1">
            <a:spLocks noChangeArrowheads="1"/>
          </p:cNvSpPr>
          <p:nvPr/>
        </p:nvSpPr>
        <p:spPr bwMode="auto">
          <a:xfrm flipH="1">
            <a:off x="3760788" y="2711450"/>
            <a:ext cx="600075" cy="579438"/>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I</a:t>
            </a:r>
          </a:p>
        </p:txBody>
      </p:sp>
      <p:sp>
        <p:nvSpPr>
          <p:cNvPr id="833550" name="Text Box 14"/>
          <p:cNvSpPr txBox="1">
            <a:spLocks noChangeArrowheads="1"/>
          </p:cNvSpPr>
          <p:nvPr/>
        </p:nvSpPr>
        <p:spPr bwMode="auto">
          <a:xfrm flipH="1">
            <a:off x="4043363" y="2711450"/>
            <a:ext cx="693737" cy="579438"/>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D</a:t>
            </a:r>
          </a:p>
        </p:txBody>
      </p:sp>
      <p:sp>
        <p:nvSpPr>
          <p:cNvPr id="833551" name="Text Box 15"/>
          <p:cNvSpPr txBox="1">
            <a:spLocks noChangeArrowheads="1"/>
          </p:cNvSpPr>
          <p:nvPr/>
        </p:nvSpPr>
        <p:spPr bwMode="auto">
          <a:xfrm flipH="1">
            <a:off x="4791075" y="2713038"/>
            <a:ext cx="603250" cy="579437"/>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L</a:t>
            </a:r>
          </a:p>
        </p:txBody>
      </p:sp>
      <p:sp>
        <p:nvSpPr>
          <p:cNvPr id="833552" name="Text Box 16"/>
          <p:cNvSpPr txBox="1">
            <a:spLocks noChangeArrowheads="1"/>
          </p:cNvSpPr>
          <p:nvPr/>
        </p:nvSpPr>
        <p:spPr bwMode="auto">
          <a:xfrm flipH="1">
            <a:off x="5075238" y="2711450"/>
            <a:ext cx="641350" cy="579438"/>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E</a:t>
            </a:r>
          </a:p>
        </p:txBody>
      </p:sp>
      <p:sp>
        <p:nvSpPr>
          <p:cNvPr id="833553" name="Text Box 17"/>
          <p:cNvSpPr txBox="1">
            <a:spLocks noChangeArrowheads="1"/>
          </p:cNvSpPr>
          <p:nvPr/>
        </p:nvSpPr>
        <p:spPr bwMode="auto">
          <a:xfrm flipH="1">
            <a:off x="4418013" y="2713038"/>
            <a:ext cx="757237" cy="579437"/>
          </a:xfrm>
          <a:prstGeom prst="rect">
            <a:avLst/>
          </a:prstGeom>
          <a:noFill/>
          <a:ln w="38100" algn="ctr">
            <a:noFill/>
            <a:miter lim="800000"/>
            <a:headEnd/>
            <a:tailEnd/>
          </a:ln>
        </p:spPr>
        <p:txBody>
          <a:bodyPr>
            <a:spAutoFit/>
          </a:bodyPr>
          <a:lstStyle/>
          <a:p>
            <a:pPr marL="342900" indent="-342900" algn="ctr">
              <a:spcBef>
                <a:spcPct val="20000"/>
              </a:spcBef>
            </a:pPr>
            <a:r>
              <a:rPr lang="en-US" sz="3200" b="1" dirty="0">
                <a:solidFill>
                  <a:srgbClr val="FF0000"/>
                </a:solidFill>
                <a:latin typeface="Arial" pitchFamily="34" charset="0"/>
              </a:rPr>
              <a:t>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86 -0.00093 C 0.11475 0.01666 0.22882 0.03449 0.26475 0.09907 C 0.30069 0.16366 0.25833 0.27477 0.21614 0.38611 " pathEditMode="relative" ptsTypes="aaA">
                                      <p:cBhvr>
                                        <p:cTn id="6" dur="2000" fill="hold"/>
                                        <p:tgtEl>
                                          <p:spTgt spid="833538"/>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4.72222E-6 2.22222E-6 C -0.0802 0.02361 -0.16041 0.04745 -0.20277 0.13333 C -0.24514 0.21921 -0.27916 0.44189 -0.25416 0.51481 C -0.22916 0.58773 -0.11093 0.59166 -0.05277 0.57037 C 0.00539 0.54907 0.04983 0.46805 0.09445 0.38703 " pathEditMode="relative" ptsTypes="aaaaA">
                                      <p:cBhvr>
                                        <p:cTn id="8" dur="2000" fill="hold"/>
                                        <p:tgtEl>
                                          <p:spTgt spid="833539"/>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00972 -0.00533 C -0.00677 -0.04514 -0.02309 -0.08472 0.01805 -0.00533 C 0.0592 0.07407 0.25295 0.37546 0.25694 0.4706 C 0.26094 0.56551 0.08246 0.57893 0.04167 0.56481 C 0.00087 0.55069 0.01823 0.42338 0.01198 0.38611 " pathEditMode="relative" rAng="0" ptsTypes="aaaaa">
                                      <p:cBhvr>
                                        <p:cTn id="10" dur="2000" fill="hold"/>
                                        <p:tgtEl>
                                          <p:spTgt spid="833540"/>
                                        </p:tgtEl>
                                        <p:attrNameLst>
                                          <p:attrName>ppt_x</p:attrName>
                                          <p:attrName>ppt_y</p:attrName>
                                        </p:attrNameLst>
                                      </p:cBhvr>
                                      <p:rCtr x="10900" y="25200"/>
                                    </p:animMotion>
                                  </p:childTnLst>
                                </p:cTn>
                              </p:par>
                              <p:par>
                                <p:cTn id="11" presetID="0" presetClass="path" presetSubtype="0" accel="50000" decel="50000" fill="hold" grpId="0" nodeType="withEffect">
                                  <p:stCondLst>
                                    <p:cond delay="0"/>
                                  </p:stCondLst>
                                  <p:childTnLst>
                                    <p:animMotion origin="layout" path="M 1.11111E-6 3.7037E-6 L 0.19444 -0.00185 " pathEditMode="relative" ptsTypes="AA">
                                      <p:cBhvr>
                                        <p:cTn id="12" dur="2000" fill="hold"/>
                                        <p:tgtEl>
                                          <p:spTgt spid="833541"/>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3.33333E-6 1.85185E-6 L 0.11528 -0.00185 " pathEditMode="relative" ptsTypes="AA">
                                      <p:cBhvr>
                                        <p:cTn id="14" dur="2000" fill="hold"/>
                                        <p:tgtEl>
                                          <p:spTgt spid="833543"/>
                                        </p:tgtEl>
                                        <p:attrNameLst>
                                          <p:attrName>ppt_x</p:attrName>
                                          <p:attrName>ppt_y</p:attrName>
                                        </p:attrNameLst>
                                      </p:cBhvr>
                                    </p:animMotion>
                                  </p:childTnLst>
                                </p:cTn>
                              </p:par>
                              <p:par>
                                <p:cTn id="15" presetID="0" presetClass="path" presetSubtype="0" accel="50000" decel="50000" fill="hold" grpId="0" nodeType="withEffect">
                                  <p:stCondLst>
                                    <p:cond delay="0"/>
                                  </p:stCondLst>
                                  <p:childTnLst>
                                    <p:animMotion origin="layout" path="M 0.00278 -2.96296E-6 C 0.17466 0.01713 0.34671 0.03426 0.38612 0.1 C 0.42553 0.16574 0.27657 0.36482 0.23889 0.39445 C 0.20122 0.42408 0.18039 0.35093 0.15973 0.27778 " pathEditMode="relative" rAng="0" ptsTypes="aaaA">
                                      <p:cBhvr>
                                        <p:cTn id="16" dur="2000" fill="hold"/>
                                        <p:tgtEl>
                                          <p:spTgt spid="833542"/>
                                        </p:tgtEl>
                                        <p:attrNameLst>
                                          <p:attrName>ppt_x</p:attrName>
                                          <p:attrName>ppt_y</p:attrName>
                                        </p:attrNameLst>
                                      </p:cBhvr>
                                      <p:rCtr x="21100" y="21200"/>
                                    </p:animMotion>
                                  </p:childTnLst>
                                </p:cTn>
                              </p:par>
                              <p:par>
                                <p:cTn id="17" presetID="0" presetClass="path" presetSubtype="0" accel="50000" decel="50000" fill="hold" grpId="0" nodeType="withEffect">
                                  <p:stCondLst>
                                    <p:cond delay="0"/>
                                  </p:stCondLst>
                                  <p:childTnLst>
                                    <p:animMotion origin="layout" path="M 3.88889E-6 -2.96296E-6 L -0.11702 0.28148 " pathEditMode="relative" rAng="0" ptsTypes="AA">
                                      <p:cBhvr>
                                        <p:cTn id="18" dur="2000" fill="hold"/>
                                        <p:tgtEl>
                                          <p:spTgt spid="833544"/>
                                        </p:tgtEl>
                                        <p:attrNameLst>
                                          <p:attrName>ppt_x</p:attrName>
                                          <p:attrName>ppt_y</p:attrName>
                                        </p:attrNameLst>
                                      </p:cBhvr>
                                      <p:rCtr x="-5900" y="14100"/>
                                    </p:animMotion>
                                  </p:childTnLst>
                                </p:cTn>
                              </p:par>
                              <p:par>
                                <p:cTn id="19" presetID="0" presetClass="path" presetSubtype="0" accel="50000" decel="50000" fill="hold" grpId="0" nodeType="withEffect">
                                  <p:stCondLst>
                                    <p:cond delay="0"/>
                                  </p:stCondLst>
                                  <p:childTnLst>
                                    <p:animMotion origin="layout" path="M 8.33333E-7 -2.96296E-6 C -0.09757 0.05834 -0.1974 0.11829 -0.21528 0.16482 C -0.23316 0.21135 -0.13021 0.25579 -0.10781 0.27963 " pathEditMode="relative" rAng="0" ptsTypes="aaa">
                                      <p:cBhvr>
                                        <p:cTn id="20" dur="2000" fill="hold"/>
                                        <p:tgtEl>
                                          <p:spTgt spid="833546"/>
                                        </p:tgtEl>
                                        <p:attrNameLst>
                                          <p:attrName>ppt_x</p:attrName>
                                          <p:attrName>ppt_y</p:attrName>
                                        </p:attrNameLst>
                                      </p:cBhvr>
                                      <p:rCtr x="-11700" y="14000"/>
                                    </p:animMotion>
                                  </p:childTnLst>
                                </p:cTn>
                              </p:par>
                              <p:par>
                                <p:cTn id="21" presetID="0" presetClass="path" presetSubtype="0" accel="50000" decel="50000" fill="hold" grpId="0" nodeType="withEffect">
                                  <p:stCondLst>
                                    <p:cond delay="0"/>
                                  </p:stCondLst>
                                  <p:childTnLst>
                                    <p:animMotion origin="layout" path="M 0.02327 -0.00185 C 0.12587 -0.13796 0.22865 -0.27384 0.28299 -0.20185 C 0.33733 -0.12986 0.3941 0.30764 0.34966 0.42963 C 0.30521 0.55162 0.09341 0.55555 0.01632 0.52963 C -0.06076 0.5037 -0.0868 0.38889 -0.11284 0.27407 " pathEditMode="relative" rAng="0" ptsTypes="aaaaA">
                                      <p:cBhvr>
                                        <p:cTn id="22" dur="2000" fill="hold"/>
                                        <p:tgtEl>
                                          <p:spTgt spid="833545"/>
                                        </p:tgtEl>
                                        <p:attrNameLst>
                                          <p:attrName>ppt_x</p:attrName>
                                          <p:attrName>ppt_y</p:attrName>
                                        </p:attrNameLst>
                                      </p:cBhvr>
                                      <p:rCtr x="11700" y="14300"/>
                                    </p:animMotion>
                                  </p:childTnLst>
                                </p:cTn>
                              </p:par>
                              <p:par>
                                <p:cTn id="23" presetID="0" presetClass="path" presetSubtype="0" accel="50000" decel="50000" fill="hold" grpId="0" nodeType="withEffect">
                                  <p:stCondLst>
                                    <p:cond delay="0"/>
                                  </p:stCondLst>
                                  <p:childTnLst>
                                    <p:animMotion origin="layout" path="M 2.22222E-6 4.44444E-6 L -0.11112 0.12037 " pathEditMode="relative" ptsTypes="AA">
                                      <p:cBhvr>
                                        <p:cTn id="24" dur="2000" fill="hold"/>
                                        <p:tgtEl>
                                          <p:spTgt spid="833547"/>
                                        </p:tgtEl>
                                        <p:attrNameLst>
                                          <p:attrName>ppt_x</p:attrName>
                                          <p:attrName>ppt_y</p:attrName>
                                        </p:attrNameLst>
                                      </p:cBhvr>
                                    </p:animMotion>
                                  </p:childTnLst>
                                </p:cTn>
                              </p:par>
                              <p:par>
                                <p:cTn id="25" presetID="0" presetClass="path" presetSubtype="0" accel="50000" decel="50000" fill="hold" grpId="0" nodeType="withEffect">
                                  <p:stCondLst>
                                    <p:cond delay="0"/>
                                  </p:stCondLst>
                                  <p:childTnLst>
                                    <p:animMotion origin="layout" path="M -1.94444E-6 -4.44444E-6 L 0.12084 -0.00555 " pathEditMode="relative" ptsTypes="AA">
                                      <p:cBhvr>
                                        <p:cTn id="26" dur="2000" fill="hold"/>
                                        <p:tgtEl>
                                          <p:spTgt spid="833548"/>
                                        </p:tgtEl>
                                        <p:attrNameLst>
                                          <p:attrName>ppt_x</p:attrName>
                                          <p:attrName>ppt_y</p:attrName>
                                        </p:attrNameLst>
                                      </p:cBhvr>
                                    </p:animMotion>
                                  </p:childTnLst>
                                </p:cTn>
                              </p:par>
                              <p:par>
                                <p:cTn id="27" presetID="0" presetClass="path" presetSubtype="0" accel="50000" decel="50000" fill="hold" grpId="0" nodeType="withEffect">
                                  <p:stCondLst>
                                    <p:cond delay="0"/>
                                  </p:stCondLst>
                                  <p:childTnLst>
                                    <p:animMotion origin="layout" path="M -7.22222E-6 3.7037E-7 C -0.09792 -0.03241 -0.19567 -0.06458 -0.19723 -0.08519 C -0.19879 -0.10579 -0.10435 -0.11505 -0.00973 -0.12407 " pathEditMode="relative" ptsTypes="aaA">
                                      <p:cBhvr>
                                        <p:cTn id="28" dur="2000" fill="hold"/>
                                        <p:tgtEl>
                                          <p:spTgt spid="833549"/>
                                        </p:tgtEl>
                                        <p:attrNameLst>
                                          <p:attrName>ppt_x</p:attrName>
                                          <p:attrName>ppt_y</p:attrName>
                                        </p:attrNameLst>
                                      </p:cBhvr>
                                    </p:animMotion>
                                  </p:childTnLst>
                                </p:cTn>
                              </p:par>
                              <p:par>
                                <p:cTn id="29" presetID="0" presetClass="path" presetSubtype="0" accel="50000" decel="50000" fill="hold" grpId="0" nodeType="withEffect">
                                  <p:stCondLst>
                                    <p:cond delay="0"/>
                                  </p:stCondLst>
                                  <p:childTnLst>
                                    <p:animMotion origin="layout" path="M 0.01164 -0.00417 L 0.00747 0.15324 " pathEditMode="relative" rAng="0" ptsTypes="AA">
                                      <p:cBhvr>
                                        <p:cTn id="30" dur="2000" fill="hold"/>
                                        <p:tgtEl>
                                          <p:spTgt spid="833550"/>
                                        </p:tgtEl>
                                        <p:attrNameLst>
                                          <p:attrName>ppt_x</p:attrName>
                                          <p:attrName>ppt_y</p:attrName>
                                        </p:attrNameLst>
                                      </p:cBhvr>
                                      <p:rCtr x="-200" y="7900"/>
                                    </p:animMotion>
                                  </p:childTnLst>
                                </p:cTn>
                              </p:par>
                              <p:par>
                                <p:cTn id="31" presetID="0" presetClass="path" presetSubtype="0" accel="50000" decel="50000" fill="hold" grpId="0" nodeType="withEffect">
                                  <p:stCondLst>
                                    <p:cond delay="0"/>
                                  </p:stCondLst>
                                  <p:childTnLst>
                                    <p:animMotion origin="layout" path="M -1.94444E-6 1.48148E-6 L 0.04028 -0.00556 " pathEditMode="relative" ptsTypes="AA">
                                      <p:cBhvr>
                                        <p:cTn id="32" dur="2000" fill="hold"/>
                                        <p:tgtEl>
                                          <p:spTgt spid="833553"/>
                                        </p:tgtEl>
                                        <p:attrNameLst>
                                          <p:attrName>ppt_x</p:attrName>
                                          <p:attrName>ppt_y</p:attrName>
                                        </p:attrNameLst>
                                      </p:cBhvr>
                                    </p:animMotion>
                                  </p:childTnLst>
                                </p:cTn>
                              </p:par>
                              <p:par>
                                <p:cTn id="33" presetID="0" presetClass="path" presetSubtype="0" accel="50000" decel="50000" fill="hold" grpId="0" nodeType="withEffect">
                                  <p:stCondLst>
                                    <p:cond delay="0"/>
                                  </p:stCondLst>
                                  <p:childTnLst>
                                    <p:animMotion origin="layout" path="M -4.44444E-6 -1.48148E-6 C 0.04462 -0.12454 0.08941 -0.24884 0.03612 -0.3 C -0.01718 -0.35116 -0.25434 -0.35648 -0.31944 -0.30741 C -0.38454 -0.25833 -0.38906 -0.05625 -0.35416 -0.00555 C -0.31927 0.04514 -0.16059 -0.00324 -0.10972 -0.00254 " pathEditMode="relative" rAng="0" ptsTypes="aaaaa">
                                      <p:cBhvr>
                                        <p:cTn id="34" dur="2000" fill="hold"/>
                                        <p:tgtEl>
                                          <p:spTgt spid="833551"/>
                                        </p:tgtEl>
                                        <p:attrNameLst>
                                          <p:attrName>ppt_x</p:attrName>
                                          <p:attrName>ppt_y</p:attrName>
                                        </p:attrNameLst>
                                      </p:cBhvr>
                                      <p:rCtr x="-15000" y="-15600"/>
                                    </p:animMotion>
                                  </p:childTnLst>
                                </p:cTn>
                              </p:par>
                              <p:par>
                                <p:cTn id="35" presetID="0" presetClass="path" presetSubtype="0" accel="50000" decel="50000" fill="hold" grpId="0" nodeType="withEffect">
                                  <p:stCondLst>
                                    <p:cond delay="0"/>
                                  </p:stCondLst>
                                  <p:childTnLst>
                                    <p:animMotion origin="layout" path="M 0.01112 -0.00556 C -0.0026 -0.0162 -0.01614 -0.02662 0.0375 0.01296 C 0.09115 0.05255 0.37796 0.16273 0.33334 0.23148 C 0.28872 0.30023 -0.16423 0.43843 -0.23055 0.42593 C -0.29687 0.41343 -0.09947 0.21296 -0.0651 0.15694 " pathEditMode="relative" rAng="0" ptsTypes="aaaaa">
                                      <p:cBhvr>
                                        <p:cTn id="36" dur="2000" fill="hold"/>
                                        <p:tgtEl>
                                          <p:spTgt spid="833552"/>
                                        </p:tgtEl>
                                        <p:attrNameLst>
                                          <p:attrName>ppt_x</p:attrName>
                                          <p:attrName>ppt_y</p:attrName>
                                        </p:attrNameLst>
                                      </p:cBhvr>
                                      <p:rCtr x="2900" y="21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38" grpId="0"/>
      <p:bldP spid="833539" grpId="0"/>
      <p:bldP spid="833540" grpId="0"/>
      <p:bldP spid="833541" grpId="0"/>
      <p:bldP spid="833542" grpId="0"/>
      <p:bldP spid="833543" grpId="0"/>
      <p:bldP spid="833544" grpId="0"/>
      <p:bldP spid="833545" grpId="0"/>
      <p:bldP spid="833546" grpId="0"/>
      <p:bldP spid="833547" grpId="0"/>
      <p:bldP spid="833548" grpId="0"/>
      <p:bldP spid="833549" grpId="0"/>
      <p:bldP spid="833550" grpId="0"/>
      <p:bldP spid="833551" grpId="0"/>
      <p:bldP spid="833552" grpId="0"/>
      <p:bldP spid="833553" grpId="0"/>
    </p:bldLst>
  </p:timing>
</p:sld>
</file>

<file path=ppt/tags/tag1.xml><?xml version="1.0" encoding="utf-8"?>
<p:tagLst xmlns:a="http://schemas.openxmlformats.org/drawingml/2006/main" xmlns:r="http://schemas.openxmlformats.org/officeDocument/2006/relationships" xmlns:p="http://schemas.openxmlformats.org/presentationml/2006/main">
  <p:tag name="FIRSTMPH@RUV3EBKMVWQLHIXY" val="4294"/>
  <p:tag name="DEFAULTDISPLAYSOURCE" val="\documentclass{article}\pagestyle{empty}&#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c_{ij} = \sum_{k=0}^{N-1} a_{ki} \cdot b_{jk}&#10;$$&#10;\end{document}&#10;"/>
  <p:tag name="FILENAME" val="TP_tmp"/>
  <p:tag name="FORMAT" val="emf"/>
  <p:tag name="RES" val="1200"/>
  <p:tag name="BLEND" val="0"/>
  <p:tag name="TRANSPARENT" val="0"/>
  <p:tag name="TBUG" val="0"/>
  <p:tag name="ALLOWFS" val="0"/>
  <p:tag name="ORIGWIDTH" val="78"/>
  <p:tag name="PICTUREFILESIZE" val="7660"/>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Comic Sans MS" pitchFamily="66" charset="0"/>
          </a:defRPr>
        </a:defPPr>
      </a:lstStyle>
    </a:spDef>
    <a:ln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Comic Sans MS" pitchFamily="66" charset="0"/>
          </a:defRPr>
        </a:defPPr>
      </a:lst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12010</TotalTime>
  <Words>13028</Words>
  <Application>Microsoft Office PowerPoint</Application>
  <PresentationFormat>Overhead</PresentationFormat>
  <Paragraphs>1988</Paragraphs>
  <Slides>146</Slides>
  <Notes>146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146</vt:i4>
      </vt:variant>
    </vt:vector>
  </HeadingPairs>
  <TitlesOfParts>
    <vt:vector size="159" baseType="lpstr">
      <vt:lpstr>Arial</vt:lpstr>
      <vt:lpstr>CMMI10</vt:lpstr>
      <vt:lpstr>CMR10</vt:lpstr>
      <vt:lpstr>Comic Sans MS</vt:lpstr>
      <vt:lpstr>b</vt:lpstr>
      <vt:lpstr>Courier New</vt:lpstr>
      <vt:lpstr>cmsy10</vt:lpstr>
      <vt:lpstr>Marlett</vt:lpstr>
      <vt:lpstr>CMSY10ORIG</vt:lpstr>
      <vt:lpstr>CMMI7</vt:lpstr>
      <vt:lpstr>Symbol</vt:lpstr>
      <vt:lpstr>Blank Presentation</vt:lpstr>
      <vt:lpstr>Equation</vt:lpstr>
      <vt:lpstr>Futures, Scheduling, and Work Distribution</vt:lpstr>
      <vt:lpstr>How to write Parallel Apps?</vt:lpstr>
      <vt:lpstr>Matrix Multiplication</vt:lpstr>
      <vt:lpstr>Matrix Multiplication</vt:lpstr>
      <vt:lpstr>Matrix Multiplication</vt:lpstr>
      <vt:lpstr>Matrix Multiplication</vt:lpstr>
      <vt:lpstr>Matrix Multiplication</vt:lpstr>
      <vt:lpstr>Matrix Multiplication</vt:lpstr>
      <vt:lpstr>Matrix Multiplication</vt:lpstr>
      <vt:lpstr>Matrix Multiplication</vt:lpstr>
      <vt:lpstr>Matrix Multiplication</vt:lpstr>
      <vt:lpstr>Matrix Multiplication</vt:lpstr>
      <vt:lpstr>Matrix Multiplication</vt:lpstr>
      <vt:lpstr>Matrix Multiplication</vt:lpstr>
      <vt:lpstr>Thread Overhead</vt:lpstr>
      <vt:lpstr>Thread Pools</vt:lpstr>
      <vt:lpstr>Thread Pool = Abstraction</vt:lpstr>
      <vt:lpstr>ExecutorService Interface</vt:lpstr>
      <vt:lpstr>Future&lt;T&gt;</vt:lpstr>
      <vt:lpstr>Future&lt;T&gt;</vt:lpstr>
      <vt:lpstr>Future&lt;T&gt;</vt:lpstr>
      <vt:lpstr>Future&lt;?&gt;</vt:lpstr>
      <vt:lpstr>Future&lt;?&gt;</vt:lpstr>
      <vt:lpstr>Future&lt;?&gt;</vt:lpstr>
      <vt:lpstr>Note</vt:lpstr>
      <vt:lpstr>Matrix Addition</vt:lpstr>
      <vt:lpstr>Matrix Addition</vt:lpstr>
      <vt:lpstr>Matrix Addition Task</vt:lpstr>
      <vt:lpstr>Matrix Addition Task</vt:lpstr>
      <vt:lpstr>Matrix Addition Task</vt:lpstr>
      <vt:lpstr>Matrix Addition Task</vt:lpstr>
      <vt:lpstr>Matrix Addition Task</vt:lpstr>
      <vt:lpstr>Dependencies</vt:lpstr>
      <vt:lpstr>Fibonacci</vt:lpstr>
      <vt:lpstr>Disclaimer</vt:lpstr>
      <vt:lpstr>Multithreaded Fibonacci</vt:lpstr>
      <vt:lpstr>Multithreaded Fibonacci</vt:lpstr>
      <vt:lpstr>Multithreaded Fibonacci</vt:lpstr>
      <vt:lpstr>The Blumofe-Leiserson DAG Model</vt:lpstr>
      <vt:lpstr>Fibonacci DAG</vt:lpstr>
      <vt:lpstr>Fibonacci DAG</vt:lpstr>
      <vt:lpstr>Fibonacci DAG</vt:lpstr>
      <vt:lpstr>Fibonacci DAG</vt:lpstr>
      <vt:lpstr>Fibonacci DAG</vt:lpstr>
      <vt:lpstr>How Parallel is That?</vt:lpstr>
      <vt:lpstr>Unfolded DAG</vt:lpstr>
      <vt:lpstr>Parallelism?</vt:lpstr>
      <vt:lpstr>Work?</vt:lpstr>
      <vt:lpstr>Critical Path?</vt:lpstr>
      <vt:lpstr>Critical Path?</vt:lpstr>
      <vt:lpstr>Notation Watch</vt:lpstr>
      <vt:lpstr>Simple Laws</vt:lpstr>
      <vt:lpstr>Performance Measures</vt:lpstr>
      <vt:lpstr>Sequential Composition</vt:lpstr>
      <vt:lpstr>Parallel Composition</vt:lpstr>
      <vt:lpstr>Matrix Addition</vt:lpstr>
      <vt:lpstr>Matrix Addition</vt:lpstr>
      <vt:lpstr>Addition</vt:lpstr>
      <vt:lpstr>Addition</vt:lpstr>
      <vt:lpstr>Addition</vt:lpstr>
      <vt:lpstr>Addition</vt:lpstr>
      <vt:lpstr>Addition</vt:lpstr>
      <vt:lpstr>Matrix Multiplication Redux</vt:lpstr>
      <vt:lpstr>Matrix Multiplication Redux</vt:lpstr>
      <vt:lpstr>First Phase …</vt:lpstr>
      <vt:lpstr>Second Phase …</vt:lpstr>
      <vt:lpstr>Multiplication</vt:lpstr>
      <vt:lpstr>Multiplication</vt:lpstr>
      <vt:lpstr>Multiplication</vt:lpstr>
      <vt:lpstr>Multiplication</vt:lpstr>
      <vt:lpstr>Parallelism</vt:lpstr>
      <vt:lpstr>Shared-Memory Multiprocessors</vt:lpstr>
      <vt:lpstr>Ideal Scheduling Hierarchy</vt:lpstr>
      <vt:lpstr>Realistic Scheduling Hierarchy</vt:lpstr>
      <vt:lpstr>For Example</vt:lpstr>
      <vt:lpstr>Speedup</vt:lpstr>
      <vt:lpstr>Scheduling Hierarchy</vt:lpstr>
      <vt:lpstr>Greedy Scheduling</vt:lpstr>
      <vt:lpstr>Greedy Scheduling</vt:lpstr>
      <vt:lpstr>Theorem</vt:lpstr>
      <vt:lpstr>Theorem</vt:lpstr>
      <vt:lpstr>Theorem</vt:lpstr>
      <vt:lpstr>Theorem</vt:lpstr>
      <vt:lpstr>TP ≤ T1/P + T∞</vt:lpstr>
      <vt:lpstr>Near-Optimality</vt:lpstr>
      <vt:lpstr>Proof of Near-Optimality</vt:lpstr>
      <vt:lpstr>Work Distribution</vt:lpstr>
      <vt:lpstr>Work Dealing</vt:lpstr>
      <vt:lpstr>The Problem with  Work Dealing</vt:lpstr>
      <vt:lpstr>Work Stealing</vt:lpstr>
      <vt:lpstr>Lock-Free Work Stealing</vt:lpstr>
      <vt:lpstr>Local Work Pools</vt:lpstr>
      <vt:lpstr>Work DEQueue1</vt:lpstr>
      <vt:lpstr>Obtain Work</vt:lpstr>
      <vt:lpstr>New Work</vt:lpstr>
      <vt:lpstr>Whatcha Gonna do When the Well Runs Dry?</vt:lpstr>
      <vt:lpstr>Steal Work from Others</vt:lpstr>
      <vt:lpstr>Steal this Task!</vt:lpstr>
      <vt:lpstr>Task DEQueue</vt:lpstr>
      <vt:lpstr>Task DEQueue</vt:lpstr>
      <vt:lpstr>Ideal</vt:lpstr>
      <vt:lpstr>Compromise</vt:lpstr>
      <vt:lpstr>Dreaded ABA Problem</vt:lpstr>
      <vt:lpstr>Dreaded ABA Problem</vt:lpstr>
      <vt:lpstr>Dreaded ABA Problem</vt:lpstr>
      <vt:lpstr>Dreaded ABA Problem</vt:lpstr>
      <vt:lpstr>Dreaded ABA Problem</vt:lpstr>
      <vt:lpstr>Dreaded ABA Problem</vt:lpstr>
      <vt:lpstr>Dreaded ABA Problem</vt:lpstr>
      <vt:lpstr>Dreaded ABA Problem</vt:lpstr>
      <vt:lpstr>Fix for Dreaded ABA</vt:lpstr>
      <vt:lpstr>Bounded DEQueue</vt:lpstr>
      <vt:lpstr>Bounded DEQueue</vt:lpstr>
      <vt:lpstr>Bounded DEQueue</vt:lpstr>
      <vt:lpstr>Bounded DEQueue</vt:lpstr>
      <vt:lpstr>pushBottom()</vt:lpstr>
      <vt:lpstr>pushBottom()</vt:lpstr>
      <vt:lpstr>pushBottom()</vt:lpstr>
      <vt:lpstr>Steal Work</vt:lpstr>
      <vt:lpstr>Steal Work</vt:lpstr>
      <vt:lpstr>Steal Work</vt:lpstr>
      <vt:lpstr>Steal Work</vt:lpstr>
      <vt:lpstr>Steal Work</vt:lpstr>
      <vt:lpstr>Steal Work</vt:lpstr>
      <vt:lpstr>Take Work</vt:lpstr>
      <vt:lpstr>Take Work</vt:lpstr>
      <vt:lpstr>Take Work</vt:lpstr>
      <vt:lpstr>Take Work</vt:lpstr>
      <vt:lpstr>Take Work</vt:lpstr>
      <vt:lpstr>Take Work</vt:lpstr>
      <vt:lpstr>Take Work</vt:lpstr>
      <vt:lpstr>Take Work</vt:lpstr>
      <vt:lpstr>Take Work</vt:lpstr>
      <vt:lpstr>Take Work</vt:lpstr>
      <vt:lpstr>Old English Proverb</vt:lpstr>
      <vt:lpstr>Variations</vt:lpstr>
      <vt:lpstr>Work Balancing</vt:lpstr>
      <vt:lpstr>Work-Balancing Thread</vt:lpstr>
      <vt:lpstr>Work-Balancing Thread</vt:lpstr>
      <vt:lpstr>Work-Balancing Thread</vt:lpstr>
      <vt:lpstr>Work-Balancing Thread</vt:lpstr>
      <vt:lpstr>Work-Balancing Thread</vt:lpstr>
      <vt:lpstr>Work-Balancing Thread</vt:lpstr>
      <vt:lpstr>Work Stealing &amp; Balancing</vt:lpstr>
      <vt:lpstr>PowerPoint Presentation</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Algebraic Topology and Distributed Computing</dc:title>
  <dc:creator>Maurice Herlihy</dc:creator>
  <cp:lastModifiedBy>Beth LoGiudice</cp:lastModifiedBy>
  <cp:revision>981</cp:revision>
  <cp:lastPrinted>1999-05-13T01:42:18Z</cp:lastPrinted>
  <dcterms:created xsi:type="dcterms:W3CDTF">1999-05-12T13:47:53Z</dcterms:created>
  <dcterms:modified xsi:type="dcterms:W3CDTF">2020-09-26T23:23:08Z</dcterms:modified>
</cp:coreProperties>
</file>